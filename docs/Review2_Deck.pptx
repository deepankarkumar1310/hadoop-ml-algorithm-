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 and the rainfall signal-to-noise ratio shows the 30-year average is about four times larger than its year-to-year variation.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error metrics for the two preprocessing steps that have an exact reference. Left: annual rainfall per district from the naive nearest-cell method against our area-weighted method, i.e. the error our method avoids. Right: the seven MapReduce climate indices against an independent pandas recomputation (worst of the seven), i.e. whether MapReduce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We compare accuracy, F1, RMSE and ROC-AUC before and after.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ten classification metrics, with what each one measures, for the proposed model and the best of the five existing models on that metric. Values are means over the same 25 folds; the full per-model values are in the comparison and detailed-metrics tables.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classification metric for every model, trained on the raw features (before) and on the preprocessed features (after), on the same 25 folds. Arrows read before → after; for log loss and RMSE lower is better. B-ACPN improves or stays equal on all of them. The standard MLP gains recall, ROC-AUC and F1 but loses precision and specificity.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F1, ROC-AUC and RMSE of every model on raw versus preprocessed features, with the change written above each pair. The neural models change; tree models and Spark's internally standardised models do not.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2.png"/><Relationship Id="rId5"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4.png"/><Relationship Id="rId5"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7.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9.png"/><Relationship Id="rId5"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2.png"/><Relationship Id="rId5"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image" Target="../media/image14.png"/><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 Id="rId4" Type="http://schemas.openxmlformats.org/officeDocument/2006/relationships/image" Target="../media/image16.png"/><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 Id="rId4" Type="http://schemas.openxmlformats.org/officeDocument/2006/relationships/chart" Target="../charts/char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325112"/>
        </p:xfrm>
        <a:graphic>
          <a:graphicData uri="http://schemas.openxmlformats.org/drawingml/2006/table">
            <a:tbl>
              <a:tblPr firstRow="1" bandRow="1">
                <a:tableStyleId>{5C22544A-7EE6-4342-B048-85BDC9FD1C3A}</a:tableStyleId>
              </a:tblPr>
              <a:tblGrid>
                <a:gridCol w="2377440"/>
                <a:gridCol w="2103120"/>
              </a:tblGrid>
              <a:tr h="393192">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393192">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393192">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393192">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393192">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393192">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Rainfall signal-to-noise (median)</a:t>
                      </a:r>
                    </a:p>
                  </a:txBody>
                  <a:tcPr marL="54864" marR="54864" marT="27432" marB="27432" anchor="ctr">
                    <a:solidFill>
                      <a:srgbClr val="EEF2F8"/>
                    </a:solidFill>
                  </a:tcPr>
                </a:tc>
                <a:tc>
                  <a:txBody>
                    <a:bodyPr wrap="square"/>
                    <a:lstStyle/>
                    <a:p>
                      <a:pPr algn="ctr"/>
                      <a:r>
                        <a:rPr sz="1200" b="0" i="0">
                          <a:solidFill>
                            <a:srgbClr val="1F1F1F"/>
                          </a:solidFill>
                          <a:latin typeface="Calibri"/>
                        </a:rPr>
                        <a:t>3.98 (mean ÷ year-to-year SD)</a:t>
                      </a:r>
                    </a:p>
                  </a:txBody>
                  <a:tcPr marL="54864" marR="54864" marT="27432" marB="27432" anchor="ctr">
                    <a:solidFill>
                      <a:srgbClr val="EEF2F8"/>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914400"/>
                <a:gridCol w="1828800"/>
                <a:gridCol w="2651760"/>
                <a:gridCol w="1508760"/>
                <a:gridCol w="1508760"/>
              </a:tblGrid>
              <a:tr h="47548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Nearest cell vs our area-weighted rain</a:t>
                      </a:r>
                    </a:p>
                  </a:txBody>
                  <a:tcPr marL="54864" marR="54864" marT="27432" marB="27432" anchor="ctr">
                    <a:solidFill>
                      <a:srgbClr val="1B3A6B"/>
                    </a:solidFill>
                  </a:tcPr>
                </a:tc>
                <a:tc>
                  <a:txBody>
                    <a:bodyPr wrap="square"/>
                    <a:lstStyle/>
                    <a:p>
                      <a:pPr algn="ctr"/>
                      <a:r>
                        <a:rPr sz="1100" b="1" i="0">
                          <a:solidFill>
                            <a:srgbClr val="FFFFFF"/>
                          </a:solidFill>
                          <a:latin typeface="Calibri"/>
                        </a:rPr>
                        <a:t>MapReduce vs independent pandas</a:t>
                      </a:r>
                    </a:p>
                  </a:txBody>
                  <a:tcPr marL="54864" marR="54864" marT="27432" marB="27432" anchor="ctr">
                    <a:solidFill>
                      <a:srgbClr val="1B3A6B"/>
                    </a:solidFill>
                  </a:tcPr>
                </a:tc>
              </a:tr>
              <a:tr h="475488">
                <a:tc>
                  <a:txBody>
                    <a:bodyPr wrap="square"/>
                    <a:lstStyle/>
                    <a:p>
                      <a:pPr algn="l"/>
                      <a:r>
                        <a:rPr sz="1100" b="1" i="0">
                          <a:solidFill>
                            <a:srgbClr val="1F1F1F"/>
                          </a:solidFill>
                          <a:latin typeface="Calibri"/>
                        </a:rPr>
                        <a:t>RMSE</a:t>
                      </a:r>
                    </a:p>
                  </a:txBody>
                  <a:tcPr marL="54864" marR="54864" marT="27432" marB="27432" anchor="ctr">
                    <a:solidFill>
                      <a:srgbClr val="FFFFFF"/>
                    </a:solidFill>
                  </a:tcPr>
                </a:tc>
                <a:tc>
                  <a:txBody>
                    <a:bodyPr wrap="square"/>
                    <a:lstStyle/>
                    <a:p>
                      <a:pPr algn="ctr"/>
                      <a:r>
                        <a:rPr sz="1100" b="0" i="0">
                          <a:solidFill>
                            <a:srgbClr val="1F1F1F"/>
                          </a:solidFill>
                          <a:latin typeface="Calibri"/>
                        </a:rPr>
                        <a:t>Root Mean Square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Square root of the average squared error</a:t>
                      </a:r>
                    </a:p>
                  </a:txBody>
                  <a:tcPr marL="54864" marR="54864" marT="27432" marB="27432" anchor="ctr">
                    <a:solidFill>
                      <a:srgbClr val="FFFFFF"/>
                    </a:solidFill>
                  </a:tcPr>
                </a:tc>
                <a:tc>
                  <a:txBody>
                    <a:bodyPr wrap="square"/>
                    <a:lstStyle/>
                    <a:p>
                      <a:pPr algn="ctr"/>
                      <a:r>
                        <a:rPr sz="1100" b="0" i="0">
                          <a:solidFill>
                            <a:srgbClr val="1F1F1F"/>
                          </a:solidFill>
                          <a:latin typeface="Calibri"/>
                        </a:rPr>
                        <a:t>286.9</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MSE</a:t>
                      </a:r>
                    </a:p>
                  </a:txBody>
                  <a:tcPr marL="54864" marR="54864" marT="27432" marB="27432" anchor="ctr">
                    <a:solidFill>
                      <a:srgbClr val="EEF2F8"/>
                    </a:solidFill>
                  </a:tcPr>
                </a:tc>
                <a:tc>
                  <a:txBody>
                    <a:bodyPr wrap="square"/>
                    <a:lstStyle/>
                    <a:p>
                      <a:pPr algn="ctr"/>
                      <a:r>
                        <a:rPr sz="1100" b="0" i="0">
                          <a:solidFill>
                            <a:srgbClr val="1F1F1F"/>
                          </a:solidFill>
                          <a:latin typeface="Calibri"/>
                        </a:rPr>
                        <a:t>Mean Squared Error</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squared difference, actual vs computed</a:t>
                      </a:r>
                    </a:p>
                  </a:txBody>
                  <a:tcPr marL="54864" marR="54864" marT="27432" marB="27432" anchor="ctr">
                    <a:solidFill>
                      <a:srgbClr val="EEF2F8"/>
                    </a:solidFill>
                  </a:tcPr>
                </a:tc>
                <a:tc>
                  <a:txBody>
                    <a:bodyPr wrap="square"/>
                    <a:lstStyle/>
                    <a:p>
                      <a:pPr algn="ctr"/>
                      <a:r>
                        <a:rPr sz="1100" b="0" i="0">
                          <a:solidFill>
                            <a:srgbClr val="1F1F1F"/>
                          </a:solidFill>
                          <a:latin typeface="Calibri"/>
                        </a:rPr>
                        <a:t>82,313.7</a:t>
                      </a:r>
                    </a:p>
                  </a:txBody>
                  <a:tcPr marL="54864" marR="54864" marT="27432" marB="27432" anchor="ctr">
                    <a:solidFill>
                      <a:srgbClr val="EEF2F8"/>
                    </a:solidFill>
                  </a:tcPr>
                </a:tc>
                <a:tc>
                  <a:txBody>
                    <a:bodyPr wrap="square"/>
                    <a:lstStyle/>
                    <a:p>
                      <a:pPr algn="ctr"/>
                      <a:r>
                        <a:rPr sz="1100" b="0" i="0">
                          <a:solidFill>
                            <a:srgbClr val="1F1F1F"/>
                          </a:solidFill>
                          <a:latin typeface="Calibri"/>
                        </a:rPr>
                        <a:t>8.4e-06</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MAE</a:t>
                      </a:r>
                    </a:p>
                  </a:txBody>
                  <a:tcPr marL="54864" marR="54864" marT="27432" marB="27432" anchor="ctr">
                    <a:solidFill>
                      <a:srgbClr val="FFFFFF"/>
                    </a:solidFill>
                  </a:tcPr>
                </a:tc>
                <a:tc>
                  <a:txBody>
                    <a:bodyPr wrap="square"/>
                    <a:lstStyle/>
                    <a:p>
                      <a:pPr algn="ctr"/>
                      <a:r>
                        <a:rPr sz="1100" b="0" i="0">
                          <a:solidFill>
                            <a:srgbClr val="1F1F1F"/>
                          </a:solidFill>
                          <a:latin typeface="Calibri"/>
                        </a:rPr>
                        <a:t>Mean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Average absolute difference</a:t>
                      </a:r>
                    </a:p>
                  </a:txBody>
                  <a:tcPr marL="54864" marR="54864" marT="27432" marB="27432" anchor="ctr">
                    <a:solidFill>
                      <a:srgbClr val="FFFFFF"/>
                    </a:solidFill>
                  </a:tcPr>
                </a:tc>
                <a:tc>
                  <a:txBody>
                    <a:bodyPr wrap="square"/>
                    <a:lstStyle/>
                    <a:p>
                      <a:pPr algn="ctr"/>
                      <a:r>
                        <a:rPr sz="1100" b="0" i="0">
                          <a:solidFill>
                            <a:srgbClr val="1F1F1F"/>
                          </a:solidFill>
                          <a:latin typeface="Calibri"/>
                        </a:rPr>
                        <a:t>151.7</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MAPE</a:t>
                      </a:r>
                    </a:p>
                  </a:txBody>
                  <a:tcPr marL="54864" marR="54864" marT="27432" marB="27432" anchor="ctr">
                    <a:solidFill>
                      <a:srgbClr val="EEF2F8"/>
                    </a:solidFill>
                  </a:tcPr>
                </a:tc>
                <a:tc>
                  <a:txBody>
                    <a:bodyPr wrap="square"/>
                    <a:lstStyle/>
                    <a:p>
                      <a:pPr algn="ctr"/>
                      <a:r>
                        <a:rPr sz="1100" b="0" i="0">
                          <a:solidFill>
                            <a:srgbClr val="1F1F1F"/>
                          </a:solidFill>
                          <a:latin typeface="Calibri"/>
                        </a:rPr>
                        <a:t>Mean Absolute Percentage Error</a:t>
                      </a:r>
                    </a:p>
                  </a:txBody>
                  <a:tcPr marL="54864" marR="54864" marT="27432" marB="27432" anchor="ctr">
                    <a:solidFill>
                      <a:srgbClr val="EEF2F8"/>
                    </a:solidFill>
                  </a:tcPr>
                </a:tc>
                <a:tc>
                  <a:txBody>
                    <a:bodyPr wrap="square"/>
                    <a:lstStyle/>
                    <a:p>
                      <a:pPr algn="ctr"/>
                      <a:r>
                        <a:rPr sz="1100" b="0" i="0">
                          <a:solidFill>
                            <a:srgbClr val="1F1F1F"/>
                          </a:solidFill>
                          <a:latin typeface="Calibri"/>
                        </a:rPr>
                        <a:t>Error as a percentage of the actual value</a:t>
                      </a:r>
                    </a:p>
                  </a:txBody>
                  <a:tcPr marL="54864" marR="54864" marT="27432" marB="27432" anchor="ctr">
                    <a:solidFill>
                      <a:srgbClr val="EEF2F8"/>
                    </a:solidFill>
                  </a:tcPr>
                </a:tc>
                <a:tc>
                  <a:txBody>
                    <a:bodyPr wrap="square"/>
                    <a:lstStyle/>
                    <a:p>
                      <a:pPr algn="ctr"/>
                      <a:r>
                        <a:rPr sz="1100" b="0" i="0">
                          <a:solidFill>
                            <a:srgbClr val="1F1F1F"/>
                          </a:solidFill>
                          <a:latin typeface="Calibri"/>
                        </a:rPr>
                        <a:t>11.08%</a:t>
                      </a:r>
                    </a:p>
                  </a:txBody>
                  <a:tcPr marL="54864" marR="54864" marT="27432" marB="27432" anchor="ctr">
                    <a:solidFill>
                      <a:srgbClr val="EEF2F8"/>
                    </a:solidFill>
                  </a:tcPr>
                </a:tc>
                <a:tc>
                  <a:txBody>
                    <a:bodyPr wrap="square"/>
                    <a:lstStyle/>
                    <a:p>
                      <a:pPr algn="ctr"/>
                      <a:r>
                        <a:rPr sz="1100" b="0" i="0">
                          <a:solidFill>
                            <a:srgbClr val="1F1F1F"/>
                          </a:solidFill>
                          <a:latin typeface="Calibri"/>
                        </a:rPr>
                        <a:t>0.01%</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R²</a:t>
                      </a:r>
                    </a:p>
                  </a:txBody>
                  <a:tcPr marL="54864" marR="54864" marT="27432" marB="27432" anchor="ctr">
                    <a:solidFill>
                      <a:srgbClr val="FFFFFF"/>
                    </a:solidFill>
                  </a:tcPr>
                </a:tc>
                <a:tc>
                  <a:txBody>
                    <a:bodyPr wrap="square"/>
                    <a:lstStyle/>
                    <a:p>
                      <a:pPr algn="ctr"/>
                      <a:r>
                        <a:rPr sz="1100" b="0" i="0">
                          <a:solidFill>
                            <a:srgbClr val="1F1F1F"/>
                          </a:solidFill>
                          <a:latin typeface="Calibri"/>
                        </a:rPr>
                        <a:t>Coefficient of Determination</a:t>
                      </a:r>
                    </a:p>
                  </a:txBody>
                  <a:tcPr marL="54864" marR="54864" marT="27432" marB="27432" anchor="ctr">
                    <a:solidFill>
                      <a:srgbClr val="FFFFFF"/>
                    </a:solidFill>
                  </a:tcPr>
                </a:tc>
                <a:tc>
                  <a:txBody>
                    <a:bodyPr wrap="square"/>
                    <a:lstStyle/>
                    <a:p>
                      <a:pPr algn="ctr"/>
                      <a:r>
                        <a:rPr sz="1100" b="0" i="0">
                          <a:solidFill>
                            <a:srgbClr val="1F1F1F"/>
                          </a:solidFill>
                          <a:latin typeface="Calibri"/>
                        </a:rPr>
                        <a:t>How much of the variation is reproduced (1 = all)</a:t>
                      </a:r>
                    </a:p>
                  </a:txBody>
                  <a:tcPr marL="54864" marR="54864" marT="27432" marB="27432" anchor="ctr">
                    <a:solidFill>
                      <a:srgbClr val="FFFFFF"/>
                    </a:solidFill>
                  </a:tcPr>
                </a:tc>
                <a:tc>
                  <a:txBody>
                    <a:bodyPr wrap="square"/>
                    <a:lstStyle/>
                    <a:p>
                      <a:pPr algn="ctr"/>
                      <a:r>
                        <a:rPr sz="1100" b="0" i="0">
                          <a:solidFill>
                            <a:srgbClr val="1F1F1F"/>
                          </a:solidFill>
                          <a:latin typeface="Calibri"/>
                        </a:rPr>
                        <a:t>0.9042</a:t>
                      </a:r>
                    </a:p>
                  </a:txBody>
                  <a:tcPr marL="54864" marR="54864" marT="27432" marB="27432" anchor="ctr">
                    <a:solidFill>
                      <a:srgbClr val="FFFFFF"/>
                    </a:solidFill>
                  </a:tcPr>
                </a:tc>
                <a:tc>
                  <a:txBody>
                    <a:bodyPr wrap="square"/>
                    <a:lstStyle/>
                    <a:p>
                      <a:pPr algn="ctr"/>
                      <a:r>
                        <a:rPr sz="1100" b="0" i="0">
                          <a:solidFill>
                            <a:srgbClr val="1F1F1F"/>
                          </a:solidFill>
                          <a:latin typeface="Calibri"/>
                        </a:rPr>
                        <a:t>0.999999</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NRMSE</a:t>
                      </a:r>
                    </a:p>
                  </a:txBody>
                  <a:tcPr marL="54864" marR="54864" marT="27432" marB="27432" anchor="ctr">
                    <a:solidFill>
                      <a:srgbClr val="EEF2F8"/>
                    </a:solidFill>
                  </a:tcPr>
                </a:tc>
                <a:tc>
                  <a:txBody>
                    <a:bodyPr wrap="square"/>
                    <a:lstStyle/>
                    <a:p>
                      <a:pPr algn="ctr"/>
                      <a:r>
                        <a:rPr sz="1100" b="0" i="0">
                          <a:solidFill>
                            <a:srgbClr val="1F1F1F"/>
                          </a:solidFill>
                          <a:latin typeface="Calibri"/>
                        </a:rPr>
                        <a:t>Normalised RMSE</a:t>
                      </a:r>
                    </a:p>
                  </a:txBody>
                  <a:tcPr marL="54864" marR="54864" marT="27432" marB="27432" anchor="ctr">
                    <a:solidFill>
                      <a:srgbClr val="EEF2F8"/>
                    </a:solidFill>
                  </a:tcPr>
                </a:tc>
                <a:tc>
                  <a:txBody>
                    <a:bodyPr wrap="square"/>
                    <a:lstStyle/>
                    <a:p>
                      <a:pPr algn="ctr"/>
                      <a:r>
                        <a:rPr sz="1100" b="0" i="0">
                          <a:solidFill>
                            <a:srgbClr val="1F1F1F"/>
                          </a:solidFill>
                          <a:latin typeface="Calibri"/>
                        </a:rPr>
                        <a:t>RMSE divided by the range of the actual values</a:t>
                      </a:r>
                    </a:p>
                  </a:txBody>
                  <a:tcPr marL="54864" marR="54864" marT="27432" marB="27432" anchor="ctr">
                    <a:solidFill>
                      <a:srgbClr val="EEF2F8"/>
                    </a:solidFill>
                  </a:tcPr>
                </a:tc>
                <a:tc>
                  <a:txBody>
                    <a:bodyPr wrap="square"/>
                    <a:lstStyle/>
                    <a:p>
                      <a:pPr algn="ctr"/>
                      <a:r>
                        <a:rPr sz="1100" b="0" i="0">
                          <a:solidFill>
                            <a:srgbClr val="1F1F1F"/>
                          </a:solidFill>
                          <a:latin typeface="Calibri"/>
                        </a:rPr>
                        <a:t>0.034</a:t>
                      </a:r>
                    </a:p>
                  </a:txBody>
                  <a:tcPr marL="54864" marR="54864" marT="27432" marB="27432" anchor="ctr">
                    <a:solidFill>
                      <a:srgbClr val="EEF2F8"/>
                    </a:solidFill>
                  </a:tcPr>
                </a:tc>
                <a:tc>
                  <a:txBody>
                    <a:bodyPr wrap="square"/>
                    <a:lstStyle/>
                    <a:p>
                      <a:pPr algn="ctr"/>
                      <a:r>
                        <a:rPr sz="1100" b="0" i="0">
                          <a:solidFill>
                            <a:srgbClr val="1F1F1F"/>
                          </a:solidFill>
                          <a:latin typeface="Calibri"/>
                        </a:rPr>
                        <a:t>1.9e-04</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MedAE</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error; not driven by a few extreme values</a:t>
                      </a:r>
                    </a:p>
                  </a:txBody>
                  <a:tcPr marL="54864" marR="54864" marT="27432" marB="27432" anchor="ctr">
                    <a:solidFill>
                      <a:srgbClr val="FFFFFF"/>
                    </a:solidFill>
                  </a:tcPr>
                </a:tc>
                <a:tc>
                  <a:txBody>
                    <a:bodyPr wrap="square"/>
                    <a:lstStyle/>
                    <a:p>
                      <a:pPr algn="ctr"/>
                      <a:r>
                        <a:rPr sz="1100" b="0" i="0">
                          <a:solidFill>
                            <a:srgbClr val="1F1F1F"/>
                          </a:solidFill>
                          <a:latin typeface="Calibri"/>
                        </a:rPr>
                        <a:t>87.0</a:t>
                      </a:r>
                    </a:p>
                  </a:txBody>
                  <a:tcPr marL="54864" marR="54864" marT="27432" marB="27432" anchor="ctr">
                    <a:solidFill>
                      <a:srgbClr val="FFFFFF"/>
                    </a:solidFill>
                  </a:tcPr>
                </a:tc>
                <a:tc>
                  <a:txBody>
                    <a:bodyPr wrap="square"/>
                    <a:lstStyle/>
                    <a:p>
                      <a:pPr algn="ctr"/>
                      <a:r>
                        <a:rPr sz="1100" b="0" i="0">
                          <a:solidFill>
                            <a:srgbClr val="1F1F1F"/>
                          </a:solidFill>
                          <a:latin typeface="Calibri"/>
                        </a:rPr>
                        <a:t>0.002</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Bias / ME</a:t>
                      </a:r>
                    </a:p>
                  </a:txBody>
                  <a:tcPr marL="54864" marR="54864" marT="27432" marB="27432" anchor="ctr">
                    <a:solidFill>
                      <a:srgbClr val="EEF2F8"/>
                    </a:solidFill>
                  </a:tcPr>
                </a:tc>
                <a:tc>
                  <a:txBody>
                    <a:bodyPr wrap="square"/>
                    <a:lstStyle/>
                    <a:p>
                      <a:pPr algn="ctr"/>
                      <a:r>
                        <a:rPr sz="1100" b="0" i="0">
                          <a:solidFill>
                            <a:srgbClr val="1F1F1F"/>
                          </a:solidFill>
                          <a:latin typeface="Calibri"/>
                        </a:rPr>
                        <a:t>Mean Error</a:t>
                      </a:r>
                    </a:p>
                  </a:txBody>
                  <a:tcPr marL="54864" marR="54864" marT="27432" marB="27432" anchor="ctr">
                    <a:solidFill>
                      <a:srgbClr val="EEF2F8"/>
                    </a:solidFill>
                  </a:tcPr>
                </a:tc>
                <a:tc>
                  <a:txBody>
                    <a:bodyPr wrap="square"/>
                    <a:lstStyle/>
                    <a:p>
                      <a:pPr algn="ctr"/>
                      <a:r>
                        <a:rPr sz="1100" b="0" i="0">
                          <a:solidFill>
                            <a:srgbClr val="1F1F1F"/>
                          </a:solidFill>
                          <a:latin typeface="Calibri"/>
                        </a:rPr>
                        <a:t>Systematic over- (+) or under- (−) estimation</a:t>
                      </a:r>
                    </a:p>
                  </a:txBody>
                  <a:tcPr marL="54864" marR="54864" marT="27432" marB="27432" anchor="ctr">
                    <a:solidFill>
                      <a:srgbClr val="EEF2F8"/>
                    </a:solidFill>
                  </a:tcPr>
                </a:tc>
                <a:tc>
                  <a:txBody>
                    <a:bodyPr wrap="square"/>
                    <a:lstStyle/>
                    <a:p>
                      <a:pPr algn="ctr"/>
                      <a:r>
                        <a:rPr sz="1100" b="0" i="0">
                          <a:solidFill>
                            <a:srgbClr val="1F1F1F"/>
                          </a:solidFill>
                          <a:latin typeface="Calibri"/>
                        </a:rPr>
                        <a:t>5.045</a:t>
                      </a:r>
                    </a:p>
                  </a:txBody>
                  <a:tcPr marL="54864" marR="54864" marT="27432" marB="27432" anchor="ctr">
                    <a:solidFill>
                      <a:srgbClr val="EEF2F8"/>
                    </a:solidFill>
                  </a:tcPr>
                </a:tc>
                <a:tc>
                  <a:txBody>
                    <a:bodyPr wrap="square"/>
                    <a:lstStyle/>
                    <a:p>
                      <a:pPr algn="ctr"/>
                      <a:r>
                        <a:rPr sz="1100" b="0" i="0">
                          <a:solidFill>
                            <a:srgbClr val="1F1F1F"/>
                          </a:solidFill>
                          <a:latin typeface="Calibri"/>
                        </a:rPr>
                        <a:t>-2.2e-05</a:t>
                      </a:r>
                    </a:p>
                  </a:txBody>
                  <a:tcPr marL="54864" marR="54864" marT="27432" marB="27432" anchor="ctr">
                    <a:solidFill>
                      <a:srgbClr val="EEF2F8"/>
                    </a:solidFill>
                  </a:tcPr>
                </a:tc>
              </a:tr>
            </a:tbl>
          </a:graphicData>
        </a:graphic>
      </p:graphicFrame>
      <p:sp>
        <p:nvSpPr>
          <p:cNvPr id="5" name="TextBox 4"/>
          <p:cNvSpPr txBox="1"/>
          <p:nvPr/>
        </p:nvSpPr>
        <p:spPr>
          <a:xfrm>
            <a:off x="365760" y="5532120"/>
            <a:ext cx="8412480" cy="822960"/>
          </a:xfrm>
          <a:prstGeom prst="rect">
            <a:avLst/>
          </a:prstGeom>
          <a:noFill/>
        </p:spPr>
        <p:txBody>
          <a:bodyPr wrap="square" anchor="t" lIns="45720" rIns="45720">
            <a:spAutoFit/>
          </a:bodyPr>
          <a:lstStyle/>
          <a:p>
            <a:pPr algn="l"/>
            <a:r>
              <a:rPr sz="1000" b="0" i="0">
                <a:solidFill>
                  <a:srgbClr val="595959"/>
                </a:solidFill>
                <a:latin typeface="Calibri"/>
              </a:rPr>
              <a:t>Left: 636 districts, year 2020, in mm; large values are the error the naive method would make. Right: 19,200 district-years × 7 indices; values near 0 (and R² near 1) mean MapReduce matches. MAPE skips zero actual values; NRMSE uses the range. Computed in Colab section 10b (2026-10-28) from the IMD and MapReduce data of the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1097280"/>
                <a:gridCol w="914400"/>
                <a:gridCol w="914400"/>
                <a:gridCol w="914400"/>
                <a:gridCol w="914400"/>
                <a:gridCol w="914400"/>
                <a:gridCol w="914400"/>
                <a:gridCol w="914400"/>
                <a:gridCol w="914400"/>
              </a:tblGrid>
              <a:tr h="50292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after</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RMSE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RMSE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after</a:t>
                      </a:r>
                    </a:p>
                  </a:txBody>
                  <a:tcPr marL="54864" marR="54864" marT="27432" marB="27432" anchor="ctr">
                    <a:solidFill>
                      <a:srgbClr val="1B3A6B"/>
                    </a:solidFill>
                  </a:tcPr>
                </a:tc>
              </a:tr>
              <a:tr h="502920">
                <a:tc>
                  <a:txBody>
                    <a:bodyPr wrap="square"/>
                    <a:lstStyle/>
                    <a:p>
                      <a:pPr algn="l"/>
                      <a:r>
                        <a:rPr sz="1100" b="1" i="0">
                          <a:solidFill>
                            <a:srgbClr val="1F1F1F"/>
                          </a:solidFill>
                          <a:latin typeface="Calibri"/>
                        </a:rPr>
                        <a:t>B-ACPN</a:t>
                      </a:r>
                    </a:p>
                  </a:txBody>
                  <a:tcPr marL="54864" marR="54864" marT="27432" marB="27432" anchor="ctr">
                    <a:solidFill>
                      <a:srgbClr val="FFF4CC"/>
                    </a:solidFill>
                  </a:tcPr>
                </a:tc>
                <a:tc>
                  <a:txBody>
                    <a:bodyPr wrap="square"/>
                    <a:lstStyle/>
                    <a:p>
                      <a:pPr algn="ctr"/>
                      <a:r>
                        <a:rPr sz="1100" b="1" i="0">
                          <a:solidFill>
                            <a:srgbClr val="1F1F1F"/>
                          </a:solidFill>
                          <a:latin typeface="Calibri"/>
                        </a:rPr>
                        <a:t>0.735</a:t>
                      </a:r>
                    </a:p>
                  </a:txBody>
                  <a:tcPr marL="54864" marR="54864" marT="27432" marB="27432" anchor="ctr">
                    <a:solidFill>
                      <a:srgbClr val="FFF4CC"/>
                    </a:solidFill>
                  </a:tcPr>
                </a:tc>
                <a:tc>
                  <a:txBody>
                    <a:bodyPr wrap="square"/>
                    <a:lstStyle/>
                    <a:p>
                      <a:pPr algn="ctr"/>
                      <a:r>
                        <a:rPr sz="1100" b="1" i="0">
                          <a:solidFill>
                            <a:srgbClr val="1F1F1F"/>
                          </a:solidFill>
                          <a:latin typeface="Calibri"/>
                        </a:rPr>
                        <a:t>0.738</a:t>
                      </a:r>
                    </a:p>
                  </a:txBody>
                  <a:tcPr marL="54864" marR="54864" marT="27432" marB="27432" anchor="ctr">
                    <a:solidFill>
                      <a:srgbClr val="FFF4CC"/>
                    </a:solidFill>
                  </a:tcPr>
                </a:tc>
                <a:tc>
                  <a:txBody>
                    <a:bodyPr wrap="square"/>
                    <a:lstStyle/>
                    <a:p>
                      <a:pPr algn="ctr"/>
                      <a:r>
                        <a:rPr sz="1100" b="1" i="0">
                          <a:solidFill>
                            <a:srgbClr val="1F1F1F"/>
                          </a:solidFill>
                          <a:latin typeface="Calibri"/>
                        </a:rPr>
                        <a:t>0.726</a:t>
                      </a:r>
                    </a:p>
                  </a:txBody>
                  <a:tcPr marL="54864" marR="54864" marT="27432" marB="27432" anchor="ctr">
                    <a:solidFill>
                      <a:srgbClr val="FFF4CC"/>
                    </a:solidFill>
                  </a:tcPr>
                </a:tc>
                <a:tc>
                  <a:txBody>
                    <a:bodyPr wrap="square"/>
                    <a:lstStyle/>
                    <a:p>
                      <a:pPr algn="ctr"/>
                      <a:r>
                        <a:rPr sz="1100" b="1" i="0">
                          <a:solidFill>
                            <a:srgbClr val="1F1F1F"/>
                          </a:solidFill>
                          <a:latin typeface="Calibri"/>
                        </a:rPr>
                        <a:t>0.728</a:t>
                      </a:r>
                    </a:p>
                  </a:txBody>
                  <a:tcPr marL="54864" marR="54864" marT="27432" marB="27432" anchor="ctr">
                    <a:solidFill>
                      <a:srgbClr val="FFF4CC"/>
                    </a:solidFill>
                  </a:tcPr>
                </a:tc>
                <a:tc>
                  <a:txBody>
                    <a:bodyPr wrap="square"/>
                    <a:lstStyle/>
                    <a:p>
                      <a:pPr algn="ctr"/>
                      <a:r>
                        <a:rPr sz="1100" b="1" i="0">
                          <a:solidFill>
                            <a:srgbClr val="1F1F1F"/>
                          </a:solidFill>
                          <a:latin typeface="Calibri"/>
                        </a:rPr>
                        <a:t>0.422</a:t>
                      </a:r>
                    </a:p>
                  </a:txBody>
                  <a:tcPr marL="54864" marR="54864" marT="27432" marB="27432" anchor="ctr">
                    <a:solidFill>
                      <a:srgbClr val="FFF4CC"/>
                    </a:solidFill>
                  </a:tcPr>
                </a:tc>
                <a:tc>
                  <a:txBody>
                    <a:bodyPr wrap="square"/>
                    <a:lstStyle/>
                    <a:p>
                      <a:pPr algn="ctr"/>
                      <a:r>
                        <a:rPr sz="1100" b="1" i="0">
                          <a:solidFill>
                            <a:srgbClr val="1F1F1F"/>
                          </a:solidFill>
                          <a:latin typeface="Calibri"/>
                        </a:rPr>
                        <a:t>0.417</a:t>
                      </a:r>
                    </a:p>
                  </a:txBody>
                  <a:tcPr marL="54864" marR="54864" marT="27432" marB="27432" anchor="ctr">
                    <a:solidFill>
                      <a:srgbClr val="FFF4CC"/>
                    </a:solidFill>
                  </a:tcPr>
                </a:tc>
                <a:tc>
                  <a:txBody>
                    <a:bodyPr wrap="square"/>
                    <a:lstStyle/>
                    <a:p>
                      <a:pPr algn="ctr"/>
                      <a:r>
                        <a:rPr sz="1100" b="1" i="0">
                          <a:solidFill>
                            <a:srgbClr val="1F1F1F"/>
                          </a:solidFill>
                          <a:latin typeface="Calibri"/>
                        </a:rPr>
                        <a:t>0.806</a:t>
                      </a:r>
                    </a:p>
                  </a:txBody>
                  <a:tcPr marL="54864" marR="54864" marT="27432" marB="27432" anchor="ctr">
                    <a:solidFill>
                      <a:srgbClr val="FFF4CC"/>
                    </a:solidFill>
                  </a:tcPr>
                </a:tc>
                <a:tc>
                  <a:txBody>
                    <a:bodyPr wrap="square"/>
                    <a:lstStyle/>
                    <a:p>
                      <a:pPr algn="ctr"/>
                      <a:r>
                        <a:rPr sz="1100" b="1" i="0">
                          <a:solidFill>
                            <a:srgbClr val="1F1F1F"/>
                          </a:solidFill>
                          <a:latin typeface="Calibri"/>
                        </a:rPr>
                        <a:t>0.820</a:t>
                      </a:r>
                    </a:p>
                  </a:txBody>
                  <a:tcPr marL="54864" marR="54864" marT="27432" marB="27432" anchor="ctr">
                    <a:solidFill>
                      <a:srgbClr val="FFF4CC"/>
                    </a:solidFill>
                  </a:tcPr>
                </a:tc>
              </a:tr>
              <a:tr h="502920">
                <a:tc>
                  <a:txBody>
                    <a:bodyPr wrap="square"/>
                    <a:lstStyle/>
                    <a:p>
                      <a:pPr algn="l"/>
                      <a:r>
                        <a:rPr sz="1100" b="1" i="0">
                          <a:solidFill>
                            <a:srgbClr val="1F1F1F"/>
                          </a:solidFill>
                          <a:latin typeface="Calibri"/>
                        </a:rPr>
                        <a:t>LR</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RF</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0.805</a:t>
                      </a:r>
                    </a:p>
                  </a:txBody>
                  <a:tcPr marL="54864" marR="54864" marT="27432" marB="27432" anchor="ctr">
                    <a:solidFill>
                      <a:srgbClr val="FFFFFF"/>
                    </a:solidFill>
                  </a:tcPr>
                </a:tc>
                <a:tc>
                  <a:txBody>
                    <a:bodyPr wrap="square"/>
                    <a:lstStyle/>
                    <a:p>
                      <a:pPr algn="ctr"/>
                      <a:r>
                        <a:rPr sz="1100" b="0" i="0">
                          <a:solidFill>
                            <a:srgbClr val="1F1F1F"/>
                          </a:solidFill>
                          <a:latin typeface="Calibri"/>
                        </a:rPr>
                        <a:t>0.804</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GBT</a:t>
                      </a:r>
                    </a:p>
                  </a:txBody>
                  <a:tcPr marL="54864" marR="54864" marT="27432" marB="27432" anchor="ctr">
                    <a:solidFill>
                      <a:srgbClr val="EEF2F8"/>
                    </a:solidFill>
                  </a:tcPr>
                </a:tc>
                <a:tc>
                  <a:txBody>
                    <a:bodyPr wrap="square"/>
                    <a:lstStyle/>
                    <a:p>
                      <a:pPr algn="ctr"/>
                      <a:r>
                        <a:rPr sz="1100" b="0" i="0">
                          <a:solidFill>
                            <a:srgbClr val="1F1F1F"/>
                          </a:solidFill>
                          <a:latin typeface="Calibri"/>
                        </a:rPr>
                        <a:t>0.726</a:t>
                      </a:r>
                    </a:p>
                  </a:txBody>
                  <a:tcPr marL="54864" marR="54864" marT="27432" marB="27432" anchor="ctr">
                    <a:solidFill>
                      <a:srgbClr val="EEF2F8"/>
                    </a:solidFill>
                  </a:tcPr>
                </a:tc>
                <a:tc>
                  <a:txBody>
                    <a:bodyPr wrap="square"/>
                    <a:lstStyle/>
                    <a:p>
                      <a:pPr algn="ctr"/>
                      <a:r>
                        <a:rPr sz="1100" b="0" i="0">
                          <a:solidFill>
                            <a:srgbClr val="1F1F1F"/>
                          </a:solidFill>
                          <a:latin typeface="Calibri"/>
                        </a:rPr>
                        <a:t>0.725</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0.432</a:t>
                      </a:r>
                    </a:p>
                  </a:txBody>
                  <a:tcPr marL="54864" marR="54864" marT="27432" marB="27432" anchor="ctr">
                    <a:solidFill>
                      <a:srgbClr val="EEF2F8"/>
                    </a:solidFill>
                  </a:tcPr>
                </a:tc>
                <a:tc>
                  <a:txBody>
                    <a:bodyPr wrap="square"/>
                    <a:lstStyle/>
                    <a:p>
                      <a:pPr algn="ctr"/>
                      <a:r>
                        <a:rPr sz="1100" b="0" i="0">
                          <a:solidFill>
                            <a:srgbClr val="1F1F1F"/>
                          </a:solidFill>
                          <a:latin typeface="Calibri"/>
                        </a:rPr>
                        <a:t>0.433</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MLP</a:t>
                      </a:r>
                    </a:p>
                  </a:txBody>
                  <a:tcPr marL="54864" marR="54864" marT="27432" marB="27432" anchor="ctr">
                    <a:solidFill>
                      <a:srgbClr val="EEF2F8"/>
                    </a:solidFill>
                  </a:tcPr>
                </a:tc>
                <a:tc>
                  <a:txBody>
                    <a:bodyPr wrap="square"/>
                    <a:lstStyle/>
                    <a:p>
                      <a:pPr algn="ctr"/>
                      <a:r>
                        <a:rPr sz="1100" b="0" i="0">
                          <a:solidFill>
                            <a:srgbClr val="1F1F1F"/>
                          </a:solidFill>
                          <a:latin typeface="Calibri"/>
                        </a:rPr>
                        <a:t>0.711</a:t>
                      </a:r>
                    </a:p>
                  </a:txBody>
                  <a:tcPr marL="54864" marR="54864" marT="27432" marB="27432" anchor="ctr">
                    <a:solidFill>
                      <a:srgbClr val="EEF2F8"/>
                    </a:solidFill>
                  </a:tcPr>
                </a:tc>
                <a:tc>
                  <a:txBody>
                    <a:bodyPr wrap="square"/>
                    <a:lstStyle/>
                    <a:p>
                      <a:pPr algn="ctr"/>
                      <a:r>
                        <a:rPr sz="1100" b="0" i="0">
                          <a:solidFill>
                            <a:srgbClr val="1F1F1F"/>
                          </a:solidFill>
                          <a:latin typeface="Calibri"/>
                        </a:rPr>
                        <a:t>0.699</a:t>
                      </a:r>
                    </a:p>
                  </a:txBody>
                  <a:tcPr marL="54864" marR="54864" marT="27432" marB="27432" anchor="ctr">
                    <a:solidFill>
                      <a:srgbClr val="EEF2F8"/>
                    </a:solidFill>
                  </a:tcPr>
                </a:tc>
                <a:tc>
                  <a:txBody>
                    <a:bodyPr wrap="square"/>
                    <a:lstStyle/>
                    <a:p>
                      <a:pPr algn="ctr"/>
                      <a:r>
                        <a:rPr sz="1100" b="0" i="0">
                          <a:solidFill>
                            <a:srgbClr val="1F1F1F"/>
                          </a:solidFill>
                          <a:latin typeface="Calibri"/>
                        </a:rPr>
                        <a:t>0.678</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0.445</a:t>
                      </a:r>
                    </a:p>
                  </a:txBody>
                  <a:tcPr marL="54864" marR="54864" marT="27432" marB="27432" anchor="ctr">
                    <a:solidFill>
                      <a:srgbClr val="EEF2F8"/>
                    </a:solidFill>
                  </a:tcPr>
                </a:tc>
                <a:tc>
                  <a:txBody>
                    <a:bodyPr wrap="square"/>
                    <a:lstStyle/>
                    <a:p>
                      <a:pPr algn="ctr"/>
                      <a:r>
                        <a:rPr sz="1100" b="0" i="0">
                          <a:solidFill>
                            <a:srgbClr val="1F1F1F"/>
                          </a:solidFill>
                          <a:latin typeface="Calibri"/>
                        </a:rPr>
                        <a:t>0.440</a:t>
                      </a:r>
                    </a:p>
                  </a:txBody>
                  <a:tcPr marL="54864" marR="54864" marT="27432" marB="27432" anchor="ctr">
                    <a:solidFill>
                      <a:srgbClr val="EEF2F8"/>
                    </a:solidFill>
                  </a:tcPr>
                </a:tc>
                <a:tc>
                  <a:txBody>
                    <a:bodyPr wrap="square"/>
                    <a:lstStyle/>
                    <a:p>
                      <a:pPr algn="ctr"/>
                      <a:r>
                        <a:rPr sz="1100" b="0" i="0">
                          <a:solidFill>
                            <a:srgbClr val="1F1F1F"/>
                          </a:solidFill>
                          <a:latin typeface="Calibri"/>
                        </a:rPr>
                        <a:t>0.759</a:t>
                      </a:r>
                    </a:p>
                  </a:txBody>
                  <a:tcPr marL="54864" marR="54864" marT="27432" marB="27432" anchor="ctr">
                    <a:solidFill>
                      <a:srgbClr val="EEF2F8"/>
                    </a:solidFill>
                  </a:tcPr>
                </a:tc>
                <a:tc>
                  <a:txBody>
                    <a:bodyPr wrap="square"/>
                    <a:lstStyle/>
                    <a:p>
                      <a:pPr algn="ctr"/>
                      <a:r>
                        <a:rPr sz="1100" b="0" i="0">
                          <a:solidFill>
                            <a:srgbClr val="1F1F1F"/>
                          </a:solidFill>
                          <a:latin typeface="Calibri"/>
                        </a:rPr>
                        <a:t>0.784</a:t>
                      </a:r>
                    </a:p>
                  </a:txBody>
                  <a:tcPr marL="54864" marR="54864" marT="27432" marB="27432" anchor="ctr">
                    <a:solidFill>
                      <a:srgbClr val="EEF2F8"/>
                    </a:solidFill>
                  </a:tcPr>
                </a:tc>
              </a:tr>
            </a:tbl>
          </a:graphicData>
        </a:graphic>
      </p:graphicFrame>
      <p:sp>
        <p:nvSpPr>
          <p:cNvPr id="5" name="TextBox 4"/>
          <p:cNvSpPr txBox="1"/>
          <p:nvPr/>
        </p:nvSpPr>
        <p:spPr>
          <a:xfrm>
            <a:off x="365760" y="4800600"/>
            <a:ext cx="8412480" cy="1463040"/>
          </a:xfrm>
          <a:prstGeom prst="rect">
            <a:avLst/>
          </a:prstGeom>
          <a:noFill/>
        </p:spPr>
        <p:txBody>
          <a:bodyPr wrap="square" lIns="45720" rIns="45720">
            <a:spAutoFit/>
          </a:bodyPr>
          <a:lstStyle/>
          <a:p>
            <a:pPr>
              <a:spcAft>
                <a:spcPts val="200"/>
              </a:spcAft>
            </a:pPr>
            <a:r>
              <a:rPr sz="1200" b="0" i="0">
                <a:solidFill>
                  <a:srgbClr val="0E6E6E"/>
                </a:solidFill>
                <a:latin typeface="Calibri"/>
              </a:rPr>
              <a:t>▪  </a:t>
            </a:r>
            <a:r>
              <a:rPr sz="1200" b="1" i="0">
                <a:solidFill>
                  <a:srgbClr val="1F1F1F"/>
                </a:solidFill>
                <a:latin typeface="Calibri"/>
              </a:rPr>
              <a:t>Before: </a:t>
            </a:r>
            <a:r>
              <a:rPr sz="1200" b="0" i="0">
                <a:solidFill>
                  <a:srgbClr val="1F1F1F"/>
                </a:solidFill>
                <a:latin typeface="Calibri"/>
              </a:rPr>
              <a:t>raw features (rain in mm, days, %, °C on very different scales); After: preprocessed, same 25 folds</a:t>
            </a:r>
          </a:p>
          <a:p>
            <a:pPr>
              <a:spcAft>
                <a:spcPts val="200"/>
              </a:spcAft>
            </a:pPr>
            <a:r>
              <a:rPr sz="1200" b="0" i="0">
                <a:solidFill>
                  <a:srgbClr val="0E6E6E"/>
                </a:solidFill>
                <a:latin typeface="Calibri"/>
              </a:rPr>
              <a:t>▪  </a:t>
            </a:r>
            <a:r>
              <a:rPr sz="1200" b="1" i="0">
                <a:solidFill>
                  <a:srgbClr val="1F1F1F"/>
                </a:solidFill>
                <a:latin typeface="Calibri"/>
              </a:rPr>
              <a:t>RMSE: </a:t>
            </a:r>
            <a:r>
              <a:rPr sz="1200" b="0" i="0">
                <a:solidFill>
                  <a:srgbClr val="1F1F1F"/>
                </a:solidFill>
                <a:latin typeface="Calibri"/>
              </a:rPr>
              <a:t>error of the predicted probability against the true class (Linear SVM gives no probabilities: n/a)</a:t>
            </a:r>
          </a:p>
          <a:p>
            <a:pPr>
              <a:spcAft>
                <a:spcPts val="200"/>
              </a:spcAft>
            </a:pPr>
            <a:r>
              <a:rPr sz="1200" b="0" i="0">
                <a:solidFill>
                  <a:srgbClr val="0E6E6E"/>
                </a:solidFill>
                <a:latin typeface="Calibri"/>
              </a:rPr>
              <a:t>▪  </a:t>
            </a:r>
            <a:r>
              <a:rPr sz="1200" b="1" i="0">
                <a:solidFill>
                  <a:srgbClr val="1F1F1F"/>
                </a:solidFill>
                <a:latin typeface="Calibri"/>
              </a:rPr>
              <a:t>Result: </a:t>
            </a:r>
            <a:r>
              <a:rPr sz="1200" b="0" i="0">
                <a:solidFill>
                  <a:srgbClr val="1F1F1F"/>
                </a:solidFill>
                <a:latin typeface="Calibri"/>
              </a:rPr>
              <a:t>B-ACPN accuracy 0.735 → 0.738, F1 0.726 → 0.728, RMSE 0.422 → 0.417 (lower is better), ROC-AUC 0.806 → 0.820. Not every metric improves: MLP accuracy 0.711 → 0.699. RF and GBT ignore feature scale, and Spark's LR and Linear SVM standardise internally, so they do not change.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Classification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27448"/>
        </p:xfrm>
        <a:graphic>
          <a:graphicData uri="http://schemas.openxmlformats.org/drawingml/2006/table">
            <a:tbl>
              <a:tblPr firstRow="1" bandRow="1">
                <a:tableStyleId>{5C22544A-7EE6-4342-B048-85BDC9FD1C3A}</a:tableStyleId>
              </a:tblPr>
              <a:tblGrid>
                <a:gridCol w="1234440"/>
                <a:gridCol w="2148840"/>
                <a:gridCol w="2743200"/>
                <a:gridCol w="914400"/>
                <a:gridCol w="1371600"/>
              </a:tblGrid>
              <a:tr h="42976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B-ACPN</a:t>
                      </a:r>
                    </a:p>
                  </a:txBody>
                  <a:tcPr marL="54864" marR="54864" marT="27432" marB="27432" anchor="ctr">
                    <a:solidFill>
                      <a:srgbClr val="1B3A6B"/>
                    </a:solidFill>
                  </a:tcPr>
                </a:tc>
                <a:tc>
                  <a:txBody>
                    <a:bodyPr wrap="square"/>
                    <a:lstStyle/>
                    <a:p>
                      <a:pPr algn="ctr"/>
                      <a:r>
                        <a:rPr sz="1100" b="1" i="0">
                          <a:solidFill>
                            <a:srgbClr val="FFFFFF"/>
                          </a:solidFill>
                          <a:latin typeface="Calibri"/>
                        </a:rPr>
                        <a:t>Best other model</a:t>
                      </a:r>
                    </a:p>
                  </a:txBody>
                  <a:tcPr marL="54864" marR="54864" marT="27432" marB="27432" anchor="ctr">
                    <a:solidFill>
                      <a:srgbClr val="1B3A6B"/>
                    </a:solidFill>
                  </a:tcPr>
                </a:tc>
              </a:tr>
              <a:tr h="429768">
                <a:tc>
                  <a:txBody>
                    <a:bodyPr wrap="square"/>
                    <a:lstStyle/>
                    <a:p>
                      <a:pPr algn="l"/>
                      <a:r>
                        <a:rPr sz="11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Classification 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Share of districts classified correctly</a:t>
                      </a:r>
                    </a:p>
                  </a:txBody>
                  <a:tcPr marL="54864" marR="54864" marT="27432" marB="27432" anchor="ctr">
                    <a:solidFill>
                      <a:srgbClr val="FFFFFF"/>
                    </a:solidFill>
                  </a:tcPr>
                </a:tc>
                <a:tc>
                  <a:txBody>
                    <a:bodyPr wrap="square"/>
                    <a:lstStyle/>
                    <a:p>
                      <a:pPr algn="ctr"/>
                      <a:r>
                        <a:rPr sz="1100" b="0" i="0">
                          <a:solidFill>
                            <a:srgbClr val="1F1F1F"/>
                          </a:solidFill>
                          <a:latin typeface="Calibri"/>
                        </a:rPr>
                        <a:t>0.738</a:t>
                      </a:r>
                    </a:p>
                  </a:txBody>
                  <a:tcPr marL="54864" marR="54864" marT="27432" marB="27432" anchor="ctr">
                    <a:solidFill>
                      <a:srgbClr val="FFFFFF"/>
                    </a:solidFill>
                  </a:tcPr>
                </a:tc>
                <a:tc>
                  <a:txBody>
                    <a:bodyPr wrap="square"/>
                    <a:lstStyle/>
                    <a:p>
                      <a:pPr algn="ctr"/>
                      <a:r>
                        <a:rPr sz="1100" b="0" i="0">
                          <a:solidFill>
                            <a:srgbClr val="1F1F1F"/>
                          </a:solidFill>
                          <a:latin typeface="Calibri"/>
                        </a:rPr>
                        <a:t>GBT 0.725</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100" b="0" i="0">
                          <a:solidFill>
                            <a:srgbClr val="1F1F1F"/>
                          </a:solidFill>
                          <a:latin typeface="Calibri"/>
                        </a:rPr>
                        <a:t>Positive Predictive Value</a:t>
                      </a:r>
                    </a:p>
                  </a:txBody>
                  <a:tcPr marL="54864" marR="54864" marT="27432" marB="27432" anchor="ctr">
                    <a:solidFill>
                      <a:srgbClr val="EEF2F8"/>
                    </a:solidFill>
                  </a:tcPr>
                </a:tc>
                <a:tc>
                  <a:txBody>
                    <a:bodyPr wrap="square"/>
                    <a:lstStyle/>
                    <a:p>
                      <a:pPr algn="ctr"/>
                      <a:r>
                        <a:rPr sz="1100" b="0" i="0">
                          <a:solidFill>
                            <a:srgbClr val="1F1F1F"/>
                          </a:solidFill>
                          <a:latin typeface="Calibri"/>
                        </a:rPr>
                        <a:t>Of districts predicted High, share truly High</a:t>
                      </a:r>
                    </a:p>
                  </a:txBody>
                  <a:tcPr marL="54864" marR="54864" marT="27432" marB="27432" anchor="ctr">
                    <a:solidFill>
                      <a:srgbClr val="EEF2F8"/>
                    </a:solidFill>
                  </a:tcPr>
                </a:tc>
                <a:tc>
                  <a:txBody>
                    <a:bodyPr wrap="square"/>
                    <a:lstStyle/>
                    <a:p>
                      <a:pPr algn="ctr"/>
                      <a:r>
                        <a:rPr sz="1100" b="0" i="0">
                          <a:solidFill>
                            <a:srgbClr val="1F1F1F"/>
                          </a:solidFill>
                          <a:latin typeface="Calibri"/>
                        </a:rPr>
                        <a:t>0.765</a:t>
                      </a:r>
                    </a:p>
                  </a:txBody>
                  <a:tcPr marL="54864" marR="54864" marT="27432" marB="27432" anchor="ctr">
                    <a:solidFill>
                      <a:srgbClr val="EEF2F8"/>
                    </a:solidFill>
                  </a:tcPr>
                </a:tc>
                <a:tc>
                  <a:txBody>
                    <a:bodyPr wrap="square"/>
                    <a:lstStyle/>
                    <a:p>
                      <a:pPr algn="ctr"/>
                      <a:r>
                        <a:rPr sz="1100" b="0" i="0">
                          <a:solidFill>
                            <a:srgbClr val="1F1F1F"/>
                          </a:solidFill>
                          <a:latin typeface="Calibri"/>
                        </a:rPr>
                        <a:t>GBT 0.736</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Recall</a:t>
                      </a:r>
                    </a:p>
                  </a:txBody>
                  <a:tcPr marL="54864" marR="54864" marT="27432" marB="27432" anchor="ctr">
                    <a:solidFill>
                      <a:srgbClr val="FFFFFF"/>
                    </a:solidFill>
                  </a:tcPr>
                </a:tc>
                <a:tc>
                  <a:txBody>
                    <a:bodyPr wrap="square"/>
                    <a:lstStyle/>
                    <a:p>
                      <a:pPr algn="ctr"/>
                      <a:r>
                        <a:rPr sz="1100" b="0" i="0">
                          <a:solidFill>
                            <a:srgbClr val="1F1F1F"/>
                          </a:solidFill>
                          <a:latin typeface="Calibri"/>
                        </a:rPr>
                        <a:t>Sensitivity / True Positive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High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0.700</a:t>
                      </a:r>
                    </a:p>
                  </a:txBody>
                  <a:tcPr marL="54864" marR="54864" marT="27432" marB="27432" anchor="ctr">
                    <a:solidFill>
                      <a:srgbClr val="FFFFFF"/>
                    </a:solidFill>
                  </a:tcPr>
                </a:tc>
                <a:tc>
                  <a:txBody>
                    <a:bodyPr wrap="square"/>
                    <a:lstStyle/>
                    <a:p>
                      <a:pPr algn="ctr"/>
                      <a:r>
                        <a:rPr sz="1100" b="0" i="0">
                          <a:solidFill>
                            <a:srgbClr val="1F1F1F"/>
                          </a:solidFill>
                          <a:latin typeface="Calibri"/>
                        </a:rPr>
                        <a:t>Linear SVM 0.733</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F1-score</a:t>
                      </a:r>
                    </a:p>
                  </a:txBody>
                  <a:tcPr marL="54864" marR="54864" marT="27432" marB="27432" anchor="ctr">
                    <a:solidFill>
                      <a:srgbClr val="EEF2F8"/>
                    </a:solidFill>
                  </a:tcPr>
                </a:tc>
                <a:tc>
                  <a:txBody>
                    <a:bodyPr wrap="square"/>
                    <a:lstStyle/>
                    <a:p>
                      <a:pPr algn="ctr"/>
                      <a:r>
                        <a:rPr sz="1100" b="0" i="0">
                          <a:solidFill>
                            <a:srgbClr val="1F1F1F"/>
                          </a:solidFill>
                          <a:latin typeface="Calibri"/>
                        </a:rPr>
                        <a:t>Harmonic mean of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Balances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0.728</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100" b="0" i="0">
                          <a:solidFill>
                            <a:srgbClr val="1F1F1F"/>
                          </a:solidFill>
                          <a:latin typeface="Calibri"/>
                        </a:rPr>
                        <a:t>True Negative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Low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0.778</a:t>
                      </a:r>
                    </a:p>
                  </a:txBody>
                  <a:tcPr marL="54864" marR="54864" marT="27432" marB="27432" anchor="ctr">
                    <a:solidFill>
                      <a:srgbClr val="FFFFFF"/>
                    </a:solidFill>
                  </a:tcPr>
                </a:tc>
                <a:tc>
                  <a:txBody>
                    <a:bodyPr wrap="square"/>
                    <a:lstStyle/>
                    <a:p>
                      <a:pPr algn="ctr"/>
                      <a:r>
                        <a:rPr sz="1100" b="0" i="0">
                          <a:solidFill>
                            <a:srgbClr val="1F1F1F"/>
                          </a:solidFill>
                          <a:latin typeface="Calibri"/>
                        </a:rPr>
                        <a:t>RF 0.742</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ROC-AUC</a:t>
                      </a:r>
                    </a:p>
                  </a:txBody>
                  <a:tcPr marL="54864" marR="54864" marT="27432" marB="27432" anchor="ctr">
                    <a:solidFill>
                      <a:srgbClr val="EEF2F8"/>
                    </a:solidFill>
                  </a:tcPr>
                </a:tc>
                <a:tc>
                  <a:txBody>
                    <a:bodyPr wrap="square"/>
                    <a:lstStyle/>
                    <a:p>
                      <a:pPr algn="ctr"/>
                      <a:r>
                        <a:rPr sz="1100" b="0" i="0">
                          <a:solidFill>
                            <a:srgbClr val="1F1F1F"/>
                          </a:solidFill>
                          <a:latin typeface="Calibri"/>
                        </a:rPr>
                        <a:t>Area Under the ROC Curve</a:t>
                      </a:r>
                    </a:p>
                  </a:txBody>
                  <a:tcPr marL="54864" marR="54864" marT="27432" marB="27432" anchor="ctr">
                    <a:solidFill>
                      <a:srgbClr val="EEF2F8"/>
                    </a:solidFill>
                  </a:tcPr>
                </a:tc>
                <a:tc>
                  <a:txBody>
                    <a:bodyPr wrap="square"/>
                    <a:lstStyle/>
                    <a:p>
                      <a:pPr algn="ctr"/>
                      <a:r>
                        <a:rPr sz="1100" b="0" i="0">
                          <a:solidFill>
                            <a:srgbClr val="1F1F1F"/>
                          </a:solidFill>
                          <a:latin typeface="Calibri"/>
                        </a:rPr>
                        <a:t>Ability to separate High from Low</a:t>
                      </a:r>
                    </a:p>
                  </a:txBody>
                  <a:tcPr marL="54864" marR="54864" marT="27432" marB="27432" anchor="ctr">
                    <a:solidFill>
                      <a:srgbClr val="EEF2F8"/>
                    </a:solidFill>
                  </a:tcPr>
                </a:tc>
                <a:tc>
                  <a:txBody>
                    <a:bodyPr wrap="square"/>
                    <a:lstStyle/>
                    <a:p>
                      <a:pPr algn="ctr"/>
                      <a:r>
                        <a:rPr sz="1100" b="0" i="0">
                          <a:solidFill>
                            <a:srgbClr val="1F1F1F"/>
                          </a:solidFill>
                          <a:latin typeface="Calibri"/>
                        </a:rPr>
                        <a:t>0.820</a:t>
                      </a:r>
                    </a:p>
                  </a:txBody>
                  <a:tcPr marL="54864" marR="54864" marT="27432" marB="27432" anchor="ctr">
                    <a:solidFill>
                      <a:srgbClr val="EEF2F8"/>
                    </a:solidFill>
                  </a:tcPr>
                </a:tc>
                <a:tc>
                  <a:txBody>
                    <a:bodyPr wrap="square"/>
                    <a:lstStyle/>
                    <a:p>
                      <a:pPr algn="ctr"/>
                      <a:r>
                        <a:rPr sz="1100" b="0" i="0">
                          <a:solidFill>
                            <a:srgbClr val="1F1F1F"/>
                          </a:solidFill>
                          <a:latin typeface="Calibri"/>
                        </a:rPr>
                        <a:t>GBT 0.811</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Log loss</a:t>
                      </a:r>
                    </a:p>
                  </a:txBody>
                  <a:tcPr marL="54864" marR="54864" marT="27432" marB="27432" anchor="ctr">
                    <a:solidFill>
                      <a:srgbClr val="FFFFFF"/>
                    </a:solidFill>
                  </a:tcPr>
                </a:tc>
                <a:tc>
                  <a:txBody>
                    <a:bodyPr wrap="square"/>
                    <a:lstStyle/>
                    <a:p>
                      <a:pPr algn="ctr"/>
                      <a:r>
                        <a:rPr sz="1100" b="0" i="0">
                          <a:solidFill>
                            <a:srgbClr val="1F1F1F"/>
                          </a:solidFill>
                          <a:latin typeface="Calibri"/>
                        </a:rPr>
                        <a:t>Cross-Entropy Loss</a:t>
                      </a:r>
                    </a:p>
                  </a:txBody>
                  <a:tcPr marL="54864" marR="54864" marT="27432" marB="27432" anchor="ctr">
                    <a:solidFill>
                      <a:srgbClr val="FFFFFF"/>
                    </a:solidFill>
                  </a:tcPr>
                </a:tc>
                <a:tc>
                  <a:txBody>
                    <a:bodyPr wrap="square"/>
                    <a:lstStyle/>
                    <a:p>
                      <a:pPr algn="ctr"/>
                      <a:r>
                        <a:rPr sz="1100" b="0" i="0">
                          <a:solidFill>
                            <a:srgbClr val="1F1F1F"/>
                          </a:solidFill>
                          <a:latin typeface="Calibri"/>
                        </a:rPr>
                        <a:t>Quality of predicted probabilities (lower is better)</a:t>
                      </a:r>
                    </a:p>
                  </a:txBody>
                  <a:tcPr marL="54864" marR="54864" marT="27432" marB="27432" anchor="ctr">
                    <a:solidFill>
                      <a:srgbClr val="FFFFFF"/>
                    </a:solidFill>
                  </a:tcPr>
                </a:tc>
                <a:tc>
                  <a:txBody>
                    <a:bodyPr wrap="square"/>
                    <a:lstStyle/>
                    <a:p>
                      <a:pPr algn="ctr"/>
                      <a:r>
                        <a:rPr sz="1100" b="0" i="0">
                          <a:solidFill>
                            <a:srgbClr val="1F1F1F"/>
                          </a:solidFill>
                          <a:latin typeface="Calibri"/>
                        </a:rPr>
                        <a:t>0.516</a:t>
                      </a:r>
                    </a:p>
                  </a:txBody>
                  <a:tcPr marL="54864" marR="54864" marT="27432" marB="27432" anchor="ctr">
                    <a:solidFill>
                      <a:srgbClr val="FFFFFF"/>
                    </a:solidFill>
                  </a:tcPr>
                </a:tc>
                <a:tc>
                  <a:txBody>
                    <a:bodyPr wrap="square"/>
                    <a:lstStyle/>
                    <a:p>
                      <a:pPr algn="ctr"/>
                      <a:r>
                        <a:rPr sz="1100" b="0" i="0">
                          <a:solidFill>
                            <a:srgbClr val="1F1F1F"/>
                          </a:solidFill>
                          <a:latin typeface="Calibri"/>
                        </a:rPr>
                        <a:t>RF 0.539</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MCC</a:t>
                      </a:r>
                    </a:p>
                  </a:txBody>
                  <a:tcPr marL="54864" marR="54864" marT="27432" marB="27432" anchor="ctr">
                    <a:solidFill>
                      <a:srgbClr val="EEF2F8"/>
                    </a:solidFill>
                  </a:tcPr>
                </a:tc>
                <a:tc>
                  <a:txBody>
                    <a:bodyPr wrap="square"/>
                    <a:lstStyle/>
                    <a:p>
                      <a:pPr algn="ctr"/>
                      <a:r>
                        <a:rPr sz="1100" b="0" i="0">
                          <a:solidFill>
                            <a:srgbClr val="1F1F1F"/>
                          </a:solidFill>
                          <a:latin typeface="Calibri"/>
                        </a:rPr>
                        <a:t>Matthews Correlation Coefficient</a:t>
                      </a:r>
                    </a:p>
                  </a:txBody>
                  <a:tcPr marL="54864" marR="54864" marT="27432" marB="27432" anchor="ctr">
                    <a:solidFill>
                      <a:srgbClr val="EEF2F8"/>
                    </a:solidFill>
                  </a:tcPr>
                </a:tc>
                <a:tc>
                  <a:txBody>
                    <a:bodyPr wrap="square"/>
                    <a:lstStyle/>
                    <a:p>
                      <a:pPr algn="ctr"/>
                      <a:r>
                        <a:rPr sz="1100" b="0" i="0">
                          <a:solidFill>
                            <a:srgbClr val="1F1F1F"/>
                          </a:solidFill>
                          <a:latin typeface="Calibri"/>
                        </a:rPr>
                        <a:t>Uses all four confusion-matrix cells</a:t>
                      </a:r>
                    </a:p>
                  </a:txBody>
                  <a:tcPr marL="54864" marR="54864" marT="27432" marB="27432" anchor="ctr">
                    <a:solidFill>
                      <a:srgbClr val="EEF2F8"/>
                    </a:solidFill>
                  </a:tcPr>
                </a:tc>
                <a:tc>
                  <a:txBody>
                    <a:bodyPr wrap="square"/>
                    <a:lstStyle/>
                    <a:p>
                      <a:pPr algn="ctr"/>
                      <a:r>
                        <a:rPr sz="1100" b="0" i="0">
                          <a:solidFill>
                            <a:srgbClr val="1F1F1F"/>
                          </a:solidFill>
                          <a:latin typeface="Calibri"/>
                        </a:rPr>
                        <a:t>0.482</a:t>
                      </a:r>
                    </a:p>
                  </a:txBody>
                  <a:tcPr marL="54864" marR="54864" marT="27432" marB="27432" anchor="ctr">
                    <a:solidFill>
                      <a:srgbClr val="EEF2F8"/>
                    </a:solidFill>
                  </a:tcPr>
                </a:tc>
                <a:tc>
                  <a:txBody>
                    <a:bodyPr wrap="square"/>
                    <a:lstStyle/>
                    <a:p>
                      <a:pPr algn="ctr"/>
                      <a:r>
                        <a:rPr sz="1100" b="0" i="0">
                          <a:solidFill>
                            <a:srgbClr val="1F1F1F"/>
                          </a:solidFill>
                          <a:latin typeface="Calibri"/>
                        </a:rPr>
                        <a:t>GBT 0.454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100" b="0" i="0">
                          <a:solidFill>
                            <a:srgbClr val="1F1F1F"/>
                          </a:solidFill>
                          <a:latin typeface="Calibri"/>
                        </a:rPr>
                        <a:t>Cohen's Kappa Coefficient</a:t>
                      </a:r>
                    </a:p>
                  </a:txBody>
                  <a:tcPr marL="54864" marR="54864" marT="27432" marB="27432" anchor="ctr">
                    <a:solidFill>
                      <a:srgbClr val="FFFFFF"/>
                    </a:solidFill>
                  </a:tcPr>
                </a:tc>
                <a:tc>
                  <a:txBody>
                    <a:bodyPr wrap="square"/>
                    <a:lstStyle/>
                    <a:p>
                      <a:pPr algn="ctr"/>
                      <a:r>
                        <a:rPr sz="1100" b="0" i="0">
                          <a:solidFill>
                            <a:srgbClr val="1F1F1F"/>
                          </a:solidFill>
                          <a:latin typeface="Calibri"/>
                        </a:rPr>
                        <a:t>Agreement with true labels, corrected for chance</a:t>
                      </a:r>
                    </a:p>
                  </a:txBody>
                  <a:tcPr marL="54864" marR="54864" marT="27432" marB="27432" anchor="ctr">
                    <a:solidFill>
                      <a:srgbClr val="FFFFFF"/>
                    </a:solidFill>
                  </a:tcPr>
                </a:tc>
                <a:tc>
                  <a:txBody>
                    <a:bodyPr wrap="square"/>
                    <a:lstStyle/>
                    <a:p>
                      <a:pPr algn="ctr"/>
                      <a:r>
                        <a:rPr sz="1100" b="0" i="0">
                          <a:solidFill>
                            <a:srgbClr val="1F1F1F"/>
                          </a:solidFill>
                          <a:latin typeface="Calibri"/>
                        </a:rPr>
                        <a:t>0.477</a:t>
                      </a:r>
                    </a:p>
                  </a:txBody>
                  <a:tcPr marL="54864" marR="54864" marT="27432" marB="27432" anchor="ctr">
                    <a:solidFill>
                      <a:srgbClr val="FFFFFF"/>
                    </a:solidFill>
                  </a:tcPr>
                </a:tc>
                <a:tc>
                  <a:txBody>
                    <a:bodyPr wrap="square"/>
                    <a:lstStyle/>
                    <a:p>
                      <a:pPr algn="ctr"/>
                      <a:r>
                        <a:rPr sz="1100" b="0" i="0">
                          <a:solidFill>
                            <a:srgbClr val="1F1F1F"/>
                          </a:solidFill>
                          <a:latin typeface="Calibri"/>
                        </a:rPr>
                        <a:t>GBT 0.451</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class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Accuracy that is fair to both classes</a:t>
                      </a:r>
                    </a:p>
                  </a:txBody>
                  <a:tcPr marL="54864" marR="54864" marT="27432" marB="27432" anchor="ctr">
                    <a:solidFill>
                      <a:srgbClr val="EEF2F8"/>
                    </a:solidFill>
                  </a:tcPr>
                </a:tc>
                <a:tc>
                  <a:txBody>
                    <a:bodyPr wrap="square"/>
                    <a:lstStyle/>
                    <a:p>
                      <a:pPr algn="ctr"/>
                      <a:r>
                        <a:rPr sz="1100" b="0" i="0">
                          <a:solidFill>
                            <a:srgbClr val="1F1F1F"/>
                          </a:solidFill>
                          <a:latin typeface="Calibri"/>
                        </a:rPr>
                        <a:t>0.739</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0.726</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1F1F1F"/>
                </a:solidFill>
                <a:latin typeface="Calibri"/>
              </a:rPr>
              <a:t>B-ACPN is best on 9 of 10 (Accuracy, Precision, F1-score, Specificity, ROC-AUC, Log loss, MCC, Cohen's kappa, Balanced acc.); not best on Recall. Lower is better only for log loss.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200" b="1" i="0">
                <a:solidFill>
                  <a:srgbClr val="1B3A6B"/>
                </a:solidFill>
                <a:latin typeface="Times New Roman"/>
              </a:rPr>
              <a:t>Classification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6" cy="4608576"/>
        </p:xfrm>
        <a:graphic>
          <a:graphicData uri="http://schemas.openxmlformats.org/drawingml/2006/table">
            <a:tbl>
              <a:tblPr firstRow="1" bandRow="1">
                <a:tableStyleId>{5C22544A-7EE6-4342-B048-85BDC9FD1C3A}</a:tableStyleId>
              </a:tblPr>
              <a:tblGrid>
                <a:gridCol w="1327322"/>
                <a:gridCol w="1180859"/>
                <a:gridCol w="1180859"/>
                <a:gridCol w="1180859"/>
                <a:gridCol w="1180859"/>
                <a:gridCol w="1180859"/>
                <a:gridCol w="1180859"/>
              </a:tblGrid>
              <a:tr h="384048">
                <a:tc>
                  <a:txBody>
                    <a:bodyPr wrap="square"/>
                    <a:lstStyle/>
                    <a:p>
                      <a:pPr algn="l"/>
                      <a:r>
                        <a:rPr sz="1000" b="1" i="0">
                          <a:solidFill>
                            <a:srgbClr val="FFFFFF"/>
                          </a:solidFill>
                          <a:latin typeface="Calibri"/>
                        </a:rPr>
                        <a:t>Metric</a:t>
                      </a:r>
                    </a:p>
                  </a:txBody>
                  <a:tcPr marL="54864" marR="54864" marT="27432" marB="27432" anchor="ctr">
                    <a:solidFill>
                      <a:srgbClr val="1B3A6B"/>
                    </a:solidFill>
                  </a:tcPr>
                </a:tc>
                <a:tc>
                  <a:txBody>
                    <a:bodyPr wrap="square"/>
                    <a:lstStyle/>
                    <a:p>
                      <a:pPr algn="ctr"/>
                      <a:r>
                        <a:rPr sz="1000" b="1" i="0">
                          <a:solidFill>
                            <a:srgbClr val="FFFFFF"/>
                          </a:solidFill>
                          <a:latin typeface="Calibri"/>
                        </a:rPr>
                        <a:t>B-ACPN</a:t>
                      </a:r>
                    </a:p>
                  </a:txBody>
                  <a:tcPr marL="54864" marR="54864" marT="27432" marB="27432" anchor="ctr">
                    <a:solidFill>
                      <a:srgbClr val="1B3A6B"/>
                    </a:solidFill>
                  </a:tcPr>
                </a:tc>
                <a:tc>
                  <a:txBody>
                    <a:bodyPr wrap="square"/>
                    <a:lstStyle/>
                    <a:p>
                      <a:pPr algn="ctr"/>
                      <a:r>
                        <a:rPr sz="1000" b="1" i="0">
                          <a:solidFill>
                            <a:srgbClr val="FFFFFF"/>
                          </a:solidFill>
                          <a:latin typeface="Calibri"/>
                        </a:rPr>
                        <a:t>LR</a:t>
                      </a:r>
                    </a:p>
                  </a:txBody>
                  <a:tcPr marL="54864" marR="54864" marT="27432" marB="27432" anchor="ctr">
                    <a:solidFill>
                      <a:srgbClr val="1B3A6B"/>
                    </a:solidFill>
                  </a:tcPr>
                </a:tc>
                <a:tc>
                  <a:txBody>
                    <a:bodyPr wrap="square"/>
                    <a:lstStyle/>
                    <a:p>
                      <a:pPr algn="ctr"/>
                      <a:r>
                        <a:rPr sz="1000" b="1" i="0">
                          <a:solidFill>
                            <a:srgbClr val="FFFFFF"/>
                          </a:solidFill>
                          <a:latin typeface="Calibri"/>
                        </a:rPr>
                        <a:t>RF</a:t>
                      </a:r>
                    </a:p>
                  </a:txBody>
                  <a:tcPr marL="54864" marR="54864" marT="27432" marB="27432" anchor="ctr">
                    <a:solidFill>
                      <a:srgbClr val="1B3A6B"/>
                    </a:solidFill>
                  </a:tcPr>
                </a:tc>
                <a:tc>
                  <a:txBody>
                    <a:bodyPr wrap="square"/>
                    <a:lstStyle/>
                    <a:p>
                      <a:pPr algn="ctr"/>
                      <a:r>
                        <a:rPr sz="1000" b="1" i="0">
                          <a:solidFill>
                            <a:srgbClr val="FFFFFF"/>
                          </a:solidFill>
                          <a:latin typeface="Calibri"/>
                        </a:rPr>
                        <a:t>GBT</a:t>
                      </a:r>
                    </a:p>
                  </a:txBody>
                  <a:tcPr marL="54864" marR="54864" marT="27432" marB="27432" anchor="ctr">
                    <a:solidFill>
                      <a:srgbClr val="1B3A6B"/>
                    </a:solidFill>
                  </a:tcPr>
                </a:tc>
                <a:tc>
                  <a:txBody>
                    <a:bodyPr wrap="square"/>
                    <a:lstStyle/>
                    <a:p>
                      <a:pPr algn="ctr"/>
                      <a:r>
                        <a:rPr sz="1000" b="1" i="0">
                          <a:solidFill>
                            <a:srgbClr val="FFFFFF"/>
                          </a:solidFill>
                          <a:latin typeface="Calibri"/>
                        </a:rPr>
                        <a:t>Linear SVM</a:t>
                      </a:r>
                    </a:p>
                  </a:txBody>
                  <a:tcPr marL="54864" marR="54864" marT="27432" marB="27432" anchor="ctr">
                    <a:solidFill>
                      <a:srgbClr val="1B3A6B"/>
                    </a:solidFill>
                  </a:tcPr>
                </a:tc>
                <a:tc>
                  <a:txBody>
                    <a:bodyPr wrap="square"/>
                    <a:lstStyle/>
                    <a:p>
                      <a:pPr algn="ctr"/>
                      <a:r>
                        <a:rPr sz="1000" b="1" i="0">
                          <a:solidFill>
                            <a:srgbClr val="FFFFFF"/>
                          </a:solidFill>
                          <a:latin typeface="Calibri"/>
                        </a:rPr>
                        <a:t>MLP</a:t>
                      </a:r>
                    </a:p>
                  </a:txBody>
                  <a:tcPr marL="54864" marR="54864" marT="27432" marB="27432" anchor="ctr">
                    <a:solidFill>
                      <a:srgbClr val="1B3A6B"/>
                    </a:solidFill>
                  </a:tcPr>
                </a:tc>
              </a:tr>
              <a:tr h="384048">
                <a:tc>
                  <a:txBody>
                    <a:bodyPr wrap="square"/>
                    <a:lstStyle/>
                    <a:p>
                      <a:pPr algn="l"/>
                      <a:r>
                        <a:rPr sz="10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000" b="0" i="0">
                          <a:solidFill>
                            <a:srgbClr val="1F1F1F"/>
                          </a:solidFill>
                          <a:latin typeface="Calibri"/>
                        </a:rPr>
                        <a:t>0.735 → 0.738</a:t>
                      </a:r>
                    </a:p>
                  </a:txBody>
                  <a:tcPr marL="54864" marR="54864" marT="27432" marB="27432" anchor="ctr">
                    <a:solidFill>
                      <a:srgbClr val="FFFFFF"/>
                    </a:solidFill>
                  </a:tcPr>
                </a:tc>
                <a:tc>
                  <a:txBody>
                    <a:bodyPr wrap="square"/>
                    <a:lstStyle/>
                    <a:p>
                      <a:pPr algn="ctr"/>
                      <a:r>
                        <a:rPr sz="1000" b="0" i="0">
                          <a:solidFill>
                            <a:srgbClr val="1F1F1F"/>
                          </a:solidFill>
                          <a:latin typeface="Calibri"/>
                        </a:rPr>
                        <a:t>0.692 → 0.692</a:t>
                      </a:r>
                    </a:p>
                  </a:txBody>
                  <a:tcPr marL="54864" marR="54864" marT="27432" marB="27432" anchor="ctr">
                    <a:solidFill>
                      <a:srgbClr val="FFFFFF"/>
                    </a:solidFill>
                  </a:tcPr>
                </a:tc>
                <a:tc>
                  <a:txBody>
                    <a:bodyPr wrap="square"/>
                    <a:lstStyle/>
                    <a:p>
                      <a:pPr algn="ctr"/>
                      <a:r>
                        <a:rPr sz="1000" b="0" i="0">
                          <a:solidFill>
                            <a:srgbClr val="1F1F1F"/>
                          </a:solidFill>
                          <a:latin typeface="Calibri"/>
                        </a:rPr>
                        <a:t>0.715 → 0.715</a:t>
                      </a:r>
                    </a:p>
                  </a:txBody>
                  <a:tcPr marL="54864" marR="54864" marT="27432" marB="27432" anchor="ctr">
                    <a:solidFill>
                      <a:srgbClr val="FFFFFF"/>
                    </a:solidFill>
                  </a:tcPr>
                </a:tc>
                <a:tc>
                  <a:txBody>
                    <a:bodyPr wrap="square"/>
                    <a:lstStyle/>
                    <a:p>
                      <a:pPr algn="ctr"/>
                      <a:r>
                        <a:rPr sz="1000" b="0" i="0">
                          <a:solidFill>
                            <a:srgbClr val="1F1F1F"/>
                          </a:solidFill>
                          <a:latin typeface="Calibri"/>
                        </a:rPr>
                        <a:t>0.726 → 0.725</a:t>
                      </a:r>
                    </a:p>
                  </a:txBody>
                  <a:tcPr marL="54864" marR="54864" marT="27432" marB="27432" anchor="ctr">
                    <a:solidFill>
                      <a:srgbClr val="FFFFFF"/>
                    </a:solidFill>
                  </a:tcPr>
                </a:tc>
                <a:tc>
                  <a:txBody>
                    <a:bodyPr wrap="square"/>
                    <a:lstStyle/>
                    <a:p>
                      <a:pPr algn="ctr"/>
                      <a:r>
                        <a:rPr sz="1000" b="0" i="0">
                          <a:solidFill>
                            <a:srgbClr val="1F1F1F"/>
                          </a:solidFill>
                          <a:latin typeface="Calibri"/>
                        </a:rPr>
                        <a:t>0.696 → 0.696</a:t>
                      </a:r>
                    </a:p>
                  </a:txBody>
                  <a:tcPr marL="54864" marR="54864" marT="27432" marB="27432" anchor="ctr">
                    <a:solidFill>
                      <a:srgbClr val="FFFFFF"/>
                    </a:solidFill>
                  </a:tcPr>
                </a:tc>
                <a:tc>
                  <a:txBody>
                    <a:bodyPr wrap="square"/>
                    <a:lstStyle/>
                    <a:p>
                      <a:pPr algn="ctr"/>
                      <a:r>
                        <a:rPr sz="1000" b="0" i="0">
                          <a:solidFill>
                            <a:srgbClr val="1F1F1F"/>
                          </a:solidFill>
                          <a:latin typeface="Calibri"/>
                        </a:rPr>
                        <a:t>0.711 → 0.699</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000" b="0" i="0">
                          <a:solidFill>
                            <a:srgbClr val="1F1F1F"/>
                          </a:solidFill>
                          <a:latin typeface="Calibri"/>
                        </a:rPr>
                        <a:t>0.760 → 0.765</a:t>
                      </a:r>
                    </a:p>
                  </a:txBody>
                  <a:tcPr marL="54864" marR="54864" marT="27432" marB="27432" anchor="ctr">
                    <a:solidFill>
                      <a:srgbClr val="EEF2F8"/>
                    </a:solidFill>
                  </a:tcPr>
                </a:tc>
                <a:tc>
                  <a:txBody>
                    <a:bodyPr wrap="square"/>
                    <a:lstStyle/>
                    <a:p>
                      <a:pPr algn="ctr"/>
                      <a:r>
                        <a:rPr sz="1000" b="0" i="0">
                          <a:solidFill>
                            <a:srgbClr val="1F1F1F"/>
                          </a:solidFill>
                          <a:latin typeface="Calibri"/>
                        </a:rPr>
                        <a:t>0.688 → 0.688</a:t>
                      </a:r>
                    </a:p>
                  </a:txBody>
                  <a:tcPr marL="54864" marR="54864" marT="27432" marB="27432" anchor="ctr">
                    <a:solidFill>
                      <a:srgbClr val="EEF2F8"/>
                    </a:solidFill>
                  </a:tcPr>
                </a:tc>
                <a:tc>
                  <a:txBody>
                    <a:bodyPr wrap="square"/>
                    <a:lstStyle/>
                    <a:p>
                      <a:pPr algn="ctr"/>
                      <a:r>
                        <a:rPr sz="1000" b="0" i="0">
                          <a:solidFill>
                            <a:srgbClr val="1F1F1F"/>
                          </a:solidFill>
                          <a:latin typeface="Calibri"/>
                        </a:rPr>
                        <a:t>0.735 → 0.735</a:t>
                      </a:r>
                    </a:p>
                  </a:txBody>
                  <a:tcPr marL="54864" marR="54864" marT="27432" marB="27432" anchor="ctr">
                    <a:solidFill>
                      <a:srgbClr val="EEF2F8"/>
                    </a:solidFill>
                  </a:tcPr>
                </a:tc>
                <a:tc>
                  <a:txBody>
                    <a:bodyPr wrap="square"/>
                    <a:lstStyle/>
                    <a:p>
                      <a:pPr algn="ctr"/>
                      <a:r>
                        <a:rPr sz="1000" b="0" i="0">
                          <a:solidFill>
                            <a:srgbClr val="1F1F1F"/>
                          </a:solidFill>
                          <a:latin typeface="Calibri"/>
                        </a:rPr>
                        <a:t>0.737 → 0.736</a:t>
                      </a:r>
                    </a:p>
                  </a:txBody>
                  <a:tcPr marL="54864" marR="54864" marT="27432" marB="27432" anchor="ctr">
                    <a:solidFill>
                      <a:srgbClr val="EEF2F8"/>
                    </a:solidFill>
                  </a:tcPr>
                </a:tc>
                <a:tc>
                  <a:txBody>
                    <a:bodyPr wrap="square"/>
                    <a:lstStyle/>
                    <a:p>
                      <a:pPr algn="ctr"/>
                      <a:r>
                        <a:rPr sz="1000" b="0" i="0">
                          <a:solidFill>
                            <a:srgbClr val="1F1F1F"/>
                          </a:solidFill>
                          <a:latin typeface="Calibri"/>
                        </a:rPr>
                        <a:t>0.689 → 0.689</a:t>
                      </a:r>
                    </a:p>
                  </a:txBody>
                  <a:tcPr marL="54864" marR="54864" marT="27432" marB="27432" anchor="ctr">
                    <a:solidFill>
                      <a:srgbClr val="EEF2F8"/>
                    </a:solidFill>
                  </a:tcPr>
                </a:tc>
                <a:tc>
                  <a:txBody>
                    <a:bodyPr wrap="square"/>
                    <a:lstStyle/>
                    <a:p>
                      <a:pPr algn="ctr"/>
                      <a:r>
                        <a:rPr sz="1000" b="0" i="0">
                          <a:solidFill>
                            <a:srgbClr val="1F1F1F"/>
                          </a:solidFill>
                          <a:latin typeface="Calibri"/>
                        </a:rPr>
                        <a:t>0.776 → 0.719</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Recall</a:t>
                      </a:r>
                    </a:p>
                  </a:txBody>
                  <a:tcPr marL="54864" marR="54864" marT="27432" marB="27432" anchor="ctr">
                    <a:solidFill>
                      <a:srgbClr val="FFFFFF"/>
                    </a:solidFill>
                  </a:tcPr>
                </a:tc>
                <a:tc>
                  <a:txBody>
                    <a:bodyPr wrap="square"/>
                    <a:lstStyle/>
                    <a:p>
                      <a:pPr algn="ctr"/>
                      <a:r>
                        <a:rPr sz="1000" b="0" i="0">
                          <a:solidFill>
                            <a:srgbClr val="1F1F1F"/>
                          </a:solidFill>
                          <a:latin typeface="Calibri"/>
                        </a:rPr>
                        <a:t>0.700 → 0.700</a:t>
                      </a:r>
                    </a:p>
                  </a:txBody>
                  <a:tcPr marL="54864" marR="54864" marT="27432" marB="27432" anchor="ctr">
                    <a:solidFill>
                      <a:srgbClr val="FFFFFF"/>
                    </a:solidFill>
                  </a:tcPr>
                </a:tc>
                <a:tc>
                  <a:txBody>
                    <a:bodyPr wrap="square"/>
                    <a:lstStyle/>
                    <a:p>
                      <a:pPr algn="ctr"/>
                      <a:r>
                        <a:rPr sz="1000" b="0" i="0">
                          <a:solidFill>
                            <a:srgbClr val="1F1F1F"/>
                          </a:solidFill>
                          <a:latin typeface="Calibri"/>
                        </a:rPr>
                        <a:t>0.718 → 0.718</a:t>
                      </a:r>
                    </a:p>
                  </a:txBody>
                  <a:tcPr marL="54864" marR="54864" marT="27432" marB="27432" anchor="ctr">
                    <a:solidFill>
                      <a:srgbClr val="FFFFFF"/>
                    </a:solidFill>
                  </a:tcPr>
                </a:tc>
                <a:tc>
                  <a:txBody>
                    <a:bodyPr wrap="square"/>
                    <a:lstStyle/>
                    <a:p>
                      <a:pPr algn="ctr"/>
                      <a:r>
                        <a:rPr sz="1000" b="0" i="0">
                          <a:solidFill>
                            <a:srgbClr val="1F1F1F"/>
                          </a:solidFill>
                          <a:latin typeface="Calibri"/>
                        </a:rPr>
                        <a:t>0.689 → 0.689</a:t>
                      </a:r>
                    </a:p>
                  </a:txBody>
                  <a:tcPr marL="54864" marR="54864" marT="27432" marB="27432" anchor="ctr">
                    <a:solidFill>
                      <a:srgbClr val="FFFFFF"/>
                    </a:solidFill>
                  </a:tcPr>
                </a:tc>
                <a:tc>
                  <a:txBody>
                    <a:bodyPr wrap="square"/>
                    <a:lstStyle/>
                    <a:p>
                      <a:pPr algn="ctr"/>
                      <a:r>
                        <a:rPr sz="1000" b="0" i="0">
                          <a:solidFill>
                            <a:srgbClr val="1F1F1F"/>
                          </a:solidFill>
                          <a:latin typeface="Calibri"/>
                        </a:rPr>
                        <a:t>0.718 → 0.718</a:t>
                      </a:r>
                    </a:p>
                  </a:txBody>
                  <a:tcPr marL="54864" marR="54864" marT="27432" marB="27432" anchor="ctr">
                    <a:solidFill>
                      <a:srgbClr val="FFFFFF"/>
                    </a:solidFill>
                  </a:tcPr>
                </a:tc>
                <a:tc>
                  <a:txBody>
                    <a:bodyPr wrap="square"/>
                    <a:lstStyle/>
                    <a:p>
                      <a:pPr algn="ctr"/>
                      <a:r>
                        <a:rPr sz="1000" b="0" i="0">
                          <a:solidFill>
                            <a:srgbClr val="1F1F1F"/>
                          </a:solidFill>
                          <a:latin typeface="Calibri"/>
                        </a:rPr>
                        <a:t>0.733 → 0.733</a:t>
                      </a:r>
                    </a:p>
                  </a:txBody>
                  <a:tcPr marL="54864" marR="54864" marT="27432" marB="27432" anchor="ctr">
                    <a:solidFill>
                      <a:srgbClr val="FFFFFF"/>
                    </a:solidFill>
                  </a:tcPr>
                </a:tc>
                <a:tc>
                  <a:txBody>
                    <a:bodyPr wrap="square"/>
                    <a:lstStyle/>
                    <a:p>
                      <a:pPr algn="ctr"/>
                      <a:r>
                        <a:rPr sz="1000" b="0" i="0">
                          <a:solidFill>
                            <a:srgbClr val="1F1F1F"/>
                          </a:solidFill>
                          <a:latin typeface="Calibri"/>
                        </a:rPr>
                        <a:t>0.611 → 0.674</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F1-score</a:t>
                      </a:r>
                    </a:p>
                  </a:txBody>
                  <a:tcPr marL="54864" marR="54864" marT="27432" marB="27432" anchor="ctr">
                    <a:solidFill>
                      <a:srgbClr val="EEF2F8"/>
                    </a:solidFill>
                  </a:tcPr>
                </a:tc>
                <a:tc>
                  <a:txBody>
                    <a:bodyPr wrap="square"/>
                    <a:lstStyle/>
                    <a:p>
                      <a:pPr algn="ctr"/>
                      <a:r>
                        <a:rPr sz="1000" b="0" i="0">
                          <a:solidFill>
                            <a:srgbClr val="1F1F1F"/>
                          </a:solidFill>
                          <a:latin typeface="Calibri"/>
                        </a:rPr>
                        <a:t>0.726 → 0.728</a:t>
                      </a:r>
                    </a:p>
                  </a:txBody>
                  <a:tcPr marL="54864" marR="54864" marT="27432" marB="27432" anchor="ctr">
                    <a:solidFill>
                      <a:srgbClr val="EEF2F8"/>
                    </a:solidFill>
                  </a:tcPr>
                </a:tc>
                <a:tc>
                  <a:txBody>
                    <a:bodyPr wrap="square"/>
                    <a:lstStyle/>
                    <a:p>
                      <a:pPr algn="ctr"/>
                      <a:r>
                        <a:rPr sz="1000" b="0" i="0">
                          <a:solidFill>
                            <a:srgbClr val="1F1F1F"/>
                          </a:solidFill>
                          <a:latin typeface="Calibri"/>
                        </a:rPr>
                        <a:t>0.701 → 0.701</a:t>
                      </a:r>
                    </a:p>
                  </a:txBody>
                  <a:tcPr marL="54864" marR="54864" marT="27432" marB="27432" anchor="ctr">
                    <a:solidFill>
                      <a:srgbClr val="EEF2F8"/>
                    </a:solidFill>
                  </a:tcPr>
                </a:tc>
                <a:tc>
                  <a:txBody>
                    <a:bodyPr wrap="square"/>
                    <a:lstStyle/>
                    <a:p>
                      <a:pPr algn="ctr"/>
                      <a:r>
                        <a:rPr sz="1000" b="0" i="0">
                          <a:solidFill>
                            <a:srgbClr val="1F1F1F"/>
                          </a:solidFill>
                          <a:latin typeface="Calibri"/>
                        </a:rPr>
                        <a:t>0.708 → 0.708</a:t>
                      </a:r>
                    </a:p>
                  </a:txBody>
                  <a:tcPr marL="54864" marR="54864" marT="27432" marB="27432" anchor="ctr">
                    <a:solidFill>
                      <a:srgbClr val="EEF2F8"/>
                    </a:solidFill>
                  </a:tcPr>
                </a:tc>
                <a:tc>
                  <a:txBody>
                    <a:bodyPr wrap="square"/>
                    <a:lstStyle/>
                    <a:p>
                      <a:pPr algn="ctr"/>
                      <a:r>
                        <a:rPr sz="1000" b="0" i="0">
                          <a:solidFill>
                            <a:srgbClr val="1F1F1F"/>
                          </a:solidFill>
                          <a:latin typeface="Calibri"/>
                        </a:rPr>
                        <a:t>0.724 → 0.724</a:t>
                      </a:r>
                    </a:p>
                  </a:txBody>
                  <a:tcPr marL="54864" marR="54864" marT="27432" marB="27432" anchor="ctr">
                    <a:solidFill>
                      <a:srgbClr val="EEF2F8"/>
                    </a:solidFill>
                  </a:tcPr>
                </a:tc>
                <a:tc>
                  <a:txBody>
                    <a:bodyPr wrap="square"/>
                    <a:lstStyle/>
                    <a:p>
                      <a:pPr algn="ctr"/>
                      <a:r>
                        <a:rPr sz="1000" b="0" i="0">
                          <a:solidFill>
                            <a:srgbClr val="1F1F1F"/>
                          </a:solidFill>
                          <a:latin typeface="Calibri"/>
                        </a:rPr>
                        <a:t>0.708 → 0.708</a:t>
                      </a:r>
                    </a:p>
                  </a:txBody>
                  <a:tcPr marL="54864" marR="54864" marT="27432" marB="27432" anchor="ctr">
                    <a:solidFill>
                      <a:srgbClr val="EEF2F8"/>
                    </a:solidFill>
                  </a:tcPr>
                </a:tc>
                <a:tc>
                  <a:txBody>
                    <a:bodyPr wrap="square"/>
                    <a:lstStyle/>
                    <a:p>
                      <a:pPr algn="ctr"/>
                      <a:r>
                        <a:rPr sz="1000" b="0" i="0">
                          <a:solidFill>
                            <a:srgbClr val="1F1F1F"/>
                          </a:solidFill>
                          <a:latin typeface="Calibri"/>
                        </a:rPr>
                        <a:t>0.678 → 0.692</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000" b="0" i="0">
                          <a:solidFill>
                            <a:srgbClr val="1F1F1F"/>
                          </a:solidFill>
                          <a:latin typeface="Calibri"/>
                        </a:rPr>
                        <a:t>0.770 → 0.778</a:t>
                      </a:r>
                    </a:p>
                  </a:txBody>
                  <a:tcPr marL="54864" marR="54864" marT="27432" marB="27432" anchor="ctr">
                    <a:solidFill>
                      <a:srgbClr val="FFFFFF"/>
                    </a:solidFill>
                  </a:tcPr>
                </a:tc>
                <a:tc>
                  <a:txBody>
                    <a:bodyPr wrap="square"/>
                    <a:lstStyle/>
                    <a:p>
                      <a:pPr algn="ctr"/>
                      <a:r>
                        <a:rPr sz="1000" b="0" i="0">
                          <a:solidFill>
                            <a:srgbClr val="1F1F1F"/>
                          </a:solidFill>
                          <a:latin typeface="Calibri"/>
                        </a:rPr>
                        <a:t>0.665 → 0.665</a:t>
                      </a:r>
                    </a:p>
                  </a:txBody>
                  <a:tcPr marL="54864" marR="54864" marT="27432" marB="27432" anchor="ctr">
                    <a:solidFill>
                      <a:srgbClr val="FFFFFF"/>
                    </a:solidFill>
                  </a:tcPr>
                </a:tc>
                <a:tc>
                  <a:txBody>
                    <a:bodyPr wrap="square"/>
                    <a:lstStyle/>
                    <a:p>
                      <a:pPr algn="ctr"/>
                      <a:r>
                        <a:rPr sz="1000" b="0" i="0">
                          <a:solidFill>
                            <a:srgbClr val="1F1F1F"/>
                          </a:solidFill>
                          <a:latin typeface="Calibri"/>
                        </a:rPr>
                        <a:t>0.742 → 0.742</a:t>
                      </a:r>
                    </a:p>
                  </a:txBody>
                  <a:tcPr marL="54864" marR="54864" marT="27432" marB="27432" anchor="ctr">
                    <a:solidFill>
                      <a:srgbClr val="FFFFFF"/>
                    </a:solidFill>
                  </a:tcPr>
                </a:tc>
                <a:tc>
                  <a:txBody>
                    <a:bodyPr wrap="square"/>
                    <a:lstStyle/>
                    <a:p>
                      <a:pPr algn="ctr"/>
                      <a:r>
                        <a:rPr sz="1000" b="0" i="0">
                          <a:solidFill>
                            <a:srgbClr val="1F1F1F"/>
                          </a:solidFill>
                          <a:latin typeface="Calibri"/>
                        </a:rPr>
                        <a:t>0.734 → 0.733</a:t>
                      </a:r>
                    </a:p>
                  </a:txBody>
                  <a:tcPr marL="54864" marR="54864" marT="27432" marB="27432" anchor="ctr">
                    <a:solidFill>
                      <a:srgbClr val="FFFFFF"/>
                    </a:solidFill>
                  </a:tcPr>
                </a:tc>
                <a:tc>
                  <a:txBody>
                    <a:bodyPr wrap="square"/>
                    <a:lstStyle/>
                    <a:p>
                      <a:pPr algn="ctr"/>
                      <a:r>
                        <a:rPr sz="1000" b="0" i="0">
                          <a:solidFill>
                            <a:srgbClr val="1F1F1F"/>
                          </a:solidFill>
                          <a:latin typeface="Calibri"/>
                        </a:rPr>
                        <a:t>0.659 → 0.659</a:t>
                      </a:r>
                    </a:p>
                  </a:txBody>
                  <a:tcPr marL="54864" marR="54864" marT="27432" marB="27432" anchor="ctr">
                    <a:solidFill>
                      <a:srgbClr val="FFFFFF"/>
                    </a:solidFill>
                  </a:tcPr>
                </a:tc>
                <a:tc>
                  <a:txBody>
                    <a:bodyPr wrap="square"/>
                    <a:lstStyle/>
                    <a:p>
                      <a:pPr algn="ctr"/>
                      <a:r>
                        <a:rPr sz="1000" b="0" i="0">
                          <a:solidFill>
                            <a:srgbClr val="1F1F1F"/>
                          </a:solidFill>
                          <a:latin typeface="Calibri"/>
                        </a:rPr>
                        <a:t>0.813 → 0.724</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ROC-AUC</a:t>
                      </a:r>
                    </a:p>
                  </a:txBody>
                  <a:tcPr marL="54864" marR="54864" marT="27432" marB="27432" anchor="ctr">
                    <a:solidFill>
                      <a:srgbClr val="EEF2F8"/>
                    </a:solidFill>
                  </a:tcPr>
                </a:tc>
                <a:tc>
                  <a:txBody>
                    <a:bodyPr wrap="square"/>
                    <a:lstStyle/>
                    <a:p>
                      <a:pPr algn="ctr"/>
                      <a:r>
                        <a:rPr sz="1000" b="0" i="0">
                          <a:solidFill>
                            <a:srgbClr val="1F1F1F"/>
                          </a:solidFill>
                          <a:latin typeface="Calibri"/>
                        </a:rPr>
                        <a:t>0.806 → 0.820</a:t>
                      </a:r>
                    </a:p>
                  </a:txBody>
                  <a:tcPr marL="54864" marR="54864" marT="27432" marB="27432" anchor="ctr">
                    <a:solidFill>
                      <a:srgbClr val="EEF2F8"/>
                    </a:solidFill>
                  </a:tcPr>
                </a:tc>
                <a:tc>
                  <a:txBody>
                    <a:bodyPr wrap="square"/>
                    <a:lstStyle/>
                    <a:p>
                      <a:pPr algn="ctr"/>
                      <a:r>
                        <a:rPr sz="1000" b="0" i="0">
                          <a:solidFill>
                            <a:srgbClr val="1F1F1F"/>
                          </a:solidFill>
                          <a:latin typeface="Calibri"/>
                        </a:rPr>
                        <a:t>0.747 → 0.747</a:t>
                      </a:r>
                    </a:p>
                  </a:txBody>
                  <a:tcPr marL="54864" marR="54864" marT="27432" marB="27432" anchor="ctr">
                    <a:solidFill>
                      <a:srgbClr val="EEF2F8"/>
                    </a:solidFill>
                  </a:tcPr>
                </a:tc>
                <a:tc>
                  <a:txBody>
                    <a:bodyPr wrap="square"/>
                    <a:lstStyle/>
                    <a:p>
                      <a:pPr algn="ctr"/>
                      <a:r>
                        <a:rPr sz="1000" b="0" i="0">
                          <a:solidFill>
                            <a:srgbClr val="1F1F1F"/>
                          </a:solidFill>
                          <a:latin typeface="Calibri"/>
                        </a:rPr>
                        <a:t>0.805 → 0.804</a:t>
                      </a:r>
                    </a:p>
                  </a:txBody>
                  <a:tcPr marL="54864" marR="54864" marT="27432" marB="27432" anchor="ctr">
                    <a:solidFill>
                      <a:srgbClr val="EEF2F8"/>
                    </a:solidFill>
                  </a:tcPr>
                </a:tc>
                <a:tc>
                  <a:txBody>
                    <a:bodyPr wrap="square"/>
                    <a:lstStyle/>
                    <a:p>
                      <a:pPr algn="ctr"/>
                      <a:r>
                        <a:rPr sz="1000" b="0" i="0">
                          <a:solidFill>
                            <a:srgbClr val="1F1F1F"/>
                          </a:solidFill>
                          <a:latin typeface="Calibri"/>
                        </a:rPr>
                        <a:t>0.811 → 0.811</a:t>
                      </a:r>
                    </a:p>
                  </a:txBody>
                  <a:tcPr marL="54864" marR="54864" marT="27432" marB="27432" anchor="ctr">
                    <a:solidFill>
                      <a:srgbClr val="EEF2F8"/>
                    </a:solidFill>
                  </a:tcPr>
                </a:tc>
                <a:tc>
                  <a:txBody>
                    <a:bodyPr wrap="square"/>
                    <a:lstStyle/>
                    <a:p>
                      <a:pPr algn="ctr"/>
                      <a:r>
                        <a:rPr sz="1000" b="0" i="0">
                          <a:solidFill>
                            <a:srgbClr val="1F1F1F"/>
                          </a:solidFill>
                          <a:latin typeface="Calibri"/>
                        </a:rPr>
                        <a:t>0.755 → 0.755</a:t>
                      </a:r>
                    </a:p>
                  </a:txBody>
                  <a:tcPr marL="54864" marR="54864" marT="27432" marB="27432" anchor="ctr">
                    <a:solidFill>
                      <a:srgbClr val="EEF2F8"/>
                    </a:solidFill>
                  </a:tcPr>
                </a:tc>
                <a:tc>
                  <a:txBody>
                    <a:bodyPr wrap="square"/>
                    <a:lstStyle/>
                    <a:p>
                      <a:pPr algn="ctr"/>
                      <a:r>
                        <a:rPr sz="1000" b="0" i="0">
                          <a:solidFill>
                            <a:srgbClr val="1F1F1F"/>
                          </a:solidFill>
                          <a:latin typeface="Calibri"/>
                        </a:rPr>
                        <a:t>0.759 → 0.784</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Log loss ↓</a:t>
                      </a:r>
                    </a:p>
                  </a:txBody>
                  <a:tcPr marL="54864" marR="54864" marT="27432" marB="27432" anchor="ctr">
                    <a:solidFill>
                      <a:srgbClr val="FFFFFF"/>
                    </a:solidFill>
                  </a:tcPr>
                </a:tc>
                <a:tc>
                  <a:txBody>
                    <a:bodyPr wrap="square"/>
                    <a:lstStyle/>
                    <a:p>
                      <a:pPr algn="ctr"/>
                      <a:r>
                        <a:rPr sz="1000" b="0" i="0">
                          <a:solidFill>
                            <a:srgbClr val="1F1F1F"/>
                          </a:solidFill>
                          <a:latin typeface="Calibri"/>
                        </a:rPr>
                        <a:t>0.528 → 0.516</a:t>
                      </a:r>
                    </a:p>
                  </a:txBody>
                  <a:tcPr marL="54864" marR="54864" marT="27432" marB="27432" anchor="ctr">
                    <a:solidFill>
                      <a:srgbClr val="FFFFFF"/>
                    </a:solidFill>
                  </a:tcPr>
                </a:tc>
                <a:tc>
                  <a:txBody>
                    <a:bodyPr wrap="square"/>
                    <a:lstStyle/>
                    <a:p>
                      <a:pPr algn="ctr"/>
                      <a:r>
                        <a:rPr sz="1000" b="0" i="0">
                          <a:solidFill>
                            <a:srgbClr val="1F1F1F"/>
                          </a:solidFill>
                          <a:latin typeface="Calibri"/>
                        </a:rPr>
                        <a:t>0.611 → 0.611</a:t>
                      </a:r>
                    </a:p>
                  </a:txBody>
                  <a:tcPr marL="54864" marR="54864" marT="27432" marB="27432" anchor="ctr">
                    <a:solidFill>
                      <a:srgbClr val="FFFFFF"/>
                    </a:solidFill>
                  </a:tcPr>
                </a:tc>
                <a:tc>
                  <a:txBody>
                    <a:bodyPr wrap="square"/>
                    <a:lstStyle/>
                    <a:p>
                      <a:pPr algn="ctr"/>
                      <a:r>
                        <a:rPr sz="1000" b="0" i="0">
                          <a:solidFill>
                            <a:srgbClr val="1F1F1F"/>
                          </a:solidFill>
                          <a:latin typeface="Calibri"/>
                        </a:rPr>
                        <a:t>0.539 → 0.539</a:t>
                      </a:r>
                    </a:p>
                  </a:txBody>
                  <a:tcPr marL="54864" marR="54864" marT="27432" marB="27432" anchor="ctr">
                    <a:solidFill>
                      <a:srgbClr val="FFFFFF"/>
                    </a:solidFill>
                  </a:tcPr>
                </a:tc>
                <a:tc>
                  <a:txBody>
                    <a:bodyPr wrap="square"/>
                    <a:lstStyle/>
                    <a:p>
                      <a:pPr algn="ctr"/>
                      <a:r>
                        <a:rPr sz="1000" b="0" i="0">
                          <a:solidFill>
                            <a:srgbClr val="1F1F1F"/>
                          </a:solidFill>
                          <a:latin typeface="Calibri"/>
                        </a:rPr>
                        <a:t>0.570 → 0.570</a:t>
                      </a:r>
                    </a:p>
                  </a:txBody>
                  <a:tcPr marL="54864" marR="54864" marT="27432" marB="27432" anchor="ctr">
                    <a:solidFill>
                      <a:srgbClr val="FFFFFF"/>
                    </a:solidFill>
                  </a:tcPr>
                </a:tc>
                <a:tc>
                  <a:txBody>
                    <a:bodyPr wrap="square"/>
                    <a:lstStyle/>
                    <a:p>
                      <a:pPr algn="ctr"/>
                      <a:r>
                        <a:rPr sz="1000" b="0" i="0">
                          <a:solidFill>
                            <a:srgbClr val="1F1F1F"/>
                          </a:solidFill>
                          <a:latin typeface="Calibri"/>
                        </a:rPr>
                        <a:t>n/a</a:t>
                      </a:r>
                    </a:p>
                  </a:txBody>
                  <a:tcPr marL="54864" marR="54864" marT="27432" marB="27432" anchor="ctr">
                    <a:solidFill>
                      <a:srgbClr val="FFFFFF"/>
                    </a:solidFill>
                  </a:tcPr>
                </a:tc>
                <a:tc>
                  <a:txBody>
                    <a:bodyPr wrap="square"/>
                    <a:lstStyle/>
                    <a:p>
                      <a:pPr algn="ctr"/>
                      <a:r>
                        <a:rPr sz="1000" b="0" i="0">
                          <a:solidFill>
                            <a:srgbClr val="1F1F1F"/>
                          </a:solidFill>
                          <a:latin typeface="Calibri"/>
                        </a:rPr>
                        <a:t>0.588 → 0.579</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MCC</a:t>
                      </a:r>
                    </a:p>
                  </a:txBody>
                  <a:tcPr marL="54864" marR="54864" marT="27432" marB="27432" anchor="ctr">
                    <a:solidFill>
                      <a:srgbClr val="EEF2F8"/>
                    </a:solidFill>
                  </a:tcPr>
                </a:tc>
                <a:tc>
                  <a:txBody>
                    <a:bodyPr wrap="square"/>
                    <a:lstStyle/>
                    <a:p>
                      <a:pPr algn="ctr"/>
                      <a:r>
                        <a:rPr sz="1000" b="0" i="0">
                          <a:solidFill>
                            <a:srgbClr val="1F1F1F"/>
                          </a:solidFill>
                          <a:latin typeface="Calibri"/>
                        </a:rPr>
                        <a:t>0.474 → 0.482</a:t>
                      </a:r>
                    </a:p>
                  </a:txBody>
                  <a:tcPr marL="54864" marR="54864" marT="27432" marB="27432" anchor="ctr">
                    <a:solidFill>
                      <a:srgbClr val="EEF2F8"/>
                    </a:solidFill>
                  </a:tcPr>
                </a:tc>
                <a:tc>
                  <a:txBody>
                    <a:bodyPr wrap="square"/>
                    <a:lstStyle/>
                    <a:p>
                      <a:pPr algn="ctr"/>
                      <a:r>
                        <a:rPr sz="1000" b="0" i="0">
                          <a:solidFill>
                            <a:srgbClr val="1F1F1F"/>
                          </a:solidFill>
                          <a:latin typeface="Calibri"/>
                        </a:rPr>
                        <a:t>0.386 → 0.386</a:t>
                      </a:r>
                    </a:p>
                  </a:txBody>
                  <a:tcPr marL="54864" marR="54864" marT="27432" marB="27432" anchor="ctr">
                    <a:solidFill>
                      <a:srgbClr val="EEF2F8"/>
                    </a:solidFill>
                  </a:tcPr>
                </a:tc>
                <a:tc>
                  <a:txBody>
                    <a:bodyPr wrap="square"/>
                    <a:lstStyle/>
                    <a:p>
                      <a:pPr algn="ctr"/>
                      <a:r>
                        <a:rPr sz="1000" b="0" i="0">
                          <a:solidFill>
                            <a:srgbClr val="1F1F1F"/>
                          </a:solidFill>
                          <a:latin typeface="Calibri"/>
                        </a:rPr>
                        <a:t>0.434 → 0.434</a:t>
                      </a:r>
                    </a:p>
                  </a:txBody>
                  <a:tcPr marL="54864" marR="54864" marT="27432" marB="27432" anchor="ctr">
                    <a:solidFill>
                      <a:srgbClr val="EEF2F8"/>
                    </a:solidFill>
                  </a:tcPr>
                </a:tc>
                <a:tc>
                  <a:txBody>
                    <a:bodyPr wrap="square"/>
                    <a:lstStyle/>
                    <a:p>
                      <a:pPr algn="ctr"/>
                      <a:r>
                        <a:rPr sz="1000" b="0" i="0">
                          <a:solidFill>
                            <a:srgbClr val="1F1F1F"/>
                          </a:solidFill>
                          <a:latin typeface="Calibri"/>
                        </a:rPr>
                        <a:t>0.455 → 0.454</a:t>
                      </a:r>
                    </a:p>
                  </a:txBody>
                  <a:tcPr marL="54864" marR="54864" marT="27432" marB="27432" anchor="ctr">
                    <a:solidFill>
                      <a:srgbClr val="EEF2F8"/>
                    </a:solidFill>
                  </a:tcPr>
                </a:tc>
                <a:tc>
                  <a:txBody>
                    <a:bodyPr wrap="square"/>
                    <a:lstStyle/>
                    <a:p>
                      <a:pPr algn="ctr"/>
                      <a:r>
                        <a:rPr sz="1000" b="0" i="0">
                          <a:solidFill>
                            <a:srgbClr val="1F1F1F"/>
                          </a:solidFill>
                          <a:latin typeface="Calibri"/>
                        </a:rPr>
                        <a:t>0.396 → 0.396</a:t>
                      </a:r>
                    </a:p>
                  </a:txBody>
                  <a:tcPr marL="54864" marR="54864" marT="27432" marB="27432" anchor="ctr">
                    <a:solidFill>
                      <a:srgbClr val="EEF2F8"/>
                    </a:solidFill>
                  </a:tcPr>
                </a:tc>
                <a:tc>
                  <a:txBody>
                    <a:bodyPr wrap="square"/>
                    <a:lstStyle/>
                    <a:p>
                      <a:pPr algn="ctr"/>
                      <a:r>
                        <a:rPr sz="1000" b="0" i="0">
                          <a:solidFill>
                            <a:srgbClr val="1F1F1F"/>
                          </a:solidFill>
                          <a:latin typeface="Calibri"/>
                        </a:rPr>
                        <a:t>0.437 → 0.404</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000" b="0" i="0">
                          <a:solidFill>
                            <a:srgbClr val="1F1F1F"/>
                          </a:solidFill>
                          <a:latin typeface="Calibri"/>
                        </a:rPr>
                        <a:t>0.470 → 0.477</a:t>
                      </a:r>
                    </a:p>
                  </a:txBody>
                  <a:tcPr marL="54864" marR="54864" marT="27432" marB="27432" anchor="ctr">
                    <a:solidFill>
                      <a:srgbClr val="FFFFFF"/>
                    </a:solidFill>
                  </a:tcPr>
                </a:tc>
                <a:tc>
                  <a:txBody>
                    <a:bodyPr wrap="square"/>
                    <a:lstStyle/>
                    <a:p>
                      <a:pPr algn="ctr"/>
                      <a:r>
                        <a:rPr sz="1000" b="0" i="0">
                          <a:solidFill>
                            <a:srgbClr val="1F1F1F"/>
                          </a:solidFill>
                          <a:latin typeface="Calibri"/>
                        </a:rPr>
                        <a:t>0.383 → 0.383</a:t>
                      </a:r>
                    </a:p>
                  </a:txBody>
                  <a:tcPr marL="54864" marR="54864" marT="27432" marB="27432" anchor="ctr">
                    <a:solidFill>
                      <a:srgbClr val="FFFFFF"/>
                    </a:solidFill>
                  </a:tcPr>
                </a:tc>
                <a:tc>
                  <a:txBody>
                    <a:bodyPr wrap="square"/>
                    <a:lstStyle/>
                    <a:p>
                      <a:pPr algn="ctr"/>
                      <a:r>
                        <a:rPr sz="1000" b="0" i="0">
                          <a:solidFill>
                            <a:srgbClr val="1F1F1F"/>
                          </a:solidFill>
                          <a:latin typeface="Calibri"/>
                        </a:rPr>
                        <a:t>0.430 → 0.430</a:t>
                      </a:r>
                    </a:p>
                  </a:txBody>
                  <a:tcPr marL="54864" marR="54864" marT="27432" marB="27432" anchor="ctr">
                    <a:solidFill>
                      <a:srgbClr val="FFFFFF"/>
                    </a:solidFill>
                  </a:tcPr>
                </a:tc>
                <a:tc>
                  <a:txBody>
                    <a:bodyPr wrap="square"/>
                    <a:lstStyle/>
                    <a:p>
                      <a:pPr algn="ctr"/>
                      <a:r>
                        <a:rPr sz="1000" b="0" i="0">
                          <a:solidFill>
                            <a:srgbClr val="1F1F1F"/>
                          </a:solidFill>
                          <a:latin typeface="Calibri"/>
                        </a:rPr>
                        <a:t>0.452 → 0.451</a:t>
                      </a:r>
                    </a:p>
                  </a:txBody>
                  <a:tcPr marL="54864" marR="54864" marT="27432" marB="27432" anchor="ctr">
                    <a:solidFill>
                      <a:srgbClr val="FFFFFF"/>
                    </a:solidFill>
                  </a:tcPr>
                </a:tc>
                <a:tc>
                  <a:txBody>
                    <a:bodyPr wrap="square"/>
                    <a:lstStyle/>
                    <a:p>
                      <a:pPr algn="ctr"/>
                      <a:r>
                        <a:rPr sz="1000" b="0" i="0">
                          <a:solidFill>
                            <a:srgbClr val="1F1F1F"/>
                          </a:solidFill>
                          <a:latin typeface="Calibri"/>
                        </a:rPr>
                        <a:t>0.392 → 0.392</a:t>
                      </a:r>
                    </a:p>
                  </a:txBody>
                  <a:tcPr marL="54864" marR="54864" marT="27432" marB="27432" anchor="ctr">
                    <a:solidFill>
                      <a:srgbClr val="FFFFFF"/>
                    </a:solidFill>
                  </a:tcPr>
                </a:tc>
                <a:tc>
                  <a:txBody>
                    <a:bodyPr wrap="square"/>
                    <a:lstStyle/>
                    <a:p>
                      <a:pPr algn="ctr"/>
                      <a:r>
                        <a:rPr sz="1000" b="0" i="0">
                          <a:solidFill>
                            <a:srgbClr val="1F1F1F"/>
                          </a:solidFill>
                          <a:latin typeface="Calibri"/>
                        </a:rPr>
                        <a:t>0.423 → 0.398</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000" b="0" i="0">
                          <a:solidFill>
                            <a:srgbClr val="1F1F1F"/>
                          </a:solidFill>
                          <a:latin typeface="Calibri"/>
                        </a:rPr>
                        <a:t>0.735 → 0.739</a:t>
                      </a:r>
                    </a:p>
                  </a:txBody>
                  <a:tcPr marL="54864" marR="54864" marT="27432" marB="27432" anchor="ctr">
                    <a:solidFill>
                      <a:srgbClr val="EEF2F8"/>
                    </a:solidFill>
                  </a:tcPr>
                </a:tc>
                <a:tc>
                  <a:txBody>
                    <a:bodyPr wrap="square"/>
                    <a:lstStyle/>
                    <a:p>
                      <a:pPr algn="ctr"/>
                      <a:r>
                        <a:rPr sz="1000" b="0" i="0">
                          <a:solidFill>
                            <a:srgbClr val="1F1F1F"/>
                          </a:solidFill>
                          <a:latin typeface="Calibri"/>
                        </a:rPr>
                        <a:t>0.691 → 0.691</a:t>
                      </a:r>
                    </a:p>
                  </a:txBody>
                  <a:tcPr marL="54864" marR="54864" marT="27432" marB="27432" anchor="ctr">
                    <a:solidFill>
                      <a:srgbClr val="EEF2F8"/>
                    </a:solidFill>
                  </a:tcPr>
                </a:tc>
                <a:tc>
                  <a:txBody>
                    <a:bodyPr wrap="square"/>
                    <a:lstStyle/>
                    <a:p>
                      <a:pPr algn="ctr"/>
                      <a:r>
                        <a:rPr sz="1000" b="0" i="0">
                          <a:solidFill>
                            <a:srgbClr val="1F1F1F"/>
                          </a:solidFill>
                          <a:latin typeface="Calibri"/>
                        </a:rPr>
                        <a:t>0.715 → 0.715</a:t>
                      </a:r>
                    </a:p>
                  </a:txBody>
                  <a:tcPr marL="54864" marR="54864" marT="27432" marB="27432" anchor="ctr">
                    <a:solidFill>
                      <a:srgbClr val="EEF2F8"/>
                    </a:solidFill>
                  </a:tcPr>
                </a:tc>
                <a:tc>
                  <a:txBody>
                    <a:bodyPr wrap="square"/>
                    <a:lstStyle/>
                    <a:p>
                      <a:pPr algn="ctr"/>
                      <a:r>
                        <a:rPr sz="1000" b="0" i="0">
                          <a:solidFill>
                            <a:srgbClr val="1F1F1F"/>
                          </a:solidFill>
                          <a:latin typeface="Calibri"/>
                        </a:rPr>
                        <a:t>0.726 → 0.726</a:t>
                      </a:r>
                    </a:p>
                  </a:txBody>
                  <a:tcPr marL="54864" marR="54864" marT="27432" marB="27432" anchor="ctr">
                    <a:solidFill>
                      <a:srgbClr val="EEF2F8"/>
                    </a:solidFill>
                  </a:tcPr>
                </a:tc>
                <a:tc>
                  <a:txBody>
                    <a:bodyPr wrap="square"/>
                    <a:lstStyle/>
                    <a:p>
                      <a:pPr algn="ctr"/>
                      <a:r>
                        <a:rPr sz="1000" b="0" i="0">
                          <a:solidFill>
                            <a:srgbClr val="1F1F1F"/>
                          </a:solidFill>
                          <a:latin typeface="Calibri"/>
                        </a:rPr>
                        <a:t>0.696 → 0.696</a:t>
                      </a:r>
                    </a:p>
                  </a:txBody>
                  <a:tcPr marL="54864" marR="54864" marT="27432" marB="27432" anchor="ctr">
                    <a:solidFill>
                      <a:srgbClr val="EEF2F8"/>
                    </a:solidFill>
                  </a:tcPr>
                </a:tc>
                <a:tc>
                  <a:txBody>
                    <a:bodyPr wrap="square"/>
                    <a:lstStyle/>
                    <a:p>
                      <a:pPr algn="ctr"/>
                      <a:r>
                        <a:rPr sz="1000" b="0" i="0">
                          <a:solidFill>
                            <a:srgbClr val="1F1F1F"/>
                          </a:solidFill>
                          <a:latin typeface="Calibri"/>
                        </a:rPr>
                        <a:t>0.712 → 0.699</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RMSE ↓</a:t>
                      </a:r>
                    </a:p>
                  </a:txBody>
                  <a:tcPr marL="54864" marR="54864" marT="27432" marB="27432" anchor="ctr">
                    <a:solidFill>
                      <a:srgbClr val="FFFFFF"/>
                    </a:solidFill>
                  </a:tcPr>
                </a:tc>
                <a:tc>
                  <a:txBody>
                    <a:bodyPr wrap="square"/>
                    <a:lstStyle/>
                    <a:p>
                      <a:pPr algn="ctr"/>
                      <a:r>
                        <a:rPr sz="1000" b="0" i="0">
                          <a:solidFill>
                            <a:srgbClr val="1F1F1F"/>
                          </a:solidFill>
                          <a:latin typeface="Calibri"/>
                        </a:rPr>
                        <a:t>0.422 → 0.417</a:t>
                      </a:r>
                    </a:p>
                  </a:txBody>
                  <a:tcPr marL="54864" marR="54864" marT="27432" marB="27432" anchor="ctr">
                    <a:solidFill>
                      <a:srgbClr val="FFFFFF"/>
                    </a:solidFill>
                  </a:tcPr>
                </a:tc>
                <a:tc>
                  <a:txBody>
                    <a:bodyPr wrap="square"/>
                    <a:lstStyle/>
                    <a:p>
                      <a:pPr algn="ctr"/>
                      <a:r>
                        <a:rPr sz="1000" b="0" i="0">
                          <a:solidFill>
                            <a:srgbClr val="1F1F1F"/>
                          </a:solidFill>
                          <a:latin typeface="Calibri"/>
                        </a:rPr>
                        <a:t>0.454 → 0.454</a:t>
                      </a:r>
                    </a:p>
                  </a:txBody>
                  <a:tcPr marL="54864" marR="54864" marT="27432" marB="27432" anchor="ctr">
                    <a:solidFill>
                      <a:srgbClr val="FFFFFF"/>
                    </a:solidFill>
                  </a:tcPr>
                </a:tc>
                <a:tc>
                  <a:txBody>
                    <a:bodyPr wrap="square"/>
                    <a:lstStyle/>
                    <a:p>
                      <a:pPr algn="ctr"/>
                      <a:r>
                        <a:rPr sz="1000" b="0" i="0">
                          <a:solidFill>
                            <a:srgbClr val="1F1F1F"/>
                          </a:solidFill>
                          <a:latin typeface="Calibri"/>
                        </a:rPr>
                        <a:t>0.427 → 0.427</a:t>
                      </a:r>
                    </a:p>
                  </a:txBody>
                  <a:tcPr marL="54864" marR="54864" marT="27432" marB="27432" anchor="ctr">
                    <a:solidFill>
                      <a:srgbClr val="FFFFFF"/>
                    </a:solidFill>
                  </a:tcPr>
                </a:tc>
                <a:tc>
                  <a:txBody>
                    <a:bodyPr wrap="square"/>
                    <a:lstStyle/>
                    <a:p>
                      <a:pPr algn="ctr"/>
                      <a:r>
                        <a:rPr sz="1000" b="0" i="0">
                          <a:solidFill>
                            <a:srgbClr val="1F1F1F"/>
                          </a:solidFill>
                          <a:latin typeface="Calibri"/>
                        </a:rPr>
                        <a:t>0.432 → 0.433</a:t>
                      </a:r>
                    </a:p>
                  </a:txBody>
                  <a:tcPr marL="54864" marR="54864" marT="27432" marB="27432" anchor="ctr">
                    <a:solidFill>
                      <a:srgbClr val="FFFFFF"/>
                    </a:solidFill>
                  </a:tcPr>
                </a:tc>
                <a:tc>
                  <a:txBody>
                    <a:bodyPr wrap="square"/>
                    <a:lstStyle/>
                    <a:p>
                      <a:pPr algn="ctr"/>
                      <a:r>
                        <a:rPr sz="1000" b="0" i="0">
                          <a:solidFill>
                            <a:srgbClr val="1F1F1F"/>
                          </a:solidFill>
                          <a:latin typeface="Calibri"/>
                        </a:rPr>
                        <a:t>n/a</a:t>
                      </a:r>
                    </a:p>
                  </a:txBody>
                  <a:tcPr marL="54864" marR="54864" marT="27432" marB="27432" anchor="ctr">
                    <a:solidFill>
                      <a:srgbClr val="FFFFFF"/>
                    </a:solidFill>
                  </a:tcPr>
                </a:tc>
                <a:tc>
                  <a:txBody>
                    <a:bodyPr wrap="square"/>
                    <a:lstStyle/>
                    <a:p>
                      <a:pPr algn="ctr"/>
                      <a:r>
                        <a:rPr sz="1000" b="0" i="0">
                          <a:solidFill>
                            <a:srgbClr val="1F1F1F"/>
                          </a:solidFill>
                          <a:latin typeface="Calibri"/>
                        </a:rPr>
                        <a:t>0.445 → 0.440</a:t>
                      </a:r>
                    </a:p>
                  </a:txBody>
                  <a:tcPr marL="54864" marR="54864" marT="27432" marB="27432" anchor="ctr">
                    <a:solidFill>
                      <a:srgbClr val="FFFFFF"/>
                    </a:solidFill>
                  </a:tcPr>
                </a:tc>
              </a:tr>
            </a:tbl>
          </a:graphicData>
        </a:graphic>
      </p:graphicFrame>
      <p:sp>
        <p:nvSpPr>
          <p:cNvPr id="5" name="TextBox 4"/>
          <p:cNvSpPr txBox="1"/>
          <p:nvPr/>
        </p:nvSpPr>
        <p:spPr>
          <a:xfrm>
            <a:off x="365760" y="5852160"/>
            <a:ext cx="8412480" cy="457200"/>
          </a:xfrm>
          <a:prstGeom prst="rect">
            <a:avLst/>
          </a:prstGeom>
          <a:noFill/>
        </p:spPr>
        <p:txBody>
          <a:bodyPr wrap="square" anchor="t" lIns="45720" rIns="45720">
            <a:spAutoFit/>
          </a:bodyPr>
          <a:lstStyle/>
          <a:p>
            <a:pPr algn="l"/>
            <a:r>
              <a:rPr sz="1100" b="0" i="0">
                <a:solidFill>
                  <a:srgbClr val="1F1F1F"/>
                </a:solidFill>
                <a:latin typeface="Calibri"/>
              </a:rPr>
              <a:t>B-ACPN: 10 of 11 metrics improve, 1 unchanged, 0 worse. MLP: 5 improve, 0 unchanged, 6 worse. ↓ = lower is better. Linear SVM gives no probabilities (n/a).</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b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940100" y="1234440"/>
            <a:ext cx="7263798" cy="4572000"/>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Accuracy, F1, ROC-AUC and RMSE before vs after preprocessing</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3–7 Hadoop, HDFS, MapReduce, Hive, Spark</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HDFS load (Table 2), YARN job + timings, Hive, k-means (Table 3)</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8 B-ACPN (proposed model)</a:t>
                      </a:r>
                    </a:p>
                  </a:txBody>
                  <a:tcPr marL="54864" marR="54864" marT="27432" marB="27432" anchor="ctr">
                    <a:solidFill>
                      <a:srgbClr val="FFFFFF"/>
                    </a:solidFill>
                  </a:tcPr>
                </a:tc>
                <a:tc>
                  <a:txBody>
                    <a:bodyPr wrap="square"/>
                    <a:lstStyle/>
                    <a:p>
                      <a:pPr algn="ctr"/>
                      <a:r>
                        <a:rPr sz="1200" b="0" i="0">
                          <a:solidFill>
                            <a:srgbClr val="1F1F1F"/>
                          </a:solidFill>
                          <a:latin typeface="Calibri"/>
                        </a:rPr>
                        <a:t>Architecture, model card (Table 4), ablation, climate push (Table 6)</a:t>
                      </a:r>
                    </a:p>
                  </a:txBody>
                  <a:tcPr marL="54864" marR="54864" marT="27432" marB="27432" anchor="ctr">
                    <a:solidFill>
                      <a:srgbClr val="FFFFFF"/>
                    </a:solidFill>
                  </a:tcPr>
                </a:tc>
                <a:tc>
                  <a:txBody>
                    <a:bodyPr wrap="square"/>
                    <a:lstStyle/>
                    <a:p>
                      <a:pPr algn="ctr"/>
                      <a:r>
                        <a:rPr sz="1200" b="0" i="0">
                          <a:solidFill>
                            <a:srgbClr val="1F1F1F"/>
                          </a:solidFill>
                          <a:latin typeface="Calibri"/>
                        </a:rPr>
                        <a:t>Devanshu</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9–10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5 existing models, all metrics, preprocessing before/after (Table 5)</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