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docProps/app.xml" ContentType="application/vnd.openxmlformats-officedocument.extended-properties+xml"/>
  <Override PartName="/docProps/core.xml" ContentType="application/vnd.openxmlformats-package.core-properties+xml"/>
  <Override PartName="/ppt/charts/chart1.xml" ContentType="application/vnd.openxmlformats-officedocument.drawingml.chart+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4"/>
  </p:notesMasterIdLst>
  <p:sldIdLst>
    <p:sldId id="256" r:id="rId2"/>
    <p:sldId id="257" r:id="rId3"/>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 id="276" r:id="rId28"/>
    <p:sldId id="277" r:id="rId29"/>
    <p:sldId id="278" r:id="rId30"/>
    <p:sldId id="279" r:id="rId31"/>
    <p:sldId id="280" r:id="rId32"/>
    <p:sldId id="281" r:id="rId33"/>
    <p:sldId id="282" r:id="rId34"/>
    <p:sldId id="283" r:id="rId35"/>
    <p:sldId id="284" r:id="rId36"/>
    <p:sldId id="285" r:id="rId37"/>
    <p:sldId id="286" r:id="rId38"/>
    <p:sldId id="287" r:id="rId39"/>
    <p:sldId id="288" r:id="rId40"/>
    <p:sldId id="289" r:id="rId41"/>
    <p:sldId id="290" r:id="rId42"/>
    <p:sldId id="291" r:id="rId43"/>
  </p:sldIdLst>
  <p:sldSz cx="9144000" cy="6858000" type="screen4x3"/>
  <p:notesSz cx="7315200" cy="9601200"/>
  <p:defaultText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15:guide id="1" orient="horz" pos="2160">
          <p15:clr>
            <a:srgbClr val="A4A3A4"/>
          </p15:clr>
        </p15:guide>
        <p15:guide id="2" pos="2880">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6FC4CDFC-31C6-4A0C-83A8-5F3C04108DC2}" v="6" dt="2026-09-28T03:14:14.581"/>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73A0DAA-6AF3-43AB-8588-CEC1D06C72B9}" styleName="Medium Style 2">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dk1">
              <a:tint val="20000"/>
            </a:schemeClr>
          </a:solidFill>
        </a:fill>
      </a:tcStyle>
    </a:wholeTbl>
    <a:band1H>
      <a:tcStyle>
        <a:tcBdr/>
        <a:fill>
          <a:solidFill>
            <a:schemeClr val="dk1">
              <a:tint val="40000"/>
            </a:schemeClr>
          </a:solidFill>
        </a:fill>
      </a:tcStyle>
    </a:band1H>
    <a:band2H>
      <a:tcStyle>
        <a:tcBdr/>
      </a:tcStyle>
    </a:band2H>
    <a:band1V>
      <a:tcStyle>
        <a:tcBdr/>
        <a:fill>
          <a:solidFill>
            <a:schemeClr val="dk1">
              <a:tint val="40000"/>
            </a:schemeClr>
          </a:solidFill>
        </a:fill>
      </a:tcStyle>
    </a:band1V>
    <a:band2V>
      <a:tcStyle>
        <a:tcBdr/>
      </a:tcStyle>
    </a:band2V>
    <a:lastCol>
      <a:tcTxStyle b="on">
        <a:fontRef idx="minor">
          <a:prstClr val="black"/>
        </a:fontRef>
        <a:schemeClr val="lt1"/>
      </a:tcTxStyle>
      <a:tcStyle>
        <a:tcBdr/>
        <a:fill>
          <a:solidFill>
            <a:schemeClr val="dk1"/>
          </a:solidFill>
        </a:fill>
      </a:tcStyle>
    </a:lastCol>
    <a:firstCol>
      <a:tcTxStyle b="on">
        <a:fontRef idx="minor">
          <a:prstClr val="black"/>
        </a:fontRef>
        <a:schemeClr val="lt1"/>
      </a:tcTxStyle>
      <a:tcStyle>
        <a:tcBdr/>
        <a:fill>
          <a:solidFill>
            <a:schemeClr val="dk1"/>
          </a:solidFill>
        </a:fill>
      </a:tcStyle>
    </a:firstCol>
    <a:lastRow>
      <a:tcTxStyle b="on">
        <a:fontRef idx="minor">
          <a:prstClr val="black"/>
        </a:fontRef>
        <a:schemeClr val="lt1"/>
      </a:tcTxStyle>
      <a:tcStyle>
        <a:tcBdr>
          <a:top>
            <a:ln w="38100" cmpd="sng">
              <a:solidFill>
                <a:schemeClr val="lt1"/>
              </a:solidFill>
            </a:ln>
          </a:top>
        </a:tcBdr>
        <a:fill>
          <a:solidFill>
            <a:schemeClr val="dk1"/>
          </a:solidFill>
        </a:fill>
      </a:tcStyle>
    </a:lastRow>
    <a:firstRow>
      <a:tcTxStyle b="on">
        <a:fontRef idx="minor">
          <a:prstClr val="black"/>
        </a:fontRef>
        <a:schemeClr val="lt1"/>
      </a:tcTxStyle>
      <a:tcStyle>
        <a:tcBdr>
          <a:bottom>
            <a:ln w="38100" cmpd="sng">
              <a:solidFill>
                <a:schemeClr val="lt1"/>
              </a:solidFill>
            </a:ln>
          </a:bottom>
        </a:tcBdr>
        <a:fill>
          <a:solidFill>
            <a:schemeClr val="dk1"/>
          </a:solidFill>
        </a:fill>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7346" autoAdjust="0"/>
    <p:restoredTop sz="85359" autoAdjust="0"/>
  </p:normalViewPr>
  <p:slideViewPr>
    <p:cSldViewPr>
      <p:cViewPr varScale="1">
        <p:scale>
          <a:sx n="51" d="100"/>
          <a:sy n="51" d="100"/>
        </p:scale>
        <p:origin x="1584" y="3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notesMaster" Target="notesMasters/notesMaster1.xml"/><Relationship Id="rId5" Type="http://schemas.openxmlformats.org/officeDocument/2006/relationships/presProps" Target="presProps.xml"/><Relationship Id="rId6" Type="http://schemas.openxmlformats.org/officeDocument/2006/relationships/viewProps" Target="viewProps.xml"/><Relationship Id="rId7" Type="http://schemas.openxmlformats.org/officeDocument/2006/relationships/theme" Target="theme/theme1.xml"/><Relationship Id="rId8" Type="http://schemas.openxmlformats.org/officeDocument/2006/relationships/tableStyles" Target="tableStyles.xml"/><Relationship Id="rId9" Type="http://schemas.microsoft.com/office/2015/10/relationships/revisionInfo" Target="revisionInfo.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 Id="rId25" Type="http://schemas.openxmlformats.org/officeDocument/2006/relationships/slide" Target="slides/slide18.xml"/><Relationship Id="rId26" Type="http://schemas.openxmlformats.org/officeDocument/2006/relationships/slide" Target="slides/slide19.xml"/><Relationship Id="rId27" Type="http://schemas.openxmlformats.org/officeDocument/2006/relationships/slide" Target="slides/slide20.xml"/><Relationship Id="rId28" Type="http://schemas.openxmlformats.org/officeDocument/2006/relationships/slide" Target="slides/slide21.xml"/><Relationship Id="rId29" Type="http://schemas.openxmlformats.org/officeDocument/2006/relationships/slide" Target="slides/slide22.xml"/><Relationship Id="rId30" Type="http://schemas.openxmlformats.org/officeDocument/2006/relationships/slide" Target="slides/slide23.xml"/><Relationship Id="rId31" Type="http://schemas.openxmlformats.org/officeDocument/2006/relationships/slide" Target="slides/slide24.xml"/><Relationship Id="rId32" Type="http://schemas.openxmlformats.org/officeDocument/2006/relationships/slide" Target="slides/slide25.xml"/><Relationship Id="rId33" Type="http://schemas.openxmlformats.org/officeDocument/2006/relationships/slide" Target="slides/slide26.xml"/><Relationship Id="rId34" Type="http://schemas.openxmlformats.org/officeDocument/2006/relationships/slide" Target="slides/slide27.xml"/><Relationship Id="rId35" Type="http://schemas.openxmlformats.org/officeDocument/2006/relationships/slide" Target="slides/slide28.xml"/><Relationship Id="rId36" Type="http://schemas.openxmlformats.org/officeDocument/2006/relationships/slide" Target="slides/slide29.xml"/><Relationship Id="rId37" Type="http://schemas.openxmlformats.org/officeDocument/2006/relationships/slide" Target="slides/slide30.xml"/><Relationship Id="rId38" Type="http://schemas.openxmlformats.org/officeDocument/2006/relationships/slide" Target="slides/slide31.xml"/><Relationship Id="rId39" Type="http://schemas.openxmlformats.org/officeDocument/2006/relationships/slide" Target="slides/slide32.xml"/><Relationship Id="rId40" Type="http://schemas.openxmlformats.org/officeDocument/2006/relationships/slide" Target="slides/slide33.xml"/><Relationship Id="rId41" Type="http://schemas.openxmlformats.org/officeDocument/2006/relationships/slide" Target="slides/slide34.xml"/><Relationship Id="rId42" Type="http://schemas.openxmlformats.org/officeDocument/2006/relationships/slide" Target="slides/slide35.xml"/><Relationship Id="rId43" Type="http://schemas.openxmlformats.org/officeDocument/2006/relationships/slide" Target="slides/slide36.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300" b="1" i="0">
                <a:solidFill>
                  <a:srgbClr val="1B3A6B"/>
                </a:solidFill>
                <a:latin typeface="Calibri"/>
              </a:rPr>
              <a:t>Variance in vulnerability explained (R²)</a:t>
            </a:r>
          </a:p>
        </c:rich>
      </c:tx>
      <c:layout/>
      <c:overlay val="0"/>
    </c:title>
    <c:autoTitleDeleted val="0"/>
    <c:plotArea>
      <c:barChart>
        <c:barDir val="col"/>
        <c:grouping val="clustered"/>
        <c:ser>
          <c:idx val="0"/>
          <c:order val="0"/>
          <c:tx>
            <c:strRef>
              <c:f>Sheet1!$B$1</c:f>
              <c:strCache>
                <c:ptCount val="1"/>
                <c:pt idx="0">
                  <c:v>R²</c:v>
                </c:pt>
              </c:strCache>
            </c:strRef>
          </c:tx>
          <c:spPr>
            <a:solidFill>
              <a:srgbClr val="0E6E6E"/>
            </a:solidFill>
          </c:spPr>
          <c:cat>
            <c:strRef>
              <c:f>Sheet1!$A$2:$A$4</c:f>
              <c:strCache>
                <c:ptCount val="3"/>
                <c:pt idx="0">
                  <c:v>Dev only</c:v>
                </c:pt>
                <c:pt idx="1">
                  <c:v>Dev + climate</c:v>
                </c:pt>
                <c:pt idx="2">
                  <c:v>State only</c:v>
                </c:pt>
              </c:strCache>
            </c:strRef>
          </c:cat>
          <c:val>
            <c:numRef>
              <c:f>Sheet1!$B$2:$B$4</c:f>
              <c:numCache>
                <c:formatCode>General</c:formatCode>
                <c:ptCount val="3"/>
                <c:pt idx="0">
                  <c:v>0.127</c:v>
                </c:pt>
                <c:pt idx="1">
                  <c:v>0.334</c:v>
                </c:pt>
                <c:pt idx="2">
                  <c:v>0.477</c:v>
                </c:pt>
              </c:numCache>
            </c:numRef>
          </c:val>
        </c:ser>
        <c:dLbls>
          <c:numFmt formatCode="0.000" sourceLinked="0"/>
          <c:txPr>
            <a:bodyPr/>
            <a:lstStyle/>
            <a:p>
              <a:pPr>
                <a:defRPr sz="1200"/>
              </a:pPr>
            </a:p>
          </c:txPr>
          <c:dLblPos val="outEnd"/>
          <c:showLegendKey val="0"/>
          <c:showVal val="1"/>
          <c:showCatName val="0"/>
          <c:showSerName val="0"/>
          <c:showPercent val="0"/>
          <c:showBubbleSize val="0"/>
          <c:showLeaderLines val="1"/>
        </c:dLbls>
        <c:gapWidth val="60"/>
        <c:axId val="-2068027336"/>
        <c:axId val="-2113994440"/>
      </c:barChart>
      <c:catAx>
        <c:axId val="-2068027336"/>
        <c:scaling>
          <c:orientation val="minMax"/>
        </c:scaling>
        <c:delete val="0"/>
        <c:axPos val="b"/>
        <c:majorTickMark val="out"/>
        <c:minorTickMark val="none"/>
        <c:tickLblPos val="nextTo"/>
        <c:txPr>
          <a:bodyPr/>
          <a:lstStyle/>
          <a:p>
            <a:pPr>
              <a:defRPr sz="1100"/>
            </a:pPr>
          </a:p>
        </c:txPr>
        <c:crossAx val="-2113994440"/>
        <c:crosses val="autoZero"/>
        <c:auto val="1"/>
        <c:lblAlgn val="ctr"/>
        <c:lblOffset val="100"/>
        <c:noMultiLvlLbl val="0"/>
      </c:catAx>
      <c:valAx>
        <c:axId val="-2113994440"/>
        <c:scaling>
          <c:max val="0.6"/>
          <c:min val="0.0"/>
        </c:scaling>
        <c:delete val="0"/>
        <c:axPos val="l"/>
        <c:numFmt formatCode="0.0" sourceLinked="0"/>
        <c:majorTickMark val="out"/>
        <c:minorTickMark val="none"/>
        <c:tickLblPos val="nextTo"/>
        <c:txPr>
          <a:bodyPr/>
          <a:lstStyle/>
          <a:p>
            <a:pPr>
              <a:defRPr sz="1100"/>
            </a:pPr>
          </a:p>
        </c:txPr>
        <c:crossAx val="-2068027336"/>
        <c:crosses val="autoZero"/>
        <c:majorUnit val="0.1"/>
      </c:valAx>
    </c:plotArea>
    <c:dispBlanksAs val="gap"/>
  </c:chart>
  <c:txPr>
    <a:bodyPr/>
    <a:lstStyle/>
    <a:p>
      <a:pPr>
        <a:defRPr sz="1800"/>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3169920" cy="481727"/>
          </a:xfrm>
          <a:prstGeom prst="rect">
            <a:avLst/>
          </a:prstGeom>
        </p:spPr>
        <p:txBody>
          <a:bodyPr vert="horz" lIns="96661" tIns="48331" rIns="96661" bIns="48331" rtlCol="0"/>
          <a:lstStyle>
            <a:lvl1pPr algn="l">
              <a:defRPr sz="1300"/>
            </a:lvl1pPr>
          </a:lstStyle>
          <a:p>
            <a:endParaRPr lang="en-IN"/>
          </a:p>
        </p:txBody>
      </p:sp>
      <p:sp>
        <p:nvSpPr>
          <p:cNvPr id="3" name="Date Placeholder 2"/>
          <p:cNvSpPr>
            <a:spLocks noGrp="1"/>
          </p:cNvSpPr>
          <p:nvPr>
            <p:ph type="dt" idx="1"/>
          </p:nvPr>
        </p:nvSpPr>
        <p:spPr>
          <a:xfrm>
            <a:off x="4143587" y="0"/>
            <a:ext cx="3169920" cy="481727"/>
          </a:xfrm>
          <a:prstGeom prst="rect">
            <a:avLst/>
          </a:prstGeom>
        </p:spPr>
        <p:txBody>
          <a:bodyPr vert="horz" lIns="96661" tIns="48331" rIns="96661" bIns="48331" rtlCol="0"/>
          <a:lstStyle>
            <a:lvl1pPr algn="r">
              <a:defRPr sz="1300"/>
            </a:lvl1pPr>
          </a:lstStyle>
          <a:p>
            <a:fld id="{BE0B3843-71DB-4933-96B2-5A286420EAED}" type="datetimeFigureOut">
              <a:rPr lang="en-IN" smtClean="0"/>
              <a:pPr/>
              <a:t>28-09-2026</a:t>
            </a:fld>
            <a:endParaRPr lang="en-IN"/>
          </a:p>
        </p:txBody>
      </p:sp>
      <p:sp>
        <p:nvSpPr>
          <p:cNvPr id="4" name="Slide Image Placeholder 3"/>
          <p:cNvSpPr>
            <a:spLocks noGrp="1" noRot="1" noChangeAspect="1"/>
          </p:cNvSpPr>
          <p:nvPr>
            <p:ph type="sldImg" idx="2"/>
          </p:nvPr>
        </p:nvSpPr>
        <p:spPr>
          <a:xfrm>
            <a:off x="1497013" y="1200150"/>
            <a:ext cx="4321175" cy="3240088"/>
          </a:xfrm>
          <a:prstGeom prst="rect">
            <a:avLst/>
          </a:prstGeom>
          <a:noFill/>
          <a:ln w="12700">
            <a:solidFill>
              <a:prstClr val="black"/>
            </a:solidFill>
          </a:ln>
        </p:spPr>
        <p:txBody>
          <a:bodyPr vert="horz" lIns="96661" tIns="48331" rIns="96661" bIns="48331" rtlCol="0" anchor="ctr"/>
          <a:lstStyle/>
          <a:p>
            <a:endParaRPr lang="en-IN"/>
          </a:p>
        </p:txBody>
      </p:sp>
      <p:sp>
        <p:nvSpPr>
          <p:cNvPr id="5" name="Notes Placeholder 4"/>
          <p:cNvSpPr>
            <a:spLocks noGrp="1"/>
          </p:cNvSpPr>
          <p:nvPr>
            <p:ph type="body" sz="quarter" idx="3"/>
          </p:nvPr>
        </p:nvSpPr>
        <p:spPr>
          <a:xfrm>
            <a:off x="731520" y="4620577"/>
            <a:ext cx="5852160" cy="3780473"/>
          </a:xfrm>
          <a:prstGeom prst="rect">
            <a:avLst/>
          </a:prstGeom>
        </p:spPr>
        <p:txBody>
          <a:bodyPr vert="horz" lIns="96661" tIns="48331" rIns="96661" bIns="48331"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6" name="Footer Placeholder 5"/>
          <p:cNvSpPr>
            <a:spLocks noGrp="1"/>
          </p:cNvSpPr>
          <p:nvPr>
            <p:ph type="ftr" sz="quarter" idx="4"/>
          </p:nvPr>
        </p:nvSpPr>
        <p:spPr>
          <a:xfrm>
            <a:off x="0" y="9119474"/>
            <a:ext cx="3169920" cy="481726"/>
          </a:xfrm>
          <a:prstGeom prst="rect">
            <a:avLst/>
          </a:prstGeom>
        </p:spPr>
        <p:txBody>
          <a:bodyPr vert="horz" lIns="96661" tIns="48331" rIns="96661" bIns="48331" rtlCol="0" anchor="b"/>
          <a:lstStyle>
            <a:lvl1pPr algn="l">
              <a:defRPr sz="1300"/>
            </a:lvl1pPr>
          </a:lstStyle>
          <a:p>
            <a:endParaRPr lang="en-IN"/>
          </a:p>
        </p:txBody>
      </p:sp>
      <p:sp>
        <p:nvSpPr>
          <p:cNvPr id="7" name="Slide Number Placeholder 6"/>
          <p:cNvSpPr>
            <a:spLocks noGrp="1"/>
          </p:cNvSpPr>
          <p:nvPr>
            <p:ph type="sldNum" sz="quarter" idx="5"/>
          </p:nvPr>
        </p:nvSpPr>
        <p:spPr>
          <a:xfrm>
            <a:off x="4143587" y="9119474"/>
            <a:ext cx="3169920" cy="481726"/>
          </a:xfrm>
          <a:prstGeom prst="rect">
            <a:avLst/>
          </a:prstGeom>
        </p:spPr>
        <p:txBody>
          <a:bodyPr vert="horz" lIns="96661" tIns="48331" rIns="96661" bIns="48331" rtlCol="0" anchor="b"/>
          <a:lstStyle>
            <a:lvl1pPr algn="r">
              <a:defRPr sz="1300"/>
            </a:lvl1pPr>
          </a:lstStyle>
          <a:p>
            <a:fld id="{04051410-1A42-4CD9-9C94-19E4466B22C6}" type="slidenum">
              <a:rPr lang="en-IN" smtClean="0"/>
              <a:pPr/>
              <a:t>‹#›</a:t>
            </a:fld>
            <a:endParaRPr lang="en-IN"/>
          </a:p>
        </p:txBody>
      </p:sp>
    </p:spTree>
    <p:extLst>
      <p:ext uri="{BB962C8B-B14F-4D97-AF65-F5344CB8AC3E}">
        <p14:creationId xmlns:p14="http://schemas.microsoft.com/office/powerpoint/2010/main" val="17646586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9.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2.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6.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3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0.xml"/></Relationships>
</file>

<file path=ppt/notesSlides/_rels/notesSlide3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3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3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3.xml"/></Relationships>
</file>

<file path=ppt/notesSlides/_rels/notesSlide3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3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3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 Our project asks why some developed Indian districts remain highly climate-vulnerable while some less-developed districts are resilient. We built a Big Data pipeline over 30 years of IMD climate data and a novel hybrid deep-learning model, B-ACPN, to explain each district.</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the order we follow, as required for Review 2: dataset, model, architecture, preprocessing and its results, classification, comparison, team plan, references, photo and the Colab link.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alone should predict resilience, but it does not always. Splitting districts at the median of development and of vulnerability gives four groups; 181 of 469 districts break the expected pattern. Our objectives are the pipeline, the novel model, a fair comparison, and a per-district explanation.</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combine five public sources. NDAP gives the outcome and two development variables, Census 2011 gives three more, and IMD gives 30 years of daily gridded rainfall and temperature, which is what makes this a Big Data problem. The vulnerability index is only ever the target, never an input.</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B-ACPN works in two stages. A random forest first gives a tree risk score. A deep network then starts from that score and learns what the trees miss: a development term and a climate push gated by development level. Five networks are averaged, attention shows which climate factor drives the push, and MC Dropout with conformal prediction says how certain we are.</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Data flows top-left to bottom-right. Raw sources land in the HDFS raw zone; Python converts the IMD grids to district-day rows in staging; MapReduce on YARN aggregates 7 million daily rows to yearly indices; Hive builds the 30-year baseline and joins development data; Spark finds climate regimes and trains the MLlib baselines; B-ACPN (random forest + PyTorch) is trained and compared.</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installed Java 8, Hadoop with HDFS and YARN, Hive and Spark inside Colab. HDFS has three zones so the raw data is never modified. In total 1.08 GB is stored, mostly the 30 years of rainfall grids. These sizes were measured with hdfs dfs -du in the Colab run 2026-10-22.</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MapReduce does the heaviest step, 7 million daily rows to 19,200 district-years, because the work splits by district and year. Hive does the averaging and the join in SQL, and its output matched pandas exactly. Spark k-means finds the climate regimes because it works in memory. The last row checks the MapReduce output against an independent pandas recomputation.</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preprocessing steps take the raw sources to a model-ready table. Matching is done inside states and two wrong fuzzy matches are blocked. We never impute: only 5 development variables are complete enough. Standardisation uses training-fold statistics only, so there is no leakage.</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Districts are kept only when every variable is real, which takes us from 640 Census districts to 469 complete ones in 21 states. Census totals match the official figures. On the right, each feature's single-variable ROC-AUC shows how much signal it carries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preprocessing step is checked against a reference. Census totals reproduce the official figures, grid weights sum to one within rounding, missing climate cells stay missing instead of becoming zero, and the final table has no missing, duplicate or out-of-range values. The last check needs the raw IMD grids and is filled by the Colab run.</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Eight error metrics for the two preprocessing steps that have an exact reference. Left: annual rainfall per district from the naive nearest-cell method against our area-weighted method, i.e. the error our method avoids. Right: the seven MapReduce climate indices against an independent pandas recomputation (worst of the seven), i.e. whether MapReduce is correct.</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4 lists the full B-ACPN specification. The tree stage gives a strong first score; the deep stage is small, sized for 469 districts, and learns the development and climate corrections. Every model, including B-ACPN, uses the same 25 folds plus leave-one-state-out.</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Table 5 compares B-ACPN with five existing models on exactly the same 25 folds and the same leave-one-state-out split. Values are means over folds. We call a model best only if its lead is larger than one standard deviation, and we report a baseline that beats B-ACPN as it is.</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 measure what preprocessing buys, every model is trained twice on the same districts and folds: once on the raw features exactly as they come, and once on the preprocessed features. We compare accuracy, F1, RMSE and ROC-AUC before and after. The neural models gain the most. Random Forest and GBT do not depend on scale, and Spark's Logistic Regression and Linear SVM standardise features internally, so those four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Beyond accuracy we report precision, recall and specificity, two chance-corrected scores (MCC and kappa), PR-AUC, and three probability-quality scores: log loss, Brier score and expected calibration error, where lower is better. Linear SVM gives no probabilities, so those cells are n/a.</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Confusion counts are summed over all 25 test folds. The 95% confidence interval shows how certain each ROC-AUC is, and the corrected paired test tells us whether a difference from B-ACPN is real or could be noise from the folds; p below 0.05 means a real difference.</a:t>
            </a:r>
          </a:p>
        </p:txBody>
      </p:sp>
      <p:sp>
        <p:nvSpPr>
          <p:cNvPr id="4" name="Slide Number Placeholder 3"/>
          <p:cNvSpPr>
            <a:spLocks noGrp="1"/>
          </p:cNvSpPr>
          <p:nvPr>
            <p:ph type="sldNum" idx="5" sz="quarter"/>
          </p:nvPr>
        </p:nvSpPr>
        <p:spPr/>
      </p:sp>
    </p:spTree>
  </p:cSld>
  <p:clrMapOvr>
    <a:masterClrMapping/>
  </p:clrMapOvr>
</p:notes>
</file>

<file path=ppt/notesSlides/notesSlide1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All ten classification metrics, with what each one measures, for the proposed model and the best of the five existing models on that metric. Values are means over the same 25 folds; the full per-model values are in the comparison and detailed-metrics tables.</a:t>
            </a:r>
          </a:p>
        </p:txBody>
      </p:sp>
      <p:sp>
        <p:nvSpPr>
          <p:cNvPr id="4" name="Slide Number Placeholder 3"/>
          <p:cNvSpPr>
            <a:spLocks noGrp="1"/>
          </p:cNvSpPr>
          <p:nvPr>
            <p:ph type="sldNum" idx="5" sz="quarter"/>
          </p:nvPr>
        </p:nvSpPr>
        <p:spPr/>
      </p:sp>
    </p:spTree>
  </p:cSld>
  <p:clrMapOvr>
    <a:masterClrMapping/>
  </p:clrMapOvr>
</p:notes>
</file>

<file path=ppt/notesSlides/notesSlide1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Every classification metric for every model, trained on the raw features (before) and on the preprocessed features (after), on the same 25 folds. Arrows read before → after; for log loss and RMSE lower is better. B-ACPN improves or stays equal on all of them. The standard MLP gains recall, ROC-AUC and F1 but loses precision and specificity. Tree models and Spark's internally standardised models do not change.</a:t>
            </a:r>
          </a:p>
        </p:txBody>
      </p:sp>
      <p:sp>
        <p:nvSpPr>
          <p:cNvPr id="4" name="Slide Number Placeholder 3"/>
          <p:cNvSpPr>
            <a:spLocks noGrp="1"/>
          </p:cNvSpPr>
          <p:nvPr>
            <p:ph type="sldNum" idx="5" sz="quarter"/>
          </p:nvPr>
        </p:nvSpPr>
        <p:spPr/>
      </p:sp>
    </p:spTree>
  </p:cSld>
  <p:clrMapOvr>
    <a:masterClrMapping/>
  </p:clrMapOvr>
</p:notes>
</file>

<file path=ppt/notesSlides/notesSlide2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row removes one part of B-ACPN and re-runs it on the same folds. If accuracy drops by more than one standard deviation, that part helps prediction; if not, the part is kept only for what it explains, and we say so.</a:t>
            </a:r>
          </a:p>
        </p:txBody>
      </p:sp>
      <p:sp>
        <p:nvSpPr>
          <p:cNvPr id="4" name="Slide Number Placeholder 3"/>
          <p:cNvSpPr>
            <a:spLocks noGrp="1"/>
          </p:cNvSpPr>
          <p:nvPr>
            <p:ph type="sldNum" idx="5" sz="quarter"/>
          </p:nvPr>
        </p:nvSpPr>
        <p:spPr/>
      </p:sp>
    </p:spTree>
  </p:cSld>
  <p:clrMapOvr>
    <a:masterClrMapping/>
  </p:clrMapOvr>
</p:notes>
</file>

<file path=ppt/notesSlides/notesSlide2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climate push answers our research question. A positive push means climate makes a district more vulnerable than its development predicts. We compare Anomaly A with the expected developed districts, and Anomaly B with the expected less-developed districts.</a:t>
            </a:r>
          </a:p>
        </p:txBody>
      </p:sp>
      <p:sp>
        <p:nvSpPr>
          <p:cNvPr id="4" name="Slide Number Placeholder 3"/>
          <p:cNvSpPr>
            <a:spLocks noGrp="1"/>
          </p:cNvSpPr>
          <p:nvPr>
            <p:ph type="sldNum" idx="5" sz="quarter"/>
          </p:nvPr>
        </p:nvSpPr>
        <p:spPr/>
      </p:sp>
    </p:spTree>
  </p:cSld>
  <p:clrMapOvr>
    <a:masterClrMapping/>
  </p:clrMapOvr>
</p:notes>
</file>

<file path=ppt/notesSlides/notesSlide2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the data-quality problems in the raw sources and after preprocessing; missing values, unmatched and wrongly matched districts all go to zero without imputation. Bottom: the raw features live on very different scales, and after standardisation they are comparable.</a:t>
            </a:r>
          </a:p>
        </p:txBody>
      </p:sp>
      <p:sp>
        <p:nvSpPr>
          <p:cNvPr id="4" name="Slide Number Placeholder 3"/>
          <p:cNvSpPr>
            <a:spLocks noGrp="1"/>
          </p:cNvSpPr>
          <p:nvPr>
            <p:ph type="sldNum" idx="5" sz="quarter"/>
          </p:nvPr>
        </p:nvSpPr>
        <p:spPr/>
      </p:sp>
    </p:spTree>
  </p:cSld>
  <p:clrMapOvr>
    <a:masterClrMapping/>
  </p:clrMapOvr>
</p:notes>
</file>

<file path=ppt/notesSlides/notesSlide2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how many districts survive each preprocessing stage when nothing is imputed. Bottom: how much signal each preprocessed feature carries on its own, before any model is trained.</a:t>
            </a:r>
          </a:p>
        </p:txBody>
      </p:sp>
      <p:sp>
        <p:nvSpPr>
          <p:cNvPr id="4" name="Slide Number Placeholder 3"/>
          <p:cNvSpPr>
            <a:spLocks noGrp="1"/>
          </p:cNvSpPr>
          <p:nvPr>
            <p:ph type="sldNum" idx="5" sz="quarter"/>
          </p:nvPr>
        </p:nvSpPr>
        <p:spPr/>
      </p:sp>
    </p:spTree>
  </p:cSld>
  <p:clrMapOvr>
    <a:masterClrMapping/>
  </p:clrMapOvr>
</p:notes>
</file>

<file path=ppt/notesSlides/notesSlide2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HDFS storage by zone, measured with hdfs dfs -du. The 30 years of rainfall grids dominate; the staging zone holds the 7 million district-day rows that MapReduce reads.</a:t>
            </a:r>
          </a:p>
        </p:txBody>
      </p:sp>
      <p:sp>
        <p:nvSpPr>
          <p:cNvPr id="4" name="Slide Number Placeholder 3"/>
          <p:cNvSpPr>
            <a:spLocks noGrp="1"/>
          </p:cNvSpPr>
          <p:nvPr>
            <p:ph type="sldNum" idx="5" sz="quarter"/>
          </p:nvPr>
        </p:nvSpPr>
        <p:spPr/>
      </p:sp>
    </p:spTree>
  </p:cSld>
  <p:clrMapOvr>
    <a:masterClrMapping/>
  </p:clrMapOvr>
</p:notes>
</file>

<file path=ppt/notesSlides/notesSlide2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MapReduce runtime against input size for 1, 10 and 30 years on a single node. Right: the silhouette score used to choose the number of Spark k-means climate regimes.</a:t>
            </a:r>
          </a:p>
        </p:txBody>
      </p:sp>
      <p:sp>
        <p:nvSpPr>
          <p:cNvPr id="4" name="Slide Number Placeholder 3"/>
          <p:cNvSpPr>
            <a:spLocks noGrp="1"/>
          </p:cNvSpPr>
          <p:nvPr>
            <p:ph type="sldNum" idx="5" sz="quarter"/>
          </p:nvPr>
        </p:nvSpPr>
        <p:spPr/>
      </p:sp>
    </p:spTree>
  </p:cSld>
  <p:clrMapOvr>
    <a:masterClrMapping/>
  </p:clrMapOvr>
</p:notes>
</file>

<file path=ppt/notesSlides/notesSlide2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B-ACPN deep-stage training and validation loss; training stops at the best validation epoch. Right: the mean attention weight of each climate feature, showing which hazards drive the climate push.</a:t>
            </a:r>
          </a:p>
        </p:txBody>
      </p:sp>
      <p:sp>
        <p:nvSpPr>
          <p:cNvPr id="4" name="Slide Number Placeholder 3"/>
          <p:cNvSpPr>
            <a:spLocks noGrp="1"/>
          </p:cNvSpPr>
          <p:nvPr>
            <p:ph type="sldNum" idx="5" sz="quarter"/>
          </p:nvPr>
        </p:nvSpPr>
        <p:spPr/>
      </p:sp>
    </p:spTree>
  </p:cSld>
  <p:clrMapOvr>
    <a:masterClrMapping/>
  </p:clrMapOvr>
</p:notes>
</file>

<file path=ppt/notesSlides/notesSlide2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bar is B-ACPN with one component removed, on the same 25 folds. A drop larger than one standard deviation means the part helps accuracy; parts within one SD are kept for the explanation they give.</a:t>
            </a:r>
          </a:p>
        </p:txBody>
      </p:sp>
      <p:sp>
        <p:nvSpPr>
          <p:cNvPr id="4" name="Slide Number Placeholder 3"/>
          <p:cNvSpPr>
            <a:spLocks noGrp="1"/>
          </p:cNvSpPr>
          <p:nvPr>
            <p:ph type="sldNum" idx="5" sz="quarter"/>
          </p:nvPr>
        </p:nvSpPr>
        <p:spPr/>
      </p:sp>
    </p:spTree>
  </p:cSld>
  <p:clrMapOvr>
    <a:masterClrMapping/>
  </p:clrMapOvr>
</p:notes>
</file>

<file path=ppt/notesSlides/notesSlide2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Left: the climate push of every district by group, with the group mean. Right: an India map of the climate push, so the panel can see where climate drives vulnerability beyond development.</a:t>
            </a:r>
          </a:p>
        </p:txBody>
      </p:sp>
      <p:sp>
        <p:nvSpPr>
          <p:cNvPr id="4" name="Slide Number Placeholder 3"/>
          <p:cNvSpPr>
            <a:spLocks noGrp="1"/>
          </p:cNvSpPr>
          <p:nvPr>
            <p:ph type="sldNum" idx="5" sz="quarter"/>
          </p:nvPr>
        </p:nvSpPr>
        <p:spPr/>
      </p:sp>
    </p:spTree>
  </p:cSld>
  <p:clrMapOvr>
    <a:masterClrMapping/>
  </p:clrMapOvr>
</p:notes>
</file>

<file path=ppt/notesSlides/notesSlide2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ROC and precision-recall curves for B-ACPN and the five baselines, pooled over the 25 folds. Bottom: mean and standard deviation of four metrics for every model.</a:t>
            </a:r>
          </a:p>
        </p:txBody>
      </p:sp>
      <p:sp>
        <p:nvSpPr>
          <p:cNvPr id="4" name="Slide Number Placeholder 3"/>
          <p:cNvSpPr>
            <a:spLocks noGrp="1"/>
          </p:cNvSpPr>
          <p:nvPr>
            <p:ph type="sldNum" idx="5" sz="quarter"/>
          </p:nvPr>
        </p:nvSpPr>
        <p:spPr/>
      </p:sp>
    </p:spTree>
  </p:cSld>
  <p:clrMapOvr>
    <a:masterClrMapping/>
  </p:clrMapOvr>
</p:notes>
</file>

<file path=ppt/notesSlides/notesSlide3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Top: confusion matrices of all six models summed over the 25 test folds. Bottom: the spread of ROC-AUC across the folds, which shows how stable each model is.</a:t>
            </a:r>
          </a:p>
        </p:txBody>
      </p:sp>
      <p:sp>
        <p:nvSpPr>
          <p:cNvPr id="4" name="Slide Number Placeholder 3"/>
          <p:cNvSpPr>
            <a:spLocks noGrp="1"/>
          </p:cNvSpPr>
          <p:nvPr>
            <p:ph type="sldNum" idx="5" sz="quarter"/>
          </p:nvPr>
        </p:nvSpPr>
        <p:spPr/>
      </p:sp>
    </p:spTree>
  </p:cSld>
  <p:clrMapOvr>
    <a:masterClrMapping/>
  </p:clrMapOvr>
</p:notes>
</file>

<file path=ppt/notesSlides/notesSlide3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Accuracy, F1, ROC-AUC and RMSE of every model on raw versus preprocessed features, with the change written above each pair. The neural models change; tree models and Spark's internally standardised models do not.</a:t>
            </a:r>
          </a:p>
        </p:txBody>
      </p:sp>
      <p:sp>
        <p:nvSpPr>
          <p:cNvPr id="4" name="Slide Number Placeholder 3"/>
          <p:cNvSpPr>
            <a:spLocks noGrp="1"/>
          </p:cNvSpPr>
          <p:nvPr>
            <p:ph type="sldNum" idx="5" sz="quarter"/>
          </p:nvPr>
        </p:nvSpPr>
        <p:spPr/>
      </p:sp>
    </p:spTree>
  </p:cSld>
  <p:clrMapOvr>
    <a:masterClrMapping/>
  </p:clrMapOvr>
</p:notes>
</file>

<file path=ppt/notesSlides/notesSlide3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Development explains only 13% of the variation in vulnerability; adding climate raises that to 33%, and state alone explains 48%. Anomaly A districts have about twice as many tropical nights, and Anomaly B districts are drier. Limitations are listed honestly.</a:t>
            </a:r>
          </a:p>
        </p:txBody>
      </p:sp>
      <p:sp>
        <p:nvSpPr>
          <p:cNvPr id="4" name="Slide Number Placeholder 3"/>
          <p:cNvSpPr>
            <a:spLocks noGrp="1"/>
          </p:cNvSpPr>
          <p:nvPr>
            <p:ph type="sldNum" idx="5" sz="quarter"/>
          </p:nvPr>
        </p:nvSpPr>
        <p:spPr/>
      </p:sp>
    </p:spTree>
  </p:cSld>
  <p:clrMapOvr>
    <a:masterClrMapping/>
  </p:clrMapOvr>
</p:notes>
</file>

<file path=ppt/notesSlides/notesSlide3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Each member owns one stage with no overlap: Sehjodh the dataset and preprocessing, Deepankar the Big Data pipeline, Devanshu the novel deep-learning model, and Tanmay the comparison with existing models and the visualisation. Each member presents only the slides of their own stage.</a:t>
            </a:r>
          </a:p>
        </p:txBody>
      </p:sp>
      <p:sp>
        <p:nvSpPr>
          <p:cNvPr id="4" name="Slide Number Placeholder 3"/>
          <p:cNvSpPr>
            <a:spLocks noGrp="1"/>
          </p:cNvSpPr>
          <p:nvPr>
            <p:ph type="sldNum" idx="5" sz="quarter"/>
          </p:nvPr>
        </p:nvSpPr>
        <p:spPr/>
      </p:sp>
    </p:spTree>
  </p:cSld>
  <p:clrMapOvr>
    <a:masterClrMapping/>
  </p:clrMapOvr>
</p:notes>
</file>

<file path=ppt/notesSlides/notesSlide3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These are the data sources, the papers behind each B-ACPN component, and the Big Data tools we used.</a:t>
            </a:r>
          </a:p>
        </p:txBody>
      </p:sp>
      <p:sp>
        <p:nvSpPr>
          <p:cNvPr id="4" name="Slide Number Placeholder 3"/>
          <p:cNvSpPr>
            <a:spLocks noGrp="1"/>
          </p:cNvSpPr>
          <p:nvPr>
            <p:ph type="sldNum" idx="5" sz="quarter"/>
          </p:nvPr>
        </p:nvSpPr>
        <p:spPr/>
      </p:sp>
    </p:spTree>
  </p:cSld>
  <p:clrMapOvr>
    <a:masterClrMapping/>
  </p:clrMapOvr>
</p:notes>
</file>

<file path=ppt/notesSlides/notesSlide3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team adds the geotagged photo taken during the Review 2 presentation here.</a:t>
            </a:r>
          </a:p>
        </p:txBody>
      </p:sp>
      <p:sp>
        <p:nvSpPr>
          <p:cNvPr id="4" name="Slide Number Placeholder 3"/>
          <p:cNvSpPr>
            <a:spLocks noGrp="1"/>
          </p:cNvSpPr>
          <p:nvPr>
            <p:ph type="sldNum" idx="5" sz="quarter"/>
          </p:nvPr>
        </p:nvSpPr>
        <p:spPr/>
      </p:sp>
    </p:spTree>
  </p:cSld>
  <p:clrMapOvr>
    <a:masterClrMapping/>
  </p:clrMapOvr>
</p:notes>
</file>

<file path=ppt/notesSlides/notesSlide3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Colab notebook runs the whole project in the Review 2 order, with every table printed before any figure. The model sections can also run on their own from the committed analysis table.</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a:t>Click to edit Master title style</a:t>
            </a:r>
            <a:endParaRPr lang="en-IN"/>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a:t>Click to edit Master subtitle style</a:t>
            </a:r>
            <a:endParaRPr lang="en-IN"/>
          </a:p>
        </p:txBody>
      </p:sp>
      <p:sp>
        <p:nvSpPr>
          <p:cNvPr id="4" name="Date Placeholder 3"/>
          <p:cNvSpPr>
            <a:spLocks noGrp="1"/>
          </p:cNvSpPr>
          <p:nvPr>
            <p:ph type="dt" sz="half" idx="10"/>
          </p:nvPr>
        </p:nvSpPr>
        <p:spPr/>
        <p:txBody>
          <a:bodyPr/>
          <a:lstStyle/>
          <a:p>
            <a:fld id="{73501D12-12CC-4599-B1A9-46B23EE40265}"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0701A662-5DD3-4FFC-B0F1-2015CB0A0DAE}"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a:t>Click to edit Master title style</a:t>
            </a:r>
            <a:endParaRPr lang="en-IN"/>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FAA98144-BEFF-4702-AC4D-6A16E0F7E443}"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Date Placeholder 4"/>
          <p:cNvSpPr>
            <a:spLocks noGrp="1"/>
          </p:cNvSpPr>
          <p:nvPr>
            <p:ph type="dt" sz="half" idx="10"/>
          </p:nvPr>
        </p:nvSpPr>
        <p:spPr/>
        <p:txBody>
          <a:bodyPr/>
          <a:lstStyle/>
          <a:p>
            <a:fld id="{5E9FD06E-5333-4E53-AFAB-CB44FF27A57E}"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endParaRPr lang="en-IN"/>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7" name="Date Placeholder 6"/>
          <p:cNvSpPr>
            <a:spLocks noGrp="1"/>
          </p:cNvSpPr>
          <p:nvPr>
            <p:ph type="dt" sz="half" idx="10"/>
          </p:nvPr>
        </p:nvSpPr>
        <p:spPr/>
        <p:txBody>
          <a:bodyPr/>
          <a:lstStyle/>
          <a:p>
            <a:fld id="{699A21B5-5FA1-433F-8BD7-148FD7224A0F}" type="datetime1">
              <a:rPr lang="en-US" smtClean="0"/>
              <a:t>9/28/2026</a:t>
            </a:fld>
            <a:endParaRPr lang="en-IN"/>
          </a:p>
        </p:txBody>
      </p:sp>
      <p:sp>
        <p:nvSpPr>
          <p:cNvPr id="8" name="Footer Placeholder 7"/>
          <p:cNvSpPr>
            <a:spLocks noGrp="1"/>
          </p:cNvSpPr>
          <p:nvPr>
            <p:ph type="ftr" sz="quarter" idx="11"/>
          </p:nvPr>
        </p:nvSpPr>
        <p:spPr/>
        <p:txBody>
          <a:bodyPr/>
          <a:lstStyle/>
          <a:p>
            <a:endParaRPr lang="en-IN"/>
          </a:p>
        </p:txBody>
      </p:sp>
      <p:sp>
        <p:nvSpPr>
          <p:cNvPr id="9" name="Slide Number Placeholder 8"/>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Date Placeholder 2"/>
          <p:cNvSpPr>
            <a:spLocks noGrp="1"/>
          </p:cNvSpPr>
          <p:nvPr>
            <p:ph type="dt" sz="half" idx="10"/>
          </p:nvPr>
        </p:nvSpPr>
        <p:spPr/>
        <p:txBody>
          <a:bodyPr/>
          <a:lstStyle/>
          <a:p>
            <a:fld id="{865D7CA1-D255-4502-AFA8-A5C13107334B}" type="datetime1">
              <a:rPr lang="en-US" smtClean="0"/>
              <a:t>9/28/2026</a:t>
            </a:fld>
            <a:endParaRPr lang="en-IN"/>
          </a:p>
        </p:txBody>
      </p:sp>
      <p:sp>
        <p:nvSpPr>
          <p:cNvPr id="4" name="Footer Placeholder 3"/>
          <p:cNvSpPr>
            <a:spLocks noGrp="1"/>
          </p:cNvSpPr>
          <p:nvPr>
            <p:ph type="ftr" sz="quarter" idx="11"/>
          </p:nvPr>
        </p:nvSpPr>
        <p:spPr/>
        <p:txBody>
          <a:bodyPr/>
          <a:lstStyle/>
          <a:p>
            <a:endParaRPr lang="en-IN"/>
          </a:p>
        </p:txBody>
      </p:sp>
      <p:sp>
        <p:nvSpPr>
          <p:cNvPr id="5" name="Slide Number Placeholder 4"/>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BA553D88-E4EA-480A-A4BB-689734D28FE4}" type="datetime1">
              <a:rPr lang="en-US" smtClean="0"/>
              <a:t>9/28/2026</a:t>
            </a:fld>
            <a:endParaRPr lang="en-IN"/>
          </a:p>
        </p:txBody>
      </p:sp>
      <p:sp>
        <p:nvSpPr>
          <p:cNvPr id="3" name="Footer Placeholder 2"/>
          <p:cNvSpPr>
            <a:spLocks noGrp="1"/>
          </p:cNvSpPr>
          <p:nvPr>
            <p:ph type="ftr" sz="quarter" idx="11"/>
          </p:nvPr>
        </p:nvSpPr>
        <p:spPr/>
        <p:txBody>
          <a:bodyPr/>
          <a:lstStyle/>
          <a:p>
            <a:endParaRPr lang="en-IN"/>
          </a:p>
        </p:txBody>
      </p:sp>
      <p:sp>
        <p:nvSpPr>
          <p:cNvPr id="4" name="Slide Number Placeholder 3"/>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a:t>Click to edit Master title style</a:t>
            </a:r>
            <a:endParaRPr lang="en-IN"/>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49F60DE4-0BF3-46B9-83A2-2AF36E731B12}"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a:t>Click to edit Master title style</a:t>
            </a:r>
            <a:endParaRPr lang="en-IN"/>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IN"/>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a:t>Click to edit Master text styles</a:t>
            </a:r>
          </a:p>
        </p:txBody>
      </p:sp>
      <p:sp>
        <p:nvSpPr>
          <p:cNvPr id="5" name="Date Placeholder 4"/>
          <p:cNvSpPr>
            <a:spLocks noGrp="1"/>
          </p:cNvSpPr>
          <p:nvPr>
            <p:ph type="dt" sz="half" idx="10"/>
          </p:nvPr>
        </p:nvSpPr>
        <p:spPr/>
        <p:txBody>
          <a:bodyPr/>
          <a:lstStyle/>
          <a:p>
            <a:fld id="{8F1D5D0A-779E-4A13-8C93-0EEB1D4607F5}" type="datetime1">
              <a:rPr lang="en-US" smtClean="0"/>
              <a:t>9/28/2026</a:t>
            </a:fld>
            <a:endParaRPr lang="en-IN"/>
          </a:p>
        </p:txBody>
      </p:sp>
      <p:sp>
        <p:nvSpPr>
          <p:cNvPr id="6" name="Footer Placeholder 5"/>
          <p:cNvSpPr>
            <a:spLocks noGrp="1"/>
          </p:cNvSpPr>
          <p:nvPr>
            <p:ph type="ftr" sz="quarter" idx="11"/>
          </p:nvPr>
        </p:nvSpPr>
        <p:spPr/>
        <p:txBody>
          <a:bodyPr/>
          <a:lstStyle/>
          <a:p>
            <a:endParaRPr lang="en-IN"/>
          </a:p>
        </p:txBody>
      </p:sp>
      <p:sp>
        <p:nvSpPr>
          <p:cNvPr id="7" name="Slide Number Placeholder 6"/>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endParaRPr lang="en-IN"/>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A813685-E0B9-4B43-833E-F4F3DABCD09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a:t>Click to edit Master title style</a:t>
            </a:r>
            <a:endParaRPr lang="en-IN"/>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10"/>
          </p:nvPr>
        </p:nvSpPr>
        <p:spPr/>
        <p:txBody>
          <a:bodyPr/>
          <a:lstStyle/>
          <a:p>
            <a:fld id="{B1CE4E74-A84D-43FC-9765-A65DF08BB6C7}" type="datetime1">
              <a:rPr lang="en-US" smtClean="0"/>
              <a:t>9/28/2026</a:t>
            </a:fld>
            <a:endParaRPr lang="en-IN"/>
          </a:p>
        </p:txBody>
      </p:sp>
      <p:sp>
        <p:nvSpPr>
          <p:cNvPr id="5" name="Footer Placeholder 4"/>
          <p:cNvSpPr>
            <a:spLocks noGrp="1"/>
          </p:cNvSpPr>
          <p:nvPr>
            <p:ph type="ftr" sz="quarter" idx="11"/>
          </p:nvPr>
        </p:nvSpPr>
        <p:spPr/>
        <p:txBody>
          <a:bodyPr/>
          <a:lstStyle/>
          <a:p>
            <a:endParaRPr lang="en-IN"/>
          </a:p>
        </p:txBody>
      </p:sp>
      <p:sp>
        <p:nvSpPr>
          <p:cNvPr id="6" name="Slide Number Placeholder 5"/>
          <p:cNvSpPr>
            <a:spLocks noGrp="1"/>
          </p:cNvSpPr>
          <p:nvPr>
            <p:ph type="sldNum" sz="quarter" idx="12"/>
          </p:nvPr>
        </p:nvSpPr>
        <p:spPr/>
        <p:txBody>
          <a:bodyPr/>
          <a:lstStyle/>
          <a:p>
            <a:fld id="{F8C9B245-E05F-45BE-B7A4-197150CC347C}" type="slidenum">
              <a:rPr lang="en-IN" smtClean="0"/>
              <a:pPr/>
              <a:t>‹#›</a:t>
            </a:fld>
            <a:endParaRPr lang="en-IN"/>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a:t>Click to edit Master title style</a:t>
            </a:r>
            <a:endParaRPr lang="en-IN"/>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IN"/>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F3C9455C-F1F3-4F5C-85DA-4378C108ECB7}" type="datetime1">
              <a:rPr lang="en-US" smtClean="0"/>
              <a:t>9/28/2026</a:t>
            </a:fld>
            <a:endParaRPr lang="en-IN"/>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IN"/>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F8C9B245-E05F-45BE-B7A4-197150CC347C}" type="slidenum">
              <a:rPr lang="en-IN" smtClean="0"/>
              <a:pPr/>
              <a:t>‹#›</a:t>
            </a:fld>
            <a:endParaRPr lang="en-IN"/>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image" Target="../media/image1.jpeg"/><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2.xml"/><Relationship Id="rId4" Type="http://schemas.openxmlformats.org/officeDocument/2006/relationships/image" Target="../media/image2.png"/><Relationship Id="rId5" Type="http://schemas.openxmlformats.org/officeDocument/2006/relationships/image" Target="../media/image3.png"/></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3.xml"/><Relationship Id="rId4" Type="http://schemas.openxmlformats.org/officeDocument/2006/relationships/image" Target="../media/image4.png"/><Relationship Id="rId5" Type="http://schemas.openxmlformats.org/officeDocument/2006/relationships/image" Target="../media/image5.pn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4.xml"/><Relationship Id="rId4" Type="http://schemas.openxmlformats.org/officeDocument/2006/relationships/image" Target="../media/image6.pn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5.xml"/><Relationship Id="rId4" Type="http://schemas.openxmlformats.org/officeDocument/2006/relationships/image" Target="../media/image7.png"/><Relationship Id="rId5" Type="http://schemas.openxmlformats.org/officeDocument/2006/relationships/image" Target="../media/image8.pn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6.xml"/><Relationship Id="rId4" Type="http://schemas.openxmlformats.org/officeDocument/2006/relationships/image" Target="../media/image9.png"/><Relationship Id="rId5" Type="http://schemas.openxmlformats.org/officeDocument/2006/relationships/image" Target="../media/image10.png"/></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7.xml"/><Relationship Id="rId4" Type="http://schemas.openxmlformats.org/officeDocument/2006/relationships/image" Target="../media/image11.pn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8.xml"/><Relationship Id="rId4" Type="http://schemas.openxmlformats.org/officeDocument/2006/relationships/image" Target="../media/image12.png"/><Relationship Id="rId5" Type="http://schemas.openxmlformats.org/officeDocument/2006/relationships/image" Target="../media/image13.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29.xml"/><Relationship Id="rId4" Type="http://schemas.openxmlformats.org/officeDocument/2006/relationships/image" Target="../media/image14.png"/><Relationship Id="rId5" Type="http://schemas.openxmlformats.org/officeDocument/2006/relationships/image" Target="../media/image15.pn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0.xml"/><Relationship Id="rId4" Type="http://schemas.openxmlformats.org/officeDocument/2006/relationships/image" Target="../media/image16.png"/><Relationship Id="rId5" Type="http://schemas.openxmlformats.org/officeDocument/2006/relationships/image" Target="../media/image17.png"/></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1.xml"/><Relationship Id="rId4" Type="http://schemas.openxmlformats.org/officeDocument/2006/relationships/image" Target="../media/image18.pn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2.xml"/><Relationship Id="rId4" Type="http://schemas.openxmlformats.org/officeDocument/2006/relationships/chart" Target="../charts/chart1.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3.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4.xml"/></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5.xml"/></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image" Target="../media/image1.jpeg"/><Relationship Id="rId3" Type="http://schemas.openxmlformats.org/officeDocument/2006/relationships/notesSlide" Target="../notesSlides/notesSlide36.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457200" y="1600200"/>
            <a:ext cx="8229600" cy="2011680"/>
          </a:xfrm>
        </p:spPr>
        <p:txBody>
          <a:bodyPr wrap="square">
            <a:normAutofit/>
          </a:bodyPr>
          <a:lstStyle/>
          <a:p>
            <a:pPr algn="ctr"/>
            <a:r>
              <a:rPr sz="3200" b="1" i="0">
                <a:solidFill>
                  <a:srgbClr val="1B3A6B"/>
                </a:solidFill>
                <a:latin typeface="Times New Roman"/>
              </a:rPr>
              <a:t>Beyond Development: Explaining Climate Resilience Across Indian Districts</a:t>
            </a:r>
            <a:endParaRPr lang="en-US" sz="3500" dirty="0">
              <a:latin typeface="Times New Roman" panose="02020603050405020304" pitchFamily="18" charset="0"/>
              <a:cs typeface="Times New Roman" panose="02020603050405020304" pitchFamily="18" charset="0"/>
            </a:endParaRPr>
          </a:p>
          <a:p>
            <a:pPr algn="ctr">
              <a:spcBef>
                <a:spcPts val="1000"/>
              </a:spcBef>
            </a:pPr>
            <a:r>
              <a:rPr sz="2600" b="1" i="0">
                <a:solidFill>
                  <a:srgbClr val="1F1F1F"/>
                </a:solidFill>
                <a:latin typeface="Times New Roman"/>
              </a:rPr>
              <a:t>Review 2</a:t>
            </a:r>
          </a:p>
        </p:txBody>
      </p:sp>
      <p:pic>
        <p:nvPicPr>
          <p:cNvPr id="3" name="Picture 2" descr="SRMlogo.jpg">
            <a:extLst>
              <a:ext uri="{FF2B5EF4-FFF2-40B4-BE49-F238E27FC236}">
                <a16:creationId xmlns:a16="http://schemas.microsoft.com/office/drawing/2014/main" id="{D3E774F7-54F1-6481-EAF3-59D820C21CBD}"/>
              </a:ext>
            </a:extLst>
          </p:cNvPr>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4572000" y="4343400"/>
            <a:ext cx="4206240" cy="2103120"/>
          </a:xfrm>
          <a:prstGeom prst="rect">
            <a:avLst/>
          </a:prstGeom>
          <a:noFill/>
        </p:spPr>
        <p:txBody>
          <a:bodyPr wrap="square">
            <a:spAutoFit/>
          </a:bodyPr>
          <a:lstStyle/>
          <a:p>
            <a:pPr algn="ctr"/>
            <a:r>
              <a:rPr sz="1600" b="1" i="0">
                <a:solidFill>
                  <a:srgbClr val="1F1F1F"/>
                </a:solidFill>
                <a:latin typeface="Times New Roman"/>
              </a:rPr>
              <a:t>Faculty name - Dr Bhanu Priya</a:t>
            </a:r>
          </a:p>
          <a:p>
            <a:pPr algn="ctr"/>
            <a:r>
              <a:rPr sz="1600" b="1" i="0">
                <a:solidFill>
                  <a:srgbClr val="1F1F1F"/>
                </a:solidFill>
                <a:latin typeface="Times New Roman"/>
              </a:rPr>
              <a:t>Team Members info-</a:t>
            </a:r>
          </a:p>
          <a:p>
            <a:pPr algn="ctr"/>
            <a:r>
              <a:rPr sz="1600" b="0" i="0">
                <a:solidFill>
                  <a:srgbClr val="1F1F1F"/>
                </a:solidFill>
                <a:latin typeface="Times New Roman"/>
              </a:rPr>
              <a:t>Sehjodh Grewal (RA2411031010081)</a:t>
            </a:r>
          </a:p>
          <a:p>
            <a:pPr algn="ctr"/>
            <a:r>
              <a:rPr sz="1600" b="0" i="0">
                <a:solidFill>
                  <a:srgbClr val="1F1F1F"/>
                </a:solidFill>
                <a:latin typeface="Times New Roman"/>
              </a:rPr>
              <a:t>Devanshu Kumar (RA2411031010102)</a:t>
            </a:r>
          </a:p>
          <a:p>
            <a:pPr algn="ctr"/>
            <a:r>
              <a:rPr sz="1600" b="0" i="0">
                <a:solidFill>
                  <a:srgbClr val="1F1F1F"/>
                </a:solidFill>
                <a:latin typeface="Times New Roman"/>
              </a:rPr>
              <a:t>Deepankar (RA2411031010103)</a:t>
            </a:r>
          </a:p>
          <a:p>
            <a:pPr algn="ctr"/>
            <a:r>
              <a:rPr sz="1600" b="0" i="0">
                <a:solidFill>
                  <a:srgbClr val="1F1F1F"/>
                </a:solidFill>
                <a:latin typeface="Times New Roman"/>
              </a:rPr>
              <a:t>Tanmay Singh (RA2411031010118)</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Contents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Oval 3"/>
          <p:cNvSpPr/>
          <p:nvPr/>
        </p:nvSpPr>
        <p:spPr>
          <a:xfrm>
            <a:off x="45720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a:t>
            </a:r>
          </a:p>
        </p:txBody>
      </p:sp>
      <p:sp>
        <p:nvSpPr>
          <p:cNvPr id="5" name="TextBox 4"/>
          <p:cNvSpPr txBox="1"/>
          <p:nvPr/>
        </p:nvSpPr>
        <p:spPr>
          <a:xfrm>
            <a:off x="1005840"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Dataset</a:t>
            </a:r>
          </a:p>
        </p:txBody>
      </p:sp>
      <p:sp>
        <p:nvSpPr>
          <p:cNvPr id="6" name="Oval 5"/>
          <p:cNvSpPr/>
          <p:nvPr/>
        </p:nvSpPr>
        <p:spPr>
          <a:xfrm>
            <a:off x="45720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2</a:t>
            </a:r>
          </a:p>
        </p:txBody>
      </p:sp>
      <p:sp>
        <p:nvSpPr>
          <p:cNvPr id="7" name="TextBox 6"/>
          <p:cNvSpPr txBox="1"/>
          <p:nvPr/>
        </p:nvSpPr>
        <p:spPr>
          <a:xfrm>
            <a:off x="1005840"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Proposed Model (B-ACPN)</a:t>
            </a:r>
          </a:p>
        </p:txBody>
      </p:sp>
      <p:sp>
        <p:nvSpPr>
          <p:cNvPr id="8" name="Oval 7"/>
          <p:cNvSpPr/>
          <p:nvPr/>
        </p:nvSpPr>
        <p:spPr>
          <a:xfrm>
            <a:off x="457200" y="3026664"/>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3</a:t>
            </a:r>
          </a:p>
        </p:txBody>
      </p:sp>
      <p:sp>
        <p:nvSpPr>
          <p:cNvPr id="9" name="TextBox 8"/>
          <p:cNvSpPr txBox="1"/>
          <p:nvPr/>
        </p:nvSpPr>
        <p:spPr>
          <a:xfrm>
            <a:off x="1005840"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Overall System Architecture Diagram</a:t>
            </a:r>
          </a:p>
        </p:txBody>
      </p:sp>
      <p:sp>
        <p:nvSpPr>
          <p:cNvPr id="10" name="Oval 9"/>
          <p:cNvSpPr/>
          <p:nvPr/>
        </p:nvSpPr>
        <p:spPr>
          <a:xfrm>
            <a:off x="457200" y="3831336"/>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4</a:t>
            </a:r>
          </a:p>
        </p:txBody>
      </p:sp>
      <p:sp>
        <p:nvSpPr>
          <p:cNvPr id="11" name="TextBox 10"/>
          <p:cNvSpPr txBox="1"/>
          <p:nvPr/>
        </p:nvSpPr>
        <p:spPr>
          <a:xfrm>
            <a:off x="1005840"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Preprocessing (Big Data analysis and its steps)</a:t>
            </a:r>
          </a:p>
        </p:txBody>
      </p:sp>
      <p:sp>
        <p:nvSpPr>
          <p:cNvPr id="12" name="Oval 11"/>
          <p:cNvSpPr/>
          <p:nvPr/>
        </p:nvSpPr>
        <p:spPr>
          <a:xfrm>
            <a:off x="457200" y="4636008"/>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5</a:t>
            </a:r>
          </a:p>
        </p:txBody>
      </p:sp>
      <p:sp>
        <p:nvSpPr>
          <p:cNvPr id="13" name="TextBox 12"/>
          <p:cNvSpPr txBox="1"/>
          <p:nvPr/>
        </p:nvSpPr>
        <p:spPr>
          <a:xfrm>
            <a:off x="1005840"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Preprocessing</a:t>
            </a:r>
          </a:p>
        </p:txBody>
      </p:sp>
      <p:sp>
        <p:nvSpPr>
          <p:cNvPr id="14" name="Oval 13"/>
          <p:cNvSpPr/>
          <p:nvPr/>
        </p:nvSpPr>
        <p:spPr>
          <a:xfrm>
            <a:off x="457200" y="544068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6</a:t>
            </a:r>
          </a:p>
        </p:txBody>
      </p:sp>
      <p:sp>
        <p:nvSpPr>
          <p:cNvPr id="15" name="TextBox 14"/>
          <p:cNvSpPr txBox="1"/>
          <p:nvPr/>
        </p:nvSpPr>
        <p:spPr>
          <a:xfrm>
            <a:off x="1005840"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Classification (proposed model)</a:t>
            </a:r>
          </a:p>
        </p:txBody>
      </p:sp>
      <p:sp>
        <p:nvSpPr>
          <p:cNvPr id="16" name="Oval 15"/>
          <p:cNvSpPr/>
          <p:nvPr/>
        </p:nvSpPr>
        <p:spPr>
          <a:xfrm>
            <a:off x="4663440" y="1417320"/>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7</a:t>
            </a:r>
          </a:p>
        </p:txBody>
      </p:sp>
      <p:sp>
        <p:nvSpPr>
          <p:cNvPr id="17" name="TextBox 16"/>
          <p:cNvSpPr txBox="1"/>
          <p:nvPr/>
        </p:nvSpPr>
        <p:spPr>
          <a:xfrm>
            <a:off x="5212079" y="1371600"/>
            <a:ext cx="3520440" cy="594360"/>
          </a:xfrm>
          <a:prstGeom prst="rect">
            <a:avLst/>
          </a:prstGeom>
          <a:noFill/>
        </p:spPr>
        <p:txBody>
          <a:bodyPr wrap="square" anchor="ctr" lIns="45720" rIns="45720">
            <a:spAutoFit/>
          </a:bodyPr>
          <a:lstStyle/>
          <a:p>
            <a:pPr algn="l"/>
            <a:r>
              <a:rPr sz="1600" b="0" i="0">
                <a:solidFill>
                  <a:srgbClr val="1F1F1F"/>
                </a:solidFill>
                <a:latin typeface="Calibri"/>
              </a:rPr>
              <a:t>Results of Classification using proposed model</a:t>
            </a:r>
          </a:p>
        </p:txBody>
      </p:sp>
      <p:sp>
        <p:nvSpPr>
          <p:cNvPr id="18" name="Oval 17"/>
          <p:cNvSpPr/>
          <p:nvPr/>
        </p:nvSpPr>
        <p:spPr>
          <a:xfrm>
            <a:off x="4663440" y="2221992"/>
            <a:ext cx="457200" cy="457200"/>
          </a:xfrm>
          <a:prstGeom prst="ellipse">
            <a:avLst/>
          </a:prstGeom>
          <a:solidFill>
            <a:srgbClr val="1B3A6B"/>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8</a:t>
            </a:r>
          </a:p>
        </p:txBody>
      </p:sp>
      <p:sp>
        <p:nvSpPr>
          <p:cNvPr id="19" name="TextBox 18"/>
          <p:cNvSpPr txBox="1"/>
          <p:nvPr/>
        </p:nvSpPr>
        <p:spPr>
          <a:xfrm>
            <a:off x="5212079" y="2176272"/>
            <a:ext cx="3520440" cy="594360"/>
          </a:xfrm>
          <a:prstGeom prst="rect">
            <a:avLst/>
          </a:prstGeom>
          <a:noFill/>
        </p:spPr>
        <p:txBody>
          <a:bodyPr wrap="square" anchor="ctr" lIns="45720" rIns="45720">
            <a:spAutoFit/>
          </a:bodyPr>
          <a:lstStyle/>
          <a:p>
            <a:pPr algn="l"/>
            <a:r>
              <a:rPr sz="1600" b="0" i="0">
                <a:solidFill>
                  <a:srgbClr val="1F1F1F"/>
                </a:solidFill>
                <a:latin typeface="Calibri"/>
              </a:rPr>
              <a:t>Comparison with the existing classifier models</a:t>
            </a:r>
          </a:p>
        </p:txBody>
      </p:sp>
      <p:sp>
        <p:nvSpPr>
          <p:cNvPr id="20" name="Oval 19"/>
          <p:cNvSpPr/>
          <p:nvPr/>
        </p:nvSpPr>
        <p:spPr>
          <a:xfrm>
            <a:off x="4663440" y="3026664"/>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9</a:t>
            </a:r>
          </a:p>
        </p:txBody>
      </p:sp>
      <p:sp>
        <p:nvSpPr>
          <p:cNvPr id="21" name="TextBox 20"/>
          <p:cNvSpPr txBox="1"/>
          <p:nvPr/>
        </p:nvSpPr>
        <p:spPr>
          <a:xfrm>
            <a:off x="5212079" y="2980944"/>
            <a:ext cx="3520440" cy="594360"/>
          </a:xfrm>
          <a:prstGeom prst="rect">
            <a:avLst/>
          </a:prstGeom>
          <a:noFill/>
        </p:spPr>
        <p:txBody>
          <a:bodyPr wrap="square" anchor="ctr" lIns="45720" rIns="45720">
            <a:spAutoFit/>
          </a:bodyPr>
          <a:lstStyle/>
          <a:p>
            <a:pPr algn="l"/>
            <a:r>
              <a:rPr sz="1600" b="0" i="0">
                <a:solidFill>
                  <a:srgbClr val="1F1F1F"/>
                </a:solidFill>
                <a:latin typeface="Calibri"/>
              </a:rPr>
              <a:t>Plan of Action / Member Tasks</a:t>
            </a:r>
          </a:p>
        </p:txBody>
      </p:sp>
      <p:sp>
        <p:nvSpPr>
          <p:cNvPr id="22" name="Oval 21"/>
          <p:cNvSpPr/>
          <p:nvPr/>
        </p:nvSpPr>
        <p:spPr>
          <a:xfrm>
            <a:off x="4663440" y="3831336"/>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10</a:t>
            </a:r>
          </a:p>
        </p:txBody>
      </p:sp>
      <p:sp>
        <p:nvSpPr>
          <p:cNvPr id="23" name="TextBox 22"/>
          <p:cNvSpPr txBox="1"/>
          <p:nvPr/>
        </p:nvSpPr>
        <p:spPr>
          <a:xfrm>
            <a:off x="5212079" y="3785616"/>
            <a:ext cx="3520440" cy="594360"/>
          </a:xfrm>
          <a:prstGeom prst="rect">
            <a:avLst/>
          </a:prstGeom>
          <a:noFill/>
        </p:spPr>
        <p:txBody>
          <a:bodyPr wrap="square" anchor="ctr" lIns="45720" rIns="45720">
            <a:spAutoFit/>
          </a:bodyPr>
          <a:lstStyle/>
          <a:p>
            <a:pPr algn="l"/>
            <a:r>
              <a:rPr sz="1600" b="0" i="0">
                <a:solidFill>
                  <a:srgbClr val="1F1F1F"/>
                </a:solidFill>
                <a:latin typeface="Calibri"/>
              </a:rPr>
              <a:t>References</a:t>
            </a:r>
          </a:p>
        </p:txBody>
      </p:sp>
      <p:sp>
        <p:nvSpPr>
          <p:cNvPr id="24" name="Oval 23"/>
          <p:cNvSpPr/>
          <p:nvPr/>
        </p:nvSpPr>
        <p:spPr>
          <a:xfrm>
            <a:off x="4663440" y="4636008"/>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11</a:t>
            </a:r>
          </a:p>
        </p:txBody>
      </p:sp>
      <p:sp>
        <p:nvSpPr>
          <p:cNvPr id="25" name="TextBox 24"/>
          <p:cNvSpPr txBox="1"/>
          <p:nvPr/>
        </p:nvSpPr>
        <p:spPr>
          <a:xfrm>
            <a:off x="5212079" y="4590288"/>
            <a:ext cx="3520440" cy="594360"/>
          </a:xfrm>
          <a:prstGeom prst="rect">
            <a:avLst/>
          </a:prstGeom>
          <a:noFill/>
        </p:spPr>
        <p:txBody>
          <a:bodyPr wrap="square" anchor="ctr" lIns="45720" rIns="45720">
            <a:spAutoFit/>
          </a:bodyPr>
          <a:lstStyle/>
          <a:p>
            <a:pPr algn="l"/>
            <a:r>
              <a:rPr sz="1600" b="0" i="0">
                <a:solidFill>
                  <a:srgbClr val="1F1F1F"/>
                </a:solidFill>
                <a:latin typeface="Calibri"/>
              </a:rPr>
              <a:t>Geotagged photo taken during Review 2 presentation</a:t>
            </a:r>
          </a:p>
        </p:txBody>
      </p:sp>
      <p:sp>
        <p:nvSpPr>
          <p:cNvPr id="26" name="Oval 25"/>
          <p:cNvSpPr/>
          <p:nvPr/>
        </p:nvSpPr>
        <p:spPr>
          <a:xfrm>
            <a:off x="4663440" y="5440680"/>
            <a:ext cx="457200" cy="457200"/>
          </a:xfrm>
          <a:prstGeom prst="ellipse">
            <a:avLst/>
          </a:prstGeom>
          <a:solidFill>
            <a:srgbClr val="0E6E6E"/>
          </a:solidFill>
          <a:ln>
            <a:noFill/>
          </a:ln>
          <a:effectLst/>
        </p:spPr>
        <p:style>
          <a:lnRef idx="1">
            <a:schemeClr val="accent1"/>
          </a:lnRef>
          <a:fillRef idx="3">
            <a:schemeClr val="accent1"/>
          </a:fillRef>
          <a:effectRef idx="2">
            <a:schemeClr val="accent1"/>
          </a:effectRef>
          <a:fontRef idx="minor">
            <a:schemeClr val="lt1"/>
          </a:fontRef>
        </p:style>
        <p:txBody>
          <a:bodyPr rtlCol="0" anchor="ctr" wrap="none" lIns="0" rIns="0" tIns="0" bIns="0"/>
          <a:lstStyle/>
          <a:p>
            <a:pPr algn="ctr"/>
            <a:r>
              <a:rPr sz="1400" b="1" i="0">
                <a:solidFill>
                  <a:srgbClr val="FFFFFF"/>
                </a:solidFill>
                <a:latin typeface="Calibri"/>
              </a:rPr>
              <a:t>12</a:t>
            </a:r>
          </a:p>
        </p:txBody>
      </p:sp>
      <p:sp>
        <p:nvSpPr>
          <p:cNvPr id="27" name="TextBox 26"/>
          <p:cNvSpPr txBox="1"/>
          <p:nvPr/>
        </p:nvSpPr>
        <p:spPr>
          <a:xfrm>
            <a:off x="5212079" y="5394960"/>
            <a:ext cx="3520440" cy="594360"/>
          </a:xfrm>
          <a:prstGeom prst="rect">
            <a:avLst/>
          </a:prstGeom>
          <a:noFill/>
        </p:spPr>
        <p:txBody>
          <a:bodyPr wrap="square" anchor="ctr" lIns="45720" rIns="45720">
            <a:spAutoFit/>
          </a:bodyPr>
          <a:lstStyle/>
          <a:p>
            <a:pPr algn="l"/>
            <a:r>
              <a:rPr sz="1600" b="0" i="0">
                <a:solidFill>
                  <a:srgbClr val="1F1F1F"/>
                </a:solidFill>
                <a:latin typeface="Calibri"/>
              </a:rPr>
              <a:t>Google Colab Implementation link</a:t>
            </a:r>
          </a:p>
        </p:txBody>
      </p:sp>
      <p:sp>
        <p:nvSpPr>
          <p:cNvPr id="28" name="TextBox 2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Problem Statement &amp; Objectives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234440"/>
            <a:ext cx="8412480" cy="86868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700" b="1" i="0">
                <a:solidFill>
                  <a:srgbClr val="1F1F1F"/>
                </a:solidFill>
                <a:latin typeface="Calibri"/>
              </a:rPr>
              <a:t>Why do some developed Indian districts remain highly climate-vulnerable, while some less-developed districts are resilient?</a:t>
            </a:r>
          </a:p>
        </p:txBody>
      </p:sp>
      <p:sp>
        <p:nvSpPr>
          <p:cNvPr id="5" name="TextBox 4"/>
          <p:cNvSpPr txBox="1"/>
          <p:nvPr/>
        </p:nvSpPr>
        <p:spPr>
          <a:xfrm>
            <a:off x="365760" y="2286000"/>
            <a:ext cx="4206240" cy="365760"/>
          </a:xfrm>
          <a:prstGeom prst="rect">
            <a:avLst/>
          </a:prstGeom>
          <a:noFill/>
        </p:spPr>
        <p:txBody>
          <a:bodyPr wrap="square" anchor="t" lIns="45720" rIns="45720">
            <a:spAutoFit/>
          </a:bodyPr>
          <a:lstStyle/>
          <a:p>
            <a:pPr algn="l"/>
            <a:r>
              <a:rPr sz="1800" b="1" i="0">
                <a:solidFill>
                  <a:srgbClr val="1B3A6B"/>
                </a:solidFill>
                <a:latin typeface="Calibri"/>
              </a:rPr>
              <a:t>Objectives</a:t>
            </a:r>
          </a:p>
        </p:txBody>
      </p:sp>
      <p:sp>
        <p:nvSpPr>
          <p:cNvPr id="6" name="TextBox 5"/>
          <p:cNvSpPr txBox="1"/>
          <p:nvPr/>
        </p:nvSpPr>
        <p:spPr>
          <a:xfrm>
            <a:off x="365760" y="2697480"/>
            <a:ext cx="4251960" cy="3566160"/>
          </a:xfrm>
          <a:prstGeom prst="rect">
            <a:avLst/>
          </a:prstGeom>
          <a:noFill/>
        </p:spPr>
        <p:txBody>
          <a:bodyPr wrap="square" lIns="45720" rIns="45720">
            <a:spAutoFit/>
          </a:bodyPr>
          <a:lstStyle/>
          <a:p>
            <a:pPr>
              <a:spcAft>
                <a:spcPts val="600"/>
              </a:spcAft>
            </a:pPr>
            <a:r>
              <a:rPr sz="1500" b="0" i="0">
                <a:solidFill>
                  <a:srgbClr val="0E6E6E"/>
                </a:solidFill>
                <a:latin typeface="Calibri"/>
              </a:rPr>
              <a:t>▪  </a:t>
            </a:r>
            <a:r>
              <a:rPr sz="1500" b="1" i="0">
                <a:solidFill>
                  <a:srgbClr val="1F1F1F"/>
                </a:solidFill>
                <a:latin typeface="Calibri"/>
              </a:rPr>
              <a:t>Big Data pipeline </a:t>
            </a:r>
            <a:r>
              <a:rPr sz="1500" b="0" i="0">
                <a:solidFill>
                  <a:srgbClr val="1F1F1F"/>
                </a:solidFill>
                <a:latin typeface="Calibri"/>
              </a:rPr>
              <a:t>over 30 years (1991–2020) of IMD daily climate data: HDFS, MapReduce, Hive, Spark</a:t>
            </a:r>
          </a:p>
          <a:p>
            <a:pPr>
              <a:spcAft>
                <a:spcPts val="600"/>
              </a:spcAft>
            </a:pPr>
            <a:r>
              <a:rPr sz="1500" b="0" i="0">
                <a:solidFill>
                  <a:srgbClr val="0E6E6E"/>
                </a:solidFill>
                <a:latin typeface="Calibri"/>
              </a:rPr>
              <a:t>▪  </a:t>
            </a:r>
            <a:r>
              <a:rPr sz="1500" b="1" i="0">
                <a:solidFill>
                  <a:srgbClr val="1F1F1F"/>
                </a:solidFill>
                <a:latin typeface="Calibri"/>
              </a:rPr>
              <a:t>Novel deep-learning model </a:t>
            </a:r>
            <a:r>
              <a:rPr sz="1500" b="0" i="0">
                <a:solidFill>
                  <a:srgbClr val="1F1F1F"/>
                </a:solidFill>
                <a:latin typeface="Calibri"/>
              </a:rPr>
              <a:t>B-ACPN (Boosted Attentive Climate Push Network)</a:t>
            </a:r>
          </a:p>
          <a:p>
            <a:pPr>
              <a:spcAft>
                <a:spcPts val="600"/>
              </a:spcAft>
            </a:pPr>
            <a:r>
              <a:rPr sz="1500" b="0" i="0">
                <a:solidFill>
                  <a:srgbClr val="0E6E6E"/>
                </a:solidFill>
                <a:latin typeface="Calibri"/>
              </a:rPr>
              <a:t>▪  </a:t>
            </a:r>
            <a:r>
              <a:rPr sz="1500" b="1" i="0">
                <a:solidFill>
                  <a:srgbClr val="1F1F1F"/>
                </a:solidFill>
                <a:latin typeface="Calibri"/>
              </a:rPr>
              <a:t>Compare </a:t>
            </a:r>
            <a:r>
              <a:rPr sz="1500" b="0" i="0">
                <a:solidFill>
                  <a:srgbClr val="1F1F1F"/>
                </a:solidFill>
                <a:latin typeface="Calibri"/>
              </a:rPr>
              <a:t>with 5 existing ML models on identical folds</a:t>
            </a:r>
          </a:p>
          <a:p>
            <a:pPr>
              <a:spcAft>
                <a:spcPts val="600"/>
              </a:spcAft>
            </a:pPr>
            <a:r>
              <a:rPr sz="1500" b="0" i="0">
                <a:solidFill>
                  <a:srgbClr val="0E6E6E"/>
                </a:solidFill>
                <a:latin typeface="Calibri"/>
              </a:rPr>
              <a:t>▪  </a:t>
            </a:r>
            <a:r>
              <a:rPr sz="1500" b="1" i="0">
                <a:solidFill>
                  <a:srgbClr val="1F1F1F"/>
                </a:solidFill>
                <a:latin typeface="Calibri"/>
              </a:rPr>
              <a:t>Explain </a:t>
            </a:r>
            <a:r>
              <a:rPr sz="1500" b="0" i="0">
                <a:solidFill>
                  <a:srgbClr val="1F1F1F"/>
                </a:solidFill>
                <a:latin typeface="Calibri"/>
              </a:rPr>
              <a:t>each district as climate-driven or development-driven</a:t>
            </a:r>
          </a:p>
        </p:txBody>
      </p:sp>
      <p:sp>
        <p:nvSpPr>
          <p:cNvPr id="7" name="TextBox 6"/>
          <p:cNvSpPr txBox="1"/>
          <p:nvPr/>
        </p:nvSpPr>
        <p:spPr>
          <a:xfrm>
            <a:off x="4846320" y="2286000"/>
            <a:ext cx="3931920" cy="365760"/>
          </a:xfrm>
          <a:prstGeom prst="rect">
            <a:avLst/>
          </a:prstGeom>
          <a:noFill/>
        </p:spPr>
        <p:txBody>
          <a:bodyPr wrap="square" anchor="t" lIns="45720" rIns="45720">
            <a:spAutoFit/>
          </a:bodyPr>
          <a:lstStyle/>
          <a:p>
            <a:pPr algn="l"/>
            <a:r>
              <a:rPr sz="1800" b="1" i="0">
                <a:solidFill>
                  <a:srgbClr val="1B3A6B"/>
                </a:solidFill>
                <a:latin typeface="Calibri"/>
              </a:rPr>
              <a:t>469 districts, median splits</a:t>
            </a:r>
          </a:p>
        </p:txBody>
      </p:sp>
      <p:sp>
        <p:nvSpPr>
          <p:cNvPr id="8" name="TextBox 7"/>
          <p:cNvSpPr txBox="1"/>
          <p:nvPr/>
        </p:nvSpPr>
        <p:spPr>
          <a:xfrm>
            <a:off x="598932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Low vulnerability</a:t>
            </a:r>
          </a:p>
        </p:txBody>
      </p:sp>
      <p:sp>
        <p:nvSpPr>
          <p:cNvPr id="9" name="TextBox 8"/>
          <p:cNvSpPr txBox="1"/>
          <p:nvPr/>
        </p:nvSpPr>
        <p:spPr>
          <a:xfrm>
            <a:off x="7406640" y="2633472"/>
            <a:ext cx="1371600" cy="365760"/>
          </a:xfrm>
          <a:prstGeom prst="rect">
            <a:avLst/>
          </a:prstGeom>
          <a:noFill/>
        </p:spPr>
        <p:txBody>
          <a:bodyPr wrap="square" anchor="t" lIns="45720" rIns="45720">
            <a:spAutoFit/>
          </a:bodyPr>
          <a:lstStyle/>
          <a:p>
            <a:pPr algn="ctr"/>
            <a:r>
              <a:rPr sz="1200" b="1" i="0">
                <a:solidFill>
                  <a:srgbClr val="595959"/>
                </a:solidFill>
                <a:latin typeface="Calibri"/>
              </a:rPr>
              <a:t>High vulnerability</a:t>
            </a:r>
          </a:p>
        </p:txBody>
      </p:sp>
      <p:sp>
        <p:nvSpPr>
          <p:cNvPr id="10" name="TextBox 9"/>
          <p:cNvSpPr txBox="1"/>
          <p:nvPr/>
        </p:nvSpPr>
        <p:spPr>
          <a:xfrm>
            <a:off x="4846320" y="3017520"/>
            <a:ext cx="1097280" cy="1143000"/>
          </a:xfrm>
          <a:prstGeom prst="rect">
            <a:avLst/>
          </a:prstGeom>
          <a:noFill/>
        </p:spPr>
        <p:txBody>
          <a:bodyPr wrap="square" anchor="ctr" lIns="45720" rIns="45720">
            <a:spAutoFit/>
          </a:bodyPr>
          <a:lstStyle/>
          <a:p>
            <a:pPr algn="r"/>
            <a:r>
              <a:rPr sz="1200" b="1" i="0">
                <a:solidFill>
                  <a:srgbClr val="595959"/>
                </a:solidFill>
                <a:latin typeface="Calibri"/>
              </a:rPr>
              <a:t>High development</a:t>
            </a:r>
          </a:p>
        </p:txBody>
      </p:sp>
      <p:sp>
        <p:nvSpPr>
          <p:cNvPr id="11" name="TextBox 10"/>
          <p:cNvSpPr txBox="1"/>
          <p:nvPr/>
        </p:nvSpPr>
        <p:spPr>
          <a:xfrm>
            <a:off x="4846320" y="4206240"/>
            <a:ext cx="1097280" cy="1143000"/>
          </a:xfrm>
          <a:prstGeom prst="rect">
            <a:avLst/>
          </a:prstGeom>
          <a:noFill/>
        </p:spPr>
        <p:txBody>
          <a:bodyPr wrap="square" anchor="ctr" lIns="45720" rIns="45720">
            <a:spAutoFit/>
          </a:bodyPr>
          <a:lstStyle/>
          <a:p>
            <a:pPr algn="r"/>
            <a:r>
              <a:rPr sz="1200" b="1" i="0">
                <a:solidFill>
                  <a:srgbClr val="595959"/>
                </a:solidFill>
                <a:latin typeface="Calibri"/>
              </a:rPr>
              <a:t>Low development</a:t>
            </a:r>
          </a:p>
        </p:txBody>
      </p:sp>
      <p:sp>
        <p:nvSpPr>
          <p:cNvPr id="12" name="Rounded Rectangle 11"/>
          <p:cNvSpPr/>
          <p:nvPr/>
        </p:nvSpPr>
        <p:spPr>
          <a:xfrm>
            <a:off x="5989320" y="301752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143</a:t>
            </a:r>
          </a:p>
          <a:p>
            <a:pPr algn="ctr"/>
            <a:r>
              <a:rPr sz="1300" b="0" i="0">
                <a:solidFill>
                  <a:srgbClr val="595959"/>
                </a:solidFill>
                <a:latin typeface="Calibri"/>
              </a:rPr>
              <a:t>Expected</a:t>
            </a:r>
          </a:p>
        </p:txBody>
      </p:sp>
      <p:sp>
        <p:nvSpPr>
          <p:cNvPr id="13" name="Rounded Rectangle 12"/>
          <p:cNvSpPr/>
          <p:nvPr/>
        </p:nvSpPr>
        <p:spPr>
          <a:xfrm>
            <a:off x="7406640" y="3017520"/>
            <a:ext cx="1371600" cy="11430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C25B12"/>
                </a:solidFill>
                <a:latin typeface="Calibri"/>
              </a:rPr>
              <a:t>92</a:t>
            </a:r>
          </a:p>
          <a:p>
            <a:pPr algn="ctr"/>
            <a:r>
              <a:rPr sz="1300" b="0" i="0">
                <a:solidFill>
                  <a:srgbClr val="595959"/>
                </a:solidFill>
                <a:latin typeface="Calibri"/>
              </a:rPr>
              <a:t>Anomaly A</a:t>
            </a:r>
          </a:p>
        </p:txBody>
      </p:sp>
      <p:sp>
        <p:nvSpPr>
          <p:cNvPr id="14" name="Rounded Rectangle 13"/>
          <p:cNvSpPr/>
          <p:nvPr/>
        </p:nvSpPr>
        <p:spPr>
          <a:xfrm>
            <a:off x="5989320" y="4206240"/>
            <a:ext cx="1371600" cy="11430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0E6E6E"/>
                </a:solidFill>
                <a:latin typeface="Calibri"/>
              </a:rPr>
              <a:t>89</a:t>
            </a:r>
          </a:p>
          <a:p>
            <a:pPr algn="ctr"/>
            <a:r>
              <a:rPr sz="1300" b="0" i="0">
                <a:solidFill>
                  <a:srgbClr val="595959"/>
                </a:solidFill>
                <a:latin typeface="Calibri"/>
              </a:rPr>
              <a:t>Anomaly B</a:t>
            </a:r>
          </a:p>
        </p:txBody>
      </p:sp>
      <p:sp>
        <p:nvSpPr>
          <p:cNvPr id="15" name="Rounded Rectangle 14"/>
          <p:cNvSpPr/>
          <p:nvPr/>
        </p:nvSpPr>
        <p:spPr>
          <a:xfrm>
            <a:off x="7406640" y="4206240"/>
            <a:ext cx="1371600" cy="11430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600" b="1" i="0">
                <a:solidFill>
                  <a:srgbClr val="1B3A6B"/>
                </a:solidFill>
                <a:latin typeface="Calibri"/>
              </a:rPr>
              <a:t>145</a:t>
            </a:r>
          </a:p>
          <a:p>
            <a:pPr algn="ctr"/>
            <a:r>
              <a:rPr sz="1300" b="0" i="0">
                <a:solidFill>
                  <a:srgbClr val="595959"/>
                </a:solidFill>
                <a:latin typeface="Calibri"/>
              </a:rPr>
              <a:t>Expected</a:t>
            </a:r>
          </a:p>
        </p:txBody>
      </p:sp>
      <p:sp>
        <p:nvSpPr>
          <p:cNvPr id="16" name="TextBox 15"/>
          <p:cNvSpPr txBox="1"/>
          <p:nvPr/>
        </p:nvSpPr>
        <p:spPr>
          <a:xfrm>
            <a:off x="4846320" y="5440680"/>
            <a:ext cx="3931920" cy="731520"/>
          </a:xfrm>
          <a:prstGeom prst="rect">
            <a:avLst/>
          </a:prstGeom>
          <a:noFill/>
        </p:spPr>
        <p:txBody>
          <a:bodyPr wrap="square" anchor="t" lIns="45720" rIns="45720">
            <a:spAutoFit/>
          </a:bodyPr>
          <a:lstStyle/>
          <a:p>
            <a:pPr algn="ctr"/>
            <a:r>
              <a:rPr sz="1400" b="1" i="0">
                <a:solidFill>
                  <a:srgbClr val="C25B12"/>
                </a:solidFill>
                <a:latin typeface="Calibri"/>
              </a:rPr>
              <a:t>181 districts (38.6%) break the expected pattern</a:t>
            </a:r>
          </a:p>
        </p:txBody>
      </p:sp>
      <p:sp>
        <p:nvSpPr>
          <p:cNvPr id="17" name="TextBox 1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Dataset</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160020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5 development variables: </a:t>
            </a:r>
            <a:r>
              <a:rPr sz="1500" b="0" i="0">
                <a:solidFill>
                  <a:srgbClr val="1F1F1F"/>
                </a:solidFill>
                <a:latin typeface="Calibri"/>
              </a:rPr>
              <a:t>literacy, female literacy, agri-worker share (Census 2011); MGNREGA days, yield variability (NDAP 2021)</a:t>
            </a:r>
          </a:p>
          <a:p>
            <a:pPr>
              <a:spcAft>
                <a:spcPts val="300"/>
              </a:spcAft>
            </a:pPr>
            <a:r>
              <a:rPr sz="1500" b="0" i="0">
                <a:solidFill>
                  <a:srgbClr val="0E6E6E"/>
                </a:solidFill>
                <a:latin typeface="Calibri"/>
              </a:rPr>
              <a:t>▪  </a:t>
            </a:r>
            <a:r>
              <a:rPr sz="1500" b="1" i="0">
                <a:solidFill>
                  <a:srgbClr val="1F1F1F"/>
                </a:solidFill>
                <a:latin typeface="Calibri"/>
              </a:rPr>
              <a:t>8 hazard variables: </a:t>
            </a:r>
            <a:r>
              <a:rPr sz="1500" b="0" i="0">
                <a:solidFill>
                  <a:srgbClr val="1F1F1F"/>
                </a:solidFill>
                <a:latin typeface="Calibri"/>
              </a:rPr>
              <a:t>annual rain, rain variability, max 5-day rain, heavy-rain days, longest dry spell, mean Tmax, hot days, tropical nights</a:t>
            </a:r>
          </a:p>
          <a:p>
            <a:pPr>
              <a:spcAft>
                <a:spcPts val="300"/>
              </a:spcAft>
            </a:pPr>
            <a:r>
              <a:rPr sz="1500" b="0" i="0">
                <a:solidFill>
                  <a:srgbClr val="0E6E6E"/>
                </a:solidFill>
                <a:latin typeface="Calibri"/>
              </a:rPr>
              <a:t>▪  </a:t>
            </a:r>
            <a:r>
              <a:rPr sz="1500" b="1" i="0">
                <a:solidFill>
                  <a:srgbClr val="1F1F1F"/>
                </a:solidFill>
                <a:latin typeface="Calibri"/>
              </a:rPr>
              <a:t>Scale: </a:t>
            </a:r>
            <a:r>
              <a:rPr sz="1500" b="0" i="0">
                <a:solidFill>
                  <a:srgbClr val="1F1F1F"/>
                </a:solidFill>
                <a:latin typeface="Calibri"/>
              </a:rPr>
              <a:t>~212 million gridded climate values (30 years of daily IMD grids)</a:t>
            </a:r>
          </a:p>
        </p:txBody>
      </p:sp>
      <p:graphicFrame>
        <p:nvGraphicFramePr>
          <p:cNvPr id="5" name="Table 4"/>
          <p:cNvGraphicFramePr>
            <a:graphicFrameLocks noGrp="1"/>
          </p:cNvGraphicFramePr>
          <p:nvPr/>
        </p:nvGraphicFramePr>
        <p:xfrm>
          <a:off x="365760" y="2926080"/>
          <a:ext cx="8412478" cy="3291840"/>
        </p:xfrm>
        <a:graphic>
          <a:graphicData uri="http://schemas.openxmlformats.org/drawingml/2006/table">
            <a:tbl>
              <a:tblPr firstRow="1" bandRow="1">
                <a:tableStyleId>{5C22544A-7EE6-4342-B048-85BDC9FD1C3A}</a:tableStyleId>
              </a:tblPr>
              <a:tblGrid>
                <a:gridCol w="2485505"/>
                <a:gridCol w="1625138"/>
                <a:gridCol w="860367"/>
                <a:gridCol w="955963"/>
                <a:gridCol w="1099358"/>
                <a:gridCol w="1386147"/>
              </a:tblGrid>
              <a:tr h="548640">
                <a:tc>
                  <a:txBody>
                    <a:bodyPr wrap="square"/>
                    <a:lstStyle/>
                    <a:p>
                      <a:pPr algn="l"/>
                      <a:r>
                        <a:rPr sz="1200" b="1" i="0">
                          <a:solidFill>
                            <a:srgbClr val="FFFFFF"/>
                          </a:solidFill>
                          <a:latin typeface="Calibri"/>
                        </a:rPr>
                        <a:t>Dataset</a:t>
                      </a:r>
                    </a:p>
                  </a:txBody>
                  <a:tcPr marL="54864" marR="54864" marT="27432" marB="27432" anchor="ctr">
                    <a:solidFill>
                      <a:srgbClr val="1B3A6B"/>
                    </a:solidFill>
                  </a:tcPr>
                </a:tc>
                <a:tc>
                  <a:txBody>
                    <a:bodyPr wrap="square"/>
                    <a:lstStyle/>
                    <a:p>
                      <a:pPr algn="ctr"/>
                      <a:r>
                        <a:rPr sz="1200" b="1" i="0">
                          <a:solidFill>
                            <a:srgbClr val="FFFFFF"/>
                          </a:solidFill>
                          <a:latin typeface="Calibri"/>
                        </a:rPr>
                        <a:t>Source</a:t>
                      </a:r>
                    </a:p>
                  </a:txBody>
                  <a:tcPr marL="54864" marR="54864" marT="27432" marB="27432" anchor="ctr">
                    <a:solidFill>
                      <a:srgbClr val="1B3A6B"/>
                    </a:solidFill>
                  </a:tcPr>
                </a:tc>
                <a:tc>
                  <a:txBody>
                    <a:bodyPr wrap="square"/>
                    <a:lstStyle/>
                    <a:p>
                      <a:pPr algn="ctr"/>
                      <a:r>
                        <a:rPr sz="1200" b="1" i="0">
                          <a:solidFill>
                            <a:srgbClr val="FFFFFF"/>
                          </a:solidFill>
                          <a:latin typeface="Calibri"/>
                        </a:rPr>
                        <a:t>Year</a:t>
                      </a:r>
                    </a:p>
                  </a:txBody>
                  <a:tcPr marL="54864" marR="54864" marT="27432" marB="27432" anchor="ctr">
                    <a:solidFill>
                      <a:srgbClr val="1B3A6B"/>
                    </a:solidFill>
                  </a:tcPr>
                </a:tc>
                <a:tc>
                  <a:txBody>
                    <a:bodyPr wrap="square"/>
                    <a:lstStyle/>
                    <a:p>
                      <a:pPr algn="ctr"/>
                      <a:r>
                        <a:rPr sz="1200" b="1" i="0">
                          <a:solidFill>
                            <a:srgbClr val="FFFFFF"/>
                          </a:solidFill>
                          <a:latin typeface="Calibri"/>
                        </a:rPr>
                        <a:t>Format</a:t>
                      </a:r>
                    </a:p>
                  </a:txBody>
                  <a:tcPr marL="54864" marR="54864" marT="27432" marB="27432" anchor="ctr">
                    <a:solidFill>
                      <a:srgbClr val="1B3A6B"/>
                    </a:solidFill>
                  </a:tcPr>
                </a:tc>
                <a:tc>
                  <a:txBody>
                    <a:bodyPr wrap="square"/>
                    <a:lstStyle/>
                    <a:p>
                      <a:pPr algn="ctr"/>
                      <a:r>
                        <a:rPr sz="1200" b="1" i="0">
                          <a:solidFill>
                            <a:srgbClr val="FFFFFF"/>
                          </a:solidFill>
                          <a:latin typeface="Calibri"/>
                        </a:rPr>
                        <a:t>Size</a:t>
                      </a:r>
                    </a:p>
                  </a:txBody>
                  <a:tcPr marL="54864" marR="54864" marT="27432" marB="27432" anchor="ctr">
                    <a:solidFill>
                      <a:srgbClr val="1B3A6B"/>
                    </a:solidFill>
                  </a:tcPr>
                </a:tc>
                <a:tc>
                  <a:txBody>
                    <a:bodyPr wrap="square"/>
                    <a:lstStyle/>
                    <a:p>
                      <a:pPr algn="ctr"/>
                      <a:r>
                        <a:rPr sz="1200" b="1" i="0">
                          <a:solidFill>
                            <a:srgbClr val="FFFFFF"/>
                          </a:solidFill>
                          <a:latin typeface="Calibri"/>
                        </a:rPr>
                        <a:t>Role</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Climate Vulnerability Index + indicators</a:t>
                      </a:r>
                    </a:p>
                  </a:txBody>
                  <a:tcPr marL="54864" marR="54864" marT="27432" marB="27432" anchor="ctr">
                    <a:solidFill>
                      <a:srgbClr val="FFFFFF"/>
                    </a:solidFill>
                  </a:tcPr>
                </a:tc>
                <a:tc>
                  <a:txBody>
                    <a:bodyPr wrap="square"/>
                    <a:lstStyle/>
                    <a:p>
                      <a:pPr algn="ctr"/>
                      <a:r>
                        <a:rPr sz="1200" b="0" i="0">
                          <a:solidFill>
                            <a:srgbClr val="1F1F1F"/>
                          </a:solidFill>
                          <a:latin typeface="Calibri"/>
                        </a:rPr>
                        <a:t>NITI Aayog NDAP 7160</a:t>
                      </a:r>
                    </a:p>
                  </a:txBody>
                  <a:tcPr marL="54864" marR="54864" marT="27432" marB="27432" anchor="ctr">
                    <a:solidFill>
                      <a:srgbClr val="FFFFFF"/>
                    </a:solidFill>
                  </a:tcPr>
                </a:tc>
                <a:tc>
                  <a:txBody>
                    <a:bodyPr wrap="square"/>
                    <a:lstStyle/>
                    <a:p>
                      <a:pPr algn="ctr"/>
                      <a:r>
                        <a:rPr sz="1200" b="0" i="0">
                          <a:solidFill>
                            <a:srgbClr val="1F1F1F"/>
                          </a:solidFill>
                          <a:latin typeface="Calibri"/>
                        </a:rPr>
                        <a:t>2021</a:t>
                      </a:r>
                    </a:p>
                  </a:txBody>
                  <a:tcPr marL="54864" marR="54864" marT="27432" marB="27432" anchor="ctr">
                    <a:solidFill>
                      <a:srgbClr val="FFFFFF"/>
                    </a:solidFill>
                  </a:tcPr>
                </a:tc>
                <a:tc>
                  <a:txBody>
                    <a:bodyPr wrap="square"/>
                    <a:lstStyle/>
                    <a:p>
                      <a:pPr algn="ctr"/>
                      <a:r>
                        <a:rPr sz="1200" b="0" i="0">
                          <a:solidFill>
                            <a:srgbClr val="1F1F1F"/>
                          </a:solidFill>
                          <a:latin typeface="Calibri"/>
                        </a:rPr>
                        <a:t>CSV</a:t>
                      </a:r>
                    </a:p>
                  </a:txBody>
                  <a:tcPr marL="54864" marR="54864" marT="27432" marB="27432" anchor="ctr">
                    <a:solidFill>
                      <a:srgbClr val="FFFFFF"/>
                    </a:solidFill>
                  </a:tcPr>
                </a:tc>
                <a:tc>
                  <a:txBody>
                    <a:bodyPr wrap="square"/>
                    <a:lstStyle/>
                    <a:p>
                      <a:pPr algn="ctr"/>
                      <a:r>
                        <a:rPr sz="1200" b="0" i="0">
                          <a:solidFill>
                            <a:srgbClr val="1F1F1F"/>
                          </a:solidFill>
                          <a:latin typeface="Calibri"/>
                        </a:rPr>
                        <a:t>699 × 79</a:t>
                      </a:r>
                    </a:p>
                  </a:txBody>
                  <a:tcPr marL="54864" marR="54864" marT="27432" marB="27432" anchor="ctr">
                    <a:solidFill>
                      <a:srgbClr val="FFFFFF"/>
                    </a:solidFill>
                  </a:tcPr>
                </a:tc>
                <a:tc>
                  <a:txBody>
                    <a:bodyPr wrap="square"/>
                    <a:lstStyle/>
                    <a:p>
                      <a:pPr algn="ctr"/>
                      <a:r>
                        <a:rPr sz="1200" b="0" i="0">
                          <a:solidFill>
                            <a:srgbClr val="1F1F1F"/>
                          </a:solidFill>
                          <a:latin typeface="Calibri"/>
                        </a:rPr>
                        <a:t>Outcome + 2 dev vars</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Primary Census Abstract</a:t>
                      </a:r>
                    </a:p>
                  </a:txBody>
                  <a:tcPr marL="54864" marR="54864" marT="27432" marB="27432" anchor="ctr">
                    <a:solidFill>
                      <a:srgbClr val="EEF2F8"/>
                    </a:solidFill>
                  </a:tcPr>
                </a:tc>
                <a:tc>
                  <a:txBody>
                    <a:bodyPr wrap="square"/>
                    <a:lstStyle/>
                    <a:p>
                      <a:pPr algn="ctr"/>
                      <a:r>
                        <a:rPr sz="1200" b="0" i="0">
                          <a:solidFill>
                            <a:srgbClr val="1F1F1F"/>
                          </a:solidFill>
                          <a:latin typeface="Calibri"/>
                        </a:rPr>
                        <a:t>Census of India</a:t>
                      </a:r>
                    </a:p>
                  </a:txBody>
                  <a:tcPr marL="54864" marR="54864" marT="27432" marB="27432" anchor="ctr">
                    <a:solidFill>
                      <a:srgbClr val="EEF2F8"/>
                    </a:solidFill>
                  </a:tcPr>
                </a:tc>
                <a:tc>
                  <a:txBody>
                    <a:bodyPr wrap="square"/>
                    <a:lstStyle/>
                    <a:p>
                      <a:pPr algn="ctr"/>
                      <a:r>
                        <a:rPr sz="1200" b="0" i="0">
                          <a:solidFill>
                            <a:srgbClr val="1F1F1F"/>
                          </a:solidFill>
                          <a:latin typeface="Calibri"/>
                        </a:rPr>
                        <a:t>2011</a:t>
                      </a:r>
                    </a:p>
                  </a:txBody>
                  <a:tcPr marL="54864" marR="54864" marT="27432" marB="27432" anchor="ctr">
                    <a:solidFill>
                      <a:srgbClr val="EEF2F8"/>
                    </a:solidFill>
                  </a:tcPr>
                </a:tc>
                <a:tc>
                  <a:txBody>
                    <a:bodyPr wrap="square"/>
                    <a:lstStyle/>
                    <a:p>
                      <a:pPr algn="ctr"/>
                      <a:r>
                        <a:rPr sz="1200" b="0" i="0">
                          <a:solidFill>
                            <a:srgbClr val="1F1F1F"/>
                          </a:solidFill>
                          <a:latin typeface="Calibri"/>
                        </a:rPr>
                        <a:t>CSV</a:t>
                      </a:r>
                    </a:p>
                  </a:txBody>
                  <a:tcPr marL="54864" marR="54864" marT="27432" marB="27432" anchor="ctr">
                    <a:solidFill>
                      <a:srgbClr val="EEF2F8"/>
                    </a:solidFill>
                  </a:tcPr>
                </a:tc>
                <a:tc>
                  <a:txBody>
                    <a:bodyPr wrap="square"/>
                    <a:lstStyle/>
                    <a:p>
                      <a:pPr algn="ctr"/>
                      <a:r>
                        <a:rPr sz="1200" b="0" i="0">
                          <a:solidFill>
                            <a:srgbClr val="1F1F1F"/>
                          </a:solidFill>
                          <a:latin typeface="Calibri"/>
                        </a:rPr>
                        <a:t>640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3 dev vars</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Daily gridded rainfall 0.25°</a:t>
                      </a:r>
                    </a:p>
                  </a:txBody>
                  <a:tcPr marL="54864" marR="54864" marT="27432" marB="27432" anchor="ctr">
                    <a:solidFill>
                      <a:srgbClr val="FFFFFF"/>
                    </a:solidFill>
                  </a:tcPr>
                </a:tc>
                <a:tc>
                  <a:txBody>
                    <a:bodyPr wrap="square"/>
                    <a:lstStyle/>
                    <a:p>
                      <a:pPr algn="ctr"/>
                      <a:r>
                        <a:rPr sz="1200" b="0" i="0">
                          <a:solidFill>
                            <a:srgbClr val="1F1F1F"/>
                          </a:solidFill>
                          <a:latin typeface="Calibri"/>
                        </a:rPr>
                        <a:t>IMD Pune</a:t>
                      </a:r>
                    </a:p>
                  </a:txBody>
                  <a:tcPr marL="54864" marR="54864" marT="27432" marB="27432" anchor="ctr">
                    <a:solidFill>
                      <a:srgbClr val="FFFFFF"/>
                    </a:solidFill>
                  </a:tcPr>
                </a:tc>
                <a:tc>
                  <a:txBody>
                    <a:bodyPr wrap="square"/>
                    <a:lstStyle/>
                    <a:p>
                      <a:pPr algn="ctr"/>
                      <a:r>
                        <a:rPr sz="1200" b="0" i="0">
                          <a:solidFill>
                            <a:srgbClr val="1F1F1F"/>
                          </a:solidFill>
                          <a:latin typeface="Calibri"/>
                        </a:rPr>
                        <a:t>1991–2020</a:t>
                      </a:r>
                    </a:p>
                  </a:txBody>
                  <a:tcPr marL="54864" marR="54864" marT="27432" marB="27432" anchor="ctr">
                    <a:solidFill>
                      <a:srgbClr val="FFFFFF"/>
                    </a:solidFill>
                  </a:tcPr>
                </a:tc>
                <a:tc>
                  <a:txBody>
                    <a:bodyPr wrap="square"/>
                    <a:lstStyle/>
                    <a:p>
                      <a:pPr algn="ctr"/>
                      <a:r>
                        <a:rPr sz="1200" b="0" i="0">
                          <a:solidFill>
                            <a:srgbClr val="1F1F1F"/>
                          </a:solidFill>
                          <a:latin typeface="Calibri"/>
                        </a:rPr>
                        <a:t>binary .grd</a:t>
                      </a:r>
                    </a:p>
                  </a:txBody>
                  <a:tcPr marL="54864" marR="54864" marT="27432" marB="27432" anchor="ctr">
                    <a:solidFill>
                      <a:srgbClr val="FFFFFF"/>
                    </a:solidFill>
                  </a:tcPr>
                </a:tc>
                <a:tc>
                  <a:txBody>
                    <a:bodyPr wrap="square"/>
                    <a:lstStyle/>
                    <a:p>
                      <a:pPr algn="ctr"/>
                      <a:r>
                        <a:rPr sz="1200" b="0" i="0">
                          <a:solidFill>
                            <a:srgbClr val="1F1F1F"/>
                          </a:solidFill>
                          <a:latin typeface="Calibri"/>
                        </a:rPr>
                        <a:t>135 × 129 grid</a:t>
                      </a:r>
                    </a:p>
                  </a:txBody>
                  <a:tcPr marL="54864" marR="54864" marT="27432" marB="27432" anchor="ctr">
                    <a:solidFill>
                      <a:srgbClr val="FFFFFF"/>
                    </a:solidFill>
                  </a:tcPr>
                </a:tc>
                <a:tc>
                  <a:txBody>
                    <a:bodyPr wrap="square"/>
                    <a:lstStyle/>
                    <a:p>
                      <a:pPr algn="ctr"/>
                      <a:r>
                        <a:rPr sz="1200" b="0" i="0">
                          <a:solidFill>
                            <a:srgbClr val="1F1F1F"/>
                          </a:solidFill>
                          <a:latin typeface="Calibri"/>
                        </a:rPr>
                        <a:t>Hazard</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Daily gridded Tmax / Tmin 1°</a:t>
                      </a:r>
                    </a:p>
                  </a:txBody>
                  <a:tcPr marL="54864" marR="54864" marT="27432" marB="27432" anchor="ctr">
                    <a:solidFill>
                      <a:srgbClr val="EEF2F8"/>
                    </a:solidFill>
                  </a:tcPr>
                </a:tc>
                <a:tc>
                  <a:txBody>
                    <a:bodyPr wrap="square"/>
                    <a:lstStyle/>
                    <a:p>
                      <a:pPr algn="ctr"/>
                      <a:r>
                        <a:rPr sz="1200" b="0" i="0">
                          <a:solidFill>
                            <a:srgbClr val="1F1F1F"/>
                          </a:solidFill>
                          <a:latin typeface="Calibri"/>
                        </a:rPr>
                        <a:t>IMD Pune</a:t>
                      </a:r>
                    </a:p>
                  </a:txBody>
                  <a:tcPr marL="54864" marR="54864" marT="27432" marB="27432" anchor="ctr">
                    <a:solidFill>
                      <a:srgbClr val="EEF2F8"/>
                    </a:solidFill>
                  </a:tcPr>
                </a:tc>
                <a:tc>
                  <a:txBody>
                    <a:bodyPr wrap="square"/>
                    <a:lstStyle/>
                    <a:p>
                      <a:pPr algn="ctr"/>
                      <a:r>
                        <a:rPr sz="1200" b="0" i="0">
                          <a:solidFill>
                            <a:srgbClr val="1F1F1F"/>
                          </a:solidFill>
                          <a:latin typeface="Calibri"/>
                        </a:rPr>
                        <a:t>1991–2020</a:t>
                      </a:r>
                    </a:p>
                  </a:txBody>
                  <a:tcPr marL="54864" marR="54864" marT="27432" marB="27432" anchor="ctr">
                    <a:solidFill>
                      <a:srgbClr val="EEF2F8"/>
                    </a:solidFill>
                  </a:tcPr>
                </a:tc>
                <a:tc>
                  <a:txBody>
                    <a:bodyPr wrap="square"/>
                    <a:lstStyle/>
                    <a:p>
                      <a:pPr algn="ctr"/>
                      <a:r>
                        <a:rPr sz="1200" b="0" i="0">
                          <a:solidFill>
                            <a:srgbClr val="1F1F1F"/>
                          </a:solidFill>
                          <a:latin typeface="Calibri"/>
                        </a:rPr>
                        <a:t>binary .grd</a:t>
                      </a:r>
                    </a:p>
                  </a:txBody>
                  <a:tcPr marL="54864" marR="54864" marT="27432" marB="27432" anchor="ctr">
                    <a:solidFill>
                      <a:srgbClr val="EEF2F8"/>
                    </a:solidFill>
                  </a:tcPr>
                </a:tc>
                <a:tc>
                  <a:txBody>
                    <a:bodyPr wrap="square"/>
                    <a:lstStyle/>
                    <a:p>
                      <a:pPr algn="ctr"/>
                      <a:r>
                        <a:rPr sz="1200" b="0" i="0">
                          <a:solidFill>
                            <a:srgbClr val="1F1F1F"/>
                          </a:solidFill>
                          <a:latin typeface="Calibri"/>
                        </a:rPr>
                        <a:t>31 × 31 grid</a:t>
                      </a:r>
                    </a:p>
                  </a:txBody>
                  <a:tcPr marL="54864" marR="54864" marT="27432" marB="27432" anchor="ctr">
                    <a:solidFill>
                      <a:srgbClr val="EEF2F8"/>
                    </a:solidFill>
                  </a:tcPr>
                </a:tc>
                <a:tc>
                  <a:txBody>
                    <a:bodyPr wrap="square"/>
                    <a:lstStyle/>
                    <a:p>
                      <a:pPr algn="ctr"/>
                      <a:r>
                        <a:rPr sz="1200" b="0" i="0">
                          <a:solidFill>
                            <a:srgbClr val="1F1F1F"/>
                          </a:solidFill>
                          <a:latin typeface="Calibri"/>
                        </a:rPr>
                        <a:t>Hazard</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District boundaries</a:t>
                      </a:r>
                    </a:p>
                  </a:txBody>
                  <a:tcPr marL="54864" marR="54864" marT="27432" marB="27432" anchor="ctr">
                    <a:solidFill>
                      <a:srgbClr val="FFFFFF"/>
                    </a:solidFill>
                  </a:tcPr>
                </a:tc>
                <a:tc>
                  <a:txBody>
                    <a:bodyPr wrap="square"/>
                    <a:lstStyle/>
                    <a:p>
                      <a:pPr algn="ctr"/>
                      <a:r>
                        <a:rPr sz="1200" b="0" i="0">
                          <a:solidFill>
                            <a:srgbClr val="1F1F1F"/>
                          </a:solidFill>
                          <a:latin typeface="Calibri"/>
                        </a:rPr>
                        <a:t>DataMeet</a:t>
                      </a:r>
                    </a:p>
                  </a:txBody>
                  <a:tcPr marL="54864" marR="54864" marT="27432" marB="27432" anchor="ctr">
                    <a:solidFill>
                      <a:srgbClr val="FFFFFF"/>
                    </a:solidFill>
                  </a:tcPr>
                </a:tc>
                <a:tc>
                  <a:txBody>
                    <a:bodyPr wrap="square"/>
                    <a:lstStyle/>
                    <a:p>
                      <a:pPr algn="ctr"/>
                      <a:r>
                        <a:rPr sz="1200" b="0" i="0">
                          <a:solidFill>
                            <a:srgbClr val="1F1F1F"/>
                          </a:solidFill>
                          <a:latin typeface="Calibri"/>
                        </a:rPr>
                        <a:t>2011</a:t>
                      </a:r>
                    </a:p>
                  </a:txBody>
                  <a:tcPr marL="54864" marR="54864" marT="27432" marB="27432" anchor="ctr">
                    <a:solidFill>
                      <a:srgbClr val="FFFFFF"/>
                    </a:solidFill>
                  </a:tcPr>
                </a:tc>
                <a:tc>
                  <a:txBody>
                    <a:bodyPr wrap="square"/>
                    <a:lstStyle/>
                    <a:p>
                      <a:pPr algn="ctr"/>
                      <a:r>
                        <a:rPr sz="1200" b="0" i="0">
                          <a:solidFill>
                            <a:srgbClr val="1F1F1F"/>
                          </a:solidFill>
                          <a:latin typeface="Calibri"/>
                        </a:rPr>
                        <a:t>Shapefile</a:t>
                      </a:r>
                    </a:p>
                  </a:txBody>
                  <a:tcPr marL="54864" marR="54864" marT="27432" marB="27432" anchor="ctr">
                    <a:solidFill>
                      <a:srgbClr val="FFFFFF"/>
                    </a:solidFill>
                  </a:tcPr>
                </a:tc>
                <a:tc>
                  <a:txBody>
                    <a:bodyPr wrap="square"/>
                    <a:lstStyle/>
                    <a:p>
                      <a:pPr algn="ctr"/>
                      <a:r>
                        <a:rPr sz="1200" b="0" i="0">
                          <a:solidFill>
                            <a:srgbClr val="1F1F1F"/>
                          </a:solidFill>
                          <a:latin typeface="Calibri"/>
                        </a:rPr>
                        <a:t>641 polygons</a:t>
                      </a:r>
                    </a:p>
                  </a:txBody>
                  <a:tcPr marL="54864" marR="54864" marT="27432" marB="27432" anchor="ctr">
                    <a:solidFill>
                      <a:srgbClr val="FFFFFF"/>
                    </a:solidFill>
                  </a:tcPr>
                </a:tc>
                <a:tc>
                  <a:txBody>
                    <a:bodyPr wrap="square"/>
                    <a:lstStyle/>
                    <a:p>
                      <a:pPr algn="ctr"/>
                      <a:r>
                        <a:rPr sz="1200" b="0" i="0">
                          <a:solidFill>
                            <a:srgbClr val="1F1F1F"/>
                          </a:solidFill>
                          <a:latin typeface="Calibri"/>
                        </a:rPr>
                        <a:t>Grid → district</a:t>
                      </a:r>
                    </a:p>
                  </a:txBody>
                  <a:tcPr marL="54864" marR="54864" marT="27432" marB="27432" anchor="ctr">
                    <a:solidFill>
                      <a:srgbClr val="FFFFFF"/>
                    </a:solidFill>
                  </a:tcPr>
                </a:tc>
              </a:tr>
            </a:tbl>
          </a:graphicData>
        </a:graphic>
      </p:graphicFrame>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Proposed Model: B-ACPN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20116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Tree stage: </a:t>
            </a:r>
            <a:r>
              <a:rPr sz="1500" b="0" i="0">
                <a:solidFill>
                  <a:srgbClr val="1F1F1F"/>
                </a:solidFill>
                <a:latin typeface="Calibri"/>
              </a:rPr>
              <a:t>random forest (500 trees) on all 13 features → risk score, out-of-fold for training rows</a:t>
            </a:r>
          </a:p>
          <a:p>
            <a:pPr>
              <a:spcAft>
                <a:spcPts val="300"/>
              </a:spcAft>
            </a:pPr>
            <a:r>
              <a:rPr sz="1500" b="0" i="0">
                <a:solidFill>
                  <a:srgbClr val="0E6E6E"/>
                </a:solidFill>
                <a:latin typeface="Calibri"/>
              </a:rPr>
              <a:t>▪  </a:t>
            </a:r>
            <a:r>
              <a:rPr sz="1500" b="1" i="0">
                <a:solidFill>
                  <a:srgbClr val="1F1F1F"/>
                </a:solidFill>
                <a:latin typeface="Calibri"/>
              </a:rPr>
              <a:t>Deep stage: </a:t>
            </a:r>
            <a:r>
              <a:rPr sz="1500" b="0" i="0">
                <a:solidFill>
                  <a:srgbClr val="1F1F1F"/>
                </a:solidFill>
                <a:latin typeface="Calibri"/>
              </a:rPr>
              <a:t>tree score + linear development term + climate push (attention → MLP → residual block)</a:t>
            </a:r>
          </a:p>
          <a:p>
            <a:pPr>
              <a:spcAft>
                <a:spcPts val="300"/>
              </a:spcAft>
            </a:pPr>
            <a:r>
              <a:rPr sz="1500" b="0" i="0">
                <a:solidFill>
                  <a:srgbClr val="0E6E6E"/>
                </a:solidFill>
                <a:latin typeface="Calibri"/>
              </a:rPr>
              <a:t>▪  </a:t>
            </a:r>
            <a:r>
              <a:rPr sz="1500" b="1" i="0">
                <a:solidFill>
                  <a:srgbClr val="1F1F1F"/>
                </a:solidFill>
                <a:latin typeface="Calibri"/>
              </a:rPr>
              <a:t>Development gate: </a:t>
            </a:r>
            <a:r>
              <a:rPr sz="1500" b="0" i="0">
                <a:solidFill>
                  <a:srgbClr val="1F1F1F"/>
                </a:solidFill>
                <a:latin typeface="Calibri"/>
              </a:rPr>
              <a:t>climate push × 2σ(gate(development)): how strongly climate acts at that level</a:t>
            </a:r>
          </a:p>
          <a:p>
            <a:pPr>
              <a:spcAft>
                <a:spcPts val="300"/>
              </a:spcAft>
            </a:pPr>
            <a:r>
              <a:rPr sz="1500" b="0" i="0">
                <a:solidFill>
                  <a:srgbClr val="0E6E6E"/>
                </a:solidFill>
                <a:latin typeface="Calibri"/>
              </a:rPr>
              <a:t>▪  </a:t>
            </a:r>
            <a:r>
              <a:rPr sz="1500" b="1" i="0">
                <a:solidFill>
                  <a:srgbClr val="1F1F1F"/>
                </a:solidFill>
                <a:latin typeface="Calibri"/>
              </a:rPr>
              <a:t>Output: </a:t>
            </a:r>
            <a:r>
              <a:rPr sz="1500" b="0" i="0">
                <a:solidFill>
                  <a:srgbClr val="1F1F1F"/>
                </a:solidFill>
                <a:latin typeface="Calibri"/>
              </a:rPr>
              <a:t>ensemble of 5 networks; push &gt; 0 means climate adds risk beyond development</a:t>
            </a:r>
          </a:p>
          <a:p>
            <a:pPr>
              <a:spcAft>
                <a:spcPts val="300"/>
              </a:spcAft>
            </a:pPr>
            <a:r>
              <a:rPr sz="1500" b="0" i="0">
                <a:solidFill>
                  <a:srgbClr val="0E6E6E"/>
                </a:solidFill>
                <a:latin typeface="Calibri"/>
              </a:rPr>
              <a:t>▪  </a:t>
            </a:r>
            <a:r>
              <a:rPr sz="1500" b="1" i="0">
                <a:solidFill>
                  <a:srgbClr val="1F1F1F"/>
                </a:solidFill>
                <a:latin typeface="Calibri"/>
              </a:rPr>
              <a:t>Uncertainty: </a:t>
            </a:r>
            <a:r>
              <a:rPr sz="1500" b="0" i="0">
                <a:solidFill>
                  <a:srgbClr val="1F1F1F"/>
                </a:solidFill>
                <a:latin typeface="Calibri"/>
              </a:rPr>
              <a:t>MC Dropout + conformal prediction; index never used as input (no circularity)</a:t>
            </a:r>
          </a:p>
        </p:txBody>
      </p:sp>
      <p:sp>
        <p:nvSpPr>
          <p:cNvPr id="5" name="Rounded Rectangle 4"/>
          <p:cNvSpPr/>
          <p:nvPr/>
        </p:nvSpPr>
        <p:spPr>
          <a:xfrm>
            <a:off x="365760" y="3657600"/>
            <a:ext cx="160020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All 13 features</a:t>
            </a:r>
          </a:p>
          <a:p>
            <a:pPr algn="ctr"/>
            <a:r>
              <a:rPr sz="1100" b="0" i="0">
                <a:solidFill>
                  <a:srgbClr val="595959"/>
                </a:solidFill>
                <a:latin typeface="Calibri"/>
              </a:rPr>
              <a:t>dev + climate</a:t>
            </a:r>
          </a:p>
        </p:txBody>
      </p:sp>
      <p:sp>
        <p:nvSpPr>
          <p:cNvPr id="6" name="Rounded Rectangle 5"/>
          <p:cNvSpPr/>
          <p:nvPr/>
        </p:nvSpPr>
        <p:spPr>
          <a:xfrm>
            <a:off x="365760" y="5074920"/>
            <a:ext cx="160020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(IMD)</a:t>
            </a:r>
          </a:p>
          <a:p>
            <a:pPr algn="ctr"/>
            <a:r>
              <a:rPr sz="1100" b="0" i="0">
                <a:solidFill>
                  <a:srgbClr val="595959"/>
                </a:solidFill>
                <a:latin typeface="Calibri"/>
              </a:rPr>
              <a:t>8 features</a:t>
            </a:r>
          </a:p>
        </p:txBody>
      </p:sp>
      <p:sp>
        <p:nvSpPr>
          <p:cNvPr id="7" name="Rounded Rectangle 6"/>
          <p:cNvSpPr/>
          <p:nvPr/>
        </p:nvSpPr>
        <p:spPr>
          <a:xfrm>
            <a:off x="2331720" y="3657600"/>
            <a:ext cx="201168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Random forest</a:t>
            </a:r>
          </a:p>
          <a:p>
            <a:pPr algn="ctr"/>
            <a:r>
              <a:rPr sz="1100" b="0" i="0">
                <a:solidFill>
                  <a:srgbClr val="595959"/>
                </a:solidFill>
                <a:latin typeface="Calibri"/>
              </a:rPr>
              <a:t>tree stage, 500 trees</a:t>
            </a:r>
          </a:p>
        </p:txBody>
      </p:sp>
      <p:sp>
        <p:nvSpPr>
          <p:cNvPr id="8" name="Rounded Rectangle 7"/>
          <p:cNvSpPr/>
          <p:nvPr/>
        </p:nvSpPr>
        <p:spPr>
          <a:xfrm>
            <a:off x="2331720" y="5074920"/>
            <a:ext cx="201168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Attention → MLP → Residual × dev gate</a:t>
            </a:r>
          </a:p>
        </p:txBody>
      </p:sp>
      <p:sp>
        <p:nvSpPr>
          <p:cNvPr id="9" name="Rounded Rectangle 8"/>
          <p:cNvSpPr/>
          <p:nvPr/>
        </p:nvSpPr>
        <p:spPr>
          <a:xfrm>
            <a:off x="4709160" y="3657600"/>
            <a:ext cx="1188720" cy="73152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Tree + dev</a:t>
            </a:r>
          </a:p>
          <a:p>
            <a:pPr algn="ctr"/>
            <a:r>
              <a:rPr sz="1100" b="0" i="0">
                <a:solidFill>
                  <a:srgbClr val="595959"/>
                </a:solidFill>
                <a:latin typeface="Calibri"/>
              </a:rPr>
              <a:t>b</a:t>
            </a:r>
          </a:p>
        </p:txBody>
      </p:sp>
      <p:sp>
        <p:nvSpPr>
          <p:cNvPr id="10" name="Rounded Rectangle 9"/>
          <p:cNvSpPr/>
          <p:nvPr/>
        </p:nvSpPr>
        <p:spPr>
          <a:xfrm>
            <a:off x="4709160" y="5074920"/>
            <a:ext cx="1188720" cy="73152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300" b="1" i="0">
                <a:solidFill>
                  <a:srgbClr val="1F1F1F"/>
                </a:solidFill>
                <a:latin typeface="Calibri"/>
              </a:rPr>
              <a:t>Climate push</a:t>
            </a:r>
          </a:p>
          <a:p>
            <a:pPr algn="ctr"/>
            <a:r>
              <a:rPr sz="1100" b="0" i="0">
                <a:solidFill>
                  <a:srgbClr val="595959"/>
                </a:solidFill>
                <a:latin typeface="Calibri"/>
              </a:rPr>
              <a:t>c (+/−)</a:t>
            </a:r>
          </a:p>
        </p:txBody>
      </p:sp>
      <p:sp>
        <p:nvSpPr>
          <p:cNvPr id="11" name="Oval 10"/>
          <p:cNvSpPr/>
          <p:nvPr/>
        </p:nvSpPr>
        <p:spPr>
          <a:xfrm>
            <a:off x="6263640" y="4343400"/>
            <a:ext cx="731520" cy="731520"/>
          </a:xfrm>
          <a:prstGeom prst="ellipse">
            <a:avLst/>
          </a:prstGeom>
          <a:solidFill>
            <a:srgbClr val="FFFFFF"/>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2400" b="1" i="0">
                <a:solidFill>
                  <a:srgbClr val="1F1F1F"/>
                </a:solidFill>
                <a:latin typeface="Calibri"/>
              </a:rPr>
              <a:t>+</a:t>
            </a:r>
          </a:p>
        </p:txBody>
      </p:sp>
      <p:sp>
        <p:nvSpPr>
          <p:cNvPr id="12" name="Rounded Rectangle 11"/>
          <p:cNvSpPr/>
          <p:nvPr/>
        </p:nvSpPr>
        <p:spPr>
          <a:xfrm>
            <a:off x="7315200" y="3657600"/>
            <a:ext cx="1463040" cy="73152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σ(b + c) × 5</a:t>
            </a:r>
          </a:p>
          <a:p>
            <a:pPr algn="ctr"/>
            <a:r>
              <a:rPr sz="1100" b="0" i="0">
                <a:solidFill>
                  <a:srgbClr val="595959"/>
                </a:solidFill>
                <a:latin typeface="Calibri"/>
              </a:rPr>
              <a:t>ensemble mean</a:t>
            </a:r>
          </a:p>
        </p:txBody>
      </p:sp>
      <p:sp>
        <p:nvSpPr>
          <p:cNvPr id="13" name="Rounded Rectangle 12"/>
          <p:cNvSpPr/>
          <p:nvPr/>
        </p:nvSpPr>
        <p:spPr>
          <a:xfrm>
            <a:off x="7315200" y="5074920"/>
            <a:ext cx="1463040" cy="73152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1" i="0">
                <a:solidFill>
                  <a:srgbClr val="1F1F1F"/>
                </a:solidFill>
                <a:latin typeface="Calibri"/>
              </a:rPr>
              <a:t>Uncertainty</a:t>
            </a:r>
          </a:p>
          <a:p>
            <a:pPr algn="ctr"/>
            <a:r>
              <a:rPr sz="1000" b="0" i="0">
                <a:solidFill>
                  <a:srgbClr val="595959"/>
                </a:solidFill>
                <a:latin typeface="Calibri"/>
              </a:rPr>
              <a:t>MC Dropout + conformal</a:t>
            </a:r>
          </a:p>
        </p:txBody>
      </p:sp>
      <p:cxnSp>
        <p:nvCxnSpPr>
          <p:cNvPr id="14" name="Connector 13"/>
          <p:cNvCxnSpPr/>
          <p:nvPr/>
        </p:nvCxnSpPr>
        <p:spPr>
          <a:xfrm>
            <a:off x="196596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5" name="Connector 14"/>
          <p:cNvCxnSpPr/>
          <p:nvPr/>
        </p:nvCxnSpPr>
        <p:spPr>
          <a:xfrm>
            <a:off x="4343400" y="402336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6" name="Connector 15"/>
          <p:cNvCxnSpPr/>
          <p:nvPr/>
        </p:nvCxnSpPr>
        <p:spPr>
          <a:xfrm>
            <a:off x="196596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7" name="Connector 16"/>
          <p:cNvCxnSpPr/>
          <p:nvPr/>
        </p:nvCxnSpPr>
        <p:spPr>
          <a:xfrm>
            <a:off x="4343400" y="5440680"/>
            <a:ext cx="36576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8" name="Connector 17"/>
          <p:cNvCxnSpPr/>
          <p:nvPr/>
        </p:nvCxnSpPr>
        <p:spPr>
          <a:xfrm>
            <a:off x="5897880" y="4023360"/>
            <a:ext cx="411480" cy="50292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19" name="Connector 18"/>
          <p:cNvCxnSpPr/>
          <p:nvPr/>
        </p:nvCxnSpPr>
        <p:spPr>
          <a:xfrm flipV="1">
            <a:off x="5897880" y="4892040"/>
            <a:ext cx="411480" cy="54864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0" name="Connector 19"/>
          <p:cNvCxnSpPr/>
          <p:nvPr/>
        </p:nvCxnSpPr>
        <p:spPr>
          <a:xfrm flipV="1">
            <a:off x="6995160" y="4114800"/>
            <a:ext cx="320040" cy="5943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cxnSp>
        <p:nvCxnSpPr>
          <p:cNvPr id="21" name="Connector 20"/>
          <p:cNvCxnSpPr/>
          <p:nvPr/>
        </p:nvCxnSpPr>
        <p:spPr>
          <a:xfrm>
            <a:off x="8046720" y="4389120"/>
            <a:ext cx="0" cy="68580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365760" y="5989320"/>
            <a:ext cx="8412480" cy="411480"/>
          </a:xfrm>
          <a:prstGeom prst="roundRect">
            <a:avLst>
              <a:gd name="adj" fmla="val 12000"/>
            </a:avLst>
          </a:prstGeom>
          <a:solidFill>
            <a:srgbClr val="FFFFFF"/>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0E6E6E"/>
                </a:solidFill>
                <a:latin typeface="Calibri"/>
              </a:rPr>
              <a:t>Novelty: a tree stage boosted by a development-gated attentive climate network (with uncertainty) that separates each district's climate push from its tree/development baseline</a:t>
            </a:r>
          </a:p>
        </p:txBody>
      </p:sp>
      <p:sp>
        <p:nvSpPr>
          <p:cNvPr id="23" name="TextBox 22"/>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Overall System Architecture Diagram</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ounded Rectangle 3"/>
          <p:cNvSpPr/>
          <p:nvPr/>
        </p:nvSpPr>
        <p:spPr>
          <a:xfrm>
            <a:off x="36576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Sources</a:t>
            </a:r>
          </a:p>
          <a:p>
            <a:pPr algn="ctr"/>
            <a:r>
              <a:rPr sz="1100" b="0" i="0">
                <a:solidFill>
                  <a:srgbClr val="595959"/>
                </a:solidFill>
                <a:latin typeface="Calibri"/>
              </a:rPr>
              <a:t>NDAP · Census · IMD · DataMeet</a:t>
            </a:r>
          </a:p>
        </p:txBody>
      </p:sp>
      <p:cxnSp>
        <p:nvCxnSpPr>
          <p:cNvPr id="5" name="Connector 4"/>
          <p:cNvCxnSpPr/>
          <p:nvPr/>
        </p:nvCxnSpPr>
        <p:spPr>
          <a:xfrm>
            <a:off x="214884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6" name="Rounded Rectangle 5"/>
          <p:cNvSpPr/>
          <p:nvPr/>
        </p:nvSpPr>
        <p:spPr>
          <a:xfrm>
            <a:off x="256032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raw zone</a:t>
            </a:r>
          </a:p>
          <a:p>
            <a:pPr algn="ctr"/>
            <a:r>
              <a:rPr sz="1100" b="0" i="0">
                <a:solidFill>
                  <a:srgbClr val="595959"/>
                </a:solidFill>
                <a:latin typeface="Calibri"/>
              </a:rPr>
              <a:t>/project/raw</a:t>
            </a:r>
          </a:p>
        </p:txBody>
      </p:sp>
      <p:cxnSp>
        <p:nvCxnSpPr>
          <p:cNvPr id="7" name="Connector 6"/>
          <p:cNvCxnSpPr/>
          <p:nvPr/>
        </p:nvCxnSpPr>
        <p:spPr>
          <a:xfrm>
            <a:off x="434340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8" name="Rounded Rectangle 7"/>
          <p:cNvSpPr/>
          <p:nvPr/>
        </p:nvSpPr>
        <p:spPr>
          <a:xfrm>
            <a:off x="4754880" y="1325880"/>
            <a:ext cx="178308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Grid → district</a:t>
            </a:r>
          </a:p>
          <a:p>
            <a:pPr algn="ctr"/>
            <a:r>
              <a:rPr sz="1100" b="0" i="0">
                <a:solidFill>
                  <a:srgbClr val="595959"/>
                </a:solidFill>
                <a:latin typeface="Calibri"/>
              </a:rPr>
              <a:t>Python (NumPy, shapely)</a:t>
            </a:r>
          </a:p>
        </p:txBody>
      </p:sp>
      <p:cxnSp>
        <p:nvCxnSpPr>
          <p:cNvPr id="9" name="Connector 8"/>
          <p:cNvCxnSpPr/>
          <p:nvPr/>
        </p:nvCxnSpPr>
        <p:spPr>
          <a:xfrm>
            <a:off x="6537960" y="1783080"/>
            <a:ext cx="41148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0" name="Rounded Rectangle 9"/>
          <p:cNvSpPr/>
          <p:nvPr/>
        </p:nvSpPr>
        <p:spPr>
          <a:xfrm>
            <a:off x="6949440" y="1325880"/>
            <a:ext cx="1783080" cy="91440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HDFS staging</a:t>
            </a:r>
          </a:p>
          <a:p>
            <a:pPr algn="ctr"/>
            <a:r>
              <a:rPr sz="1100" b="0" i="0">
                <a:solidFill>
                  <a:srgbClr val="595959"/>
                </a:solidFill>
                <a:latin typeface="Calibri"/>
              </a:rPr>
              <a:t>7.0 M district-day rows</a:t>
            </a:r>
          </a:p>
        </p:txBody>
      </p:sp>
      <p:cxnSp>
        <p:nvCxnSpPr>
          <p:cNvPr id="11" name="Connector 10"/>
          <p:cNvCxnSpPr/>
          <p:nvPr/>
        </p:nvCxnSpPr>
        <p:spPr>
          <a:xfrm>
            <a:off x="7863840" y="224028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2" name="Rounded Rectangle 11"/>
          <p:cNvSpPr/>
          <p:nvPr/>
        </p:nvSpPr>
        <p:spPr>
          <a:xfrm>
            <a:off x="6949440"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MapReduce on YARN</a:t>
            </a:r>
          </a:p>
          <a:p>
            <a:pPr algn="ctr"/>
            <a:r>
              <a:rPr sz="1100" b="0" i="0">
                <a:solidFill>
                  <a:srgbClr val="595959"/>
                </a:solidFill>
                <a:latin typeface="Calibri"/>
              </a:rPr>
              <a:t>→ 19,200 district-years</a:t>
            </a:r>
          </a:p>
        </p:txBody>
      </p:sp>
      <p:cxnSp>
        <p:nvCxnSpPr>
          <p:cNvPr id="13" name="Connector 12"/>
          <p:cNvCxnSpPr/>
          <p:nvPr/>
        </p:nvCxnSpPr>
        <p:spPr>
          <a:xfrm flipH="1">
            <a:off x="6172200"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4" name="Rounded Rectangle 13"/>
          <p:cNvSpPr/>
          <p:nvPr/>
        </p:nvSpPr>
        <p:spPr>
          <a:xfrm>
            <a:off x="425195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Hive</a:t>
            </a:r>
          </a:p>
          <a:p>
            <a:pPr algn="ctr"/>
            <a:r>
              <a:rPr sz="1100" b="0" i="0">
                <a:solidFill>
                  <a:srgbClr val="595959"/>
                </a:solidFill>
                <a:latin typeface="Calibri"/>
              </a:rPr>
              <a:t>30-yr baseline + join</a:t>
            </a:r>
          </a:p>
        </p:txBody>
      </p:sp>
      <p:cxnSp>
        <p:nvCxnSpPr>
          <p:cNvPr id="15" name="Connector 14"/>
          <p:cNvCxnSpPr/>
          <p:nvPr/>
        </p:nvCxnSpPr>
        <p:spPr>
          <a:xfrm flipH="1">
            <a:off x="3474719" y="3063240"/>
            <a:ext cx="7772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6" name="Rounded Rectangle 15"/>
          <p:cNvSpPr/>
          <p:nvPr/>
        </p:nvSpPr>
        <p:spPr>
          <a:xfrm>
            <a:off x="1554479" y="2606040"/>
            <a:ext cx="1920240" cy="91440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Spark</a:t>
            </a:r>
          </a:p>
          <a:p>
            <a:pPr algn="ctr"/>
            <a:r>
              <a:rPr sz="1100" b="0" i="0">
                <a:solidFill>
                  <a:srgbClr val="595959"/>
                </a:solidFill>
                <a:latin typeface="Calibri"/>
              </a:rPr>
              <a:t>k-means + MLlib</a:t>
            </a:r>
          </a:p>
        </p:txBody>
      </p:sp>
      <p:cxnSp>
        <p:nvCxnSpPr>
          <p:cNvPr id="17" name="Connector 16"/>
          <p:cNvCxnSpPr/>
          <p:nvPr/>
        </p:nvCxnSpPr>
        <p:spPr>
          <a:xfrm>
            <a:off x="2103120" y="3520440"/>
            <a:ext cx="0" cy="36576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18" name="Rounded Rectangle 17"/>
          <p:cNvSpPr/>
          <p:nvPr/>
        </p:nvSpPr>
        <p:spPr>
          <a:xfrm>
            <a:off x="365760" y="3886200"/>
            <a:ext cx="2286000" cy="91440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B-ACPN</a:t>
            </a:r>
          </a:p>
          <a:p>
            <a:pPr algn="ctr"/>
            <a:r>
              <a:rPr sz="1100" b="0" i="0">
                <a:solidFill>
                  <a:srgbClr val="595959"/>
                </a:solidFill>
                <a:latin typeface="Calibri"/>
              </a:rPr>
              <a:t>RF + PyTorch</a:t>
            </a:r>
          </a:p>
        </p:txBody>
      </p:sp>
      <p:cxnSp>
        <p:nvCxnSpPr>
          <p:cNvPr id="19" name="Connector 18"/>
          <p:cNvCxnSpPr/>
          <p:nvPr/>
        </p:nvCxnSpPr>
        <p:spPr>
          <a:xfrm>
            <a:off x="265176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0" name="Rounded Rectangle 19"/>
          <p:cNvSpPr/>
          <p:nvPr/>
        </p:nvSpPr>
        <p:spPr>
          <a:xfrm>
            <a:off x="320040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Comparison tables</a:t>
            </a:r>
          </a:p>
          <a:p>
            <a:pPr algn="ctr"/>
            <a:r>
              <a:rPr sz="1100" b="0" i="0">
                <a:solidFill>
                  <a:srgbClr val="595959"/>
                </a:solidFill>
                <a:latin typeface="Calibri"/>
              </a:rPr>
              <a:t>Tables 1–6</a:t>
            </a:r>
          </a:p>
        </p:txBody>
      </p:sp>
      <p:cxnSp>
        <p:nvCxnSpPr>
          <p:cNvPr id="21" name="Connector 20"/>
          <p:cNvCxnSpPr/>
          <p:nvPr/>
        </p:nvCxnSpPr>
        <p:spPr>
          <a:xfrm>
            <a:off x="5486400" y="4343400"/>
            <a:ext cx="548640" cy="0"/>
          </a:xfrm>
          <a:prstGeom prst="line">
            <a:avLst/>
          </a:prstGeom>
          <a:ln w="22225">
            <a:solidFill>
              <a:srgbClr val="1B3A6B"/>
            </a:solidFill>
            <a:tailEnd type="triangle" w="med" len="med"/>
          </a:ln>
        </p:spPr>
        <p:style>
          <a:lnRef idx="2">
            <a:schemeClr val="accent1"/>
          </a:lnRef>
          <a:fillRef idx="0">
            <a:schemeClr val="accent1"/>
          </a:fillRef>
          <a:effectRef idx="1">
            <a:schemeClr val="accent1"/>
          </a:effectRef>
          <a:fontRef idx="minor">
            <a:schemeClr val="tx1"/>
          </a:fontRef>
        </p:style>
      </p:cxnSp>
      <p:sp>
        <p:nvSpPr>
          <p:cNvPr id="22" name="Rounded Rectangle 21"/>
          <p:cNvSpPr/>
          <p:nvPr/>
        </p:nvSpPr>
        <p:spPr>
          <a:xfrm>
            <a:off x="6035040" y="3886200"/>
            <a:ext cx="2286000" cy="91440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400" b="1" i="0">
                <a:solidFill>
                  <a:srgbClr val="1F1F1F"/>
                </a:solidFill>
                <a:latin typeface="Calibri"/>
              </a:rPr>
              <a:t>Report / slides</a:t>
            </a:r>
          </a:p>
          <a:p>
            <a:pPr algn="ctr"/>
            <a:r>
              <a:rPr sz="1100" b="0" i="0">
                <a:solidFill>
                  <a:srgbClr val="595959"/>
                </a:solidFill>
                <a:latin typeface="Calibri"/>
              </a:rPr>
              <a:t>results/ · figures/</a:t>
            </a:r>
          </a:p>
        </p:txBody>
      </p:sp>
      <p:sp>
        <p:nvSpPr>
          <p:cNvPr id="23" name="TextBox 22"/>
          <p:cNvSpPr txBox="1"/>
          <p:nvPr/>
        </p:nvSpPr>
        <p:spPr>
          <a:xfrm>
            <a:off x="365760" y="5074920"/>
            <a:ext cx="8412480" cy="365760"/>
          </a:xfrm>
          <a:prstGeom prst="rect">
            <a:avLst/>
          </a:prstGeom>
          <a:noFill/>
        </p:spPr>
        <p:txBody>
          <a:bodyPr wrap="square" anchor="t" lIns="45720" rIns="45720">
            <a:spAutoFit/>
          </a:bodyPr>
          <a:lstStyle/>
          <a:p>
            <a:pPr algn="l"/>
            <a:r>
              <a:rPr sz="1200" b="1" i="0">
                <a:solidFill>
                  <a:srgbClr val="595959"/>
                </a:solidFill>
                <a:latin typeface="Calibri"/>
              </a:rPr>
              <a:t>Legend:</a:t>
            </a:r>
          </a:p>
        </p:txBody>
      </p:sp>
      <p:sp>
        <p:nvSpPr>
          <p:cNvPr id="24" name="Rounded Rectangle 23"/>
          <p:cNvSpPr/>
          <p:nvPr/>
        </p:nvSpPr>
        <p:spPr>
          <a:xfrm>
            <a:off x="1097280" y="5074920"/>
            <a:ext cx="1737360" cy="365760"/>
          </a:xfrm>
          <a:prstGeom prst="roundRect">
            <a:avLst>
              <a:gd name="adj" fmla="val 12000"/>
            </a:avLst>
          </a:prstGeom>
          <a:solidFill>
            <a:srgbClr val="E3F1F0"/>
          </a:solidFill>
          <a:ln w="15875">
            <a:solidFill>
              <a:srgbClr val="0E6E6E"/>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Storage (HDFS)</a:t>
            </a:r>
          </a:p>
        </p:txBody>
      </p:sp>
      <p:sp>
        <p:nvSpPr>
          <p:cNvPr id="25" name="Rounded Rectangle 24"/>
          <p:cNvSpPr/>
          <p:nvPr/>
        </p:nvSpPr>
        <p:spPr>
          <a:xfrm>
            <a:off x="3017520" y="5074920"/>
            <a:ext cx="1737360" cy="365760"/>
          </a:xfrm>
          <a:prstGeom prst="roundRect">
            <a:avLst>
              <a:gd name="adj" fmla="val 12000"/>
            </a:avLst>
          </a:prstGeom>
          <a:solidFill>
            <a:srgbClr val="FCEBDD"/>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Big Data processing</a:t>
            </a:r>
          </a:p>
        </p:txBody>
      </p:sp>
      <p:sp>
        <p:nvSpPr>
          <p:cNvPr id="26" name="Rounded Rectangle 25"/>
          <p:cNvSpPr/>
          <p:nvPr/>
        </p:nvSpPr>
        <p:spPr>
          <a:xfrm>
            <a:off x="4937760" y="5074920"/>
            <a:ext cx="1737360" cy="365760"/>
          </a:xfrm>
          <a:prstGeom prst="roundRect">
            <a:avLst>
              <a:gd name="adj" fmla="val 12000"/>
            </a:avLst>
          </a:prstGeom>
          <a:solidFill>
            <a:srgbClr val="EEF2F8"/>
          </a:solidFill>
          <a:ln w="15875">
            <a:solidFill>
              <a:srgbClr val="1B3A6B"/>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Python / outputs</a:t>
            </a:r>
          </a:p>
        </p:txBody>
      </p:sp>
      <p:sp>
        <p:nvSpPr>
          <p:cNvPr id="27" name="Rounded Rectangle 26"/>
          <p:cNvSpPr/>
          <p:nvPr/>
        </p:nvSpPr>
        <p:spPr>
          <a:xfrm>
            <a:off x="6858000" y="5074920"/>
            <a:ext cx="1737360" cy="365760"/>
          </a:xfrm>
          <a:prstGeom prst="roundRect">
            <a:avLst>
              <a:gd name="adj" fmla="val 12000"/>
            </a:avLst>
          </a:prstGeom>
          <a:solidFill>
            <a:srgbClr val="FFF4CC"/>
          </a:solidFill>
          <a:ln w="15875">
            <a:solidFill>
              <a:srgbClr val="C25B12"/>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100" b="0" i="0">
                <a:solidFill>
                  <a:srgbClr val="1F1F1F"/>
                </a:solidFill>
                <a:latin typeface="Calibri"/>
              </a:rPr>
              <a:t>Novel model</a:t>
            </a:r>
          </a:p>
        </p:txBody>
      </p:sp>
      <p:sp>
        <p:nvSpPr>
          <p:cNvPr id="28" name="Rounded Rectangle 27"/>
          <p:cNvSpPr/>
          <p:nvPr/>
        </p:nvSpPr>
        <p:spPr>
          <a:xfrm>
            <a:off x="365760" y="5669280"/>
            <a:ext cx="8412480" cy="548640"/>
          </a:xfrm>
          <a:prstGeom prst="roundRect">
            <a:avLst>
              <a:gd name="adj" fmla="val 12000"/>
            </a:avLst>
          </a:prstGeom>
          <a:solidFill>
            <a:srgbClr val="FFFFFF"/>
          </a:solidFill>
          <a:ln w="15875">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wrap="square" lIns="36576" rIns="36576" tIns="36576" bIns="36576"/>
          <a:lstStyle/>
          <a:p>
            <a:pPr algn="ctr"/>
            <a:r>
              <a:rPr sz="1200" b="0" i="0">
                <a:solidFill>
                  <a:srgbClr val="595959"/>
                </a:solidFill>
                <a:latin typeface="Calibri"/>
              </a:rPr>
              <a:t>Single-node pseudo-distributed Hadoop 3.3.6, HDFS replication 1, 2 vCPU, 12.7 GB RAM (Colab run 2026-10-22); no multi-machine speed-up is claimed</a:t>
            </a:r>
          </a:p>
        </p:txBody>
      </p:sp>
      <p:sp>
        <p:nvSpPr>
          <p:cNvPr id="29" name="TextBox 28"/>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Big Data Platform &amp; HDFS Storage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9" cy="2560320"/>
        </p:xfrm>
        <a:graphic>
          <a:graphicData uri="http://schemas.openxmlformats.org/drawingml/2006/table">
            <a:tbl>
              <a:tblPr firstRow="1" bandRow="1">
                <a:tableStyleId>{5C22544A-7EE6-4342-B048-85BDC9FD1C3A}</a:tableStyleId>
              </a:tblPr>
              <a:tblGrid>
                <a:gridCol w="2704011"/>
                <a:gridCol w="4306388"/>
                <a:gridCol w="1402080"/>
              </a:tblGrid>
              <a:tr h="365760">
                <a:tc>
                  <a:txBody>
                    <a:bodyPr wrap="square"/>
                    <a:lstStyle/>
                    <a:p>
                      <a:pPr algn="l"/>
                      <a:r>
                        <a:rPr sz="1300" b="1" i="0">
                          <a:solidFill>
                            <a:srgbClr val="FFFFFF"/>
                          </a:solidFill>
                          <a:latin typeface="Calibri"/>
                        </a:rPr>
                        <a:t>HDFS zone</a:t>
                      </a:r>
                    </a:p>
                  </a:txBody>
                  <a:tcPr marL="54864" marR="54864" marT="27432" marB="27432" anchor="ctr">
                    <a:solidFill>
                      <a:srgbClr val="1B3A6B"/>
                    </a:solidFill>
                  </a:tcPr>
                </a:tc>
                <a:tc>
                  <a:txBody>
                    <a:bodyPr wrap="square"/>
                    <a:lstStyle/>
                    <a:p>
                      <a:pPr algn="ctr"/>
                      <a:r>
                        <a:rPr sz="1300" b="1" i="0">
                          <a:solidFill>
                            <a:srgbClr val="FFFFFF"/>
                          </a:solidFill>
                          <a:latin typeface="Calibri"/>
                        </a:rPr>
                        <a:t>Contents</a:t>
                      </a:r>
                    </a:p>
                  </a:txBody>
                  <a:tcPr marL="54864" marR="54864" marT="27432" marB="27432" anchor="ctr">
                    <a:solidFill>
                      <a:srgbClr val="1B3A6B"/>
                    </a:solidFill>
                  </a:tcPr>
                </a:tc>
                <a:tc>
                  <a:txBody>
                    <a:bodyPr wrap="square"/>
                    <a:lstStyle/>
                    <a:p>
                      <a:pPr algn="ctr"/>
                      <a:r>
                        <a:rPr sz="1300" b="1" i="0">
                          <a:solidFill>
                            <a:srgbClr val="FFFFFF"/>
                          </a:solidFill>
                          <a:latin typeface="Calibri"/>
                        </a:rPr>
                        <a:t>Size</a:t>
                      </a:r>
                    </a:p>
                  </a:txBody>
                  <a:tcPr marL="54864" marR="54864" marT="27432" marB="27432" anchor="ctr">
                    <a:solidFill>
                      <a:srgbClr val="1B3A6B"/>
                    </a:solidFill>
                  </a:tcPr>
                </a:tc>
              </a:tr>
              <a:tr h="365760">
                <a:tc>
                  <a:txBody>
                    <a:bodyPr wrap="square"/>
                    <a:lstStyle/>
                    <a:p>
                      <a:pPr algn="l"/>
                      <a:r>
                        <a:rPr sz="1300" b="1" i="0">
                          <a:solidFill>
                            <a:srgbClr val="1F1F1F"/>
                          </a:solidFill>
                          <a:latin typeface="Calibri"/>
                        </a:rPr>
                        <a:t>/project/raw/imd/rain</a:t>
                      </a:r>
                    </a:p>
                  </a:txBody>
                  <a:tcPr marL="54864" marR="54864" marT="27432" marB="27432" anchor="ctr">
                    <a:solidFill>
                      <a:srgbClr val="FFFFFF"/>
                    </a:solidFill>
                  </a:tcPr>
                </a:tc>
                <a:tc>
                  <a:txBody>
                    <a:bodyPr wrap="square"/>
                    <a:lstStyle/>
                    <a:p>
                      <a:pPr algn="ctr"/>
                      <a:r>
                        <a:rPr sz="1300" b="0" i="0">
                          <a:solidFill>
                            <a:srgbClr val="1F1F1F"/>
                          </a:solidFill>
                          <a:latin typeface="Calibri"/>
                        </a:rPr>
                        <a:t>30 yearly rainfall files (0.25° grid)</a:t>
                      </a:r>
                    </a:p>
                  </a:txBody>
                  <a:tcPr marL="54864" marR="54864" marT="27432" marB="27432" anchor="ctr">
                    <a:solidFill>
                      <a:srgbClr val="FFFFFF"/>
                    </a:solidFill>
                  </a:tcPr>
                </a:tc>
                <a:tc>
                  <a:txBody>
                    <a:bodyPr wrap="square"/>
                    <a:lstStyle/>
                    <a:p>
                      <a:pPr algn="ctr"/>
                      <a:r>
                        <a:rPr sz="1300" b="0" i="0">
                          <a:solidFill>
                            <a:srgbClr val="1F1F1F"/>
                          </a:solidFill>
                          <a:latin typeface="Calibri"/>
                        </a:rPr>
                        <a:t>763.3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/project/raw/imd/tmax, tmin</a:t>
                      </a:r>
                    </a:p>
                  </a:txBody>
                  <a:tcPr marL="54864" marR="54864" marT="27432" marB="27432" anchor="ctr">
                    <a:solidFill>
                      <a:srgbClr val="EEF2F8"/>
                    </a:solidFill>
                  </a:tcPr>
                </a:tc>
                <a:tc>
                  <a:txBody>
                    <a:bodyPr wrap="square"/>
                    <a:lstStyle/>
                    <a:p>
                      <a:pPr algn="ctr"/>
                      <a:r>
                        <a:rPr sz="1300" b="0" i="0">
                          <a:solidFill>
                            <a:srgbClr val="1F1F1F"/>
                          </a:solidFill>
                          <a:latin typeface="Calibri"/>
                        </a:rPr>
                        <a:t>60 temperature files (1° grid)</a:t>
                      </a:r>
                    </a:p>
                  </a:txBody>
                  <a:tcPr marL="54864" marR="54864" marT="27432" marB="27432" anchor="ctr">
                    <a:solidFill>
                      <a:srgbClr val="EEF2F8"/>
                    </a:solidFill>
                  </a:tcPr>
                </a:tc>
                <a:tc>
                  <a:txBody>
                    <a:bodyPr wrap="square"/>
                    <a:lstStyle/>
                    <a:p>
                      <a:pPr algn="ctr"/>
                      <a:r>
                        <a:rPr sz="1300" b="0" i="0">
                          <a:solidFill>
                            <a:srgbClr val="1F1F1F"/>
                          </a:solidFill>
                          <a:latin typeface="Calibri"/>
                        </a:rPr>
                        <a:t>84.2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/project/raw/sources</a:t>
                      </a:r>
                    </a:p>
                  </a:txBody>
                  <a:tcPr marL="54864" marR="54864" marT="27432" marB="27432" anchor="ctr">
                    <a:solidFill>
                      <a:srgbClr val="FFFFFF"/>
                    </a:solidFill>
                  </a:tcPr>
                </a:tc>
                <a:tc>
                  <a:txBody>
                    <a:bodyPr wrap="square"/>
                    <a:lstStyle/>
                    <a:p>
                      <a:pPr algn="ctr"/>
                      <a:r>
                        <a:rPr sz="1300" b="0" i="0">
                          <a:solidFill>
                            <a:srgbClr val="1F1F1F"/>
                          </a:solidFill>
                          <a:latin typeface="Calibri"/>
                        </a:rPr>
                        <a:t>NDAP, Census, boundaries</a:t>
                      </a:r>
                    </a:p>
                  </a:txBody>
                  <a:tcPr marL="54864" marR="54864" marT="27432" marB="27432" anchor="ctr">
                    <a:solidFill>
                      <a:srgbClr val="FFFFFF"/>
                    </a:solidFill>
                  </a:tcPr>
                </a:tc>
                <a:tc>
                  <a:txBody>
                    <a:bodyPr wrap="square"/>
                    <a:lstStyle/>
                    <a:p>
                      <a:pPr algn="ctr"/>
                      <a:r>
                        <a:rPr sz="1300" b="0" i="0">
                          <a:solidFill>
                            <a:srgbClr val="1F1F1F"/>
                          </a:solidFill>
                          <a:latin typeface="Calibri"/>
                        </a:rPr>
                        <a:t>11.5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/project/staging/district_day</a:t>
                      </a:r>
                    </a:p>
                  </a:txBody>
                  <a:tcPr marL="54864" marR="54864" marT="27432" marB="27432" anchor="ctr">
                    <a:solidFill>
                      <a:srgbClr val="EEF2F8"/>
                    </a:solidFill>
                  </a:tcPr>
                </a:tc>
                <a:tc>
                  <a:txBody>
                    <a:bodyPr wrap="square"/>
                    <a:lstStyle/>
                    <a:p>
                      <a:pPr algn="ctr"/>
                      <a:r>
                        <a:rPr sz="1300" b="0" i="0">
                          <a:solidFill>
                            <a:srgbClr val="1F1F1F"/>
                          </a:solidFill>
                          <a:latin typeface="Calibri"/>
                        </a:rPr>
                        <a:t>7,013,120 district-day rows</a:t>
                      </a:r>
                    </a:p>
                  </a:txBody>
                  <a:tcPr marL="54864" marR="54864" marT="27432" marB="27432" anchor="ctr">
                    <a:solidFill>
                      <a:srgbClr val="EEF2F8"/>
                    </a:solidFill>
                  </a:tcPr>
                </a:tc>
                <a:tc>
                  <a:txBody>
                    <a:bodyPr wrap="square"/>
                    <a:lstStyle/>
                    <a:p>
                      <a:pPr algn="ctr"/>
                      <a:r>
                        <a:rPr sz="1300" b="0" i="0">
                          <a:solidFill>
                            <a:srgbClr val="1F1F1F"/>
                          </a:solidFill>
                          <a:latin typeface="Calibri"/>
                        </a:rPr>
                        <a:t>222.8 MB</a:t>
                      </a:r>
                    </a:p>
                  </a:txBody>
                  <a:tcPr marL="54864" marR="54864" marT="27432" marB="27432" anchor="ctr">
                    <a:solidFill>
                      <a:srgbClr val="EEF2F8"/>
                    </a:solidFill>
                  </a:tcPr>
                </a:tc>
              </a:tr>
              <a:tr h="365760">
                <a:tc>
                  <a:txBody>
                    <a:bodyPr wrap="square"/>
                    <a:lstStyle/>
                    <a:p>
                      <a:pPr algn="l"/>
                      <a:r>
                        <a:rPr sz="1300" b="1" i="0">
                          <a:solidFill>
                            <a:srgbClr val="1F1F1F"/>
                          </a:solidFill>
                          <a:latin typeface="Calibri"/>
                        </a:rPr>
                        <a:t>/project/processed</a:t>
                      </a:r>
                    </a:p>
                  </a:txBody>
                  <a:tcPr marL="54864" marR="54864" marT="27432" marB="27432" anchor="ctr">
                    <a:solidFill>
                      <a:srgbClr val="FFFFFF"/>
                    </a:solidFill>
                  </a:tcPr>
                </a:tc>
                <a:tc>
                  <a:txBody>
                    <a:bodyPr wrap="square"/>
                    <a:lstStyle/>
                    <a:p>
                      <a:pPr algn="ctr"/>
                      <a:r>
                        <a:rPr sz="1300" b="0" i="0">
                          <a:solidFill>
                            <a:srgbClr val="1F1F1F"/>
                          </a:solidFill>
                          <a:latin typeface="Calibri"/>
                        </a:rPr>
                        <a:t>MapReduce, Hive, Spark outputs</a:t>
                      </a:r>
                    </a:p>
                  </a:txBody>
                  <a:tcPr marL="54864" marR="54864" marT="27432" marB="27432" anchor="ctr">
                    <a:solidFill>
                      <a:srgbClr val="FFFFFF"/>
                    </a:solidFill>
                  </a:tcPr>
                </a:tc>
                <a:tc>
                  <a:txBody>
                    <a:bodyPr wrap="square"/>
                    <a:lstStyle/>
                    <a:p>
                      <a:pPr algn="ctr"/>
                      <a:r>
                        <a:rPr sz="1300" b="0" i="0">
                          <a:solidFill>
                            <a:srgbClr val="1F1F1F"/>
                          </a:solidFill>
                          <a:latin typeface="Calibri"/>
                        </a:rPr>
                        <a:t>1.3 MB</a:t>
                      </a:r>
                    </a:p>
                  </a:txBody>
                  <a:tcPr marL="54864" marR="54864" marT="27432" marB="27432" anchor="ctr">
                    <a:solidFill>
                      <a:srgbClr val="FFFFFF"/>
                    </a:solidFill>
                  </a:tcPr>
                </a:tc>
              </a:tr>
              <a:tr h="365760">
                <a:tc>
                  <a:txBody>
                    <a:bodyPr wrap="square"/>
                    <a:lstStyle/>
                    <a:p>
                      <a:pPr algn="l"/>
                      <a:r>
                        <a:rPr sz="1300" b="1" i="0">
                          <a:solidFill>
                            <a:srgbClr val="1F1F1F"/>
                          </a:solidFill>
                          <a:latin typeface="Calibri"/>
                        </a:rPr>
                        <a:t>Total</a:t>
                      </a:r>
                    </a:p>
                  </a:txBody>
                  <a:tcPr marL="54864" marR="54864" marT="27432" marB="27432" anchor="ctr">
                    <a:solidFill>
                      <a:srgbClr val="FFF4CC"/>
                    </a:solidFill>
                  </a:tcPr>
                </a:tc>
                <a:tc>
                  <a:txBody>
                    <a:bodyPr wrap="square"/>
                    <a:lstStyle/>
                    <a:p>
                      <a:pPr algn="ctr"/>
                      <a:r>
                        <a:rPr sz="1300" b="1" i="0">
                          <a:solidFill>
                            <a:srgbClr val="1F1F1F"/>
                          </a:solidFill>
                          <a:latin typeface="Calibri"/>
                        </a:rPr>
                        <a:t>measured with hdfs dfs -du (Colab run 2026-10-22)</a:t>
                      </a:r>
                    </a:p>
                  </a:txBody>
                  <a:tcPr marL="54864" marR="54864" marT="27432" marB="27432" anchor="ctr">
                    <a:solidFill>
                      <a:srgbClr val="FFF4CC"/>
                    </a:solidFill>
                  </a:tcPr>
                </a:tc>
                <a:tc>
                  <a:txBody>
                    <a:bodyPr wrap="square"/>
                    <a:lstStyle/>
                    <a:p>
                      <a:pPr algn="ctr"/>
                      <a:r>
                        <a:rPr sz="1300" b="1" i="0">
                          <a:solidFill>
                            <a:srgbClr val="1F1F1F"/>
                          </a:solidFill>
                          <a:latin typeface="Calibri"/>
                        </a:rPr>
                        <a:t>1.08 GB</a:t>
                      </a:r>
                    </a:p>
                  </a:txBody>
                  <a:tcPr marL="54864" marR="54864" marT="27432" marB="27432" anchor="ctr">
                    <a:solidFill>
                      <a:srgbClr val="FFF4CC"/>
                    </a:solidFill>
                  </a:tcPr>
                </a:tc>
              </a:tr>
            </a:tbl>
          </a:graphicData>
        </a:graphic>
      </p:graphicFrame>
      <p:graphicFrame>
        <p:nvGraphicFramePr>
          <p:cNvPr id="5" name="Table 4"/>
          <p:cNvGraphicFramePr>
            <a:graphicFrameLocks noGrp="1"/>
          </p:cNvGraphicFramePr>
          <p:nvPr/>
        </p:nvGraphicFramePr>
        <p:xfrm>
          <a:off x="365760" y="3977639"/>
          <a:ext cx="8412477" cy="1234440"/>
        </p:xfrm>
        <a:graphic>
          <a:graphicData uri="http://schemas.openxmlformats.org/drawingml/2006/table">
            <a:tbl>
              <a:tblPr firstRow="1" bandRow="1">
                <a:tableStyleId>{5C22544A-7EE6-4342-B048-85BDC9FD1C3A}</a:tableStyleId>
              </a:tblPr>
              <a:tblGrid>
                <a:gridCol w="822959"/>
                <a:gridCol w="3291839"/>
                <a:gridCol w="4297679"/>
              </a:tblGrid>
              <a:tr h="411480">
                <a:tc>
                  <a:txBody>
                    <a:bodyPr wrap="square"/>
                    <a:lstStyle/>
                    <a:p>
                      <a:pPr algn="l"/>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does / purpose</a:t>
                      </a:r>
                    </a:p>
                  </a:txBody>
                  <a:tcPr marL="54864" marR="54864" marT="27432" marB="27432" anchor="ctr">
                    <a:solidFill>
                      <a:srgbClr val="1B3A6B"/>
                    </a:solidFill>
                  </a:tcPr>
                </a:tc>
                <a:tc>
                  <a:txBody>
                    <a:bodyPr wrap="square"/>
                    <a:lstStyle/>
                    <a:p>
                      <a:pPr algn="ctr"/>
                      <a:r>
                        <a:rPr sz="1200" b="1" i="0">
                          <a:solidFill>
                            <a:srgbClr val="FFFFFF"/>
                          </a:solidFill>
                          <a:latin typeface="Calibri"/>
                        </a:rPr>
                        <a:t>Why chosen</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HDFS</a:t>
                      </a:r>
                    </a:p>
                  </a:txBody>
                  <a:tcPr marL="54864" marR="54864" marT="27432" marB="27432" anchor="ctr">
                    <a:solidFill>
                      <a:srgbClr val="FFFFFF"/>
                    </a:solidFill>
                  </a:tcPr>
                </a:tc>
                <a:tc>
                  <a:txBody>
                    <a:bodyPr wrap="square"/>
                    <a:lstStyle/>
                    <a:p>
                      <a:pPr algn="ctr"/>
                      <a:r>
                        <a:rPr sz="1200" b="0" i="0">
                          <a:solidFill>
                            <a:srgbClr val="1F1F1F"/>
                          </a:solidFill>
                          <a:latin typeface="Calibri"/>
                        </a:rPr>
                        <a:t>Central store for raw, staging and processed zones</a:t>
                      </a:r>
                    </a:p>
                  </a:txBody>
                  <a:tcPr marL="54864" marR="54864" marT="27432" marB="27432" anchor="ctr">
                    <a:solidFill>
                      <a:srgbClr val="FFFFFF"/>
                    </a:solidFill>
                  </a:tcPr>
                </a:tc>
                <a:tc>
                  <a:txBody>
                    <a:bodyPr wrap="square"/>
                    <a:lstStyle/>
                    <a:p>
                      <a:pPr algn="ctr"/>
                      <a:r>
                        <a:rPr sz="1200" b="0" i="0">
                          <a:solidFill>
                            <a:srgbClr val="1F1F1F"/>
                          </a:solidFill>
                          <a:latin typeface="Calibri"/>
                        </a:rPr>
                        <a:t>128 MB blocks for parallel jobs; read directly by MapReduce, Hive, Spark</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YARN</a:t>
                      </a:r>
                    </a:p>
                  </a:txBody>
                  <a:tcPr marL="54864" marR="54864" marT="27432" marB="27432" anchor="ctr">
                    <a:solidFill>
                      <a:srgbClr val="EEF2F8"/>
                    </a:solidFill>
                  </a:tcPr>
                </a:tc>
                <a:tc>
                  <a:txBody>
                    <a:bodyPr wrap="square"/>
                    <a:lstStyle/>
                    <a:p>
                      <a:pPr algn="ctr"/>
                      <a:r>
                        <a:rPr sz="1200" b="0" i="0">
                          <a:solidFill>
                            <a:srgbClr val="1F1F1F"/>
                          </a:solidFill>
                          <a:latin typeface="Calibri"/>
                        </a:rPr>
                        <a:t>Allocates CPU / memory and runs MapReduce tasks</a:t>
                      </a:r>
                    </a:p>
                  </a:txBody>
                  <a:tcPr marL="54864" marR="54864" marT="27432" marB="27432" anchor="ctr">
                    <a:solidFill>
                      <a:srgbClr val="EEF2F8"/>
                    </a:solidFill>
                  </a:tcPr>
                </a:tc>
                <a:tc>
                  <a:txBody>
                    <a:bodyPr wrap="square"/>
                    <a:lstStyle/>
                    <a:p>
                      <a:pPr algn="ctr"/>
                      <a:r>
                        <a:rPr sz="1200" b="0" i="0">
                          <a:solidFill>
                            <a:srgbClr val="1F1F1F"/>
                          </a:solidFill>
                          <a:latin typeface="Calibri"/>
                        </a:rPr>
                        <a:t>Hadoop's standard scheduler for MapReduce</a:t>
                      </a:r>
                    </a:p>
                  </a:txBody>
                  <a:tcPr marL="54864" marR="54864" marT="27432" marB="27432" anchor="ctr">
                    <a:solidFill>
                      <a:srgbClr val="EEF2F8"/>
                    </a:solidFill>
                  </a:tcPr>
                </a:tc>
              </a:tr>
            </a:tbl>
          </a:graphicData>
        </a:graphic>
      </p:graphicFrame>
      <p:sp>
        <p:nvSpPr>
          <p:cNvPr id="6" name="TextBox 5"/>
          <p:cNvSpPr txBox="1"/>
          <p:nvPr/>
        </p:nvSpPr>
        <p:spPr>
          <a:xfrm>
            <a:off x="365760" y="5349240"/>
            <a:ext cx="8412480" cy="1005840"/>
          </a:xfrm>
          <a:prstGeom prst="rect">
            <a:avLst/>
          </a:prstGeom>
          <a:noFill/>
        </p:spPr>
        <p:txBody>
          <a:bodyPr wrap="square" lIns="45720" rIns="45720">
            <a:spAutoFit/>
          </a:bodyPr>
          <a:lstStyle/>
          <a:p>
            <a:pPr>
              <a:spcAft>
                <a:spcPts val="200"/>
              </a:spcAft>
            </a:pPr>
            <a:r>
              <a:rPr sz="1500" b="0" i="0">
                <a:solidFill>
                  <a:srgbClr val="0E6E6E"/>
                </a:solidFill>
                <a:latin typeface="Calibri"/>
              </a:rPr>
              <a:t>▪  </a:t>
            </a:r>
            <a:r>
              <a:rPr sz="1500" b="0" i="0">
                <a:solidFill>
                  <a:srgbClr val="1F1F1F"/>
                </a:solidFill>
                <a:latin typeface="Calibri"/>
              </a:rPr>
              <a:t>Hadoop 3.3.6 + YARN, Hive 3.1.3, Spark (pyspark), Java 8 (Hive 3.1.3 fails on Java 11)</a:t>
            </a:r>
          </a:p>
          <a:p>
            <a:pPr>
              <a:spcAft>
                <a:spcPts val="200"/>
              </a:spcAft>
            </a:pPr>
            <a:r>
              <a:rPr sz="1500" b="0" i="0">
                <a:solidFill>
                  <a:srgbClr val="0E6E6E"/>
                </a:solidFill>
                <a:latin typeface="Calibri"/>
              </a:rPr>
              <a:t>▪  </a:t>
            </a:r>
            <a:r>
              <a:rPr sz="1500" b="0" i="0">
                <a:solidFill>
                  <a:srgbClr val="1F1F1F"/>
                </a:solidFill>
                <a:latin typeface="Calibri"/>
              </a:rPr>
              <a:t>Daemons started directly (Colab has no SSH); replication 1, block size 128 MB</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Big Data Processing: MapReduce, Hive, Spark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950208"/>
        </p:xfrm>
        <a:graphic>
          <a:graphicData uri="http://schemas.openxmlformats.org/drawingml/2006/table">
            <a:tbl>
              <a:tblPr firstRow="1" bandRow="1">
                <a:tableStyleId>{5C22544A-7EE6-4342-B048-85BDC9FD1C3A}</a:tableStyleId>
              </a:tblPr>
              <a:tblGrid>
                <a:gridCol w="1600200"/>
                <a:gridCol w="1600200"/>
                <a:gridCol w="1828800"/>
                <a:gridCol w="1600200"/>
                <a:gridCol w="1783080"/>
              </a:tblGrid>
              <a:tr h="658368">
                <a:tc>
                  <a:txBody>
                    <a:bodyPr wrap="square"/>
                    <a:lstStyle/>
                    <a:p>
                      <a:pPr algn="l"/>
                      <a:r>
                        <a:rPr sz="1200" b="1" i="0">
                          <a:solidFill>
                            <a:srgbClr val="FFFFFF"/>
                          </a:solidFill>
                          <a:latin typeface="Calibri"/>
                        </a:rPr>
                        <a:t>Job</a:t>
                      </a:r>
                    </a:p>
                  </a:txBody>
                  <a:tcPr marL="54864" marR="54864" marT="27432" marB="27432" anchor="ctr">
                    <a:solidFill>
                      <a:srgbClr val="1B3A6B"/>
                    </a:solidFill>
                  </a:tcPr>
                </a:tc>
                <a:tc>
                  <a:txBody>
                    <a:bodyPr wrap="square"/>
                    <a:lstStyle/>
                    <a:p>
                      <a:pPr algn="ctr"/>
                      <a:r>
                        <a:rPr sz="1200" b="1" i="0">
                          <a:solidFill>
                            <a:srgbClr val="FFFFFF"/>
                          </a:solidFill>
                          <a:latin typeface="Calibri"/>
                        </a:rPr>
                        <a:t>Input</a:t>
                      </a:r>
                    </a:p>
                  </a:txBody>
                  <a:tcPr marL="54864" marR="54864" marT="27432" marB="27432" anchor="ctr">
                    <a:solidFill>
                      <a:srgbClr val="1B3A6B"/>
                    </a:solidFill>
                  </a:tcPr>
                </a:tc>
                <a:tc>
                  <a:txBody>
                    <a:bodyPr wrap="square"/>
                    <a:lstStyle/>
                    <a:p>
                      <a:pPr algn="ctr"/>
                      <a:r>
                        <a:rPr sz="1200" b="1" i="0">
                          <a:solidFill>
                            <a:srgbClr val="FFFFFF"/>
                          </a:solidFill>
                          <a:latin typeface="Calibri"/>
                        </a:rPr>
                        <a:t>Output</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c>
                  <a:txBody>
                    <a:bodyPr wrap="square"/>
                    <a:lstStyle/>
                    <a:p>
                      <a:pPr algn="ctr"/>
                      <a:r>
                        <a:rPr sz="1200" b="1" i="0">
                          <a:solidFill>
                            <a:srgbClr val="FFFFFF"/>
                          </a:solidFill>
                          <a:latin typeface="Calibri"/>
                        </a:rPr>
                        <a:t>Why this tool</a:t>
                      </a:r>
                    </a:p>
                  </a:txBody>
                  <a:tcPr marL="54864" marR="54864" marT="27432" marB="27432" anchor="ctr">
                    <a:solidFill>
                      <a:srgbClr val="1B3A6B"/>
                    </a:solidFill>
                  </a:tcPr>
                </a:tc>
              </a:tr>
              <a:tr h="658368">
                <a:tc>
                  <a:txBody>
                    <a:bodyPr wrap="square"/>
                    <a:lstStyle/>
                    <a:p>
                      <a:pPr algn="l"/>
                      <a:r>
                        <a:rPr sz="1200" b="1" i="0">
                          <a:solidFill>
                            <a:srgbClr val="1F1F1F"/>
                          </a:solidFill>
                          <a:latin typeface="Calibri"/>
                        </a:rPr>
                        <a:t>MapReduce (Hadoop Streaming)</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district-day rows</a:t>
                      </a:r>
                    </a:p>
                  </a:txBody>
                  <a:tcPr marL="54864" marR="54864" marT="27432" marB="27432" anchor="ctr">
                    <a:solidFill>
                      <a:srgbClr val="FFFFFF"/>
                    </a:solidFill>
                  </a:tcPr>
                </a:tc>
                <a:tc>
                  <a:txBody>
                    <a:bodyPr wrap="square"/>
                    <a:lstStyle/>
                    <a:p>
                      <a:pPr algn="ctr"/>
                      <a:r>
                        <a:rPr sz="1200" b="0" i="0">
                          <a:solidFill>
                            <a:srgbClr val="1F1F1F"/>
                          </a:solidFill>
                          <a:latin typeface="Calibri"/>
                        </a:rPr>
                        <a:t>19,200 district-year rows, 7 indices</a:t>
                      </a:r>
                    </a:p>
                  </a:txBody>
                  <a:tcPr marL="54864" marR="54864" marT="27432" marB="27432" anchor="ctr">
                    <a:solidFill>
                      <a:srgbClr val="FFFFFF"/>
                    </a:solidFill>
                  </a:tcPr>
                </a:tc>
                <a:tc>
                  <a:txBody>
                    <a:bodyPr wrap="square"/>
                    <a:lstStyle/>
                    <a:p>
                      <a:pPr algn="ctr"/>
                      <a:r>
                        <a:rPr sz="1200" b="0" i="0">
                          <a:solidFill>
                            <a:srgbClr val="1F1F1F"/>
                          </a:solidFill>
                          <a:latin typeface="Calibri"/>
                        </a:rPr>
                        <a:t>333 s (30 years)</a:t>
                      </a:r>
                    </a:p>
                  </a:txBody>
                  <a:tcPr marL="54864" marR="54864" marT="27432" marB="27432" anchor="ctr">
                    <a:solidFill>
                      <a:srgbClr val="FFFFFF"/>
                    </a:solidFill>
                  </a:tcPr>
                </a:tc>
                <a:tc>
                  <a:txBody>
                    <a:bodyPr wrap="square"/>
                    <a:lstStyle/>
                    <a:p>
                      <a:pPr algn="ctr"/>
                      <a:r>
                        <a:rPr sz="1200" b="0" i="0">
                          <a:solidFill>
                            <a:srgbClr val="1F1F1F"/>
                          </a:solidFill>
                          <a:latin typeface="Calibri"/>
                        </a:rPr>
                        <a:t>Work splits by (district, year)</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MapReduce scalability</a:t>
                      </a:r>
                    </a:p>
                  </a:txBody>
                  <a:tcPr marL="54864" marR="54864" marT="27432" marB="27432" anchor="ctr">
                    <a:solidFill>
                      <a:srgbClr val="EEF2F8"/>
                    </a:solidFill>
                  </a:tcPr>
                </a:tc>
                <a:tc>
                  <a:txBody>
                    <a:bodyPr wrap="square"/>
                    <a:lstStyle/>
                    <a:p>
                      <a:pPr algn="ctr"/>
                      <a:r>
                        <a:rPr sz="1200" b="0" i="0">
                          <a:solidFill>
                            <a:srgbClr val="1F1F1F"/>
                          </a:solidFill>
                          <a:latin typeface="Calibri"/>
                        </a:rPr>
                        <a:t>1 / 10 / 30 years</a:t>
                      </a:r>
                    </a:p>
                  </a:txBody>
                  <a:tcPr marL="54864" marR="54864" marT="27432" marB="27432" anchor="ctr">
                    <a:solidFill>
                      <a:srgbClr val="EEF2F8"/>
                    </a:solidFill>
                  </a:tcPr>
                </a:tc>
                <a:tc>
                  <a:txBody>
                    <a:bodyPr wrap="square"/>
                    <a:lstStyle/>
                    <a:p>
                      <a:pPr algn="ctr"/>
                      <a:r>
                        <a:rPr sz="1200" b="0" i="0">
                          <a:solidFill>
                            <a:srgbClr val="1F1F1F"/>
                          </a:solidFill>
                          <a:latin typeface="Calibri"/>
                        </a:rPr>
                        <a:t>640 / 6,400 / 19,200 rows</a:t>
                      </a:r>
                    </a:p>
                  </a:txBody>
                  <a:tcPr marL="54864" marR="54864" marT="27432" marB="27432" anchor="ctr">
                    <a:solidFill>
                      <a:srgbClr val="EEF2F8"/>
                    </a:solidFill>
                  </a:tcPr>
                </a:tc>
                <a:tc>
                  <a:txBody>
                    <a:bodyPr wrap="square"/>
                    <a:lstStyle/>
                    <a:p>
                      <a:pPr algn="ctr"/>
                      <a:r>
                        <a:rPr sz="1200" b="0" i="0">
                          <a:solidFill>
                            <a:srgbClr val="1F1F1F"/>
                          </a:solidFill>
                          <a:latin typeface="Calibri"/>
                        </a:rPr>
                        <a:t>55 s / 140 s / 333 s</a:t>
                      </a:r>
                    </a:p>
                  </a:txBody>
                  <a:tcPr marL="54864" marR="54864" marT="27432" marB="27432" anchor="ctr">
                    <a:solidFill>
                      <a:srgbClr val="EEF2F8"/>
                    </a:solidFill>
                  </a:tcPr>
                </a:tc>
                <a:tc>
                  <a:txBody>
                    <a:bodyPr wrap="square"/>
                    <a:lstStyle/>
                    <a:p>
                      <a:pPr algn="ctr"/>
                      <a:r>
                        <a:rPr sz="1200" b="0" i="0">
                          <a:solidFill>
                            <a:srgbClr val="1F1F1F"/>
                          </a:solidFill>
                          <a:latin typeface="Calibri"/>
                        </a:rPr>
                        <a:t>Measures throughput, 2 repeats</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Hive baseline + join</a:t>
                      </a:r>
                    </a:p>
                  </a:txBody>
                  <a:tcPr marL="54864" marR="54864" marT="27432" marB="27432" anchor="ctr">
                    <a:solidFill>
                      <a:srgbClr val="FFFFFF"/>
                    </a:solidFill>
                  </a:tcPr>
                </a:tc>
                <a:tc>
                  <a:txBody>
                    <a:bodyPr wrap="square"/>
                    <a:lstStyle/>
                    <a:p>
                      <a:pPr algn="ctr"/>
                      <a:r>
                        <a:rPr sz="1200" b="0" i="0">
                          <a:solidFill>
                            <a:srgbClr val="1F1F1F"/>
                          </a:solidFill>
                          <a:latin typeface="Calibri"/>
                        </a:rPr>
                        <a:t>19,200 rows + dev table</a:t>
                      </a:r>
                    </a:p>
                  </a:txBody>
                  <a:tcPr marL="54864" marR="54864" marT="27432" marB="27432" anchor="ctr">
                    <a:solidFill>
                      <a:srgbClr val="FFFFFF"/>
                    </a:solidFill>
                  </a:tcPr>
                </a:tc>
                <a:tc>
                  <a:txBody>
                    <a:bodyPr wrap="square"/>
                    <a:lstStyle/>
                    <a:p>
                      <a:pPr algn="ctr"/>
                      <a:r>
                        <a:rPr sz="1200" b="0" i="0">
                          <a:solidFill>
                            <a:srgbClr val="1F1F1F"/>
                          </a:solidFill>
                          <a:latin typeface="Calibri"/>
                        </a:rPr>
                        <a:t>469-district table, 8 hazard vars</a:t>
                      </a:r>
                    </a:p>
                  </a:txBody>
                  <a:tcPr marL="54864" marR="54864" marT="27432" marB="27432" anchor="ctr">
                    <a:solidFill>
                      <a:srgbClr val="FFFFFF"/>
                    </a:solidFill>
                  </a:tcPr>
                </a:tc>
                <a:tc>
                  <a:txBody>
                    <a:bodyPr wrap="square"/>
                    <a:lstStyle/>
                    <a:p>
                      <a:pPr algn="ctr"/>
                      <a:r>
                        <a:rPr sz="1200" b="0" i="0">
                          <a:solidFill>
                            <a:srgbClr val="1F1F1F"/>
                          </a:solidFill>
                          <a:latin typeface="Calibri"/>
                        </a:rPr>
                        <a:t>identical to pandas (max diff 0.0)</a:t>
                      </a:r>
                    </a:p>
                  </a:txBody>
                  <a:tcPr marL="54864" marR="54864" marT="27432" marB="27432" anchor="ctr">
                    <a:solidFill>
                      <a:srgbClr val="FFFFFF"/>
                    </a:solidFill>
                  </a:tcPr>
                </a:tc>
                <a:tc>
                  <a:txBody>
                    <a:bodyPr wrap="square"/>
                    <a:lstStyle/>
                    <a:p>
                      <a:pPr algn="ctr"/>
                      <a:r>
                        <a:rPr sz="1200" b="0" i="0">
                          <a:solidFill>
                            <a:srgbClr val="1F1F1F"/>
                          </a:solidFill>
                          <a:latin typeface="Calibri"/>
                        </a:rPr>
                        <a:t>Averages + joins are SQL</a:t>
                      </a:r>
                    </a:p>
                  </a:txBody>
                  <a:tcPr marL="54864" marR="54864" marT="27432" marB="27432" anchor="ctr">
                    <a:solidFill>
                      <a:srgbClr val="FFFFFF"/>
                    </a:solidFill>
                  </a:tcPr>
                </a:tc>
              </a:tr>
              <a:tr h="658368">
                <a:tc>
                  <a:txBody>
                    <a:bodyPr wrap="square"/>
                    <a:lstStyle/>
                    <a:p>
                      <a:pPr algn="l"/>
                      <a:r>
                        <a:rPr sz="1200" b="1" i="0">
                          <a:solidFill>
                            <a:srgbClr val="1F1F1F"/>
                          </a:solidFill>
                          <a:latin typeface="Calibri"/>
                        </a:rPr>
                        <a:t>Spark k-means</a:t>
                      </a:r>
                    </a:p>
                  </a:txBody>
                  <a:tcPr marL="54864" marR="54864" marT="27432" marB="27432" anchor="ctr">
                    <a:solidFill>
                      <a:srgbClr val="EEF2F8"/>
                    </a:solidFill>
                  </a:tcPr>
                </a:tc>
                <a:tc>
                  <a:txBody>
                    <a:bodyPr wrap="square"/>
                    <a:lstStyle/>
                    <a:p>
                      <a:pPr algn="ctr"/>
                      <a:r>
                        <a:rPr sz="1200" b="0" i="0">
                          <a:solidFill>
                            <a:srgbClr val="1F1F1F"/>
                          </a:solidFill>
                          <a:latin typeface="Calibri"/>
                        </a:rPr>
                        <a:t>8 hazard vars</a:t>
                      </a:r>
                    </a:p>
                  </a:txBody>
                  <a:tcPr marL="54864" marR="54864" marT="27432" marB="27432" anchor="ctr">
                    <a:solidFill>
                      <a:srgbClr val="EEF2F8"/>
                    </a:solidFill>
                  </a:tcPr>
                </a:tc>
                <a:tc>
                  <a:txBody>
                    <a:bodyPr wrap="square"/>
                    <a:lstStyle/>
                    <a:p>
                      <a:pPr algn="ctr"/>
                      <a:r>
                        <a:rPr sz="1200" b="0" i="0">
                          <a:solidFill>
                            <a:srgbClr val="1F1F1F"/>
                          </a:solidFill>
                          <a:latin typeface="Calibri"/>
                        </a:rPr>
                        <a:t>climate regimes (k by silhouette)</a:t>
                      </a:r>
                    </a:p>
                  </a:txBody>
                  <a:tcPr marL="54864" marR="54864" marT="27432" marB="27432" anchor="ctr">
                    <a:solidFill>
                      <a:srgbClr val="EEF2F8"/>
                    </a:solidFill>
                  </a:tcPr>
                </a:tc>
                <a:tc>
                  <a:txBody>
                    <a:bodyPr wrap="square"/>
                    <a:lstStyle/>
                    <a:p>
                      <a:pPr algn="ctr"/>
                      <a:r>
                        <a:rPr sz="1200" b="0" i="0">
                          <a:solidFill>
                            <a:srgbClr val="1F1F1F"/>
                          </a:solidFill>
                          <a:latin typeface="Calibri"/>
                        </a:rPr>
                        <a:t>k = 2, silhouette 0.651</a:t>
                      </a:r>
                    </a:p>
                  </a:txBody>
                  <a:tcPr marL="54864" marR="54864" marT="27432" marB="27432" anchor="ctr">
                    <a:solidFill>
                      <a:srgbClr val="EEF2F8"/>
                    </a:solidFill>
                  </a:tcPr>
                </a:tc>
                <a:tc>
                  <a:txBody>
                    <a:bodyPr wrap="square"/>
                    <a:lstStyle/>
                    <a:p>
                      <a:pPr algn="ctr"/>
                      <a:r>
                        <a:rPr sz="1200" b="0" i="0">
                          <a:solidFill>
                            <a:srgbClr val="1F1F1F"/>
                          </a:solidFill>
                          <a:latin typeface="Calibri"/>
                        </a:rPr>
                        <a:t>In-memory iterative algorithm</a:t>
                      </a:r>
                    </a:p>
                  </a:txBody>
                  <a:tcPr marL="54864" marR="54864" marT="27432" marB="27432" anchor="ctr">
                    <a:solidFill>
                      <a:srgbClr val="EEF2F8"/>
                    </a:solidFill>
                  </a:tcPr>
                </a:tc>
              </a:tr>
              <a:tr h="658368">
                <a:tc>
                  <a:txBody>
                    <a:bodyPr wrap="square"/>
                    <a:lstStyle/>
                    <a:p>
                      <a:pPr algn="l"/>
                      <a:r>
                        <a:rPr sz="1200" b="1" i="0">
                          <a:solidFill>
                            <a:srgbClr val="1F1F1F"/>
                          </a:solidFill>
                          <a:latin typeface="Calibri"/>
                        </a:rPr>
                        <a:t>MapReduce correctness</a:t>
                      </a:r>
                    </a:p>
                  </a:txBody>
                  <a:tcPr marL="54864" marR="54864" marT="27432" marB="27432" anchor="ctr">
                    <a:solidFill>
                      <a:srgbClr val="FFFFFF"/>
                    </a:solidFill>
                  </a:tcPr>
                </a:tc>
                <a:tc>
                  <a:txBody>
                    <a:bodyPr wrap="square"/>
                    <a:lstStyle/>
                    <a:p>
                      <a:pPr algn="ctr"/>
                      <a:r>
                        <a:rPr sz="1200" b="0" i="0">
                          <a:solidFill>
                            <a:srgbClr val="1F1F1F"/>
                          </a:solidFill>
                          <a:latin typeface="Calibri"/>
                        </a:rPr>
                        <a:t>same district-days</a:t>
                      </a:r>
                    </a:p>
                  </a:txBody>
                  <a:tcPr marL="54864" marR="54864" marT="27432" marB="27432" anchor="ctr">
                    <a:solidFill>
                      <a:srgbClr val="FFFFFF"/>
                    </a:solidFill>
                  </a:tcPr>
                </a:tc>
                <a:tc>
                  <a:txBody>
                    <a:bodyPr wrap="square"/>
                    <a:lstStyle/>
                    <a:p>
                      <a:pPr algn="ctr"/>
                      <a:r>
                        <a:rPr sz="1200" b="0" i="0">
                          <a:solidFill>
                            <a:srgbClr val="1F1F1F"/>
                          </a:solidFill>
                          <a:latin typeface="Calibri"/>
                        </a:rPr>
                        <a:t>7 indices recomputed in pandas</a:t>
                      </a:r>
                    </a:p>
                  </a:txBody>
                  <a:tcPr marL="54864" marR="54864" marT="27432" marB="27432" anchor="ctr">
                    <a:solidFill>
                      <a:srgbClr val="FFFFFF"/>
                    </a:solidFill>
                  </a:tcPr>
                </a:tc>
                <a:tc>
                  <a:txBody>
                    <a:bodyPr wrap="square"/>
                    <a:lstStyle/>
                    <a:p>
                      <a:pPr algn="ctr"/>
                      <a:r>
                        <a:rPr sz="1200" b="0" i="0">
                          <a:solidFill>
                            <a:srgbClr val="1F1F1F"/>
                          </a:solidFill>
                          <a:latin typeface="Calibri"/>
                        </a:rPr>
                        <a:t>RMSE ≤ 0.0029, MAE ≤ 0.0025</a:t>
                      </a:r>
                    </a:p>
                  </a:txBody>
                  <a:tcPr marL="54864" marR="54864" marT="27432" marB="27432" anchor="ctr">
                    <a:solidFill>
                      <a:srgbClr val="FFFFFF"/>
                    </a:solidFill>
                  </a:tcPr>
                </a:tc>
                <a:tc>
                  <a:txBody>
                    <a:bodyPr wrap="square"/>
                    <a:lstStyle/>
                    <a:p>
                      <a:pPr algn="ctr"/>
                      <a:r>
                        <a:rPr sz="1200" b="0" i="0">
                          <a:solidFill>
                            <a:srgbClr val="1F1F1F"/>
                          </a:solidFill>
                          <a:latin typeface="Calibri"/>
                        </a:rPr>
                        <a:t>Independent check of the job</a:t>
                      </a:r>
                    </a:p>
                  </a:txBody>
                  <a:tcPr marL="54864" marR="54864" marT="27432" marB="27432" anchor="ctr">
                    <a:solidFill>
                      <a:srgbClr val="FFFFFF"/>
                    </a:solidFill>
                  </a:tcPr>
                </a:tc>
              </a:tr>
            </a:tbl>
          </a:graphicData>
        </a:graphic>
      </p:graphicFrame>
      <p:sp>
        <p:nvSpPr>
          <p:cNvPr id="5" name="TextBox 4"/>
          <p:cNvSpPr txBox="1"/>
          <p:nvPr/>
        </p:nvSpPr>
        <p:spPr>
          <a:xfrm>
            <a:off x="365760" y="5349240"/>
            <a:ext cx="8412480" cy="822960"/>
          </a:xfrm>
          <a:prstGeom prst="rect">
            <a:avLst/>
          </a:prstGeom>
          <a:noFill/>
        </p:spPr>
        <p:txBody>
          <a:bodyPr wrap="square" anchor="t" lIns="45720" rIns="45720">
            <a:spAutoFit/>
          </a:bodyPr>
          <a:lstStyle/>
          <a:p>
            <a:pPr algn="l"/>
            <a:r>
              <a:rPr sz="1300" b="0" i="0">
                <a:solidFill>
                  <a:srgbClr val="595959"/>
                </a:solidFill>
                <a:latin typeface="Calibri"/>
              </a:rPr>
              <a:t>MapReduce and Hive values: Colab run 2026-10-22 (2 vCPU, 12.7 GB RAM). Single node: throughput rises with input size, but no multi-machine speed-up is claimed.</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Preprocessing: Big Data Analysis Steps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4828032"/>
        </p:xfrm>
        <a:graphic>
          <a:graphicData uri="http://schemas.openxmlformats.org/drawingml/2006/table">
            <a:tbl>
              <a:tblPr firstRow="1" bandRow="1">
                <a:tableStyleId>{5C22544A-7EE6-4342-B048-85BDC9FD1C3A}</a:tableStyleId>
              </a:tblPr>
              <a:tblGrid>
                <a:gridCol w="1737360"/>
                <a:gridCol w="2514600"/>
                <a:gridCol w="1234440"/>
                <a:gridCol w="2926080"/>
              </a:tblGrid>
              <a:tr h="603504">
                <a:tc>
                  <a:txBody>
                    <a:bodyPr wrap="square"/>
                    <a:lstStyle/>
                    <a:p>
                      <a:pPr algn="l"/>
                      <a:r>
                        <a:rPr sz="1200" b="1" i="0">
                          <a:solidFill>
                            <a:srgbClr val="FFFFFF"/>
                          </a:solidFill>
                          <a:latin typeface="Calibri"/>
                        </a:rPr>
                        <a:t>Step</a:t>
                      </a:r>
                    </a:p>
                  </a:txBody>
                  <a:tcPr marL="54864" marR="54864" marT="27432" marB="27432" anchor="ctr">
                    <a:solidFill>
                      <a:srgbClr val="1B3A6B"/>
                    </a:solidFill>
                  </a:tcPr>
                </a:tc>
                <a:tc>
                  <a:txBody>
                    <a:bodyPr wrap="square"/>
                    <a:lstStyle/>
                    <a:p>
                      <a:pPr algn="ctr"/>
                      <a:r>
                        <a:rPr sz="1200" b="1" i="0">
                          <a:solidFill>
                            <a:srgbClr val="FFFFFF"/>
                          </a:solidFill>
                          <a:latin typeface="Calibri"/>
                        </a:rPr>
                        <a:t>Operation</a:t>
                      </a:r>
                    </a:p>
                  </a:txBody>
                  <a:tcPr marL="54864" marR="54864" marT="27432" marB="27432" anchor="ctr">
                    <a:solidFill>
                      <a:srgbClr val="1B3A6B"/>
                    </a:solidFill>
                  </a:tcPr>
                </a:tc>
                <a:tc>
                  <a:txBody>
                    <a:bodyPr wrap="square"/>
                    <a:lstStyle/>
                    <a:p>
                      <a:pPr algn="ctr"/>
                      <a:r>
                        <a:rPr sz="1200" b="1" i="0">
                          <a:solidFill>
                            <a:srgbClr val="FFFFFF"/>
                          </a:solidFill>
                          <a:latin typeface="Calibri"/>
                        </a:rPr>
                        <a:t>Tool</a:t>
                      </a:r>
                    </a:p>
                  </a:txBody>
                  <a:tcPr marL="54864" marR="54864" marT="27432" marB="27432" anchor="ctr">
                    <a:solidFill>
                      <a:srgbClr val="1B3A6B"/>
                    </a:solidFill>
                  </a:tcPr>
                </a:tc>
                <a:tc>
                  <a:txBody>
                    <a:bodyPr wrap="square"/>
                    <a:lstStyle/>
                    <a:p>
                      <a:pPr algn="ctr"/>
                      <a:r>
                        <a:rPr sz="1200" b="1" i="0">
                          <a:solidFill>
                            <a:srgbClr val="FFFFFF"/>
                          </a:solidFill>
                          <a:latin typeface="Calibri"/>
                        </a:rPr>
                        <a:t>Result</a:t>
                      </a:r>
                    </a:p>
                  </a:txBody>
                  <a:tcPr marL="54864" marR="54864" marT="27432" marB="27432" anchor="ctr">
                    <a:solidFill>
                      <a:srgbClr val="1B3A6B"/>
                    </a:solidFill>
                  </a:tcPr>
                </a:tc>
              </a:tr>
              <a:tr h="603504">
                <a:tc>
                  <a:txBody>
                    <a:bodyPr wrap="square"/>
                    <a:lstStyle/>
                    <a:p>
                      <a:pPr algn="l"/>
                      <a:r>
                        <a:rPr sz="1200" b="1" i="0">
                          <a:solidFill>
                            <a:srgbClr val="1F1F1F"/>
                          </a:solidFill>
                          <a:latin typeface="Calibri"/>
                        </a:rPr>
                        <a:t>1 Census rates</a:t>
                      </a:r>
                    </a:p>
                  </a:txBody>
                  <a:tcPr marL="54864" marR="54864" marT="27432" marB="27432" anchor="ctr">
                    <a:solidFill>
                      <a:srgbClr val="FFFFFF"/>
                    </a:solidFill>
                  </a:tcPr>
                </a:tc>
                <a:tc>
                  <a:txBody>
                    <a:bodyPr wrap="square"/>
                    <a:lstStyle/>
                    <a:p>
                      <a:pPr algn="ctr"/>
                      <a:r>
                        <a:rPr sz="1200" b="0" i="0">
                          <a:solidFill>
                            <a:srgbClr val="1F1F1F"/>
                          </a:solidFill>
                          <a:latin typeface="Calibri"/>
                        </a:rPr>
                        <a:t>literacy, female literacy, agri share</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640 districts; totals validated</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2 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NDAP ↔ Census by state + name</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602/699 matched; 2 wrong fuzzy matches blocked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3 Variable selection</a:t>
                      </a:r>
                    </a:p>
                  </a:txBody>
                  <a:tcPr marL="54864" marR="54864" marT="27432" marB="27432" anchor="ctr">
                    <a:solidFill>
                      <a:srgbClr val="FFFFFF"/>
                    </a:solidFill>
                  </a:tcPr>
                </a:tc>
                <a:tc>
                  <a:txBody>
                    <a:bodyPr wrap="square"/>
                    <a:lstStyle/>
                    <a:p>
                      <a:pPr algn="ctr"/>
                      <a:r>
                        <a:rPr sz="1200" b="0" i="0">
                          <a:solidFill>
                            <a:srgbClr val="1F1F1F"/>
                          </a:solidFill>
                          <a:latin typeface="Calibri"/>
                        </a:rPr>
                        <a:t>NDAP sparsity analysis</a:t>
                      </a:r>
                    </a:p>
                  </a:txBody>
                  <a:tcPr marL="54864" marR="54864" marT="27432" marB="27432" anchor="ctr">
                    <a:solidFill>
                      <a:srgbClr val="FFFFFF"/>
                    </a:solidFill>
                  </a:tcPr>
                </a:tc>
                <a:tc>
                  <a:txBody>
                    <a:bodyPr wrap="square"/>
                    <a:lstStyle/>
                    <a:p>
                      <a:pPr algn="ctr"/>
                      <a:r>
                        <a:rPr sz="1200" b="0" i="0">
                          <a:solidFill>
                            <a:srgbClr val="1F1F1F"/>
                          </a:solidFill>
                          <a:latin typeface="Calibri"/>
                        </a:rPr>
                        <a:t>pandas</a:t>
                      </a:r>
                    </a:p>
                  </a:txBody>
                  <a:tcPr marL="54864" marR="54864" marT="27432" marB="27432" anchor="ctr">
                    <a:solidFill>
                      <a:srgbClr val="FFFFFF"/>
                    </a:solidFill>
                  </a:tcPr>
                </a:tc>
                <a:tc>
                  <a:txBody>
                    <a:bodyPr wrap="square"/>
                    <a:lstStyle/>
                    <a:p>
                      <a:pPr algn="ctr"/>
                      <a:r>
                        <a:rPr sz="1200" b="0" i="0">
                          <a:solidFill>
                            <a:srgbClr val="1F1F1F"/>
                          </a:solidFill>
                          <a:latin typeface="Calibri"/>
                        </a:rPr>
                        <a:t>64/79 columns &gt;50% empty → 5 dev vars, no imputation</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4 Grid weights</a:t>
                      </a:r>
                    </a:p>
                  </a:txBody>
                  <a:tcPr marL="54864" marR="54864" marT="27432" marB="27432" anchor="ctr">
                    <a:solidFill>
                      <a:srgbClr val="EEF2F8"/>
                    </a:solidFill>
                  </a:tcPr>
                </a:tc>
                <a:tc>
                  <a:txBody>
                    <a:bodyPr wrap="square"/>
                    <a:lstStyle/>
                    <a:p>
                      <a:pPr algn="ctr"/>
                      <a:r>
                        <a:rPr sz="1200" b="0" i="0">
                          <a:solidFill>
                            <a:srgbClr val="1F1F1F"/>
                          </a:solidFill>
                          <a:latin typeface="Calibri"/>
                        </a:rPr>
                        <a:t>cell overlap × cos(lat), 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shapely, imdlib</a:t>
                      </a:r>
                    </a:p>
                  </a:txBody>
                  <a:tcPr marL="54864" marR="54864" marT="27432" marB="27432" anchor="ctr">
                    <a:solidFill>
                      <a:srgbClr val="EEF2F8"/>
                    </a:solidFill>
                  </a:tcPr>
                </a:tc>
                <a:tc>
                  <a:txBody>
                    <a:bodyPr wrap="square"/>
                    <a:lstStyle/>
                    <a:p>
                      <a:pPr algn="ctr"/>
                      <a:r>
                        <a:rPr sz="1200" b="0" i="0">
                          <a:solidFill>
                            <a:srgbClr val="1F1F1F"/>
                          </a:solidFill>
                          <a:latin typeface="Calibri"/>
                        </a:rPr>
                        <a:t>10,291 rain + 2,074 temp pairs, 640/640</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5 Grid → district-day</a:t>
                      </a:r>
                    </a:p>
                  </a:txBody>
                  <a:tcPr marL="54864" marR="54864" marT="27432" marB="27432" anchor="ctr">
                    <a:solidFill>
                      <a:srgbClr val="FFFFFF"/>
                    </a:solidFill>
                  </a:tcPr>
                </a:tc>
                <a:tc>
                  <a:txBody>
                    <a:bodyPr wrap="square"/>
                    <a:lstStyle/>
                    <a:p>
                      <a:pPr algn="ctr"/>
                      <a:r>
                        <a:rPr sz="1200" b="0" i="0">
                          <a:solidFill>
                            <a:srgbClr val="1F1F1F"/>
                          </a:solidFill>
                          <a:latin typeface="Calibri"/>
                        </a:rPr>
                        <a:t>weighted mean over non-NaN cells</a:t>
                      </a:r>
                    </a:p>
                  </a:txBody>
                  <a:tcPr marL="54864" marR="54864" marT="27432" marB="27432" anchor="ctr">
                    <a:solidFill>
                      <a:srgbClr val="FFFFFF"/>
                    </a:solidFill>
                  </a:tcPr>
                </a:tc>
                <a:tc>
                  <a:txBody>
                    <a:bodyPr wrap="square"/>
                    <a:lstStyle/>
                    <a:p>
                      <a:pPr algn="ctr"/>
                      <a:r>
                        <a:rPr sz="1200" b="0" i="0">
                          <a:solidFill>
                            <a:srgbClr val="1F1F1F"/>
                          </a:solidFill>
                          <a:latin typeface="Calibri"/>
                        </a:rPr>
                        <a:t>NumPy sparse</a:t>
                      </a:r>
                    </a:p>
                  </a:txBody>
                  <a:tcPr marL="54864" marR="54864" marT="27432" marB="27432" anchor="ctr">
                    <a:solidFill>
                      <a:srgbClr val="FFFFFF"/>
                    </a:solidFill>
                  </a:tcPr>
                </a:tc>
                <a:tc>
                  <a:txBody>
                    <a:bodyPr wrap="square"/>
                    <a:lstStyle/>
                    <a:p>
                      <a:pPr algn="ctr"/>
                      <a:r>
                        <a:rPr sz="1200" b="0" i="0">
                          <a:solidFill>
                            <a:srgbClr val="1F1F1F"/>
                          </a:solidFill>
                          <a:latin typeface="Calibri"/>
                        </a:rPr>
                        <a:t>7,013,120 rows</a:t>
                      </a:r>
                    </a:p>
                  </a:txBody>
                  <a:tcPr marL="54864" marR="54864" marT="27432" marB="27432" anchor="ctr">
                    <a:solidFill>
                      <a:srgbClr val="FFFFFF"/>
                    </a:solidFill>
                  </a:tcPr>
                </a:tc>
              </a:tr>
              <a:tr h="603504">
                <a:tc>
                  <a:txBody>
                    <a:bodyPr wrap="square"/>
                    <a:lstStyle/>
                    <a:p>
                      <a:pPr algn="l"/>
                      <a:r>
                        <a:rPr sz="1200" b="1" i="0">
                          <a:solidFill>
                            <a:srgbClr val="1F1F1F"/>
                          </a:solidFill>
                          <a:latin typeface="Calibri"/>
                        </a:rPr>
                        <a:t>6 Orientation check</a:t>
                      </a:r>
                    </a:p>
                  </a:txBody>
                  <a:tcPr marL="54864" marR="54864" marT="27432" marB="27432" anchor="ctr">
                    <a:solidFill>
                      <a:srgbClr val="EEF2F8"/>
                    </a:solidFill>
                  </a:tcPr>
                </a:tc>
                <a:tc>
                  <a:txBody>
                    <a:bodyPr wrap="square"/>
                    <a:lstStyle/>
                    <a:p>
                      <a:pPr algn="ctr"/>
                      <a:r>
                        <a:rPr sz="1200" b="0" i="0">
                          <a:solidFill>
                            <a:srgbClr val="1F1F1F"/>
                          </a:solidFill>
                          <a:latin typeface="Calibri"/>
                        </a:rPr>
                        <a:t>Chennai rain must peak Oct–Dec</a:t>
                      </a:r>
                    </a:p>
                  </a:txBody>
                  <a:tcPr marL="54864" marR="54864" marT="27432" marB="27432" anchor="ctr">
                    <a:solidFill>
                      <a:srgbClr val="EEF2F8"/>
                    </a:solidFill>
                  </a:tcPr>
                </a:tc>
                <a:tc>
                  <a:txBody>
                    <a:bodyPr wrap="square"/>
                    <a:lstStyle/>
                    <a:p>
                      <a:pPr algn="ctr"/>
                      <a:r>
                        <a:rPr sz="1200" b="0" i="0">
                          <a:solidFill>
                            <a:srgbClr val="1F1F1F"/>
                          </a:solidFill>
                          <a:latin typeface="Calibri"/>
                        </a:rPr>
                        <a:t>Python</a:t>
                      </a:r>
                    </a:p>
                  </a:txBody>
                  <a:tcPr marL="54864" marR="54864" marT="27432" marB="27432" anchor="ctr">
                    <a:solidFill>
                      <a:srgbClr val="EEF2F8"/>
                    </a:solidFill>
                  </a:tcPr>
                </a:tc>
                <a:tc>
                  <a:txBody>
                    <a:bodyPr wrap="square"/>
                    <a:lstStyle/>
                    <a:p>
                      <a:pPr algn="ctr"/>
                      <a:r>
                        <a:rPr sz="1200" b="0" i="0">
                          <a:solidFill>
                            <a:srgbClr val="1F1F1F"/>
                          </a:solidFill>
                          <a:latin typeface="Calibri"/>
                        </a:rPr>
                        <a:t>passed</a:t>
                      </a:r>
                    </a:p>
                  </a:txBody>
                  <a:tcPr marL="54864" marR="54864" marT="27432" marB="27432" anchor="ctr">
                    <a:solidFill>
                      <a:srgbClr val="EEF2F8"/>
                    </a:solidFill>
                  </a:tcPr>
                </a:tc>
              </a:tr>
              <a:tr h="603504">
                <a:tc>
                  <a:txBody>
                    <a:bodyPr wrap="square"/>
                    <a:lstStyle/>
                    <a:p>
                      <a:pPr algn="l"/>
                      <a:r>
                        <a:rPr sz="1200" b="1" i="0">
                          <a:solidFill>
                            <a:srgbClr val="1F1F1F"/>
                          </a:solidFill>
                          <a:latin typeface="Calibri"/>
                        </a:rPr>
                        <a:t>7 Standardisation</a:t>
                      </a:r>
                    </a:p>
                  </a:txBody>
                  <a:tcPr marL="54864" marR="54864" marT="27432" marB="27432" anchor="ctr">
                    <a:solidFill>
                      <a:srgbClr val="FFFFFF"/>
                    </a:solidFill>
                  </a:tcPr>
                </a:tc>
                <a:tc>
                  <a:txBody>
                    <a:bodyPr wrap="square"/>
                    <a:lstStyle/>
                    <a:p>
                      <a:pPr algn="ctr"/>
                      <a:r>
                        <a:rPr sz="1200" b="0" i="0">
                          <a:solidFill>
                            <a:srgbClr val="1F1F1F"/>
                          </a:solidFill>
                          <a:latin typeface="Calibri"/>
                        </a:rPr>
                        <a:t>z-scores on training folds only</a:t>
                      </a:r>
                    </a:p>
                  </a:txBody>
                  <a:tcPr marL="54864" marR="54864" marT="27432" marB="27432" anchor="ctr">
                    <a:solidFill>
                      <a:srgbClr val="FFFFFF"/>
                    </a:solidFill>
                  </a:tcPr>
                </a:tc>
                <a:tc>
                  <a:txBody>
                    <a:bodyPr wrap="square"/>
                    <a:lstStyle/>
                    <a:p>
                      <a:pPr algn="ctr"/>
                      <a:r>
                        <a:rPr sz="1200" b="0" i="0">
                          <a:solidFill>
                            <a:srgbClr val="1F1F1F"/>
                          </a:solidFill>
                          <a:latin typeface="Calibri"/>
                        </a:rPr>
                        <a:t>scikit-learn</a:t>
                      </a:r>
                    </a:p>
                  </a:txBody>
                  <a:tcPr marL="54864" marR="54864" marT="27432" marB="27432" anchor="ctr">
                    <a:solidFill>
                      <a:srgbClr val="FFFFFF"/>
                    </a:solidFill>
                  </a:tcPr>
                </a:tc>
                <a:tc>
                  <a:txBody>
                    <a:bodyPr wrap="square"/>
                    <a:lstStyle/>
                    <a:p>
                      <a:pPr algn="ctr"/>
                      <a:r>
                        <a:rPr sz="1200" b="0" i="0">
                          <a:solidFill>
                            <a:srgbClr val="1F1F1F"/>
                          </a:solidFill>
                          <a:latin typeface="Calibri"/>
                        </a:rPr>
                        <a:t>no leakage</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Results of Preprocessing</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43000"/>
            <a:ext cx="4480560" cy="365760"/>
          </a:xfrm>
          <a:prstGeom prst="rect">
            <a:avLst/>
          </a:prstGeom>
          <a:noFill/>
        </p:spPr>
        <p:txBody>
          <a:bodyPr wrap="square" anchor="t" lIns="45720" rIns="45720">
            <a:spAutoFit/>
          </a:bodyPr>
          <a:lstStyle/>
          <a:p>
            <a:pPr algn="l"/>
            <a:r>
              <a:rPr sz="1500" b="1" i="0">
                <a:solidFill>
                  <a:srgbClr val="1B3A6B"/>
                </a:solidFill>
                <a:latin typeface="Calibri"/>
              </a:rPr>
              <a:t>Table 1: retention and validation</a:t>
            </a:r>
          </a:p>
        </p:txBody>
      </p:sp>
      <p:graphicFrame>
        <p:nvGraphicFramePr>
          <p:cNvPr id="5" name="Table 4"/>
          <p:cNvGraphicFramePr>
            <a:graphicFrameLocks noGrp="1"/>
          </p:cNvGraphicFramePr>
          <p:nvPr/>
        </p:nvGraphicFramePr>
        <p:xfrm>
          <a:off x="365760" y="1554480"/>
          <a:ext cx="4480560" cy="4297680"/>
        </p:xfrm>
        <a:graphic>
          <a:graphicData uri="http://schemas.openxmlformats.org/drawingml/2006/table">
            <a:tbl>
              <a:tblPr firstRow="1" bandRow="1">
                <a:tableStyleId>{5C22544A-7EE6-4342-B048-85BDC9FD1C3A}</a:tableStyleId>
              </a:tblPr>
              <a:tblGrid>
                <a:gridCol w="2377440"/>
                <a:gridCol w="2103120"/>
              </a:tblGrid>
              <a:tr h="429768">
                <a:tc>
                  <a:txBody>
                    <a:bodyPr wrap="square"/>
                    <a:lstStyle/>
                    <a:p>
                      <a:pPr algn="l"/>
                      <a:r>
                        <a:rPr sz="1200" b="1" i="0">
                          <a:solidFill>
                            <a:srgbClr val="FFFFFF"/>
                          </a:solidFill>
                          <a:latin typeface="Calibri"/>
                        </a:rPr>
                        <a:t>Stage / check</a:t>
                      </a:r>
                    </a:p>
                  </a:txBody>
                  <a:tcPr marL="54864" marR="54864" marT="27432" marB="27432" anchor="ctr">
                    <a:solidFill>
                      <a:srgbClr val="1B3A6B"/>
                    </a:solidFill>
                  </a:tcPr>
                </a:tc>
                <a:tc>
                  <a:txBody>
                    <a:bodyPr wrap="square"/>
                    <a:lstStyle/>
                    <a:p>
                      <a:pPr algn="ctr"/>
                      <a:r>
                        <a:rPr sz="1200" b="1" i="0">
                          <a:solidFill>
                            <a:srgbClr val="FFFFFF"/>
                          </a:solidFill>
                          <a:latin typeface="Calibri"/>
                        </a:rPr>
                        <a:t>Value</a:t>
                      </a:r>
                    </a:p>
                  </a:txBody>
                  <a:tcPr marL="54864" marR="54864" marT="27432" marB="27432" anchor="ctr">
                    <a:solidFill>
                      <a:srgbClr val="1B3A6B"/>
                    </a:solidFill>
                  </a:tcPr>
                </a:tc>
              </a:tr>
              <a:tr h="429768">
                <a:tc>
                  <a:txBody>
                    <a:bodyPr wrap="square"/>
                    <a:lstStyle/>
                    <a:p>
                      <a:pPr algn="l"/>
                      <a:r>
                        <a:rPr sz="1200" b="1" i="0">
                          <a:solidFill>
                            <a:srgbClr val="1F1F1F"/>
                          </a:solidFill>
                          <a:latin typeface="Calibri"/>
                        </a:rPr>
                        <a:t>Census 2011 districts</a:t>
                      </a:r>
                    </a:p>
                  </a:txBody>
                  <a:tcPr marL="54864" marR="54864" marT="27432" marB="27432" anchor="ctr">
                    <a:solidFill>
                      <a:srgbClr val="FFFFFF"/>
                    </a:solidFill>
                  </a:tcPr>
                </a:tc>
                <a:tc>
                  <a:txBody>
                    <a:bodyPr wrap="square"/>
                    <a:lstStyle/>
                    <a:p>
                      <a:pPr algn="ctr"/>
                      <a:r>
                        <a:rPr sz="1200" b="0" i="0">
                          <a:solidFill>
                            <a:srgbClr val="1F1F1F"/>
                          </a:solidFill>
                          <a:latin typeface="Calibri"/>
                        </a:rPr>
                        <a:t>640</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Matched to NDAP</a:t>
                      </a:r>
                    </a:p>
                  </a:txBody>
                  <a:tcPr marL="54864" marR="54864" marT="27432" marB="27432" anchor="ctr">
                    <a:solidFill>
                      <a:srgbClr val="EEF2F8"/>
                    </a:solidFill>
                  </a:tcPr>
                </a:tc>
                <a:tc>
                  <a:txBody>
                    <a:bodyPr wrap="square"/>
                    <a:lstStyle/>
                    <a:p>
                      <a:pPr algn="ctr"/>
                      <a:r>
                        <a:rPr sz="1200" b="0" i="0">
                          <a:solidFill>
                            <a:srgbClr val="1F1F1F"/>
                          </a:solidFill>
                          <a:latin typeface="Calibri"/>
                        </a:rPr>
                        <a:t>602</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With vulnerability index</a:t>
                      </a:r>
                    </a:p>
                  </a:txBody>
                  <a:tcPr marL="54864" marR="54864" marT="27432" marB="27432" anchor="ctr">
                    <a:solidFill>
                      <a:srgbClr val="FFFFFF"/>
                    </a:solidFill>
                  </a:tcPr>
                </a:tc>
                <a:tc>
                  <a:txBody>
                    <a:bodyPr wrap="square"/>
                    <a:lstStyle/>
                    <a:p>
                      <a:pPr algn="ctr"/>
                      <a:r>
                        <a:rPr sz="1200" b="0" i="0">
                          <a:solidFill>
                            <a:srgbClr val="1F1F1F"/>
                          </a:solidFill>
                          <a:latin typeface="Calibri"/>
                        </a:rPr>
                        <a:t>589</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Complete (all 13 features)</a:t>
                      </a:r>
                    </a:p>
                  </a:txBody>
                  <a:tcPr marL="54864" marR="54864" marT="27432" marB="27432" anchor="ctr">
                    <a:solidFill>
                      <a:srgbClr val="FFF4CC"/>
                    </a:solidFill>
                  </a:tcPr>
                </a:tc>
                <a:tc>
                  <a:txBody>
                    <a:bodyPr wrap="square"/>
                    <a:lstStyle/>
                    <a:p>
                      <a:pPr algn="ctr"/>
                      <a:r>
                        <a:rPr sz="1200" b="1" i="0">
                          <a:solidFill>
                            <a:srgbClr val="1F1F1F"/>
                          </a:solidFill>
                          <a:latin typeface="Calibri"/>
                        </a:rPr>
                        <a:t>469 (21 states)</a:t>
                      </a:r>
                    </a:p>
                  </a:txBody>
                  <a:tcPr marL="54864" marR="54864" marT="27432" marB="27432" anchor="ctr">
                    <a:solidFill>
                      <a:srgbClr val="FFF4CC"/>
                    </a:solidFill>
                  </a:tcPr>
                </a:tc>
              </a:tr>
              <a:tr h="42976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72.98%</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Class balance High / Low</a:t>
                      </a:r>
                    </a:p>
                  </a:txBody>
                  <a:tcPr marL="54864" marR="54864" marT="27432" marB="27432" anchor="ctr">
                    <a:solidFill>
                      <a:srgbClr val="FFFFFF"/>
                    </a:solidFill>
                  </a:tcPr>
                </a:tc>
                <a:tc>
                  <a:txBody>
                    <a:bodyPr wrap="square"/>
                    <a:lstStyle/>
                    <a:p>
                      <a:pPr algn="ctr"/>
                      <a:r>
                        <a:rPr sz="1200" b="0" i="0">
                          <a:solidFill>
                            <a:srgbClr val="1F1F1F"/>
                          </a:solidFill>
                          <a:latin typeface="Calibri"/>
                        </a:rPr>
                        <a:t>237 / 232</a:t>
                      </a:r>
                    </a:p>
                  </a:txBody>
                  <a:tcPr marL="54864" marR="54864" marT="27432" marB="27432" anchor="ctr">
                    <a:solidFill>
                      <a:srgbClr val="FFFFFF"/>
                    </a:solidFill>
                  </a:tcPr>
                </a:tc>
              </a:tr>
              <a:tr h="429768">
                <a:tc>
                  <a:txBody>
                    <a:bodyPr wrap="square"/>
                    <a:lstStyle/>
                    <a:p>
                      <a:pPr algn="l"/>
                      <a:r>
                        <a:rPr sz="1200" b="1" i="0">
                          <a:solidFill>
                            <a:srgbClr val="1F1F1F"/>
                          </a:solidFill>
                          <a:latin typeface="Calibri"/>
                        </a:rPr>
                        <a:t>NDAP columns &gt;50% empty</a:t>
                      </a:r>
                    </a:p>
                  </a:txBody>
                  <a:tcPr marL="54864" marR="54864" marT="27432" marB="27432" anchor="ctr">
                    <a:solidFill>
                      <a:srgbClr val="EEF2F8"/>
                    </a:solidFill>
                  </a:tcPr>
                </a:tc>
                <a:tc>
                  <a:txBody>
                    <a:bodyPr wrap="square"/>
                    <a:lstStyle/>
                    <a:p>
                      <a:pPr algn="ctr"/>
                      <a:r>
                        <a:rPr sz="1200" b="0" i="0">
                          <a:solidFill>
                            <a:srgbClr val="1F1F1F"/>
                          </a:solidFill>
                          <a:latin typeface="Calibri"/>
                        </a:rPr>
                        <a:t>64 of 79</a:t>
                      </a:r>
                    </a:p>
                  </a:txBody>
                  <a:tcPr marL="54864" marR="54864" marT="27432" marB="27432" anchor="ctr">
                    <a:solidFill>
                      <a:srgbClr val="EEF2F8"/>
                    </a:solidFill>
                  </a:tcPr>
                </a:tc>
              </a:tr>
              <a:tr h="429768">
                <a:tc>
                  <a:txBody>
                    <a:bodyPr wrap="square"/>
                    <a:lstStyle/>
                    <a:p>
                      <a:pPr algn="l"/>
                      <a:r>
                        <a:rPr sz="1200" b="1" i="0">
                          <a:solidFill>
                            <a:srgbClr val="1F1F1F"/>
                          </a:solidFill>
                          <a:latin typeface="Calibri"/>
                        </a:rPr>
                        <a:t>Sample skew</a:t>
                      </a:r>
                    </a:p>
                  </a:txBody>
                  <a:tcPr marL="54864" marR="54864" marT="27432" marB="27432" anchor="ctr">
                    <a:solidFill>
                      <a:srgbClr val="FFFFFF"/>
                    </a:solidFill>
                  </a:tcPr>
                </a:tc>
                <a:tc>
                  <a:txBody>
                    <a:bodyPr wrap="square"/>
                    <a:lstStyle/>
                    <a:p>
                      <a:pPr algn="ctr"/>
                      <a:r>
                        <a:rPr sz="1200" b="0" i="0">
                          <a:solidFill>
                            <a:srgbClr val="1F1F1F"/>
                          </a:solidFill>
                          <a:latin typeface="Calibri"/>
                        </a:rPr>
                        <a:t>UP 70, MP 49, Bihar 38, Rajasthan 33</a:t>
                      </a:r>
                    </a:p>
                  </a:txBody>
                  <a:tcPr marL="54864" marR="54864" marT="27432" marB="27432" anchor="ctr">
                    <a:solidFill>
                      <a:srgbClr val="FFFFFF"/>
                    </a:solidFill>
                  </a:tcPr>
                </a:tc>
              </a:tr>
            </a:tbl>
          </a:graphicData>
        </a:graphic>
      </p:graphicFrame>
      <p:sp>
        <p:nvSpPr>
          <p:cNvPr id="6" name="TextBox 5"/>
          <p:cNvSpPr txBox="1"/>
          <p:nvPr/>
        </p:nvSpPr>
        <p:spPr>
          <a:xfrm>
            <a:off x="5074920" y="1143000"/>
            <a:ext cx="3703320" cy="365760"/>
          </a:xfrm>
          <a:prstGeom prst="rect">
            <a:avLst/>
          </a:prstGeom>
          <a:noFill/>
        </p:spPr>
        <p:txBody>
          <a:bodyPr wrap="square" anchor="t" lIns="45720" rIns="45720">
            <a:spAutoFit/>
          </a:bodyPr>
          <a:lstStyle/>
          <a:p>
            <a:pPr algn="l"/>
            <a:r>
              <a:rPr sz="1500" b="1" i="0">
                <a:solidFill>
                  <a:srgbClr val="1B3A6B"/>
                </a:solidFill>
                <a:latin typeface="Calibri"/>
              </a:rPr>
              <a:t>Feature signal (single-feature ROC-AUC)</a:t>
            </a:r>
          </a:p>
        </p:txBody>
      </p:sp>
      <p:graphicFrame>
        <p:nvGraphicFramePr>
          <p:cNvPr id="7" name="Table 6"/>
          <p:cNvGraphicFramePr>
            <a:graphicFrameLocks noGrp="1"/>
          </p:cNvGraphicFramePr>
          <p:nvPr/>
        </p:nvGraphicFramePr>
        <p:xfrm>
          <a:off x="5074920" y="1554480"/>
          <a:ext cx="3703319" cy="4608576"/>
        </p:xfrm>
        <a:graphic>
          <a:graphicData uri="http://schemas.openxmlformats.org/drawingml/2006/table">
            <a:tbl>
              <a:tblPr firstRow="1" bandRow="1">
                <a:tableStyleId>{5C22544A-7EE6-4342-B048-85BDC9FD1C3A}</a:tableStyleId>
              </a:tblPr>
              <a:tblGrid>
                <a:gridCol w="2753750"/>
                <a:gridCol w="949569"/>
              </a:tblGrid>
              <a:tr h="329184">
                <a:tc>
                  <a:txBody>
                    <a:bodyPr wrap="square"/>
                    <a:lstStyle/>
                    <a:p>
                      <a:pPr algn="l"/>
                      <a:r>
                        <a:rPr sz="1100" b="1" i="0">
                          <a:solidFill>
                            <a:srgbClr val="FFFFFF"/>
                          </a:solidFill>
                          <a:latin typeface="Calibri"/>
                        </a:rPr>
                        <a:t>Feature</a:t>
                      </a:r>
                    </a:p>
                  </a:txBody>
                  <a:tcPr marL="54864" marR="54864" marT="27432" marB="27432" anchor="ctr">
                    <a:solidFill>
                      <a:srgbClr val="1B3A6B"/>
                    </a:solidFill>
                  </a:tcPr>
                </a:tc>
                <a:tc>
                  <a:txBody>
                    <a:bodyPr wrap="square"/>
                    <a:lstStyle/>
                    <a:p>
                      <a:pPr algn="ctr"/>
                      <a:r>
                        <a:rPr sz="1100" b="1" i="0">
                          <a:solidFill>
                            <a:srgbClr val="FFFFFF"/>
                          </a:solidFill>
                          <a:latin typeface="Calibri"/>
                        </a:rPr>
                        <a:t>AUC</a:t>
                      </a:r>
                    </a:p>
                  </a:txBody>
                  <a:tcPr marL="54864" marR="54864" marT="27432" marB="27432" anchor="ctr">
                    <a:solidFill>
                      <a:srgbClr val="1B3A6B"/>
                    </a:solidFill>
                  </a:tcPr>
                </a:tc>
              </a:tr>
              <a:tr h="329184">
                <a:tc>
                  <a:txBody>
                    <a:bodyPr wrap="square"/>
                    <a:lstStyle/>
                    <a:p>
                      <a:pPr algn="l"/>
                      <a:r>
                        <a:rPr sz="1100" b="0" i="0">
                          <a:solidFill>
                            <a:srgbClr val="1F1F1F"/>
                          </a:solidFill>
                          <a:latin typeface="Calibri"/>
                        </a:rPr>
                        <a:t>agri worker share</a:t>
                      </a:r>
                    </a:p>
                  </a:txBody>
                  <a:tcPr marL="54864" marR="54864" marT="27432" marB="27432" anchor="ctr">
                    <a:solidFill>
                      <a:srgbClr val="FFFFFF"/>
                    </a:solidFill>
                  </a:tcPr>
                </a:tc>
                <a:tc>
                  <a:txBody>
                    <a:bodyPr wrap="square"/>
                    <a:lstStyle/>
                    <a:p>
                      <a:pPr algn="ctr"/>
                      <a:r>
                        <a:rPr sz="1100" b="0" i="0">
                          <a:solidFill>
                            <a:srgbClr val="1F1F1F"/>
                          </a:solidFill>
                          <a:latin typeface="Calibri"/>
                        </a:rPr>
                        <a:t>0.674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female literacy rate</a:t>
                      </a:r>
                    </a:p>
                  </a:txBody>
                  <a:tcPr marL="54864" marR="54864" marT="27432" marB="27432" anchor="ctr">
                    <a:solidFill>
                      <a:srgbClr val="EEF2F8"/>
                    </a:solidFill>
                  </a:tcPr>
                </a:tc>
                <a:tc>
                  <a:txBody>
                    <a:bodyPr wrap="square"/>
                    <a:lstStyle/>
                    <a:p>
                      <a:pPr algn="ctr"/>
                      <a:r>
                        <a:rPr sz="1100" b="0" i="0">
                          <a:solidFill>
                            <a:srgbClr val="1F1F1F"/>
                          </a:solidFill>
                          <a:latin typeface="Calibri"/>
                        </a:rPr>
                        <a:t>0.661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literacy rate</a:t>
                      </a:r>
                    </a:p>
                  </a:txBody>
                  <a:tcPr marL="54864" marR="54864" marT="27432" marB="27432" anchor="ctr">
                    <a:solidFill>
                      <a:srgbClr val="FFFFFF"/>
                    </a:solidFill>
                  </a:tcPr>
                </a:tc>
                <a:tc>
                  <a:txBody>
                    <a:bodyPr wrap="square"/>
                    <a:lstStyle/>
                    <a:p>
                      <a:pPr algn="ctr"/>
                      <a:r>
                        <a:rPr sz="1100" b="0" i="0">
                          <a:solidFill>
                            <a:srgbClr val="1F1F1F"/>
                          </a:solidFill>
                          <a:latin typeface="Calibri"/>
                        </a:rPr>
                        <a:t>0.660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tropical nights</a:t>
                      </a:r>
                    </a:p>
                  </a:txBody>
                  <a:tcPr marL="54864" marR="54864" marT="27432" marB="27432" anchor="ctr">
                    <a:solidFill>
                      <a:srgbClr val="EEF2F8"/>
                    </a:solidFill>
                  </a:tcPr>
                </a:tc>
                <a:tc>
                  <a:txBody>
                    <a:bodyPr wrap="square"/>
                    <a:lstStyle/>
                    <a:p>
                      <a:pPr algn="ctr"/>
                      <a:r>
                        <a:rPr sz="1100" b="0" i="0">
                          <a:solidFill>
                            <a:srgbClr val="1F1F1F"/>
                          </a:solidFill>
                          <a:latin typeface="Calibri"/>
                        </a:rPr>
                        <a:t>0.631</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rx5day mm</a:t>
                      </a:r>
                    </a:p>
                  </a:txBody>
                  <a:tcPr marL="54864" marR="54864" marT="27432" marB="27432" anchor="ctr">
                    <a:solidFill>
                      <a:srgbClr val="FFFFFF"/>
                    </a:solidFill>
                  </a:tcPr>
                </a:tc>
                <a:tc>
                  <a:txBody>
                    <a:bodyPr wrap="square"/>
                    <a:lstStyle/>
                    <a:p>
                      <a:pPr algn="ctr"/>
                      <a:r>
                        <a:rPr sz="1100" b="0" i="0">
                          <a:solidFill>
                            <a:srgbClr val="1F1F1F"/>
                          </a:solidFill>
                          <a:latin typeface="Calibri"/>
                        </a:rPr>
                        <a:t>0.591</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annual rain mm</a:t>
                      </a:r>
                    </a:p>
                  </a:txBody>
                  <a:tcPr marL="54864" marR="54864" marT="27432" marB="27432" anchor="ctr">
                    <a:solidFill>
                      <a:srgbClr val="EEF2F8"/>
                    </a:solidFill>
                  </a:tcPr>
                </a:tc>
                <a:tc>
                  <a:txBody>
                    <a:bodyPr wrap="square"/>
                    <a:lstStyle/>
                    <a:p>
                      <a:pPr algn="ctr"/>
                      <a:r>
                        <a:rPr sz="1100" b="0" i="0">
                          <a:solidFill>
                            <a:srgbClr val="1F1F1F"/>
                          </a:solidFill>
                          <a:latin typeface="Calibri"/>
                        </a:rPr>
                        <a:t>0.583</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heavy rain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0.575</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yield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0.549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mgnrega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0.540</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rain variability</a:t>
                      </a:r>
                    </a:p>
                  </a:txBody>
                  <a:tcPr marL="54864" marR="54864" marT="27432" marB="27432" anchor="ctr">
                    <a:solidFill>
                      <a:srgbClr val="EEF2F8"/>
                    </a:solidFill>
                  </a:tcPr>
                </a:tc>
                <a:tc>
                  <a:txBody>
                    <a:bodyPr wrap="square"/>
                    <a:lstStyle/>
                    <a:p>
                      <a:pPr algn="ctr"/>
                      <a:r>
                        <a:rPr sz="1100" b="0" i="0">
                          <a:solidFill>
                            <a:srgbClr val="1F1F1F"/>
                          </a:solidFill>
                          <a:latin typeface="Calibri"/>
                        </a:rPr>
                        <a:t>0.539</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hot days</a:t>
                      </a:r>
                    </a:p>
                  </a:txBody>
                  <a:tcPr marL="54864" marR="54864" marT="27432" marB="27432" anchor="ctr">
                    <a:solidFill>
                      <a:srgbClr val="FFFFFF"/>
                    </a:solidFill>
                  </a:tcPr>
                </a:tc>
                <a:tc>
                  <a:txBody>
                    <a:bodyPr wrap="square"/>
                    <a:lstStyle/>
                    <a:p>
                      <a:pPr algn="ctr"/>
                      <a:r>
                        <a:rPr sz="1100" b="0" i="0">
                          <a:solidFill>
                            <a:srgbClr val="1F1F1F"/>
                          </a:solidFill>
                          <a:latin typeface="Calibri"/>
                        </a:rPr>
                        <a:t>0.524</a:t>
                      </a:r>
                    </a:p>
                  </a:txBody>
                  <a:tcPr marL="54864" marR="54864" marT="27432" marB="27432" anchor="ctr">
                    <a:solidFill>
                      <a:srgbClr val="FFFFFF"/>
                    </a:solidFill>
                  </a:tcPr>
                </a:tc>
              </a:tr>
              <a:tr h="329184">
                <a:tc>
                  <a:txBody>
                    <a:bodyPr wrap="square"/>
                    <a:lstStyle/>
                    <a:p>
                      <a:pPr algn="l"/>
                      <a:r>
                        <a:rPr sz="1100" b="0" i="0">
                          <a:solidFill>
                            <a:srgbClr val="1F1F1F"/>
                          </a:solidFill>
                          <a:latin typeface="Calibri"/>
                        </a:rPr>
                        <a:t>mean tmax</a:t>
                      </a:r>
                    </a:p>
                  </a:txBody>
                  <a:tcPr marL="54864" marR="54864" marT="27432" marB="27432" anchor="ctr">
                    <a:solidFill>
                      <a:srgbClr val="EEF2F8"/>
                    </a:solidFill>
                  </a:tcPr>
                </a:tc>
                <a:tc>
                  <a:txBody>
                    <a:bodyPr wrap="square"/>
                    <a:lstStyle/>
                    <a:p>
                      <a:pPr algn="ctr"/>
                      <a:r>
                        <a:rPr sz="1100" b="0" i="0">
                          <a:solidFill>
                            <a:srgbClr val="1F1F1F"/>
                          </a:solidFill>
                          <a:latin typeface="Calibri"/>
                        </a:rPr>
                        <a:t>0.522</a:t>
                      </a:r>
                    </a:p>
                  </a:txBody>
                  <a:tcPr marL="54864" marR="54864" marT="27432" marB="27432" anchor="ctr">
                    <a:solidFill>
                      <a:srgbClr val="EEF2F8"/>
                    </a:solidFill>
                  </a:tcPr>
                </a:tc>
              </a:tr>
              <a:tr h="329184">
                <a:tc>
                  <a:txBody>
                    <a:bodyPr wrap="square"/>
                    <a:lstStyle/>
                    <a:p>
                      <a:pPr algn="l"/>
                      <a:r>
                        <a:rPr sz="1100" b="0" i="0">
                          <a:solidFill>
                            <a:srgbClr val="1F1F1F"/>
                          </a:solidFill>
                          <a:latin typeface="Calibri"/>
                        </a:rPr>
                        <a:t>max dry spell</a:t>
                      </a:r>
                    </a:p>
                  </a:txBody>
                  <a:tcPr marL="54864" marR="54864" marT="27432" marB="27432" anchor="ctr">
                    <a:solidFill>
                      <a:srgbClr val="FFFFFF"/>
                    </a:solidFill>
                  </a:tcPr>
                </a:tc>
                <a:tc>
                  <a:txBody>
                    <a:bodyPr wrap="square"/>
                    <a:lstStyle/>
                    <a:p>
                      <a:pPr algn="ctr"/>
                      <a:r>
                        <a:rPr sz="1100" b="0" i="0">
                          <a:solidFill>
                            <a:srgbClr val="1F1F1F"/>
                          </a:solidFill>
                          <a:latin typeface="Calibri"/>
                        </a:rPr>
                        <a:t>0.512</a:t>
                      </a:r>
                    </a:p>
                  </a:txBody>
                  <a:tcPr marL="54864" marR="54864" marT="27432" marB="27432" anchor="ctr">
                    <a:solidFill>
                      <a:srgbClr val="FFFFFF"/>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Preprocessing Error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1965960"/>
                <a:gridCol w="2331720"/>
                <a:gridCol w="2286000"/>
                <a:gridCol w="1828800"/>
              </a:tblGrid>
              <a:tr h="475488">
                <a:tc>
                  <a:txBody>
                    <a:bodyPr wrap="square"/>
                    <a:lstStyle/>
                    <a:p>
                      <a:pPr algn="l"/>
                      <a:r>
                        <a:rPr sz="1200" b="1" i="0">
                          <a:solidFill>
                            <a:srgbClr val="FFFFFF"/>
                          </a:solidFill>
                          <a:latin typeface="Calibri"/>
                        </a:rPr>
                        <a:t>Check</a:t>
                      </a:r>
                    </a:p>
                  </a:txBody>
                  <a:tcPr marL="54864" marR="54864" marT="27432" marB="27432" anchor="ctr">
                    <a:solidFill>
                      <a:srgbClr val="1B3A6B"/>
                    </a:solidFill>
                  </a:tcPr>
                </a:tc>
                <a:tc>
                  <a:txBody>
                    <a:bodyPr wrap="square"/>
                    <a:lstStyle/>
                    <a:p>
                      <a:pPr algn="ctr"/>
                      <a:r>
                        <a:rPr sz="1200" b="1" i="0">
                          <a:solidFill>
                            <a:srgbClr val="FFFFFF"/>
                          </a:solidFill>
                          <a:latin typeface="Calibri"/>
                        </a:rPr>
                        <a:t>Before / reference</a:t>
                      </a:r>
                    </a:p>
                  </a:txBody>
                  <a:tcPr marL="54864" marR="54864" marT="27432" marB="27432" anchor="ctr">
                    <a:solidFill>
                      <a:srgbClr val="1B3A6B"/>
                    </a:solidFill>
                  </a:tcPr>
                </a:tc>
                <a:tc>
                  <a:txBody>
                    <a:bodyPr wrap="square"/>
                    <a:lstStyle/>
                    <a:p>
                      <a:pPr algn="ctr"/>
                      <a:r>
                        <a:rPr sz="1200" b="1" i="0">
                          <a:solidFill>
                            <a:srgbClr val="FFFFFF"/>
                          </a:solidFill>
                          <a:latin typeface="Calibri"/>
                        </a:rPr>
                        <a:t>After / measured</a:t>
                      </a:r>
                    </a:p>
                  </a:txBody>
                  <a:tcPr marL="54864" marR="54864" marT="27432" marB="27432" anchor="ctr">
                    <a:solidFill>
                      <a:srgbClr val="1B3A6B"/>
                    </a:solidFill>
                  </a:tcPr>
                </a:tc>
                <a:tc>
                  <a:txBody>
                    <a:bodyPr wrap="square"/>
                    <a:lstStyle/>
                    <a:p>
                      <a:pPr algn="ctr"/>
                      <a:r>
                        <a:rPr sz="1200" b="1" i="0">
                          <a:solidFill>
                            <a:srgbClr val="FFFFFF"/>
                          </a:solidFill>
                          <a:latin typeface="Calibri"/>
                        </a:rPr>
                        <a:t>Error</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Census population</a:t>
                      </a:r>
                    </a:p>
                  </a:txBody>
                  <a:tcPr marL="54864" marR="54864" marT="27432" marB="27432" anchor="ctr">
                    <a:solidFill>
                      <a:srgbClr val="FFFFFF"/>
                    </a:solidFill>
                  </a:tcPr>
                </a:tc>
                <a:tc>
                  <a:txBody>
                    <a:bodyPr wrap="square"/>
                    <a:lstStyle/>
                    <a:p>
                      <a:pPr algn="ctr"/>
                      <a:r>
                        <a:rPr sz="1200" b="0" i="0">
                          <a:solidFill>
                            <a:srgbClr val="1F1F1F"/>
                          </a:solidFill>
                          <a:latin typeface="Calibri"/>
                        </a:rPr>
                        <a:t>official 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1,210,854,977</a:t>
                      </a:r>
                    </a:p>
                  </a:txBody>
                  <a:tcPr marL="54864" marR="54864" marT="27432" marB="27432" anchor="ctr">
                    <a:solidFill>
                      <a:srgbClr val="FFFFFF"/>
                    </a:solidFill>
                  </a:tcPr>
                </a:tc>
                <a:tc>
                  <a:txBody>
                    <a:bodyPr wrap="square"/>
                    <a:lstStyle/>
                    <a:p>
                      <a:pPr algn="ctr"/>
                      <a:r>
                        <a:rPr sz="1200" b="0" i="0">
                          <a:solidFill>
                            <a:srgbClr val="1F1F1F"/>
                          </a:solidFill>
                          <a:latin typeface="Calibri"/>
                        </a:rPr>
                        <a:t>0 (0.000%)</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National literacy</a:t>
                      </a:r>
                    </a:p>
                  </a:txBody>
                  <a:tcPr marL="54864" marR="54864" marT="27432" marB="27432" anchor="ctr">
                    <a:solidFill>
                      <a:srgbClr val="EEF2F8"/>
                    </a:solidFill>
                  </a:tcPr>
                </a:tc>
                <a:tc>
                  <a:txBody>
                    <a:bodyPr wrap="square"/>
                    <a:lstStyle/>
                    <a:p>
                      <a:pPr algn="ctr"/>
                      <a:r>
                        <a:rPr sz="1200" b="0" i="0">
                          <a:solidFill>
                            <a:srgbClr val="1F1F1F"/>
                          </a:solidFill>
                          <a:latin typeface="Calibri"/>
                        </a:rPr>
                        <a:t>official 72.98%</a:t>
                      </a:r>
                    </a:p>
                  </a:txBody>
                  <a:tcPr marL="54864" marR="54864" marT="27432" marB="27432" anchor="ctr">
                    <a:solidFill>
                      <a:srgbClr val="EEF2F8"/>
                    </a:solidFill>
                  </a:tcPr>
                </a:tc>
                <a:tc>
                  <a:txBody>
                    <a:bodyPr wrap="square"/>
                    <a:lstStyle/>
                    <a:p>
                      <a:pPr algn="ctr"/>
                      <a:r>
                        <a:rPr sz="1200" b="0" i="0">
                          <a:solidFill>
                            <a:srgbClr val="1F1F1F"/>
                          </a:solidFill>
                          <a:latin typeface="Calibri"/>
                        </a:rPr>
                        <a:t>72.9819%</a:t>
                      </a:r>
                    </a:p>
                  </a:txBody>
                  <a:tcPr marL="54864" marR="54864" marT="27432" marB="27432" anchor="ctr">
                    <a:solidFill>
                      <a:srgbClr val="EEF2F8"/>
                    </a:solidFill>
                  </a:tcPr>
                </a:tc>
                <a:tc>
                  <a:txBody>
                    <a:bodyPr wrap="square"/>
                    <a:lstStyle/>
                    <a:p>
                      <a:pPr algn="ctr"/>
                      <a:r>
                        <a:rPr sz="1200" b="0" i="0">
                          <a:solidFill>
                            <a:srgbClr val="1F1F1F"/>
                          </a:solidFill>
                          <a:latin typeface="Calibri"/>
                        </a:rPr>
                        <a:t>0.0019 pp</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NDAP missing cells</a:t>
                      </a:r>
                    </a:p>
                  </a:txBody>
                  <a:tcPr marL="54864" marR="54864" marT="27432" marB="27432" anchor="ctr">
                    <a:solidFill>
                      <a:srgbClr val="FFFFFF"/>
                    </a:solidFill>
                  </a:tcPr>
                </a:tc>
                <a:tc>
                  <a:txBody>
                    <a:bodyPr wrap="square"/>
                    <a:lstStyle/>
                    <a:p>
                      <a:pPr algn="ctr"/>
                      <a:r>
                        <a:rPr sz="1200" b="0" i="0">
                          <a:solidFill>
                            <a:srgbClr val="1F1F1F"/>
                          </a:solidFill>
                          <a:latin typeface="Calibri"/>
                        </a:rPr>
                        <a:t>75.0% of all cells</a:t>
                      </a:r>
                    </a:p>
                  </a:txBody>
                  <a:tcPr marL="54864" marR="54864" marT="27432" marB="27432" anchor="ctr">
                    <a:solidFill>
                      <a:srgbClr val="FFFFFF"/>
                    </a:solidFill>
                  </a:tcPr>
                </a:tc>
                <a:tc>
                  <a:txBody>
                    <a:bodyPr wrap="square"/>
                    <a:lstStyle/>
                    <a:p>
                      <a:pPr algn="ctr"/>
                      <a:r>
                        <a:rPr sz="1200" b="0" i="0">
                          <a:solidFill>
                            <a:srgbClr val="1F1F1F"/>
                          </a:solidFill>
                          <a:latin typeface="Calibri"/>
                        </a:rPr>
                        <a:t>0 missing in 13 features</a:t>
                      </a:r>
                    </a:p>
                  </a:txBody>
                  <a:tcPr marL="54864" marR="54864" marT="27432" marB="27432" anchor="ctr">
                    <a:solidFill>
                      <a:srgbClr val="FFFFFF"/>
                    </a:solidFill>
                  </a:tcPr>
                </a:tc>
                <a:tc>
                  <a:txBody>
                    <a:bodyPr wrap="square"/>
                    <a:lstStyle/>
                    <a:p>
                      <a:pPr algn="ctr"/>
                      <a:r>
                        <a:rPr sz="1200" b="0" i="0">
                          <a:solidFill>
                            <a:srgbClr val="1F1F1F"/>
                          </a:solidFill>
                          <a:latin typeface="Calibri"/>
                        </a:rPr>
                        <a:t>no imputation</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 matching</a:t>
                      </a:r>
                    </a:p>
                  </a:txBody>
                  <a:tcPr marL="54864" marR="54864" marT="27432" marB="27432" anchor="ctr">
                    <a:solidFill>
                      <a:srgbClr val="EEF2F8"/>
                    </a:solidFill>
                  </a:tcPr>
                </a:tc>
                <a:tc>
                  <a:txBody>
                    <a:bodyPr wrap="square"/>
                    <a:lstStyle/>
                    <a:p>
                      <a:pPr algn="ctr"/>
                      <a:r>
                        <a:rPr sz="1200" b="0" i="0">
                          <a:solidFill>
                            <a:srgbClr val="1F1F1F"/>
                          </a:solidFill>
                          <a:latin typeface="Calibri"/>
                        </a:rPr>
                        <a:t>699 names; 97 post-2011; 2 wrong fuzzy</a:t>
                      </a:r>
                    </a:p>
                  </a:txBody>
                  <a:tcPr marL="54864" marR="54864" marT="27432" marB="27432" anchor="ctr">
                    <a:solidFill>
                      <a:srgbClr val="EEF2F8"/>
                    </a:solidFill>
                  </a:tcPr>
                </a:tc>
                <a:tc>
                  <a:txBody>
                    <a:bodyPr wrap="square"/>
                    <a:lstStyle/>
                    <a:p>
                      <a:pPr algn="ctr"/>
                      <a:r>
                        <a:rPr sz="1200" b="0" i="0">
                          <a:solidFill>
                            <a:srgbClr val="1F1F1F"/>
                          </a:solidFill>
                          <a:latin typeface="Calibri"/>
                        </a:rPr>
                        <a:t>602 matched, 0 duplicate codes</a:t>
                      </a:r>
                    </a:p>
                  </a:txBody>
                  <a:tcPr marL="54864" marR="54864" marT="27432" marB="27432" anchor="ctr">
                    <a:solidFill>
                      <a:srgbClr val="EEF2F8"/>
                    </a:solidFill>
                  </a:tcPr>
                </a:tc>
                <a:tc>
                  <a:txBody>
                    <a:bodyPr wrap="square"/>
                    <a:lstStyle/>
                    <a:p>
                      <a:pPr algn="ctr"/>
                      <a:r>
                        <a:rPr sz="1200" b="0" i="0">
                          <a:solidFill>
                            <a:srgbClr val="1F1F1F"/>
                          </a:solidFill>
                          <a:latin typeface="Calibri"/>
                        </a:rPr>
                        <a:t>2 errors blocked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Grid weights Σw = 1</a:t>
                      </a:r>
                    </a:p>
                  </a:txBody>
                  <a:tcPr marL="54864" marR="54864" marT="27432" marB="27432" anchor="ctr">
                    <a:solidFill>
                      <a:srgbClr val="FFFFFF"/>
                    </a:solidFill>
                  </a:tcPr>
                </a:tc>
                <a:tc>
                  <a:txBody>
                    <a:bodyPr wrap="square"/>
                    <a:lstStyle/>
                    <a:p>
                      <a:pPr algn="ctr"/>
                      <a:r>
                        <a:rPr sz="1200" b="0" i="0">
                          <a:solidFill>
                            <a:srgbClr val="1F1F1F"/>
                          </a:solidFill>
                          <a:latin typeface="Calibri"/>
                        </a:rPr>
                        <a:t>10,291 rain / 2,074 temp pairs</a:t>
                      </a:r>
                    </a:p>
                  </a:txBody>
                  <a:tcPr marL="54864" marR="54864" marT="27432" marB="27432" anchor="ctr">
                    <a:solidFill>
                      <a:srgbClr val="FFFFFF"/>
                    </a:solidFill>
                  </a:tcPr>
                </a:tc>
                <a:tc>
                  <a:txBody>
                    <a:bodyPr wrap="square"/>
                    <a:lstStyle/>
                    <a:p>
                      <a:pPr algn="ctr"/>
                      <a:r>
                        <a:rPr sz="1200" b="0" i="0">
                          <a:solidFill>
                            <a:srgbClr val="1F1F1F"/>
                          </a:solidFill>
                          <a:latin typeface="Calibri"/>
                        </a:rPr>
                        <a:t>max |Σw−1| 7e-08 / 2e-08</a:t>
                      </a:r>
                    </a:p>
                  </a:txBody>
                  <a:tcPr marL="54864" marR="54864" marT="27432" marB="27432" anchor="ctr">
                    <a:solidFill>
                      <a:srgbClr val="FFFFFF"/>
                    </a:solidFill>
                  </a:tcPr>
                </a:tc>
                <a:tc>
                  <a:txBody>
                    <a:bodyPr wrap="square"/>
                    <a:lstStyle/>
                    <a:p>
                      <a:pPr algn="ctr"/>
                      <a:r>
                        <a:rPr sz="1200" b="0" i="0">
                          <a:solidFill>
                            <a:srgbClr val="1F1F1F"/>
                          </a:solidFill>
                          <a:latin typeface="Calibri"/>
                        </a:rPr>
                        <a:t>RMSE 1.2e-08</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District-day missing cells</a:t>
                      </a:r>
                    </a:p>
                  </a:txBody>
                  <a:tcPr marL="54864" marR="54864" marT="27432" marB="27432" anchor="ctr">
                    <a:solidFill>
                      <a:srgbClr val="EEF2F8"/>
                    </a:solidFill>
                  </a:tcPr>
                </a:tc>
                <a:tc>
                  <a:txBody>
                    <a:bodyPr wrap="square"/>
                    <a:lstStyle/>
                    <a:p>
                      <a:pPr algn="ctr"/>
                      <a:r>
                        <a:rPr sz="1200" b="0" i="0">
                          <a:solidFill>
                            <a:srgbClr val="1F1F1F"/>
                          </a:solidFill>
                          <a:latin typeface="Calibri"/>
                        </a:rPr>
                        <a:t>rain 0.62%, Tmax 0.37%</a:t>
                      </a:r>
                    </a:p>
                  </a:txBody>
                  <a:tcPr marL="54864" marR="54864" marT="27432" marB="27432" anchor="ctr">
                    <a:solidFill>
                      <a:srgbClr val="EEF2F8"/>
                    </a:solidFill>
                  </a:tcPr>
                </a:tc>
                <a:tc>
                  <a:txBody>
                    <a:bodyPr wrap="square"/>
                    <a:lstStyle/>
                    <a:p>
                      <a:pPr algn="ctr"/>
                      <a:r>
                        <a:rPr sz="1200" b="0" i="0">
                          <a:solidFill>
                            <a:srgbClr val="1F1F1F"/>
                          </a:solidFill>
                          <a:latin typeface="Calibri"/>
                        </a:rPr>
                        <a:t>kept as NaN, weights renormalised</a:t>
                      </a:r>
                    </a:p>
                  </a:txBody>
                  <a:tcPr marL="54864" marR="54864" marT="27432" marB="27432" anchor="ctr">
                    <a:solidFill>
                      <a:srgbClr val="EEF2F8"/>
                    </a:solidFill>
                  </a:tcPr>
                </a:tc>
                <a:tc>
                  <a:txBody>
                    <a:bodyPr wrap="square"/>
                    <a:lstStyle/>
                    <a:p>
                      <a:pPr algn="ctr"/>
                      <a:r>
                        <a:rPr sz="1200" b="0" i="0">
                          <a:solidFill>
                            <a:srgbClr val="1F1F1F"/>
                          </a:solidFill>
                          <a:latin typeface="Calibri"/>
                        </a:rPr>
                        <a:t>0 zero-filled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Final table quality</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0 duplicates, 0 out of range</a:t>
                      </a:r>
                    </a:p>
                  </a:txBody>
                  <a:tcPr marL="54864" marR="54864" marT="27432" marB="27432" anchor="ctr">
                    <a:solidFill>
                      <a:srgbClr val="FFFFFF"/>
                    </a:solidFill>
                  </a:tcPr>
                </a:tc>
                <a:tc>
                  <a:txBody>
                    <a:bodyPr wrap="square"/>
                    <a:lstStyle/>
                    <a:p>
                      <a:pPr algn="ctr"/>
                      <a:r>
                        <a:rPr sz="1200" b="0" i="0">
                          <a:solidFill>
                            <a:srgbClr val="1F1F1F"/>
                          </a:solidFill>
                          <a:latin typeface="Calibri"/>
                        </a:rPr>
                        <a:t>66 outlier cells flagged, kept</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Area-weighted vs nearest-cell</a:t>
                      </a:r>
                    </a:p>
                  </a:txBody>
                  <a:tcPr marL="54864" marR="54864" marT="27432" marB="27432" anchor="ctr">
                    <a:solidFill>
                      <a:srgbClr val="EEF2F8"/>
                    </a:solidFill>
                  </a:tcPr>
                </a:tc>
                <a:tc>
                  <a:txBody>
                    <a:bodyPr wrap="square"/>
                    <a:lstStyle/>
                    <a:p>
                      <a:pPr algn="ctr"/>
                      <a:r>
                        <a:rPr sz="1200" b="0" i="0">
                          <a:solidFill>
                            <a:srgbClr val="1F1F1F"/>
                          </a:solidFill>
                          <a:latin typeface="Calibri"/>
                        </a:rPr>
                        <a:t>naive method, 2020</a:t>
                      </a:r>
                    </a:p>
                  </a:txBody>
                  <a:tcPr marL="54864" marR="54864" marT="27432" marB="27432" anchor="ctr">
                    <a:solidFill>
                      <a:srgbClr val="EEF2F8"/>
                    </a:solidFill>
                  </a:tcPr>
                </a:tc>
                <a:tc>
                  <a:txBody>
                    <a:bodyPr wrap="square"/>
                    <a:lstStyle/>
                    <a:p>
                      <a:pPr algn="ctr"/>
                      <a:r>
                        <a:rPr sz="1200" b="0" i="0">
                          <a:solidFill>
                            <a:srgbClr val="1F1F1F"/>
                          </a:solidFill>
                          <a:latin typeface="Calibri"/>
                        </a:rPr>
                        <a:t>636 districts</a:t>
                      </a:r>
                    </a:p>
                  </a:txBody>
                  <a:tcPr marL="54864" marR="54864" marT="27432" marB="27432" anchor="ctr">
                    <a:solidFill>
                      <a:srgbClr val="EEF2F8"/>
                    </a:solidFill>
                  </a:tcPr>
                </a:tc>
                <a:tc>
                  <a:txBody>
                    <a:bodyPr wrap="square"/>
                    <a:lstStyle/>
                    <a:p>
                      <a:pPr algn="ctr"/>
                      <a:r>
                        <a:rPr sz="1200" b="0" i="0">
                          <a:solidFill>
                            <a:srgbClr val="1F1F1F"/>
                          </a:solidFill>
                          <a:latin typeface="Calibri"/>
                        </a:rPr>
                        <a:t>RMSE 287 mm (11.1%) avoided</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595959"/>
                </a:solidFill>
                <a:latin typeface="Calibri"/>
              </a:rPr>
              <a:t>Computed 2026-10-22 from project data; district-day values from the Colab run 2026-10-22. The nearest-cell check needs the raw IMD grids (Colab).</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Performance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279392"/>
        </p:xfrm>
        <a:graphic>
          <a:graphicData uri="http://schemas.openxmlformats.org/drawingml/2006/table">
            <a:tbl>
              <a:tblPr firstRow="1" bandRow="1">
                <a:tableStyleId>{5C22544A-7EE6-4342-B048-85BDC9FD1C3A}</a:tableStyleId>
              </a:tblPr>
              <a:tblGrid>
                <a:gridCol w="914400"/>
                <a:gridCol w="1828800"/>
                <a:gridCol w="2651760"/>
                <a:gridCol w="1508760"/>
                <a:gridCol w="1508760"/>
              </a:tblGrid>
              <a:tr h="475488">
                <a:tc>
                  <a:txBody>
                    <a:bodyPr wrap="square"/>
                    <a:lstStyle/>
                    <a:p>
                      <a:pPr algn="l"/>
                      <a:r>
                        <a:rPr sz="1100" b="1" i="0">
                          <a:solidFill>
                            <a:srgbClr val="FFFFFF"/>
                          </a:solidFill>
                          <a:latin typeface="Calibri"/>
                        </a:rPr>
                        <a:t>Metric</a:t>
                      </a:r>
                    </a:p>
                  </a:txBody>
                  <a:tcPr marL="54864" marR="54864" marT="27432" marB="27432" anchor="ctr">
                    <a:solidFill>
                      <a:srgbClr val="1B3A6B"/>
                    </a:solidFill>
                  </a:tcPr>
                </a:tc>
                <a:tc>
                  <a:txBody>
                    <a:bodyPr wrap="square"/>
                    <a:lstStyle/>
                    <a:p>
                      <a:pPr algn="ctr"/>
                      <a:r>
                        <a:rPr sz="1100" b="1" i="0">
                          <a:solidFill>
                            <a:srgbClr val="FFFFFF"/>
                          </a:solidFill>
                          <a:latin typeface="Calibri"/>
                        </a:rPr>
                        <a:t>Full form</a:t>
                      </a:r>
                    </a:p>
                  </a:txBody>
                  <a:tcPr marL="54864" marR="54864" marT="27432" marB="27432" anchor="ctr">
                    <a:solidFill>
                      <a:srgbClr val="1B3A6B"/>
                    </a:solidFill>
                  </a:tcPr>
                </a:tc>
                <a:tc>
                  <a:txBody>
                    <a:bodyPr wrap="square"/>
                    <a:lstStyle/>
                    <a:p>
                      <a:pPr algn="ctr"/>
                      <a:r>
                        <a:rPr sz="1100" b="1" i="0">
                          <a:solidFill>
                            <a:srgbClr val="FFFFFF"/>
                          </a:solidFill>
                          <a:latin typeface="Calibri"/>
                        </a:rPr>
                        <a:t>Purpose</a:t>
                      </a:r>
                    </a:p>
                  </a:txBody>
                  <a:tcPr marL="54864" marR="54864" marT="27432" marB="27432" anchor="ctr">
                    <a:solidFill>
                      <a:srgbClr val="1B3A6B"/>
                    </a:solidFill>
                  </a:tcPr>
                </a:tc>
                <a:tc>
                  <a:txBody>
                    <a:bodyPr wrap="square"/>
                    <a:lstStyle/>
                    <a:p>
                      <a:pPr algn="ctr"/>
                      <a:r>
                        <a:rPr sz="1100" b="1" i="0">
                          <a:solidFill>
                            <a:srgbClr val="FFFFFF"/>
                          </a:solidFill>
                          <a:latin typeface="Calibri"/>
                        </a:rPr>
                        <a:t>Nearest cell vs our area-weighted rain</a:t>
                      </a:r>
                    </a:p>
                  </a:txBody>
                  <a:tcPr marL="54864" marR="54864" marT="27432" marB="27432" anchor="ctr">
                    <a:solidFill>
                      <a:srgbClr val="1B3A6B"/>
                    </a:solidFill>
                  </a:tcPr>
                </a:tc>
                <a:tc>
                  <a:txBody>
                    <a:bodyPr wrap="square"/>
                    <a:lstStyle/>
                    <a:p>
                      <a:pPr algn="ctr"/>
                      <a:r>
                        <a:rPr sz="1100" b="1" i="0">
                          <a:solidFill>
                            <a:srgbClr val="FFFFFF"/>
                          </a:solidFill>
                          <a:latin typeface="Calibri"/>
                        </a:rPr>
                        <a:t>MapReduce vs independent pandas</a:t>
                      </a:r>
                    </a:p>
                  </a:txBody>
                  <a:tcPr marL="54864" marR="54864" marT="27432" marB="27432" anchor="ctr">
                    <a:solidFill>
                      <a:srgbClr val="1B3A6B"/>
                    </a:solidFill>
                  </a:tcPr>
                </a:tc>
              </a:tr>
              <a:tr h="475488">
                <a:tc>
                  <a:txBody>
                    <a:bodyPr wrap="square"/>
                    <a:lstStyle/>
                    <a:p>
                      <a:pPr algn="l"/>
                      <a:r>
                        <a:rPr sz="1100" b="1" i="0">
                          <a:solidFill>
                            <a:srgbClr val="1F1F1F"/>
                          </a:solidFill>
                          <a:latin typeface="Calibri"/>
                        </a:rPr>
                        <a:t>RMSE</a:t>
                      </a:r>
                    </a:p>
                  </a:txBody>
                  <a:tcPr marL="54864" marR="54864" marT="27432" marB="27432" anchor="ctr">
                    <a:solidFill>
                      <a:srgbClr val="FFFFFF"/>
                    </a:solidFill>
                  </a:tcPr>
                </a:tc>
                <a:tc>
                  <a:txBody>
                    <a:bodyPr wrap="square"/>
                    <a:lstStyle/>
                    <a:p>
                      <a:pPr algn="ctr"/>
                      <a:r>
                        <a:rPr sz="1100" b="0" i="0">
                          <a:solidFill>
                            <a:srgbClr val="1F1F1F"/>
                          </a:solidFill>
                          <a:latin typeface="Calibri"/>
                        </a:rPr>
                        <a:t>Root Mean Square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Square root of the average squared error</a:t>
                      </a:r>
                    </a:p>
                  </a:txBody>
                  <a:tcPr marL="54864" marR="54864" marT="27432" marB="27432" anchor="ctr">
                    <a:solidFill>
                      <a:srgbClr val="FFFFFF"/>
                    </a:solidFill>
                  </a:tcPr>
                </a:tc>
                <a:tc>
                  <a:txBody>
                    <a:bodyPr wrap="square"/>
                    <a:lstStyle/>
                    <a:p>
                      <a:pPr algn="ctr"/>
                      <a:r>
                        <a:rPr sz="1100" b="0" i="0">
                          <a:solidFill>
                            <a:srgbClr val="1F1F1F"/>
                          </a:solidFill>
                          <a:latin typeface="Calibri"/>
                        </a:rPr>
                        <a:t>286.9</a:t>
                      </a:r>
                    </a:p>
                  </a:txBody>
                  <a:tcPr marL="54864" marR="54864" marT="27432" marB="27432" anchor="ctr">
                    <a:solidFill>
                      <a:srgbClr val="FFFFFF"/>
                    </a:solidFill>
                  </a:tcPr>
                </a:tc>
                <a:tc>
                  <a:txBody>
                    <a:bodyPr wrap="square"/>
                    <a:lstStyle/>
                    <a:p>
                      <a:pPr algn="ctr"/>
                      <a:r>
                        <a:rPr sz="1100" b="0" i="0">
                          <a:solidFill>
                            <a:srgbClr val="1F1F1F"/>
                          </a:solidFill>
                          <a:latin typeface="Calibri"/>
                        </a:rPr>
                        <a:t>0.003</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MSE</a:t>
                      </a:r>
                    </a:p>
                  </a:txBody>
                  <a:tcPr marL="54864" marR="54864" marT="27432" marB="27432" anchor="ctr">
                    <a:solidFill>
                      <a:srgbClr val="EEF2F8"/>
                    </a:solidFill>
                  </a:tcPr>
                </a:tc>
                <a:tc>
                  <a:txBody>
                    <a:bodyPr wrap="square"/>
                    <a:lstStyle/>
                    <a:p>
                      <a:pPr algn="ctr"/>
                      <a:r>
                        <a:rPr sz="1100" b="0" i="0">
                          <a:solidFill>
                            <a:srgbClr val="1F1F1F"/>
                          </a:solidFill>
                          <a:latin typeface="Calibri"/>
                        </a:rPr>
                        <a:t>Mean Squared Error</a:t>
                      </a:r>
                    </a:p>
                  </a:txBody>
                  <a:tcPr marL="54864" marR="54864" marT="27432" marB="27432" anchor="ctr">
                    <a:solidFill>
                      <a:srgbClr val="EEF2F8"/>
                    </a:solidFill>
                  </a:tcPr>
                </a:tc>
                <a:tc>
                  <a:txBody>
                    <a:bodyPr wrap="square"/>
                    <a:lstStyle/>
                    <a:p>
                      <a:pPr algn="ctr"/>
                      <a:r>
                        <a:rPr sz="1100" b="0" i="0">
                          <a:solidFill>
                            <a:srgbClr val="1F1F1F"/>
                          </a:solidFill>
                          <a:latin typeface="Calibri"/>
                        </a:rPr>
                        <a:t>Average squared difference, actual vs computed</a:t>
                      </a:r>
                    </a:p>
                  </a:txBody>
                  <a:tcPr marL="54864" marR="54864" marT="27432" marB="27432" anchor="ctr">
                    <a:solidFill>
                      <a:srgbClr val="EEF2F8"/>
                    </a:solidFill>
                  </a:tcPr>
                </a:tc>
                <a:tc>
                  <a:txBody>
                    <a:bodyPr wrap="square"/>
                    <a:lstStyle/>
                    <a:p>
                      <a:pPr algn="ctr"/>
                      <a:r>
                        <a:rPr sz="1100" b="0" i="0">
                          <a:solidFill>
                            <a:srgbClr val="1F1F1F"/>
                          </a:solidFill>
                          <a:latin typeface="Calibri"/>
                        </a:rPr>
                        <a:t>82,313.7</a:t>
                      </a:r>
                    </a:p>
                  </a:txBody>
                  <a:tcPr marL="54864" marR="54864" marT="27432" marB="27432" anchor="ctr">
                    <a:solidFill>
                      <a:srgbClr val="EEF2F8"/>
                    </a:solidFill>
                  </a:tcPr>
                </a:tc>
                <a:tc>
                  <a:txBody>
                    <a:bodyPr wrap="square"/>
                    <a:lstStyle/>
                    <a:p>
                      <a:pPr algn="ctr"/>
                      <a:r>
                        <a:rPr sz="1100" b="0" i="0">
                          <a:solidFill>
                            <a:srgbClr val="1F1F1F"/>
                          </a:solidFill>
                          <a:latin typeface="Calibri"/>
                        </a:rPr>
                        <a:t>8.4e-06</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MAE</a:t>
                      </a:r>
                    </a:p>
                  </a:txBody>
                  <a:tcPr marL="54864" marR="54864" marT="27432" marB="27432" anchor="ctr">
                    <a:solidFill>
                      <a:srgbClr val="FFFFFF"/>
                    </a:solidFill>
                  </a:tcPr>
                </a:tc>
                <a:tc>
                  <a:txBody>
                    <a:bodyPr wrap="square"/>
                    <a:lstStyle/>
                    <a:p>
                      <a:pPr algn="ctr"/>
                      <a:r>
                        <a:rPr sz="1100" b="0" i="0">
                          <a:solidFill>
                            <a:srgbClr val="1F1F1F"/>
                          </a:solidFill>
                          <a:latin typeface="Calibri"/>
                        </a:rPr>
                        <a:t>Mean Absolute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Average absolute difference</a:t>
                      </a:r>
                    </a:p>
                  </a:txBody>
                  <a:tcPr marL="54864" marR="54864" marT="27432" marB="27432" anchor="ctr">
                    <a:solidFill>
                      <a:srgbClr val="FFFFFF"/>
                    </a:solidFill>
                  </a:tcPr>
                </a:tc>
                <a:tc>
                  <a:txBody>
                    <a:bodyPr wrap="square"/>
                    <a:lstStyle/>
                    <a:p>
                      <a:pPr algn="ctr"/>
                      <a:r>
                        <a:rPr sz="1100" b="0" i="0">
                          <a:solidFill>
                            <a:srgbClr val="1F1F1F"/>
                          </a:solidFill>
                          <a:latin typeface="Calibri"/>
                        </a:rPr>
                        <a:t>151.7</a:t>
                      </a:r>
                    </a:p>
                  </a:txBody>
                  <a:tcPr marL="54864" marR="54864" marT="27432" marB="27432" anchor="ctr">
                    <a:solidFill>
                      <a:srgbClr val="FFFFFF"/>
                    </a:solidFill>
                  </a:tcPr>
                </a:tc>
                <a:tc>
                  <a:txBody>
                    <a:bodyPr wrap="square"/>
                    <a:lstStyle/>
                    <a:p>
                      <a:pPr algn="ctr"/>
                      <a:r>
                        <a:rPr sz="1100" b="0" i="0">
                          <a:solidFill>
                            <a:srgbClr val="1F1F1F"/>
                          </a:solidFill>
                          <a:latin typeface="Calibri"/>
                        </a:rPr>
                        <a:t>0.003</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MAPE</a:t>
                      </a:r>
                    </a:p>
                  </a:txBody>
                  <a:tcPr marL="54864" marR="54864" marT="27432" marB="27432" anchor="ctr">
                    <a:solidFill>
                      <a:srgbClr val="EEF2F8"/>
                    </a:solidFill>
                  </a:tcPr>
                </a:tc>
                <a:tc>
                  <a:txBody>
                    <a:bodyPr wrap="square"/>
                    <a:lstStyle/>
                    <a:p>
                      <a:pPr algn="ctr"/>
                      <a:r>
                        <a:rPr sz="1100" b="0" i="0">
                          <a:solidFill>
                            <a:srgbClr val="1F1F1F"/>
                          </a:solidFill>
                          <a:latin typeface="Calibri"/>
                        </a:rPr>
                        <a:t>Mean Absolute Percentage Error</a:t>
                      </a:r>
                    </a:p>
                  </a:txBody>
                  <a:tcPr marL="54864" marR="54864" marT="27432" marB="27432" anchor="ctr">
                    <a:solidFill>
                      <a:srgbClr val="EEF2F8"/>
                    </a:solidFill>
                  </a:tcPr>
                </a:tc>
                <a:tc>
                  <a:txBody>
                    <a:bodyPr wrap="square"/>
                    <a:lstStyle/>
                    <a:p>
                      <a:pPr algn="ctr"/>
                      <a:r>
                        <a:rPr sz="1100" b="0" i="0">
                          <a:solidFill>
                            <a:srgbClr val="1F1F1F"/>
                          </a:solidFill>
                          <a:latin typeface="Calibri"/>
                        </a:rPr>
                        <a:t>Error as a percentage of the actual value</a:t>
                      </a:r>
                    </a:p>
                  </a:txBody>
                  <a:tcPr marL="54864" marR="54864" marT="27432" marB="27432" anchor="ctr">
                    <a:solidFill>
                      <a:srgbClr val="EEF2F8"/>
                    </a:solidFill>
                  </a:tcPr>
                </a:tc>
                <a:tc>
                  <a:txBody>
                    <a:bodyPr wrap="square"/>
                    <a:lstStyle/>
                    <a:p>
                      <a:pPr algn="ctr"/>
                      <a:r>
                        <a:rPr sz="1100" b="0" i="0">
                          <a:solidFill>
                            <a:srgbClr val="1F1F1F"/>
                          </a:solidFill>
                          <a:latin typeface="Calibri"/>
                        </a:rPr>
                        <a:t>11.08%</a:t>
                      </a:r>
                    </a:p>
                  </a:txBody>
                  <a:tcPr marL="54864" marR="54864" marT="27432" marB="27432" anchor="ctr">
                    <a:solidFill>
                      <a:srgbClr val="EEF2F8"/>
                    </a:solidFill>
                  </a:tcPr>
                </a:tc>
                <a:tc>
                  <a:txBody>
                    <a:bodyPr wrap="square"/>
                    <a:lstStyle/>
                    <a:p>
                      <a:pPr algn="ctr"/>
                      <a:r>
                        <a:rPr sz="1100" b="0" i="0">
                          <a:solidFill>
                            <a:srgbClr val="1F1F1F"/>
                          </a:solidFill>
                          <a:latin typeface="Calibri"/>
                        </a:rPr>
                        <a:t>0.01%</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R²</a:t>
                      </a:r>
                    </a:p>
                  </a:txBody>
                  <a:tcPr marL="54864" marR="54864" marT="27432" marB="27432" anchor="ctr">
                    <a:solidFill>
                      <a:srgbClr val="FFFFFF"/>
                    </a:solidFill>
                  </a:tcPr>
                </a:tc>
                <a:tc>
                  <a:txBody>
                    <a:bodyPr wrap="square"/>
                    <a:lstStyle/>
                    <a:p>
                      <a:pPr algn="ctr"/>
                      <a:r>
                        <a:rPr sz="1100" b="0" i="0">
                          <a:solidFill>
                            <a:srgbClr val="1F1F1F"/>
                          </a:solidFill>
                          <a:latin typeface="Calibri"/>
                        </a:rPr>
                        <a:t>Coefficient of Determination</a:t>
                      </a:r>
                    </a:p>
                  </a:txBody>
                  <a:tcPr marL="54864" marR="54864" marT="27432" marB="27432" anchor="ctr">
                    <a:solidFill>
                      <a:srgbClr val="FFFFFF"/>
                    </a:solidFill>
                  </a:tcPr>
                </a:tc>
                <a:tc>
                  <a:txBody>
                    <a:bodyPr wrap="square"/>
                    <a:lstStyle/>
                    <a:p>
                      <a:pPr algn="ctr"/>
                      <a:r>
                        <a:rPr sz="1100" b="0" i="0">
                          <a:solidFill>
                            <a:srgbClr val="1F1F1F"/>
                          </a:solidFill>
                          <a:latin typeface="Calibri"/>
                        </a:rPr>
                        <a:t>How much of the variation is reproduced (1 = all)</a:t>
                      </a:r>
                    </a:p>
                  </a:txBody>
                  <a:tcPr marL="54864" marR="54864" marT="27432" marB="27432" anchor="ctr">
                    <a:solidFill>
                      <a:srgbClr val="FFFFFF"/>
                    </a:solidFill>
                  </a:tcPr>
                </a:tc>
                <a:tc>
                  <a:txBody>
                    <a:bodyPr wrap="square"/>
                    <a:lstStyle/>
                    <a:p>
                      <a:pPr algn="ctr"/>
                      <a:r>
                        <a:rPr sz="1100" b="0" i="0">
                          <a:solidFill>
                            <a:srgbClr val="1F1F1F"/>
                          </a:solidFill>
                          <a:latin typeface="Calibri"/>
                        </a:rPr>
                        <a:t>0.9042</a:t>
                      </a:r>
                    </a:p>
                  </a:txBody>
                  <a:tcPr marL="54864" marR="54864" marT="27432" marB="27432" anchor="ctr">
                    <a:solidFill>
                      <a:srgbClr val="FFFFFF"/>
                    </a:solidFill>
                  </a:tcPr>
                </a:tc>
                <a:tc>
                  <a:txBody>
                    <a:bodyPr wrap="square"/>
                    <a:lstStyle/>
                    <a:p>
                      <a:pPr algn="ctr"/>
                      <a:r>
                        <a:rPr sz="1100" b="0" i="0">
                          <a:solidFill>
                            <a:srgbClr val="1F1F1F"/>
                          </a:solidFill>
                          <a:latin typeface="Calibri"/>
                        </a:rPr>
                        <a:t>0.999999</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NRMSE</a:t>
                      </a:r>
                    </a:p>
                  </a:txBody>
                  <a:tcPr marL="54864" marR="54864" marT="27432" marB="27432" anchor="ctr">
                    <a:solidFill>
                      <a:srgbClr val="EEF2F8"/>
                    </a:solidFill>
                  </a:tcPr>
                </a:tc>
                <a:tc>
                  <a:txBody>
                    <a:bodyPr wrap="square"/>
                    <a:lstStyle/>
                    <a:p>
                      <a:pPr algn="ctr"/>
                      <a:r>
                        <a:rPr sz="1100" b="0" i="0">
                          <a:solidFill>
                            <a:srgbClr val="1F1F1F"/>
                          </a:solidFill>
                          <a:latin typeface="Calibri"/>
                        </a:rPr>
                        <a:t>Normalised RMSE</a:t>
                      </a:r>
                    </a:p>
                  </a:txBody>
                  <a:tcPr marL="54864" marR="54864" marT="27432" marB="27432" anchor="ctr">
                    <a:solidFill>
                      <a:srgbClr val="EEF2F8"/>
                    </a:solidFill>
                  </a:tcPr>
                </a:tc>
                <a:tc>
                  <a:txBody>
                    <a:bodyPr wrap="square"/>
                    <a:lstStyle/>
                    <a:p>
                      <a:pPr algn="ctr"/>
                      <a:r>
                        <a:rPr sz="1100" b="0" i="0">
                          <a:solidFill>
                            <a:srgbClr val="1F1F1F"/>
                          </a:solidFill>
                          <a:latin typeface="Calibri"/>
                        </a:rPr>
                        <a:t>RMSE divided by the range of the actual values</a:t>
                      </a:r>
                    </a:p>
                  </a:txBody>
                  <a:tcPr marL="54864" marR="54864" marT="27432" marB="27432" anchor="ctr">
                    <a:solidFill>
                      <a:srgbClr val="EEF2F8"/>
                    </a:solidFill>
                  </a:tcPr>
                </a:tc>
                <a:tc>
                  <a:txBody>
                    <a:bodyPr wrap="square"/>
                    <a:lstStyle/>
                    <a:p>
                      <a:pPr algn="ctr"/>
                      <a:r>
                        <a:rPr sz="1100" b="0" i="0">
                          <a:solidFill>
                            <a:srgbClr val="1F1F1F"/>
                          </a:solidFill>
                          <a:latin typeface="Calibri"/>
                        </a:rPr>
                        <a:t>0.034</a:t>
                      </a:r>
                    </a:p>
                  </a:txBody>
                  <a:tcPr marL="54864" marR="54864" marT="27432" marB="27432" anchor="ctr">
                    <a:solidFill>
                      <a:srgbClr val="EEF2F8"/>
                    </a:solidFill>
                  </a:tcPr>
                </a:tc>
                <a:tc>
                  <a:txBody>
                    <a:bodyPr wrap="square"/>
                    <a:lstStyle/>
                    <a:p>
                      <a:pPr algn="ctr"/>
                      <a:r>
                        <a:rPr sz="1100" b="0" i="0">
                          <a:solidFill>
                            <a:srgbClr val="1F1F1F"/>
                          </a:solidFill>
                          <a:latin typeface="Calibri"/>
                        </a:rPr>
                        <a:t>1.9e-04</a:t>
                      </a:r>
                    </a:p>
                  </a:txBody>
                  <a:tcPr marL="54864" marR="54864" marT="27432" marB="27432" anchor="ctr">
                    <a:solidFill>
                      <a:srgbClr val="EEF2F8"/>
                    </a:solidFill>
                  </a:tcPr>
                </a:tc>
              </a:tr>
              <a:tr h="475488">
                <a:tc>
                  <a:txBody>
                    <a:bodyPr wrap="square"/>
                    <a:lstStyle/>
                    <a:p>
                      <a:pPr algn="l"/>
                      <a:r>
                        <a:rPr sz="1100" b="1" i="0">
                          <a:solidFill>
                            <a:srgbClr val="1F1F1F"/>
                          </a:solidFill>
                          <a:latin typeface="Calibri"/>
                        </a:rPr>
                        <a:t>MedAE</a:t>
                      </a:r>
                    </a:p>
                  </a:txBody>
                  <a:tcPr marL="54864" marR="54864" marT="27432" marB="27432" anchor="ctr">
                    <a:solidFill>
                      <a:srgbClr val="FFFFFF"/>
                    </a:solidFill>
                  </a:tcPr>
                </a:tc>
                <a:tc>
                  <a:txBody>
                    <a:bodyPr wrap="square"/>
                    <a:lstStyle/>
                    <a:p>
                      <a:pPr algn="ctr"/>
                      <a:r>
                        <a:rPr sz="1100" b="0" i="0">
                          <a:solidFill>
                            <a:srgbClr val="1F1F1F"/>
                          </a:solidFill>
                          <a:latin typeface="Calibri"/>
                        </a:rPr>
                        <a:t>Median Absolute Error</a:t>
                      </a:r>
                    </a:p>
                  </a:txBody>
                  <a:tcPr marL="54864" marR="54864" marT="27432" marB="27432" anchor="ctr">
                    <a:solidFill>
                      <a:srgbClr val="FFFFFF"/>
                    </a:solidFill>
                  </a:tcPr>
                </a:tc>
                <a:tc>
                  <a:txBody>
                    <a:bodyPr wrap="square"/>
                    <a:lstStyle/>
                    <a:p>
                      <a:pPr algn="ctr"/>
                      <a:r>
                        <a:rPr sz="1100" b="0" i="0">
                          <a:solidFill>
                            <a:srgbClr val="1F1F1F"/>
                          </a:solidFill>
                          <a:latin typeface="Calibri"/>
                        </a:rPr>
                        <a:t>Median error; not driven by a few extreme values</a:t>
                      </a:r>
                    </a:p>
                  </a:txBody>
                  <a:tcPr marL="54864" marR="54864" marT="27432" marB="27432" anchor="ctr">
                    <a:solidFill>
                      <a:srgbClr val="FFFFFF"/>
                    </a:solidFill>
                  </a:tcPr>
                </a:tc>
                <a:tc>
                  <a:txBody>
                    <a:bodyPr wrap="square"/>
                    <a:lstStyle/>
                    <a:p>
                      <a:pPr algn="ctr"/>
                      <a:r>
                        <a:rPr sz="1100" b="0" i="0">
                          <a:solidFill>
                            <a:srgbClr val="1F1F1F"/>
                          </a:solidFill>
                          <a:latin typeface="Calibri"/>
                        </a:rPr>
                        <a:t>87.0</a:t>
                      </a:r>
                    </a:p>
                  </a:txBody>
                  <a:tcPr marL="54864" marR="54864" marT="27432" marB="27432" anchor="ctr">
                    <a:solidFill>
                      <a:srgbClr val="FFFFFF"/>
                    </a:solidFill>
                  </a:tcPr>
                </a:tc>
                <a:tc>
                  <a:txBody>
                    <a:bodyPr wrap="square"/>
                    <a:lstStyle/>
                    <a:p>
                      <a:pPr algn="ctr"/>
                      <a:r>
                        <a:rPr sz="1100" b="0" i="0">
                          <a:solidFill>
                            <a:srgbClr val="1F1F1F"/>
                          </a:solidFill>
                          <a:latin typeface="Calibri"/>
                        </a:rPr>
                        <a:t>0.002</a:t>
                      </a:r>
                    </a:p>
                  </a:txBody>
                  <a:tcPr marL="54864" marR="54864" marT="27432" marB="27432" anchor="ctr">
                    <a:solidFill>
                      <a:srgbClr val="FFFFFF"/>
                    </a:solidFill>
                  </a:tcPr>
                </a:tc>
              </a:tr>
              <a:tr h="475488">
                <a:tc>
                  <a:txBody>
                    <a:bodyPr wrap="square"/>
                    <a:lstStyle/>
                    <a:p>
                      <a:pPr algn="l"/>
                      <a:r>
                        <a:rPr sz="1100" b="1" i="0">
                          <a:solidFill>
                            <a:srgbClr val="1F1F1F"/>
                          </a:solidFill>
                          <a:latin typeface="Calibri"/>
                        </a:rPr>
                        <a:t>Bias / ME</a:t>
                      </a:r>
                    </a:p>
                  </a:txBody>
                  <a:tcPr marL="54864" marR="54864" marT="27432" marB="27432" anchor="ctr">
                    <a:solidFill>
                      <a:srgbClr val="EEF2F8"/>
                    </a:solidFill>
                  </a:tcPr>
                </a:tc>
                <a:tc>
                  <a:txBody>
                    <a:bodyPr wrap="square"/>
                    <a:lstStyle/>
                    <a:p>
                      <a:pPr algn="ctr"/>
                      <a:r>
                        <a:rPr sz="1100" b="0" i="0">
                          <a:solidFill>
                            <a:srgbClr val="1F1F1F"/>
                          </a:solidFill>
                          <a:latin typeface="Calibri"/>
                        </a:rPr>
                        <a:t>Mean Error</a:t>
                      </a:r>
                    </a:p>
                  </a:txBody>
                  <a:tcPr marL="54864" marR="54864" marT="27432" marB="27432" anchor="ctr">
                    <a:solidFill>
                      <a:srgbClr val="EEF2F8"/>
                    </a:solidFill>
                  </a:tcPr>
                </a:tc>
                <a:tc>
                  <a:txBody>
                    <a:bodyPr wrap="square"/>
                    <a:lstStyle/>
                    <a:p>
                      <a:pPr algn="ctr"/>
                      <a:r>
                        <a:rPr sz="1100" b="0" i="0">
                          <a:solidFill>
                            <a:srgbClr val="1F1F1F"/>
                          </a:solidFill>
                          <a:latin typeface="Calibri"/>
                        </a:rPr>
                        <a:t>Systematic over- (+) or under- (−) estimation</a:t>
                      </a:r>
                    </a:p>
                  </a:txBody>
                  <a:tcPr marL="54864" marR="54864" marT="27432" marB="27432" anchor="ctr">
                    <a:solidFill>
                      <a:srgbClr val="EEF2F8"/>
                    </a:solidFill>
                  </a:tcPr>
                </a:tc>
                <a:tc>
                  <a:txBody>
                    <a:bodyPr wrap="square"/>
                    <a:lstStyle/>
                    <a:p>
                      <a:pPr algn="ctr"/>
                      <a:r>
                        <a:rPr sz="1100" b="0" i="0">
                          <a:solidFill>
                            <a:srgbClr val="1F1F1F"/>
                          </a:solidFill>
                          <a:latin typeface="Calibri"/>
                        </a:rPr>
                        <a:t>5.045</a:t>
                      </a:r>
                    </a:p>
                  </a:txBody>
                  <a:tcPr marL="54864" marR="54864" marT="27432" marB="27432" anchor="ctr">
                    <a:solidFill>
                      <a:srgbClr val="EEF2F8"/>
                    </a:solidFill>
                  </a:tcPr>
                </a:tc>
                <a:tc>
                  <a:txBody>
                    <a:bodyPr wrap="square"/>
                    <a:lstStyle/>
                    <a:p>
                      <a:pPr algn="ctr"/>
                      <a:r>
                        <a:rPr sz="1100" b="0" i="0">
                          <a:solidFill>
                            <a:srgbClr val="1F1F1F"/>
                          </a:solidFill>
                          <a:latin typeface="Calibri"/>
                        </a:rPr>
                        <a:t>-2.2e-05</a:t>
                      </a:r>
                    </a:p>
                  </a:txBody>
                  <a:tcPr marL="54864" marR="54864" marT="27432" marB="27432" anchor="ctr">
                    <a:solidFill>
                      <a:srgbClr val="EEF2F8"/>
                    </a:solidFill>
                  </a:tcPr>
                </a:tc>
              </a:tr>
            </a:tbl>
          </a:graphicData>
        </a:graphic>
      </p:graphicFrame>
      <p:sp>
        <p:nvSpPr>
          <p:cNvPr id="5" name="TextBox 4"/>
          <p:cNvSpPr txBox="1"/>
          <p:nvPr/>
        </p:nvSpPr>
        <p:spPr>
          <a:xfrm>
            <a:off x="365760" y="5532120"/>
            <a:ext cx="8412480" cy="822960"/>
          </a:xfrm>
          <a:prstGeom prst="rect">
            <a:avLst/>
          </a:prstGeom>
          <a:noFill/>
        </p:spPr>
        <p:txBody>
          <a:bodyPr wrap="square" anchor="t" lIns="45720" rIns="45720">
            <a:spAutoFit/>
          </a:bodyPr>
          <a:lstStyle/>
          <a:p>
            <a:pPr algn="l"/>
            <a:r>
              <a:rPr sz="1000" b="0" i="0">
                <a:solidFill>
                  <a:srgbClr val="595959"/>
                </a:solidFill>
                <a:latin typeface="Calibri"/>
              </a:rPr>
              <a:t>Left: 636 districts, year 2020, in mm; large values are the error the naive method would make. Right: 19,200 district-years × 7 indices; values near 0 (and R² near 1) mean MapReduce matches. MAPE skips zero actual values; NRMSE uses the range. Computed in Colab section 10b (2026-10-28) from the IMD and MapReduce data of the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Classification: B-ACPN Model Card</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54880"/>
        </p:xfrm>
        <a:graphic>
          <a:graphicData uri="http://schemas.openxmlformats.org/drawingml/2006/table">
            <a:tbl>
              <a:tblPr firstRow="1" bandRow="1">
                <a:tableStyleId>{5C22544A-7EE6-4342-B048-85BDC9FD1C3A}</a:tableStyleId>
              </a:tblPr>
              <a:tblGrid>
                <a:gridCol w="2103120"/>
                <a:gridCol w="6309360"/>
              </a:tblGrid>
              <a:tr h="475488">
                <a:tc>
                  <a:txBody>
                    <a:bodyPr wrap="square"/>
                    <a:lstStyle/>
                    <a:p>
                      <a:pPr algn="l"/>
                      <a:r>
                        <a:rPr sz="1200" b="1" i="0">
                          <a:solidFill>
                            <a:srgbClr val="FFFFFF"/>
                          </a:solidFill>
                          <a:latin typeface="Calibri"/>
                        </a:rPr>
                        <a:t>Component</a:t>
                      </a:r>
                    </a:p>
                  </a:txBody>
                  <a:tcPr marL="54864" marR="54864" marT="27432" marB="27432" anchor="ctr">
                    <a:solidFill>
                      <a:srgbClr val="1B3A6B"/>
                    </a:solidFill>
                  </a:tcPr>
                </a:tc>
                <a:tc>
                  <a:txBody>
                    <a:bodyPr wrap="square"/>
                    <a:lstStyle/>
                    <a:p>
                      <a:pPr algn="ctr"/>
                      <a:r>
                        <a:rPr sz="1200" b="1" i="0">
                          <a:solidFill>
                            <a:srgbClr val="FFFFFF"/>
                          </a:solidFill>
                          <a:latin typeface="Calibri"/>
                        </a:rPr>
                        <a:t>Specification</a:t>
                      </a:r>
                    </a:p>
                  </a:txBody>
                  <a:tcPr marL="54864" marR="54864" marT="27432" marB="27432" anchor="ctr">
                    <a:solidFill>
                      <a:srgbClr val="1B3A6B"/>
                    </a:solidFill>
                  </a:tcPr>
                </a:tc>
              </a:tr>
              <a:tr h="475488">
                <a:tc>
                  <a:txBody>
                    <a:bodyPr wrap="square"/>
                    <a:lstStyle/>
                    <a:p>
                      <a:pPr algn="l"/>
                      <a:r>
                        <a:rPr sz="1200" b="1" i="0">
                          <a:solidFill>
                            <a:srgbClr val="1F1F1F"/>
                          </a:solidFill>
                          <a:latin typeface="Calibri"/>
                        </a:rPr>
                        <a:t>Tree stage</a:t>
                      </a:r>
                    </a:p>
                  </a:txBody>
                  <a:tcPr marL="54864" marR="54864" marT="27432" marB="27432" anchor="ctr">
                    <a:solidFill>
                      <a:srgbClr val="FFFFFF"/>
                    </a:solidFill>
                  </a:tcPr>
                </a:tc>
                <a:tc>
                  <a:txBody>
                    <a:bodyPr wrap="square"/>
                    <a:lstStyle/>
                    <a:p>
                      <a:pPr algn="ctr"/>
                      <a:r>
                        <a:rPr sz="1200" b="0" i="0">
                          <a:solidFill>
                            <a:srgbClr val="1F1F1F"/>
                          </a:solidFill>
                          <a:latin typeface="Calibri"/>
                        </a:rPr>
                        <a:t>Random forest, 500 trees, min leaf 2, all 13 features; out-of-fold (5 inner folds) score for training rows</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Deep stage: baseline</a:t>
                      </a:r>
                    </a:p>
                  </a:txBody>
                  <a:tcPr marL="54864" marR="54864" marT="27432" marB="27432" anchor="ctr">
                    <a:solidFill>
                      <a:srgbClr val="EEF2F8"/>
                    </a:solidFill>
                  </a:tcPr>
                </a:tc>
                <a:tc>
                  <a:txBody>
                    <a:bodyPr wrap="square"/>
                    <a:lstStyle/>
                    <a:p>
                      <a:pPr algn="ctr"/>
                      <a:r>
                        <a:rPr sz="1200" b="0" i="0">
                          <a:solidFill>
                            <a:srgbClr val="1F1F1F"/>
                          </a:solidFill>
                          <a:latin typeface="Calibri"/>
                        </a:rPr>
                        <a:t>tree log-odds + Linear(5 → 1) on the 5 development features</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Deep stage: climate push</a:t>
                      </a:r>
                    </a:p>
                  </a:txBody>
                  <a:tcPr marL="54864" marR="54864" marT="27432" marB="27432" anchor="ctr">
                    <a:solidFill>
                      <a:srgbClr val="FFFFFF"/>
                    </a:solidFill>
                  </a:tcPr>
                </a:tc>
                <a:tc>
                  <a:txBody>
                    <a:bodyPr wrap="square"/>
                    <a:lstStyle/>
                    <a:p>
                      <a:pPr algn="ctr"/>
                      <a:r>
                        <a:rPr sz="1200" b="0" i="0">
                          <a:solidFill>
                            <a:srgbClr val="1F1F1F"/>
                          </a:solidFill>
                          <a:latin typeface="Calibri"/>
                        </a:rPr>
                        <a:t>attention (8) → Linear(8→16), ReLU, Dropout 0.3 → residual block → Linear(16→1)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Development gate</a:t>
                      </a:r>
                    </a:p>
                  </a:txBody>
                  <a:tcPr marL="54864" marR="54864" marT="27432" marB="27432" anchor="ctr">
                    <a:solidFill>
                      <a:srgbClr val="EEF2F8"/>
                    </a:solidFill>
                  </a:tcPr>
                </a:tc>
                <a:tc>
                  <a:txBody>
                    <a:bodyPr wrap="square"/>
                    <a:lstStyle/>
                    <a:p>
                      <a:pPr algn="ctr"/>
                      <a:r>
                        <a:rPr sz="1200" b="0" i="0">
                          <a:solidFill>
                            <a:srgbClr val="1F1F1F"/>
                          </a:solidFill>
                          <a:latin typeface="Calibri"/>
                        </a:rPr>
                        <a:t>push × 2σ(Linear(5→4), tanh, Linear(4→1)); ensemble of 5 seeds, probabilities averaged</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Uncertainty</a:t>
                      </a:r>
                    </a:p>
                  </a:txBody>
                  <a:tcPr marL="54864" marR="54864" marT="27432" marB="27432" anchor="ctr">
                    <a:solidFill>
                      <a:srgbClr val="FFFFFF"/>
                    </a:solidFill>
                  </a:tcPr>
                </a:tc>
                <a:tc>
                  <a:txBody>
                    <a:bodyPr wrap="square"/>
                    <a:lstStyle/>
                    <a:p>
                      <a:pPr algn="ctr"/>
                      <a:r>
                        <a:rPr sz="1200" b="0" i="0">
                          <a:solidFill>
                            <a:srgbClr val="1F1F1F"/>
                          </a:solidFill>
                          <a:latin typeface="Calibri"/>
                        </a:rPr>
                        <a:t>MC Dropout (50 passes) + split conformal: 92.9% coverage (target 90%), avg set size 1.51</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Loss / optimiser</a:t>
                      </a:r>
                    </a:p>
                  </a:txBody>
                  <a:tcPr marL="54864" marR="54864" marT="27432" marB="27432" anchor="ctr">
                    <a:solidFill>
                      <a:srgbClr val="EEF2F8"/>
                    </a:solidFill>
                  </a:tcPr>
                </a:tc>
                <a:tc>
                  <a:txBody>
                    <a:bodyPr wrap="square"/>
                    <a:lstStyle/>
                    <a:p>
                      <a:pPr algn="ctr"/>
                      <a:r>
                        <a:rPr sz="1200" b="0" i="0">
                          <a:solidFill>
                            <a:srgbClr val="1F1F1F"/>
                          </a:solidFill>
                          <a:latin typeface="Calibri"/>
                        </a:rPr>
                        <a:t>Class-weighted BCE; AdamW lr 3e-3, weight decay 1e-3, batch 64, early stopping (patience 30)</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Parameters / train time</a:t>
                      </a:r>
                    </a:p>
                  </a:txBody>
                  <a:tcPr marL="54864" marR="54864" marT="27432" marB="27432" anchor="ctr">
                    <a:solidFill>
                      <a:srgbClr val="FFFFFF"/>
                    </a:solidFill>
                  </a:tcPr>
                </a:tc>
                <a:tc>
                  <a:txBody>
                    <a:bodyPr wrap="square"/>
                    <a:lstStyle/>
                    <a:p>
                      <a:pPr algn="ctr"/>
                      <a:r>
                        <a:rPr sz="1200" b="0" i="0">
                          <a:solidFill>
                            <a:srgbClr val="1F1F1F"/>
                          </a:solidFill>
                          <a:latin typeface="Calibri"/>
                        </a:rPr>
                        <a:t>780 trainable per network (+ 500 trees) / 11.8 s per fold (CPU)</a:t>
                      </a:r>
                    </a:p>
                  </a:txBody>
                  <a:tcPr marL="54864" marR="54864" marT="27432" marB="27432" anchor="ctr">
                    <a:solidFill>
                      <a:srgbClr val="FFFFFF"/>
                    </a:solidFill>
                  </a:tcPr>
                </a:tc>
              </a:tr>
              <a:tr h="475488">
                <a:tc>
                  <a:txBody>
                    <a:bodyPr wrap="square"/>
                    <a:lstStyle/>
                    <a:p>
                      <a:pPr algn="l"/>
                      <a:r>
                        <a:rPr sz="1200" b="1" i="0">
                          <a:solidFill>
                            <a:srgbClr val="1F1F1F"/>
                          </a:solidFill>
                          <a:latin typeface="Calibri"/>
                        </a:rPr>
                        <a:t>Validation</a:t>
                      </a:r>
                    </a:p>
                  </a:txBody>
                  <a:tcPr marL="54864" marR="54864" marT="27432" marB="27432" anchor="ctr">
                    <a:solidFill>
                      <a:srgbClr val="EEF2F8"/>
                    </a:solidFill>
                  </a:tcPr>
                </a:tc>
                <a:tc>
                  <a:txBody>
                    <a:bodyPr wrap="square"/>
                    <a:lstStyle/>
                    <a:p>
                      <a:pPr algn="ctr"/>
                      <a:r>
                        <a:rPr sz="1200" b="0" i="0">
                          <a:solidFill>
                            <a:srgbClr val="1F1F1F"/>
                          </a:solidFill>
                          <a:latin typeface="Calibri"/>
                        </a:rPr>
                        <a:t>Repeated stratified 5-fold × 5 (25 folds) + leave-one-state-out</a:t>
                      </a:r>
                    </a:p>
                  </a:txBody>
                  <a:tcPr marL="54864" marR="54864" marT="27432" marB="27432" anchor="ctr">
                    <a:solidFill>
                      <a:srgbClr val="EEF2F8"/>
                    </a:solidFill>
                  </a:tcPr>
                </a:tc>
              </a:tr>
              <a:tr h="475488">
                <a:tc>
                  <a:txBody>
                    <a:bodyPr wrap="square"/>
                    <a:lstStyle/>
                    <a:p>
                      <a:pPr algn="l"/>
                      <a:r>
                        <a:rPr sz="1200" b="1" i="0">
                          <a:solidFill>
                            <a:srgbClr val="1F1F1F"/>
                          </a:solidFill>
                          <a:latin typeface="Calibri"/>
                        </a:rPr>
                        <a:t>Target</a:t>
                      </a:r>
                    </a:p>
                  </a:txBody>
                  <a:tcPr marL="54864" marR="54864" marT="27432" marB="27432" anchor="ctr">
                    <a:solidFill>
                      <a:srgbClr val="FFFFFF"/>
                    </a:solidFill>
                  </a:tcPr>
                </a:tc>
                <a:tc>
                  <a:txBody>
                    <a:bodyPr wrap="square"/>
                    <a:lstStyle/>
                    <a:p>
                      <a:pPr algn="ctr"/>
                      <a:r>
                        <a:rPr sz="1200" b="0" i="0">
                          <a:solidFill>
                            <a:srgbClr val="1F1F1F"/>
                          </a:solidFill>
                          <a:latin typeface="Calibri"/>
                        </a:rPr>
                        <a:t>High vs Low vulnerability (median of 2021 index); index never an input</a:t>
                      </a:r>
                    </a:p>
                  </a:txBody>
                  <a:tcPr marL="54864" marR="54864" marT="27432" marB="27432" anchor="ctr">
                    <a:solidFill>
                      <a:srgbClr val="FFFFFF"/>
                    </a:solidFill>
                  </a:tcPr>
                </a:tc>
              </a:tr>
            </a:tbl>
          </a:graphicData>
        </a:graphic>
      </p:graphicFrame>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Comparison with Existing Classifier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2057400"/>
                <a:gridCol w="1554480"/>
                <a:gridCol w="960120"/>
                <a:gridCol w="960120"/>
                <a:gridCol w="960120"/>
                <a:gridCol w="914400"/>
                <a:gridCol w="1005840"/>
              </a:tblGrid>
              <a:tr h="50292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Type / Tool</a:t>
                      </a:r>
                    </a:p>
                  </a:txBody>
                  <a:tcPr marL="54864" marR="54864" marT="27432" marB="27432" anchor="ctr">
                    <a:solidFill>
                      <a:srgbClr val="1B3A6B"/>
                    </a:solidFill>
                  </a:tcPr>
                </a:tc>
                <a:tc>
                  <a:txBody>
                    <a:bodyPr wrap="square"/>
                    <a:lstStyle/>
                    <a:p>
                      <a:pPr algn="ctr"/>
                      <a:r>
                        <a:rPr sz="1200" b="1" i="0">
                          <a:solidFill>
                            <a:srgbClr val="FFFFFF"/>
                          </a:solidFill>
                          <a:latin typeface="Calibri"/>
                        </a:rPr>
                        <a:t>ROC-AUC</a:t>
                      </a:r>
                    </a:p>
                  </a:txBody>
                  <a:tcPr marL="54864" marR="54864" marT="27432" marB="27432" anchor="ctr">
                    <a:solidFill>
                      <a:srgbClr val="1B3A6B"/>
                    </a:solidFill>
                  </a:tcPr>
                </a:tc>
                <a:tc>
                  <a:txBody>
                    <a:bodyPr wrap="square"/>
                    <a:lstStyle/>
                    <a:p>
                      <a:pPr algn="ctr"/>
                      <a:r>
                        <a:rPr sz="1200" b="1" i="0">
                          <a:solidFill>
                            <a:srgbClr val="FFFFFF"/>
                          </a:solidFill>
                          <a:latin typeface="Calibri"/>
                        </a:rPr>
                        <a:t>Bal. acc.</a:t>
                      </a:r>
                    </a:p>
                  </a:txBody>
                  <a:tcPr marL="54864" marR="54864" marT="27432" marB="27432" anchor="ctr">
                    <a:solidFill>
                      <a:srgbClr val="1B3A6B"/>
                    </a:solidFill>
                  </a:tcPr>
                </a:tc>
                <a:tc>
                  <a:txBody>
                    <a:bodyPr wrap="square"/>
                    <a:lstStyle/>
                    <a:p>
                      <a:pPr algn="ctr"/>
                      <a:r>
                        <a:rPr sz="1200" b="1" i="0">
                          <a:solidFill>
                            <a:srgbClr val="FFFFFF"/>
                          </a:solidFill>
                          <a:latin typeface="Calibri"/>
                        </a:rPr>
                        <a:t>Accuracy</a:t>
                      </a:r>
                    </a:p>
                  </a:txBody>
                  <a:tcPr marL="54864" marR="54864" marT="27432" marB="27432" anchor="ctr">
                    <a:solidFill>
                      <a:srgbClr val="1B3A6B"/>
                    </a:solidFill>
                  </a:tcPr>
                </a:tc>
                <a:tc>
                  <a:txBody>
                    <a:bodyPr wrap="square"/>
                    <a:lstStyle/>
                    <a:p>
                      <a:pPr algn="ctr"/>
                      <a:r>
                        <a:rPr sz="1200" b="1" i="0">
                          <a:solidFill>
                            <a:srgbClr val="FFFFFF"/>
                          </a:solidFill>
                          <a:latin typeface="Calibri"/>
                        </a:rPr>
                        <a:t>F1</a:t>
                      </a:r>
                    </a:p>
                  </a:txBody>
                  <a:tcPr marL="54864" marR="54864" marT="27432" marB="27432" anchor="ctr">
                    <a:solidFill>
                      <a:srgbClr val="1B3A6B"/>
                    </a:solidFill>
                  </a:tcPr>
                </a:tc>
                <a:tc>
                  <a:txBody>
                    <a:bodyPr wrap="square"/>
                    <a:lstStyle/>
                    <a:p>
                      <a:pPr algn="ctr"/>
                      <a:r>
                        <a:rPr sz="1200" b="1" i="0">
                          <a:solidFill>
                            <a:srgbClr val="FFFFFF"/>
                          </a:solidFill>
                          <a:latin typeface="Calibri"/>
                        </a:rPr>
                        <a:t>LOSO AUC</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Novel hybrid DL · PyTorch</a:t>
                      </a:r>
                    </a:p>
                  </a:txBody>
                  <a:tcPr marL="54864" marR="54864" marT="27432" marB="27432" anchor="ctr">
                    <a:solidFill>
                      <a:srgbClr val="FFF4CC"/>
                    </a:solidFill>
                  </a:tcPr>
                </a:tc>
                <a:tc>
                  <a:txBody>
                    <a:bodyPr wrap="square"/>
                    <a:lstStyle/>
                    <a:p>
                      <a:pPr algn="ctr"/>
                      <a:r>
                        <a:rPr sz="1200" b="1" i="0">
                          <a:solidFill>
                            <a:srgbClr val="1F1F1F"/>
                          </a:solidFill>
                          <a:latin typeface="Calibri"/>
                        </a:rPr>
                        <a:t>0.820</a:t>
                      </a:r>
                    </a:p>
                  </a:txBody>
                  <a:tcPr marL="54864" marR="54864" marT="27432" marB="27432" anchor="ctr">
                    <a:solidFill>
                      <a:srgbClr val="FFF4CC"/>
                    </a:solidFill>
                  </a:tcPr>
                </a:tc>
                <a:tc>
                  <a:txBody>
                    <a:bodyPr wrap="square"/>
                    <a:lstStyle/>
                    <a:p>
                      <a:pPr algn="ctr"/>
                      <a:r>
                        <a:rPr sz="1200" b="1" i="0">
                          <a:solidFill>
                            <a:srgbClr val="1F1F1F"/>
                          </a:solidFill>
                          <a:latin typeface="Calibri"/>
                        </a:rPr>
                        <a:t>0.739</a:t>
                      </a:r>
                    </a:p>
                  </a:txBody>
                  <a:tcPr marL="54864" marR="54864" marT="27432" marB="27432" anchor="ctr">
                    <a:solidFill>
                      <a:srgbClr val="FFF4CC"/>
                    </a:solidFill>
                  </a:tcPr>
                </a:tc>
                <a:tc>
                  <a:txBody>
                    <a:bodyPr wrap="square"/>
                    <a:lstStyle/>
                    <a:p>
                      <a:pPr algn="ctr"/>
                      <a:r>
                        <a:rPr sz="1200" b="1" i="0">
                          <a:solidFill>
                            <a:srgbClr val="1F1F1F"/>
                          </a:solidFill>
                          <a:latin typeface="Calibri"/>
                        </a:rPr>
                        <a:t>0.738</a:t>
                      </a:r>
                    </a:p>
                  </a:txBody>
                  <a:tcPr marL="54864" marR="54864" marT="27432" marB="27432" anchor="ctr">
                    <a:solidFill>
                      <a:srgbClr val="FFF4CC"/>
                    </a:solidFill>
                  </a:tcPr>
                </a:tc>
                <a:tc>
                  <a:txBody>
                    <a:bodyPr wrap="square"/>
                    <a:lstStyle/>
                    <a:p>
                      <a:pPr algn="ctr"/>
                      <a:r>
                        <a:rPr sz="1200" b="1" i="0">
                          <a:solidFill>
                            <a:srgbClr val="1F1F1F"/>
                          </a:solidFill>
                          <a:latin typeface="Calibri"/>
                        </a:rPr>
                        <a:t>0.728</a:t>
                      </a:r>
                    </a:p>
                  </a:txBody>
                  <a:tcPr marL="54864" marR="54864" marT="27432" marB="27432" anchor="ctr">
                    <a:solidFill>
                      <a:srgbClr val="FFF4CC"/>
                    </a:solidFill>
                  </a:tcPr>
                </a:tc>
                <a:tc>
                  <a:txBody>
                    <a:bodyPr wrap="square"/>
                    <a:lstStyle/>
                    <a:p>
                      <a:pPr algn="ctr"/>
                      <a:r>
                        <a:rPr sz="1200" b="1" i="0">
                          <a:solidFill>
                            <a:srgbClr val="1F1F1F"/>
                          </a:solidFill>
                          <a:latin typeface="Calibri"/>
                        </a:rPr>
                        <a:t>0.717</a:t>
                      </a:r>
                    </a:p>
                  </a:txBody>
                  <a:tcPr marL="54864" marR="54864" marT="27432" marB="27432" anchor="ctr">
                    <a:solidFill>
                      <a:srgbClr val="FFF4CC"/>
                    </a:solidFill>
                  </a:tcPr>
                </a:tc>
              </a:tr>
              <a:tr h="50292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0.747</a:t>
                      </a:r>
                    </a:p>
                  </a:txBody>
                  <a:tcPr marL="54864" marR="54864" marT="27432" marB="27432" anchor="ctr">
                    <a:solidFill>
                      <a:srgbClr val="EEF2F8"/>
                    </a:solidFill>
                  </a:tcPr>
                </a:tc>
                <a:tc>
                  <a:txBody>
                    <a:bodyPr wrap="square"/>
                    <a:lstStyle/>
                    <a:p>
                      <a:pPr algn="ctr"/>
                      <a:r>
                        <a:rPr sz="1200" b="0" i="0">
                          <a:solidFill>
                            <a:srgbClr val="1F1F1F"/>
                          </a:solidFill>
                          <a:latin typeface="Calibri"/>
                        </a:rPr>
                        <a:t>0.691</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0.701</a:t>
                      </a:r>
                    </a:p>
                  </a:txBody>
                  <a:tcPr marL="54864" marR="54864" marT="27432" marB="27432" anchor="ctr">
                    <a:solidFill>
                      <a:srgbClr val="EEF2F8"/>
                    </a:solidFill>
                  </a:tcPr>
                </a:tc>
                <a:tc>
                  <a:txBody>
                    <a:bodyPr wrap="square"/>
                    <a:lstStyle/>
                    <a:p>
                      <a:pPr algn="ctr"/>
                      <a:r>
                        <a:rPr sz="1200" b="0" i="0">
                          <a:solidFill>
                            <a:srgbClr val="1F1F1F"/>
                          </a:solidFill>
                          <a:latin typeface="Calibri"/>
                        </a:rPr>
                        <a:t>0.661</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0.804</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0.715</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0.706</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Spark MLlib</a:t>
                      </a:r>
                    </a:p>
                  </a:txBody>
                  <a:tcPr marL="54864" marR="54864" marT="27432" marB="27432" anchor="ctr">
                    <a:solidFill>
                      <a:srgbClr val="EEF2F8"/>
                    </a:solidFill>
                  </a:tcPr>
                </a:tc>
                <a:tc>
                  <a:txBody>
                    <a:bodyPr wrap="square"/>
                    <a:lstStyle/>
                    <a:p>
                      <a:pPr algn="ctr"/>
                      <a:r>
                        <a:rPr sz="1200" b="0" i="0">
                          <a:solidFill>
                            <a:srgbClr val="1F1F1F"/>
                          </a:solidFill>
                          <a:latin typeface="Calibri"/>
                        </a:rPr>
                        <a:t>0.811</a:t>
                      </a:r>
                    </a:p>
                  </a:txBody>
                  <a:tcPr marL="54864" marR="54864" marT="27432" marB="27432" anchor="ctr">
                    <a:solidFill>
                      <a:srgbClr val="EEF2F8"/>
                    </a:solidFill>
                  </a:tcPr>
                </a:tc>
                <a:tc>
                  <a:txBody>
                    <a:bodyPr wrap="square"/>
                    <a:lstStyle/>
                    <a:p>
                      <a:pPr algn="ctr"/>
                      <a:r>
                        <a:rPr sz="1200" b="0" i="0">
                          <a:solidFill>
                            <a:srgbClr val="1F1F1F"/>
                          </a:solidFill>
                          <a:latin typeface="Calibri"/>
                        </a:rPr>
                        <a:t>0.726</a:t>
                      </a:r>
                    </a:p>
                  </a:txBody>
                  <a:tcPr marL="54864" marR="54864" marT="27432" marB="27432" anchor="ctr">
                    <a:solidFill>
                      <a:srgbClr val="EEF2F8"/>
                    </a:solidFill>
                  </a:tcPr>
                </a:tc>
                <a:tc>
                  <a:txBody>
                    <a:bodyPr wrap="square"/>
                    <a:lstStyle/>
                    <a:p>
                      <a:pPr algn="ctr"/>
                      <a:r>
                        <a:rPr sz="1200" b="0" i="0">
                          <a:solidFill>
                            <a:srgbClr val="1F1F1F"/>
                          </a:solidFill>
                          <a:latin typeface="Calibri"/>
                        </a:rPr>
                        <a:t>0.725</a:t>
                      </a:r>
                    </a:p>
                  </a:txBody>
                  <a:tcPr marL="54864" marR="54864" marT="27432" marB="27432" anchor="ctr">
                    <a:solidFill>
                      <a:srgbClr val="EEF2F8"/>
                    </a:solidFill>
                  </a:tcPr>
                </a:tc>
                <a:tc>
                  <a:txBody>
                    <a:bodyPr wrap="square"/>
                    <a:lstStyle/>
                    <a:p>
                      <a:pPr algn="ctr"/>
                      <a:r>
                        <a:rPr sz="1200" b="0" i="0">
                          <a:solidFill>
                            <a:srgbClr val="1F1F1F"/>
                          </a:solidFill>
                          <a:latin typeface="Calibri"/>
                        </a:rPr>
                        <a:t>0.724</a:t>
                      </a:r>
                    </a:p>
                  </a:txBody>
                  <a:tcPr marL="54864" marR="54864" marT="27432" marB="27432" anchor="ctr">
                    <a:solidFill>
                      <a:srgbClr val="EEF2F8"/>
                    </a:solidFill>
                  </a:tcPr>
                </a:tc>
                <a:tc>
                  <a:txBody>
                    <a:bodyPr wrap="square"/>
                    <a:lstStyle/>
                    <a:p>
                      <a:pPr algn="ctr"/>
                      <a:r>
                        <a:rPr sz="1200" b="0" i="0">
                          <a:solidFill>
                            <a:srgbClr val="1F1F1F"/>
                          </a:solidFill>
                          <a:latin typeface="Calibri"/>
                        </a:rPr>
                        <a:t>0.698</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Spark MLlib</a:t>
                      </a:r>
                    </a:p>
                  </a:txBody>
                  <a:tcPr marL="54864" marR="54864" marT="27432" marB="27432" anchor="ctr">
                    <a:solidFill>
                      <a:srgbClr val="FFFFFF"/>
                    </a:solidFill>
                  </a:tcPr>
                </a:tc>
                <a:tc>
                  <a:txBody>
                    <a:bodyPr wrap="square"/>
                    <a:lstStyle/>
                    <a:p>
                      <a:pPr algn="ctr"/>
                      <a:r>
                        <a:rPr sz="1200" b="0" i="0">
                          <a:solidFill>
                            <a:srgbClr val="1F1F1F"/>
                          </a:solidFill>
                          <a:latin typeface="Calibri"/>
                        </a:rPr>
                        <a:t>0.755</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0.696</a:t>
                      </a:r>
                    </a:p>
                  </a:txBody>
                  <a:tcPr marL="54864" marR="54864" marT="27432" marB="27432" anchor="ctr">
                    <a:solidFill>
                      <a:srgbClr val="FFFFFF"/>
                    </a:solidFill>
                  </a:tcPr>
                </a:tc>
                <a:tc>
                  <a:txBody>
                    <a:bodyPr wrap="square"/>
                    <a:lstStyle/>
                    <a:p>
                      <a:pPr algn="ctr"/>
                      <a:r>
                        <a:rPr sz="1200" b="0" i="0">
                          <a:solidFill>
                            <a:srgbClr val="1F1F1F"/>
                          </a:solidFill>
                          <a:latin typeface="Calibri"/>
                        </a:rPr>
                        <a:t>0.708</a:t>
                      </a:r>
                    </a:p>
                  </a:txBody>
                  <a:tcPr marL="54864" marR="54864" marT="27432" marB="27432" anchor="ctr">
                    <a:solidFill>
                      <a:srgbClr val="FFFFFF"/>
                    </a:solidFill>
                  </a:tcPr>
                </a:tc>
                <a:tc>
                  <a:txBody>
                    <a:bodyPr wrap="square"/>
                    <a:lstStyle/>
                    <a:p>
                      <a:pPr algn="ctr"/>
                      <a:r>
                        <a:rPr sz="1200" b="0" i="0">
                          <a:solidFill>
                            <a:srgbClr val="1F1F1F"/>
                          </a:solidFill>
                          <a:latin typeface="Calibri"/>
                        </a:rPr>
                        <a:t>0.691</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PyTorch</a:t>
                      </a:r>
                    </a:p>
                  </a:txBody>
                  <a:tcPr marL="54864" marR="54864" marT="27432" marB="27432" anchor="ctr">
                    <a:solidFill>
                      <a:srgbClr val="EEF2F8"/>
                    </a:solidFill>
                  </a:tcPr>
                </a:tc>
                <a:tc>
                  <a:txBody>
                    <a:bodyPr wrap="square"/>
                    <a:lstStyle/>
                    <a:p>
                      <a:pPr algn="ctr"/>
                      <a:r>
                        <a:rPr sz="1200" b="0" i="0">
                          <a:solidFill>
                            <a:srgbClr val="1F1F1F"/>
                          </a:solidFill>
                          <a:latin typeface="Calibri"/>
                        </a:rPr>
                        <a:t>0.784</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0.699</a:t>
                      </a:r>
                    </a:p>
                  </a:txBody>
                  <a:tcPr marL="54864" marR="54864" marT="27432" marB="27432" anchor="ctr">
                    <a:solidFill>
                      <a:srgbClr val="EEF2F8"/>
                    </a:solidFill>
                  </a:tcPr>
                </a:tc>
                <a:tc>
                  <a:txBody>
                    <a:bodyPr wrap="square"/>
                    <a:lstStyle/>
                    <a:p>
                      <a:pPr algn="ctr"/>
                      <a:r>
                        <a:rPr sz="1200" b="0" i="0">
                          <a:solidFill>
                            <a:srgbClr val="1F1F1F"/>
                          </a:solidFill>
                          <a:latin typeface="Calibri"/>
                        </a:rPr>
                        <a:t>0.692</a:t>
                      </a:r>
                    </a:p>
                  </a:txBody>
                  <a:tcPr marL="54864" marR="54864" marT="27432" marB="27432" anchor="ctr">
                    <a:solidFill>
                      <a:srgbClr val="EEF2F8"/>
                    </a:solidFill>
                  </a:tcPr>
                </a:tc>
                <a:tc>
                  <a:txBody>
                    <a:bodyPr wrap="square"/>
                    <a:lstStyle/>
                    <a:p>
                      <a:pPr algn="ctr"/>
                      <a:r>
                        <a:rPr sz="1200" b="0" i="0">
                          <a:solidFill>
                            <a:srgbClr val="1F1F1F"/>
                          </a:solidFill>
                          <a:latin typeface="Calibri"/>
                        </a:rPr>
                        <a:t>0.710</a:t>
                      </a:r>
                    </a:p>
                  </a:txBody>
                  <a:tcPr marL="54864" marR="54864" marT="27432" marB="27432" anchor="ctr">
                    <a:solidFill>
                      <a:srgbClr val="EEF2F8"/>
                    </a:solidFill>
                  </a:tcPr>
                </a:tc>
              </a:tr>
            </a:tbl>
          </a:graphicData>
        </a:graphic>
      </p:graphicFrame>
      <p:sp>
        <p:nvSpPr>
          <p:cNvPr id="5" name="TextBox 4"/>
          <p:cNvSpPr txBox="1"/>
          <p:nvPr/>
        </p:nvSpPr>
        <p:spPr>
          <a:xfrm>
            <a:off x="365760" y="4846320"/>
            <a:ext cx="8412480" cy="1280160"/>
          </a:xfrm>
          <a:prstGeom prst="rect">
            <a:avLst/>
          </a:prstGeom>
          <a:noFill/>
        </p:spPr>
        <p:txBody>
          <a:bodyPr wrap="square" lIns="45720" rIns="45720">
            <a:spAutoFit/>
          </a:bodyPr>
          <a:lstStyle/>
          <a:p>
            <a:pPr>
              <a:spcAft>
                <a:spcPts val="200"/>
              </a:spcAft>
            </a:pPr>
            <a:r>
              <a:rPr sz="1300" b="0" i="0">
                <a:solidFill>
                  <a:srgbClr val="0E6E6E"/>
                </a:solidFill>
                <a:latin typeface="Calibri"/>
              </a:rPr>
              <a:t>▪  </a:t>
            </a:r>
            <a:r>
              <a:rPr sz="1300" b="1" i="0">
                <a:solidFill>
                  <a:srgbClr val="1F1F1F"/>
                </a:solidFill>
                <a:latin typeface="Calibri"/>
              </a:rPr>
              <a:t>Result: </a:t>
            </a:r>
            <a:r>
              <a:rPr sz="1300" b="0" i="0">
                <a:solidFill>
                  <a:srgbClr val="1F1F1F"/>
                </a:solidFill>
                <a:latin typeface="Calibri"/>
              </a:rPr>
              <a:t>B-ACPN has the highest ROC-AUC (0.820); next is GBT (0.811), lead +0.009 &lt; 1 SD (0.035), so the top models are comparable</a:t>
            </a:r>
          </a:p>
          <a:p>
            <a:pPr>
              <a:spcAft>
                <a:spcPts val="200"/>
              </a:spcAft>
            </a:pPr>
            <a:r>
              <a:rPr sz="1300" b="0" i="0">
                <a:solidFill>
                  <a:srgbClr val="0E6E6E"/>
                </a:solidFill>
                <a:latin typeface="Calibri"/>
              </a:rPr>
              <a:t>▪  </a:t>
            </a:r>
            <a:r>
              <a:rPr sz="1300" b="1" i="0">
                <a:solidFill>
                  <a:srgbClr val="1F1F1F"/>
                </a:solidFill>
                <a:latin typeface="Calibri"/>
              </a:rPr>
              <a:t>B-ACPN is higher than: </a:t>
            </a:r>
            <a:r>
              <a:rPr sz="1300" b="0" i="0">
                <a:solidFill>
                  <a:srgbClr val="1F1F1F"/>
                </a:solidFill>
                <a:latin typeface="Calibri"/>
              </a:rPr>
              <a:t>LR, RF, GBT, Linear SVM, MLP</a:t>
            </a:r>
          </a:p>
          <a:p>
            <a:pPr>
              <a:spcAft>
                <a:spcPts val="200"/>
              </a:spcAft>
            </a:pPr>
            <a:r>
              <a:rPr sz="1300" b="0" i="0">
                <a:solidFill>
                  <a:srgbClr val="0E6E6E"/>
                </a:solidFill>
                <a:latin typeface="Calibri"/>
              </a:rPr>
              <a:t>▪  </a:t>
            </a:r>
            <a:r>
              <a:rPr sz="1300" b="1" i="0">
                <a:solidFill>
                  <a:srgbClr val="1F1F1F"/>
                </a:solidFill>
                <a:latin typeface="Calibri"/>
              </a:rPr>
              <a:t>Significant (p &lt; 0.05): </a:t>
            </a:r>
            <a:r>
              <a:rPr sz="1300" b="0" i="0">
                <a:solidFill>
                  <a:srgbClr val="1F1F1F"/>
                </a:solidFill>
                <a:latin typeface="Calibri"/>
              </a:rPr>
              <a:t>LR, RF, Linear SVM, MLP; not significant: GBT</a:t>
            </a:r>
          </a:p>
          <a:p>
            <a:pPr>
              <a:spcAft>
                <a:spcPts val="200"/>
              </a:spcAft>
            </a:pPr>
            <a:r>
              <a:rPr sz="1300" b="0" i="0">
                <a:solidFill>
                  <a:srgbClr val="0E6E6E"/>
                </a:solidFill>
                <a:latin typeface="Calibri"/>
              </a:rPr>
              <a:t>▪  </a:t>
            </a:r>
            <a:r>
              <a:rPr sz="1300" b="1" i="0">
                <a:solidFill>
                  <a:srgbClr val="1F1F1F"/>
                </a:solidFill>
                <a:latin typeface="Calibri"/>
              </a:rPr>
              <a:t>B-ACPN's added value: </a:t>
            </a:r>
            <a:r>
              <a:rPr sz="1300" b="0" i="0">
                <a:solidFill>
                  <a:srgbClr val="1F1F1F"/>
                </a:solidFill>
                <a:latin typeface="Calibri"/>
              </a:rPr>
              <a:t>a per-district climate push, attention and uncertainty, which the baselines do not give</a:t>
            </a:r>
          </a:p>
        </p:txBody>
      </p:sp>
      <p:sp>
        <p:nvSpPr>
          <p:cNvPr id="6" name="TextBox 5"/>
          <p:cNvSpPr txBox="1"/>
          <p:nvPr/>
        </p:nvSpPr>
        <p:spPr>
          <a:xfrm>
            <a:off x="365760" y="6126480"/>
            <a:ext cx="8412480" cy="320040"/>
          </a:xfrm>
          <a:prstGeom prst="rect">
            <a:avLst/>
          </a:prstGeom>
          <a:noFill/>
        </p:spPr>
        <p:txBody>
          <a:bodyPr wrap="square" anchor="t" lIns="45720" rIns="45720">
            <a:spAutoFit/>
          </a:bodyPr>
          <a:lstStyle/>
          <a:p>
            <a:pPr algn="l"/>
            <a:r>
              <a:rPr sz="1000" b="0" i="0">
                <a:solidFill>
                  <a:srgbClr val="595959"/>
                </a:solidFill>
                <a:latin typeface="Calibri"/>
              </a:rPr>
              <a:t>B-ACPN and MLP: local CPU run 2026-10-22. Spark MLlib models: same data and folds, Spark 3.5.3 on 2026-10-21.</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Effect of Preprocessing on the Models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520440"/>
        </p:xfrm>
        <a:graphic>
          <a:graphicData uri="http://schemas.openxmlformats.org/drawingml/2006/table">
            <a:tbl>
              <a:tblPr firstRow="1" bandRow="1">
                <a:tableStyleId>{5C22544A-7EE6-4342-B048-85BDC9FD1C3A}</a:tableStyleId>
              </a:tblPr>
              <a:tblGrid>
                <a:gridCol w="1097280"/>
                <a:gridCol w="914400"/>
                <a:gridCol w="914400"/>
                <a:gridCol w="914400"/>
                <a:gridCol w="914400"/>
                <a:gridCol w="914400"/>
                <a:gridCol w="914400"/>
                <a:gridCol w="914400"/>
                <a:gridCol w="914400"/>
              </a:tblGrid>
              <a:tr h="50292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Accuracy after</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F1 score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RMSE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RMSE after</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before</a:t>
                      </a:r>
                    </a:p>
                  </a:txBody>
                  <a:tcPr marL="54864" marR="54864" marT="27432" marB="27432" anchor="ctr">
                    <a:solidFill>
                      <a:srgbClr val="1B3A6B"/>
                    </a:solidFill>
                  </a:tcPr>
                </a:tc>
                <a:tc>
                  <a:txBody>
                    <a:bodyPr wrap="square"/>
                    <a:lstStyle/>
                    <a:p>
                      <a:pPr algn="ctr"/>
                      <a:r>
                        <a:rPr sz="1100" b="1" i="0">
                          <a:solidFill>
                            <a:srgbClr val="FFFFFF"/>
                          </a:solidFill>
                          <a:latin typeface="Calibri"/>
                        </a:rPr>
                        <a:t>ROC-AUC after</a:t>
                      </a:r>
                    </a:p>
                  </a:txBody>
                  <a:tcPr marL="54864" marR="54864" marT="27432" marB="27432" anchor="ctr">
                    <a:solidFill>
                      <a:srgbClr val="1B3A6B"/>
                    </a:solidFill>
                  </a:tcPr>
                </a:tc>
              </a:tr>
              <a:tr h="502920">
                <a:tc>
                  <a:txBody>
                    <a:bodyPr wrap="square"/>
                    <a:lstStyle/>
                    <a:p>
                      <a:pPr algn="l"/>
                      <a:r>
                        <a:rPr sz="1100" b="1" i="0">
                          <a:solidFill>
                            <a:srgbClr val="1F1F1F"/>
                          </a:solidFill>
                          <a:latin typeface="Calibri"/>
                        </a:rPr>
                        <a:t>B-ACPN</a:t>
                      </a:r>
                    </a:p>
                  </a:txBody>
                  <a:tcPr marL="54864" marR="54864" marT="27432" marB="27432" anchor="ctr">
                    <a:solidFill>
                      <a:srgbClr val="FFF4CC"/>
                    </a:solidFill>
                  </a:tcPr>
                </a:tc>
                <a:tc>
                  <a:txBody>
                    <a:bodyPr wrap="square"/>
                    <a:lstStyle/>
                    <a:p>
                      <a:pPr algn="ctr"/>
                      <a:r>
                        <a:rPr sz="1100" b="1" i="0">
                          <a:solidFill>
                            <a:srgbClr val="1F1F1F"/>
                          </a:solidFill>
                          <a:latin typeface="Calibri"/>
                        </a:rPr>
                        <a:t>0.735</a:t>
                      </a:r>
                    </a:p>
                  </a:txBody>
                  <a:tcPr marL="54864" marR="54864" marT="27432" marB="27432" anchor="ctr">
                    <a:solidFill>
                      <a:srgbClr val="FFF4CC"/>
                    </a:solidFill>
                  </a:tcPr>
                </a:tc>
                <a:tc>
                  <a:txBody>
                    <a:bodyPr wrap="square"/>
                    <a:lstStyle/>
                    <a:p>
                      <a:pPr algn="ctr"/>
                      <a:r>
                        <a:rPr sz="1100" b="1" i="0">
                          <a:solidFill>
                            <a:srgbClr val="1F1F1F"/>
                          </a:solidFill>
                          <a:latin typeface="Calibri"/>
                        </a:rPr>
                        <a:t>0.738</a:t>
                      </a:r>
                    </a:p>
                  </a:txBody>
                  <a:tcPr marL="54864" marR="54864" marT="27432" marB="27432" anchor="ctr">
                    <a:solidFill>
                      <a:srgbClr val="FFF4CC"/>
                    </a:solidFill>
                  </a:tcPr>
                </a:tc>
                <a:tc>
                  <a:txBody>
                    <a:bodyPr wrap="square"/>
                    <a:lstStyle/>
                    <a:p>
                      <a:pPr algn="ctr"/>
                      <a:r>
                        <a:rPr sz="1100" b="1" i="0">
                          <a:solidFill>
                            <a:srgbClr val="1F1F1F"/>
                          </a:solidFill>
                          <a:latin typeface="Calibri"/>
                        </a:rPr>
                        <a:t>0.726</a:t>
                      </a:r>
                    </a:p>
                  </a:txBody>
                  <a:tcPr marL="54864" marR="54864" marT="27432" marB="27432" anchor="ctr">
                    <a:solidFill>
                      <a:srgbClr val="FFF4CC"/>
                    </a:solidFill>
                  </a:tcPr>
                </a:tc>
                <a:tc>
                  <a:txBody>
                    <a:bodyPr wrap="square"/>
                    <a:lstStyle/>
                    <a:p>
                      <a:pPr algn="ctr"/>
                      <a:r>
                        <a:rPr sz="1100" b="1" i="0">
                          <a:solidFill>
                            <a:srgbClr val="1F1F1F"/>
                          </a:solidFill>
                          <a:latin typeface="Calibri"/>
                        </a:rPr>
                        <a:t>0.728</a:t>
                      </a:r>
                    </a:p>
                  </a:txBody>
                  <a:tcPr marL="54864" marR="54864" marT="27432" marB="27432" anchor="ctr">
                    <a:solidFill>
                      <a:srgbClr val="FFF4CC"/>
                    </a:solidFill>
                  </a:tcPr>
                </a:tc>
                <a:tc>
                  <a:txBody>
                    <a:bodyPr wrap="square"/>
                    <a:lstStyle/>
                    <a:p>
                      <a:pPr algn="ctr"/>
                      <a:r>
                        <a:rPr sz="1100" b="1" i="0">
                          <a:solidFill>
                            <a:srgbClr val="1F1F1F"/>
                          </a:solidFill>
                          <a:latin typeface="Calibri"/>
                        </a:rPr>
                        <a:t>0.422</a:t>
                      </a:r>
                    </a:p>
                  </a:txBody>
                  <a:tcPr marL="54864" marR="54864" marT="27432" marB="27432" anchor="ctr">
                    <a:solidFill>
                      <a:srgbClr val="FFF4CC"/>
                    </a:solidFill>
                  </a:tcPr>
                </a:tc>
                <a:tc>
                  <a:txBody>
                    <a:bodyPr wrap="square"/>
                    <a:lstStyle/>
                    <a:p>
                      <a:pPr algn="ctr"/>
                      <a:r>
                        <a:rPr sz="1100" b="1" i="0">
                          <a:solidFill>
                            <a:srgbClr val="1F1F1F"/>
                          </a:solidFill>
                          <a:latin typeface="Calibri"/>
                        </a:rPr>
                        <a:t>0.417</a:t>
                      </a:r>
                    </a:p>
                  </a:txBody>
                  <a:tcPr marL="54864" marR="54864" marT="27432" marB="27432" anchor="ctr">
                    <a:solidFill>
                      <a:srgbClr val="FFF4CC"/>
                    </a:solidFill>
                  </a:tcPr>
                </a:tc>
                <a:tc>
                  <a:txBody>
                    <a:bodyPr wrap="square"/>
                    <a:lstStyle/>
                    <a:p>
                      <a:pPr algn="ctr"/>
                      <a:r>
                        <a:rPr sz="1100" b="1" i="0">
                          <a:solidFill>
                            <a:srgbClr val="1F1F1F"/>
                          </a:solidFill>
                          <a:latin typeface="Calibri"/>
                        </a:rPr>
                        <a:t>0.806</a:t>
                      </a:r>
                    </a:p>
                  </a:txBody>
                  <a:tcPr marL="54864" marR="54864" marT="27432" marB="27432" anchor="ctr">
                    <a:solidFill>
                      <a:srgbClr val="FFF4CC"/>
                    </a:solidFill>
                  </a:tcPr>
                </a:tc>
                <a:tc>
                  <a:txBody>
                    <a:bodyPr wrap="square"/>
                    <a:lstStyle/>
                    <a:p>
                      <a:pPr algn="ctr"/>
                      <a:r>
                        <a:rPr sz="1100" b="1" i="0">
                          <a:solidFill>
                            <a:srgbClr val="1F1F1F"/>
                          </a:solidFill>
                          <a:latin typeface="Calibri"/>
                        </a:rPr>
                        <a:t>0.820</a:t>
                      </a:r>
                    </a:p>
                  </a:txBody>
                  <a:tcPr marL="54864" marR="54864" marT="27432" marB="27432" anchor="ctr">
                    <a:solidFill>
                      <a:srgbClr val="FFF4CC"/>
                    </a:solidFill>
                  </a:tcPr>
                </a:tc>
              </a:tr>
              <a:tr h="502920">
                <a:tc>
                  <a:txBody>
                    <a:bodyPr wrap="square"/>
                    <a:lstStyle/>
                    <a:p>
                      <a:pPr algn="l"/>
                      <a:r>
                        <a:rPr sz="1100" b="1" i="0">
                          <a:solidFill>
                            <a:srgbClr val="1F1F1F"/>
                          </a:solidFill>
                          <a:latin typeface="Calibri"/>
                        </a:rPr>
                        <a:t>LR</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0.701</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c>
                  <a:txBody>
                    <a:bodyPr wrap="square"/>
                    <a:lstStyle/>
                    <a:p>
                      <a:pPr algn="ctr"/>
                      <a:r>
                        <a:rPr sz="1100" b="0" i="0">
                          <a:solidFill>
                            <a:srgbClr val="1F1F1F"/>
                          </a:solidFill>
                          <a:latin typeface="Calibri"/>
                        </a:rPr>
                        <a:t>0.747</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RF</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0.715</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0.427</a:t>
                      </a:r>
                    </a:p>
                  </a:txBody>
                  <a:tcPr marL="54864" marR="54864" marT="27432" marB="27432" anchor="ctr">
                    <a:solidFill>
                      <a:srgbClr val="FFFFFF"/>
                    </a:solidFill>
                  </a:tcPr>
                </a:tc>
                <a:tc>
                  <a:txBody>
                    <a:bodyPr wrap="square"/>
                    <a:lstStyle/>
                    <a:p>
                      <a:pPr algn="ctr"/>
                      <a:r>
                        <a:rPr sz="1100" b="0" i="0">
                          <a:solidFill>
                            <a:srgbClr val="1F1F1F"/>
                          </a:solidFill>
                          <a:latin typeface="Calibri"/>
                        </a:rPr>
                        <a:t>0.805</a:t>
                      </a:r>
                    </a:p>
                  </a:txBody>
                  <a:tcPr marL="54864" marR="54864" marT="27432" marB="27432" anchor="ctr">
                    <a:solidFill>
                      <a:srgbClr val="FFFFFF"/>
                    </a:solidFill>
                  </a:tcPr>
                </a:tc>
                <a:tc>
                  <a:txBody>
                    <a:bodyPr wrap="square"/>
                    <a:lstStyle/>
                    <a:p>
                      <a:pPr algn="ctr"/>
                      <a:r>
                        <a:rPr sz="1100" b="0" i="0">
                          <a:solidFill>
                            <a:srgbClr val="1F1F1F"/>
                          </a:solidFill>
                          <a:latin typeface="Calibri"/>
                        </a:rPr>
                        <a:t>0.804</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GBT</a:t>
                      </a:r>
                    </a:p>
                  </a:txBody>
                  <a:tcPr marL="54864" marR="54864" marT="27432" marB="27432" anchor="ctr">
                    <a:solidFill>
                      <a:srgbClr val="EEF2F8"/>
                    </a:solidFill>
                  </a:tcPr>
                </a:tc>
                <a:tc>
                  <a:txBody>
                    <a:bodyPr wrap="square"/>
                    <a:lstStyle/>
                    <a:p>
                      <a:pPr algn="ctr"/>
                      <a:r>
                        <a:rPr sz="1100" b="0" i="0">
                          <a:solidFill>
                            <a:srgbClr val="1F1F1F"/>
                          </a:solidFill>
                          <a:latin typeface="Calibri"/>
                        </a:rPr>
                        <a:t>0.726</a:t>
                      </a:r>
                    </a:p>
                  </a:txBody>
                  <a:tcPr marL="54864" marR="54864" marT="27432" marB="27432" anchor="ctr">
                    <a:solidFill>
                      <a:srgbClr val="EEF2F8"/>
                    </a:solidFill>
                  </a:tcPr>
                </a:tc>
                <a:tc>
                  <a:txBody>
                    <a:bodyPr wrap="square"/>
                    <a:lstStyle/>
                    <a:p>
                      <a:pPr algn="ctr"/>
                      <a:r>
                        <a:rPr sz="1100" b="0" i="0">
                          <a:solidFill>
                            <a:srgbClr val="1F1F1F"/>
                          </a:solidFill>
                          <a:latin typeface="Calibri"/>
                        </a:rPr>
                        <a:t>0.725</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0.432</a:t>
                      </a:r>
                    </a:p>
                  </a:txBody>
                  <a:tcPr marL="54864" marR="54864" marT="27432" marB="27432" anchor="ctr">
                    <a:solidFill>
                      <a:srgbClr val="EEF2F8"/>
                    </a:solidFill>
                  </a:tcPr>
                </a:tc>
                <a:tc>
                  <a:txBody>
                    <a:bodyPr wrap="square"/>
                    <a:lstStyle/>
                    <a:p>
                      <a:pPr algn="ctr"/>
                      <a:r>
                        <a:rPr sz="1100" b="0" i="0">
                          <a:solidFill>
                            <a:srgbClr val="1F1F1F"/>
                          </a:solidFill>
                          <a:latin typeface="Calibri"/>
                        </a:rPr>
                        <a:t>0.433</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c>
                  <a:txBody>
                    <a:bodyPr wrap="square"/>
                    <a:lstStyle/>
                    <a:p>
                      <a:pPr algn="ctr"/>
                      <a:r>
                        <a:rPr sz="1100" b="0" i="0">
                          <a:solidFill>
                            <a:srgbClr val="1F1F1F"/>
                          </a:solidFill>
                          <a:latin typeface="Calibri"/>
                        </a:rPr>
                        <a:t>0.811</a:t>
                      </a:r>
                    </a:p>
                  </a:txBody>
                  <a:tcPr marL="54864" marR="54864" marT="27432" marB="27432" anchor="ctr">
                    <a:solidFill>
                      <a:srgbClr val="EEF2F8"/>
                    </a:solidFill>
                  </a:tcPr>
                </a:tc>
              </a:tr>
              <a:tr h="50292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0.696</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0.708</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c>
                  <a:txBody>
                    <a:bodyPr wrap="square"/>
                    <a:lstStyle/>
                    <a:p>
                      <a:pPr algn="ctr"/>
                      <a:r>
                        <a:rPr sz="1100" b="0" i="0">
                          <a:solidFill>
                            <a:srgbClr val="1F1F1F"/>
                          </a:solidFill>
                          <a:latin typeface="Calibri"/>
                        </a:rPr>
                        <a:t>0.755</a:t>
                      </a:r>
                    </a:p>
                  </a:txBody>
                  <a:tcPr marL="54864" marR="54864" marT="27432" marB="27432" anchor="ctr">
                    <a:solidFill>
                      <a:srgbClr val="FFFFFF"/>
                    </a:solidFill>
                  </a:tcPr>
                </a:tc>
              </a:tr>
              <a:tr h="502920">
                <a:tc>
                  <a:txBody>
                    <a:bodyPr wrap="square"/>
                    <a:lstStyle/>
                    <a:p>
                      <a:pPr algn="l"/>
                      <a:r>
                        <a:rPr sz="1100" b="1" i="0">
                          <a:solidFill>
                            <a:srgbClr val="1F1F1F"/>
                          </a:solidFill>
                          <a:latin typeface="Calibri"/>
                        </a:rPr>
                        <a:t>MLP</a:t>
                      </a:r>
                    </a:p>
                  </a:txBody>
                  <a:tcPr marL="54864" marR="54864" marT="27432" marB="27432" anchor="ctr">
                    <a:solidFill>
                      <a:srgbClr val="EEF2F8"/>
                    </a:solidFill>
                  </a:tcPr>
                </a:tc>
                <a:tc>
                  <a:txBody>
                    <a:bodyPr wrap="square"/>
                    <a:lstStyle/>
                    <a:p>
                      <a:pPr algn="ctr"/>
                      <a:r>
                        <a:rPr sz="1100" b="0" i="0">
                          <a:solidFill>
                            <a:srgbClr val="1F1F1F"/>
                          </a:solidFill>
                          <a:latin typeface="Calibri"/>
                        </a:rPr>
                        <a:t>0.711</a:t>
                      </a:r>
                    </a:p>
                  </a:txBody>
                  <a:tcPr marL="54864" marR="54864" marT="27432" marB="27432" anchor="ctr">
                    <a:solidFill>
                      <a:srgbClr val="EEF2F8"/>
                    </a:solidFill>
                  </a:tcPr>
                </a:tc>
                <a:tc>
                  <a:txBody>
                    <a:bodyPr wrap="square"/>
                    <a:lstStyle/>
                    <a:p>
                      <a:pPr algn="ctr"/>
                      <a:r>
                        <a:rPr sz="1100" b="0" i="0">
                          <a:solidFill>
                            <a:srgbClr val="1F1F1F"/>
                          </a:solidFill>
                          <a:latin typeface="Calibri"/>
                        </a:rPr>
                        <a:t>0.699</a:t>
                      </a:r>
                    </a:p>
                  </a:txBody>
                  <a:tcPr marL="54864" marR="54864" marT="27432" marB="27432" anchor="ctr">
                    <a:solidFill>
                      <a:srgbClr val="EEF2F8"/>
                    </a:solidFill>
                  </a:tcPr>
                </a:tc>
                <a:tc>
                  <a:txBody>
                    <a:bodyPr wrap="square"/>
                    <a:lstStyle/>
                    <a:p>
                      <a:pPr algn="ctr"/>
                      <a:r>
                        <a:rPr sz="1100" b="0" i="0">
                          <a:solidFill>
                            <a:srgbClr val="1F1F1F"/>
                          </a:solidFill>
                          <a:latin typeface="Calibri"/>
                        </a:rPr>
                        <a:t>0.678</a:t>
                      </a:r>
                    </a:p>
                  </a:txBody>
                  <a:tcPr marL="54864" marR="54864" marT="27432" marB="27432" anchor="ctr">
                    <a:solidFill>
                      <a:srgbClr val="EEF2F8"/>
                    </a:solidFill>
                  </a:tcPr>
                </a:tc>
                <a:tc>
                  <a:txBody>
                    <a:bodyPr wrap="square"/>
                    <a:lstStyle/>
                    <a:p>
                      <a:pPr algn="ctr"/>
                      <a:r>
                        <a:rPr sz="1100" b="0" i="0">
                          <a:solidFill>
                            <a:srgbClr val="1F1F1F"/>
                          </a:solidFill>
                          <a:latin typeface="Calibri"/>
                        </a:rPr>
                        <a:t>0.692</a:t>
                      </a:r>
                    </a:p>
                  </a:txBody>
                  <a:tcPr marL="54864" marR="54864" marT="27432" marB="27432" anchor="ctr">
                    <a:solidFill>
                      <a:srgbClr val="EEF2F8"/>
                    </a:solidFill>
                  </a:tcPr>
                </a:tc>
                <a:tc>
                  <a:txBody>
                    <a:bodyPr wrap="square"/>
                    <a:lstStyle/>
                    <a:p>
                      <a:pPr algn="ctr"/>
                      <a:r>
                        <a:rPr sz="1100" b="0" i="0">
                          <a:solidFill>
                            <a:srgbClr val="1F1F1F"/>
                          </a:solidFill>
                          <a:latin typeface="Calibri"/>
                        </a:rPr>
                        <a:t>0.445</a:t>
                      </a:r>
                    </a:p>
                  </a:txBody>
                  <a:tcPr marL="54864" marR="54864" marT="27432" marB="27432" anchor="ctr">
                    <a:solidFill>
                      <a:srgbClr val="EEF2F8"/>
                    </a:solidFill>
                  </a:tcPr>
                </a:tc>
                <a:tc>
                  <a:txBody>
                    <a:bodyPr wrap="square"/>
                    <a:lstStyle/>
                    <a:p>
                      <a:pPr algn="ctr"/>
                      <a:r>
                        <a:rPr sz="1100" b="0" i="0">
                          <a:solidFill>
                            <a:srgbClr val="1F1F1F"/>
                          </a:solidFill>
                          <a:latin typeface="Calibri"/>
                        </a:rPr>
                        <a:t>0.440</a:t>
                      </a:r>
                    </a:p>
                  </a:txBody>
                  <a:tcPr marL="54864" marR="54864" marT="27432" marB="27432" anchor="ctr">
                    <a:solidFill>
                      <a:srgbClr val="EEF2F8"/>
                    </a:solidFill>
                  </a:tcPr>
                </a:tc>
                <a:tc>
                  <a:txBody>
                    <a:bodyPr wrap="square"/>
                    <a:lstStyle/>
                    <a:p>
                      <a:pPr algn="ctr"/>
                      <a:r>
                        <a:rPr sz="1100" b="0" i="0">
                          <a:solidFill>
                            <a:srgbClr val="1F1F1F"/>
                          </a:solidFill>
                          <a:latin typeface="Calibri"/>
                        </a:rPr>
                        <a:t>0.759</a:t>
                      </a:r>
                    </a:p>
                  </a:txBody>
                  <a:tcPr marL="54864" marR="54864" marT="27432" marB="27432" anchor="ctr">
                    <a:solidFill>
                      <a:srgbClr val="EEF2F8"/>
                    </a:solidFill>
                  </a:tcPr>
                </a:tc>
                <a:tc>
                  <a:txBody>
                    <a:bodyPr wrap="square"/>
                    <a:lstStyle/>
                    <a:p>
                      <a:pPr algn="ctr"/>
                      <a:r>
                        <a:rPr sz="1100" b="0" i="0">
                          <a:solidFill>
                            <a:srgbClr val="1F1F1F"/>
                          </a:solidFill>
                          <a:latin typeface="Calibri"/>
                        </a:rPr>
                        <a:t>0.784</a:t>
                      </a:r>
                    </a:p>
                  </a:txBody>
                  <a:tcPr marL="54864" marR="54864" marT="27432" marB="27432" anchor="ctr">
                    <a:solidFill>
                      <a:srgbClr val="EEF2F8"/>
                    </a:solidFill>
                  </a:tcPr>
                </a:tc>
              </a:tr>
            </a:tbl>
          </a:graphicData>
        </a:graphic>
      </p:graphicFrame>
      <p:sp>
        <p:nvSpPr>
          <p:cNvPr id="5" name="TextBox 4"/>
          <p:cNvSpPr txBox="1"/>
          <p:nvPr/>
        </p:nvSpPr>
        <p:spPr>
          <a:xfrm>
            <a:off x="365760" y="4800600"/>
            <a:ext cx="8412480" cy="1463040"/>
          </a:xfrm>
          <a:prstGeom prst="rect">
            <a:avLst/>
          </a:prstGeom>
          <a:noFill/>
        </p:spPr>
        <p:txBody>
          <a:bodyPr wrap="square" lIns="45720" rIns="45720">
            <a:spAutoFit/>
          </a:bodyPr>
          <a:lstStyle/>
          <a:p>
            <a:pPr>
              <a:spcAft>
                <a:spcPts val="200"/>
              </a:spcAft>
            </a:pPr>
            <a:r>
              <a:rPr sz="1200" b="0" i="0">
                <a:solidFill>
                  <a:srgbClr val="0E6E6E"/>
                </a:solidFill>
                <a:latin typeface="Calibri"/>
              </a:rPr>
              <a:t>▪  </a:t>
            </a:r>
            <a:r>
              <a:rPr sz="1200" b="1" i="0">
                <a:solidFill>
                  <a:srgbClr val="1F1F1F"/>
                </a:solidFill>
                <a:latin typeface="Calibri"/>
              </a:rPr>
              <a:t>Before: </a:t>
            </a:r>
            <a:r>
              <a:rPr sz="1200" b="0" i="0">
                <a:solidFill>
                  <a:srgbClr val="1F1F1F"/>
                </a:solidFill>
                <a:latin typeface="Calibri"/>
              </a:rPr>
              <a:t>raw features (rain in mm, days, %, °C on very different scales); After: preprocessed, same 25 folds</a:t>
            </a:r>
          </a:p>
          <a:p>
            <a:pPr>
              <a:spcAft>
                <a:spcPts val="200"/>
              </a:spcAft>
            </a:pPr>
            <a:r>
              <a:rPr sz="1200" b="0" i="0">
                <a:solidFill>
                  <a:srgbClr val="0E6E6E"/>
                </a:solidFill>
                <a:latin typeface="Calibri"/>
              </a:rPr>
              <a:t>▪  </a:t>
            </a:r>
            <a:r>
              <a:rPr sz="1200" b="1" i="0">
                <a:solidFill>
                  <a:srgbClr val="1F1F1F"/>
                </a:solidFill>
                <a:latin typeface="Calibri"/>
              </a:rPr>
              <a:t>RMSE: </a:t>
            </a:r>
            <a:r>
              <a:rPr sz="1200" b="0" i="0">
                <a:solidFill>
                  <a:srgbClr val="1F1F1F"/>
                </a:solidFill>
                <a:latin typeface="Calibri"/>
              </a:rPr>
              <a:t>error of the predicted probability against the true class (Linear SVM gives no probabilities: n/a)</a:t>
            </a:r>
          </a:p>
          <a:p>
            <a:pPr>
              <a:spcAft>
                <a:spcPts val="200"/>
              </a:spcAft>
            </a:pPr>
            <a:r>
              <a:rPr sz="1200" b="0" i="0">
                <a:solidFill>
                  <a:srgbClr val="0E6E6E"/>
                </a:solidFill>
                <a:latin typeface="Calibri"/>
              </a:rPr>
              <a:t>▪  </a:t>
            </a:r>
            <a:r>
              <a:rPr sz="1200" b="1" i="0">
                <a:solidFill>
                  <a:srgbClr val="1F1F1F"/>
                </a:solidFill>
                <a:latin typeface="Calibri"/>
              </a:rPr>
              <a:t>Result: </a:t>
            </a:r>
            <a:r>
              <a:rPr sz="1200" b="0" i="0">
                <a:solidFill>
                  <a:srgbClr val="1F1F1F"/>
                </a:solidFill>
                <a:latin typeface="Calibri"/>
              </a:rPr>
              <a:t>B-ACPN accuracy 0.735 → 0.738, F1 0.726 → 0.728, RMSE 0.422 → 0.417 (lower is better), ROC-AUC 0.806 → 0.820. Not every metric improves: MLP accuracy 0.711 → 0.699. RF and GBT ignore feature scale, and Spark's LR and Linear SVM standardise internally, so they do not change.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Detailed Classifier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2" cy="3840480"/>
        </p:xfrm>
        <a:graphic>
          <a:graphicData uri="http://schemas.openxmlformats.org/drawingml/2006/table">
            <a:tbl>
              <a:tblPr firstRow="1" bandRow="1">
                <a:tableStyleId>{5C22544A-7EE6-4342-B048-85BDC9FD1C3A}</a:tableStyleId>
              </a:tblPr>
              <a:tblGrid>
                <a:gridCol w="2007316"/>
                <a:gridCol w="711684"/>
                <a:gridCol w="711684"/>
                <a:gridCol w="711684"/>
                <a:gridCol w="711684"/>
                <a:gridCol w="711684"/>
                <a:gridCol w="711684"/>
                <a:gridCol w="711684"/>
                <a:gridCol w="711684"/>
                <a:gridCol w="711684"/>
              </a:tblGrid>
              <a:tr h="548640">
                <a:tc>
                  <a:txBody>
                    <a:bodyPr wrap="square"/>
                    <a:lstStyle/>
                    <a:p>
                      <a:pPr algn="l"/>
                      <a:r>
                        <a:rPr sz="1100" b="1" i="0">
                          <a:solidFill>
                            <a:srgbClr val="FFFFFF"/>
                          </a:solidFill>
                          <a:latin typeface="Calibri"/>
                        </a:rPr>
                        <a:t>Model</a:t>
                      </a:r>
                    </a:p>
                  </a:txBody>
                  <a:tcPr marL="54864" marR="54864" marT="27432" marB="27432" anchor="ctr">
                    <a:solidFill>
                      <a:srgbClr val="1B3A6B"/>
                    </a:solidFill>
                  </a:tcPr>
                </a:tc>
                <a:tc>
                  <a:txBody>
                    <a:bodyPr wrap="square"/>
                    <a:lstStyle/>
                    <a:p>
                      <a:pPr algn="ctr"/>
                      <a:r>
                        <a:rPr sz="1100" b="1" i="0">
                          <a:solidFill>
                            <a:srgbClr val="FFFFFF"/>
                          </a:solidFill>
                          <a:latin typeface="Calibri"/>
                        </a:rPr>
                        <a:t>Prec.</a:t>
                      </a:r>
                    </a:p>
                  </a:txBody>
                  <a:tcPr marL="54864" marR="54864" marT="27432" marB="27432" anchor="ctr">
                    <a:solidFill>
                      <a:srgbClr val="1B3A6B"/>
                    </a:solidFill>
                  </a:tcPr>
                </a:tc>
                <a:tc>
                  <a:txBody>
                    <a:bodyPr wrap="square"/>
                    <a:lstStyle/>
                    <a:p>
                      <a:pPr algn="ctr"/>
                      <a:r>
                        <a:rPr sz="1100" b="1" i="0">
                          <a:solidFill>
                            <a:srgbClr val="FFFFFF"/>
                          </a:solidFill>
                          <a:latin typeface="Calibri"/>
                        </a:rPr>
                        <a:t>Recall</a:t>
                      </a:r>
                    </a:p>
                  </a:txBody>
                  <a:tcPr marL="54864" marR="54864" marT="27432" marB="27432" anchor="ctr">
                    <a:solidFill>
                      <a:srgbClr val="1B3A6B"/>
                    </a:solidFill>
                  </a:tcPr>
                </a:tc>
                <a:tc>
                  <a:txBody>
                    <a:bodyPr wrap="square"/>
                    <a:lstStyle/>
                    <a:p>
                      <a:pPr algn="ctr"/>
                      <a:r>
                        <a:rPr sz="1100" b="1" i="0">
                          <a:solidFill>
                            <a:srgbClr val="FFFFFF"/>
                          </a:solidFill>
                          <a:latin typeface="Calibri"/>
                        </a:rPr>
                        <a:t>Spec.</a:t>
                      </a:r>
                    </a:p>
                  </a:txBody>
                  <a:tcPr marL="54864" marR="54864" marT="27432" marB="27432" anchor="ctr">
                    <a:solidFill>
                      <a:srgbClr val="1B3A6B"/>
                    </a:solidFill>
                  </a:tcPr>
                </a:tc>
                <a:tc>
                  <a:txBody>
                    <a:bodyPr wrap="square"/>
                    <a:lstStyle/>
                    <a:p>
                      <a:pPr algn="ctr"/>
                      <a:r>
                        <a:rPr sz="1100" b="1" i="0">
                          <a:solidFill>
                            <a:srgbClr val="FFFFFF"/>
                          </a:solidFill>
                          <a:latin typeface="Calibri"/>
                        </a:rPr>
                        <a:t>MCC</a:t>
                      </a:r>
                    </a:p>
                  </a:txBody>
                  <a:tcPr marL="54864" marR="54864" marT="27432" marB="27432" anchor="ctr">
                    <a:solidFill>
                      <a:srgbClr val="1B3A6B"/>
                    </a:solidFill>
                  </a:tcPr>
                </a:tc>
                <a:tc>
                  <a:txBody>
                    <a:bodyPr wrap="square"/>
                    <a:lstStyle/>
                    <a:p>
                      <a:pPr algn="ctr"/>
                      <a:r>
                        <a:rPr sz="1100" b="1" i="0">
                          <a:solidFill>
                            <a:srgbClr val="FFFFFF"/>
                          </a:solidFill>
                          <a:latin typeface="Calibri"/>
                        </a:rPr>
                        <a:t>Kappa</a:t>
                      </a:r>
                    </a:p>
                  </a:txBody>
                  <a:tcPr marL="54864" marR="54864" marT="27432" marB="27432" anchor="ctr">
                    <a:solidFill>
                      <a:srgbClr val="1B3A6B"/>
                    </a:solidFill>
                  </a:tcPr>
                </a:tc>
                <a:tc>
                  <a:txBody>
                    <a:bodyPr wrap="square"/>
                    <a:lstStyle/>
                    <a:p>
                      <a:pPr algn="ctr"/>
                      <a:r>
                        <a:rPr sz="1100" b="1" i="0">
                          <a:solidFill>
                            <a:srgbClr val="FFFFFF"/>
                          </a:solidFill>
                          <a:latin typeface="Calibri"/>
                        </a:rPr>
                        <a:t>PR-AUC</a:t>
                      </a:r>
                    </a:p>
                  </a:txBody>
                  <a:tcPr marL="54864" marR="54864" marT="27432" marB="27432" anchor="ctr">
                    <a:solidFill>
                      <a:srgbClr val="1B3A6B"/>
                    </a:solidFill>
                  </a:tcPr>
                </a:tc>
                <a:tc>
                  <a:txBody>
                    <a:bodyPr wrap="square"/>
                    <a:lstStyle/>
                    <a:p>
                      <a:pPr algn="ctr"/>
                      <a:r>
                        <a:rPr sz="1100" b="1" i="0">
                          <a:solidFill>
                            <a:srgbClr val="FFFFFF"/>
                          </a:solidFill>
                          <a:latin typeface="Calibri"/>
                        </a:rPr>
                        <a:t>Log loss</a:t>
                      </a:r>
                    </a:p>
                  </a:txBody>
                  <a:tcPr marL="54864" marR="54864" marT="27432" marB="27432" anchor="ctr">
                    <a:solidFill>
                      <a:srgbClr val="1B3A6B"/>
                    </a:solidFill>
                  </a:tcPr>
                </a:tc>
                <a:tc>
                  <a:txBody>
                    <a:bodyPr wrap="square"/>
                    <a:lstStyle/>
                    <a:p>
                      <a:pPr algn="ctr"/>
                      <a:r>
                        <a:rPr sz="1100" b="1" i="0">
                          <a:solidFill>
                            <a:srgbClr val="FFFFFF"/>
                          </a:solidFill>
                          <a:latin typeface="Calibri"/>
                        </a:rPr>
                        <a:t>Brier</a:t>
                      </a:r>
                    </a:p>
                  </a:txBody>
                  <a:tcPr marL="54864" marR="54864" marT="27432" marB="27432" anchor="ctr">
                    <a:solidFill>
                      <a:srgbClr val="1B3A6B"/>
                    </a:solidFill>
                  </a:tcPr>
                </a:tc>
                <a:tc>
                  <a:txBody>
                    <a:bodyPr wrap="square"/>
                    <a:lstStyle/>
                    <a:p>
                      <a:pPr algn="ctr"/>
                      <a:r>
                        <a:rPr sz="1100" b="1" i="0">
                          <a:solidFill>
                            <a:srgbClr val="FFFFFF"/>
                          </a:solidFill>
                          <a:latin typeface="Calibri"/>
                        </a:rPr>
                        <a:t>ECE</a:t>
                      </a:r>
                    </a:p>
                  </a:txBody>
                  <a:tcPr marL="54864" marR="54864" marT="27432" marB="27432" anchor="ctr">
                    <a:solidFill>
                      <a:srgbClr val="1B3A6B"/>
                    </a:solidFill>
                  </a:tcPr>
                </a:tc>
              </a:tr>
              <a:tr h="548640">
                <a:tc>
                  <a:txBody>
                    <a:bodyPr wrap="square"/>
                    <a:lstStyle/>
                    <a:p>
                      <a:pPr algn="l"/>
                      <a:r>
                        <a:rPr sz="11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100" b="1" i="0">
                          <a:solidFill>
                            <a:srgbClr val="1F1F1F"/>
                          </a:solidFill>
                          <a:latin typeface="Calibri"/>
                        </a:rPr>
                        <a:t>0.765</a:t>
                      </a:r>
                    </a:p>
                  </a:txBody>
                  <a:tcPr marL="54864" marR="54864" marT="27432" marB="27432" anchor="ctr">
                    <a:solidFill>
                      <a:srgbClr val="FFF4CC"/>
                    </a:solidFill>
                  </a:tcPr>
                </a:tc>
                <a:tc>
                  <a:txBody>
                    <a:bodyPr wrap="square"/>
                    <a:lstStyle/>
                    <a:p>
                      <a:pPr algn="ctr"/>
                      <a:r>
                        <a:rPr sz="1100" b="1" i="0">
                          <a:solidFill>
                            <a:srgbClr val="1F1F1F"/>
                          </a:solidFill>
                          <a:latin typeface="Calibri"/>
                        </a:rPr>
                        <a:t>0.700</a:t>
                      </a:r>
                    </a:p>
                  </a:txBody>
                  <a:tcPr marL="54864" marR="54864" marT="27432" marB="27432" anchor="ctr">
                    <a:solidFill>
                      <a:srgbClr val="FFF4CC"/>
                    </a:solidFill>
                  </a:tcPr>
                </a:tc>
                <a:tc>
                  <a:txBody>
                    <a:bodyPr wrap="square"/>
                    <a:lstStyle/>
                    <a:p>
                      <a:pPr algn="ctr"/>
                      <a:r>
                        <a:rPr sz="1100" b="1" i="0">
                          <a:solidFill>
                            <a:srgbClr val="1F1F1F"/>
                          </a:solidFill>
                          <a:latin typeface="Calibri"/>
                        </a:rPr>
                        <a:t>0.778</a:t>
                      </a:r>
                    </a:p>
                  </a:txBody>
                  <a:tcPr marL="54864" marR="54864" marT="27432" marB="27432" anchor="ctr">
                    <a:solidFill>
                      <a:srgbClr val="FFF4CC"/>
                    </a:solidFill>
                  </a:tcPr>
                </a:tc>
                <a:tc>
                  <a:txBody>
                    <a:bodyPr wrap="square"/>
                    <a:lstStyle/>
                    <a:p>
                      <a:pPr algn="ctr"/>
                      <a:r>
                        <a:rPr sz="1100" b="1" i="0">
                          <a:solidFill>
                            <a:srgbClr val="1F1F1F"/>
                          </a:solidFill>
                          <a:latin typeface="Calibri"/>
                        </a:rPr>
                        <a:t>0.482</a:t>
                      </a:r>
                    </a:p>
                  </a:txBody>
                  <a:tcPr marL="54864" marR="54864" marT="27432" marB="27432" anchor="ctr">
                    <a:solidFill>
                      <a:srgbClr val="FFF4CC"/>
                    </a:solidFill>
                  </a:tcPr>
                </a:tc>
                <a:tc>
                  <a:txBody>
                    <a:bodyPr wrap="square"/>
                    <a:lstStyle/>
                    <a:p>
                      <a:pPr algn="ctr"/>
                      <a:r>
                        <a:rPr sz="1100" b="1" i="0">
                          <a:solidFill>
                            <a:srgbClr val="1F1F1F"/>
                          </a:solidFill>
                          <a:latin typeface="Calibri"/>
                        </a:rPr>
                        <a:t>0.477</a:t>
                      </a:r>
                    </a:p>
                  </a:txBody>
                  <a:tcPr marL="54864" marR="54864" marT="27432" marB="27432" anchor="ctr">
                    <a:solidFill>
                      <a:srgbClr val="FFF4CC"/>
                    </a:solidFill>
                  </a:tcPr>
                </a:tc>
                <a:tc>
                  <a:txBody>
                    <a:bodyPr wrap="square"/>
                    <a:lstStyle/>
                    <a:p>
                      <a:pPr algn="ctr"/>
                      <a:r>
                        <a:rPr sz="1100" b="1" i="0">
                          <a:solidFill>
                            <a:srgbClr val="1F1F1F"/>
                          </a:solidFill>
                          <a:latin typeface="Calibri"/>
                        </a:rPr>
                        <a:t>0.844</a:t>
                      </a:r>
                    </a:p>
                  </a:txBody>
                  <a:tcPr marL="54864" marR="54864" marT="27432" marB="27432" anchor="ctr">
                    <a:solidFill>
                      <a:srgbClr val="FFF4CC"/>
                    </a:solidFill>
                  </a:tcPr>
                </a:tc>
                <a:tc>
                  <a:txBody>
                    <a:bodyPr wrap="square"/>
                    <a:lstStyle/>
                    <a:p>
                      <a:pPr algn="ctr"/>
                      <a:r>
                        <a:rPr sz="1100" b="1" i="0">
                          <a:solidFill>
                            <a:srgbClr val="1F1F1F"/>
                          </a:solidFill>
                          <a:latin typeface="Calibri"/>
                        </a:rPr>
                        <a:t>0.516</a:t>
                      </a:r>
                    </a:p>
                  </a:txBody>
                  <a:tcPr marL="54864" marR="54864" marT="27432" marB="27432" anchor="ctr">
                    <a:solidFill>
                      <a:srgbClr val="FFF4CC"/>
                    </a:solidFill>
                  </a:tcPr>
                </a:tc>
                <a:tc>
                  <a:txBody>
                    <a:bodyPr wrap="square"/>
                    <a:lstStyle/>
                    <a:p>
                      <a:pPr algn="ctr"/>
                      <a:r>
                        <a:rPr sz="1100" b="1" i="0">
                          <a:solidFill>
                            <a:srgbClr val="1F1F1F"/>
                          </a:solidFill>
                          <a:latin typeface="Calibri"/>
                        </a:rPr>
                        <a:t>0.174</a:t>
                      </a:r>
                    </a:p>
                  </a:txBody>
                  <a:tcPr marL="54864" marR="54864" marT="27432" marB="27432" anchor="ctr">
                    <a:solidFill>
                      <a:srgbClr val="FFF4CC"/>
                    </a:solidFill>
                  </a:tcPr>
                </a:tc>
                <a:tc>
                  <a:txBody>
                    <a:bodyPr wrap="square"/>
                    <a:lstStyle/>
                    <a:p>
                      <a:pPr algn="ctr"/>
                      <a:r>
                        <a:rPr sz="1100" b="1" i="0">
                          <a:solidFill>
                            <a:srgbClr val="1F1F1F"/>
                          </a:solidFill>
                          <a:latin typeface="Calibri"/>
                        </a:rPr>
                        <a:t>0.108</a:t>
                      </a:r>
                    </a:p>
                  </a:txBody>
                  <a:tcPr marL="54864" marR="54864" marT="27432" marB="27432" anchor="ctr">
                    <a:solidFill>
                      <a:srgbClr val="FFF4CC"/>
                    </a:solidFill>
                  </a:tcPr>
                </a:tc>
              </a:tr>
              <a:tr h="548640">
                <a:tc>
                  <a:txBody>
                    <a:bodyPr wrap="square"/>
                    <a:lstStyle/>
                    <a:p>
                      <a:pPr algn="l"/>
                      <a:r>
                        <a:rPr sz="11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100" b="0" i="0">
                          <a:solidFill>
                            <a:srgbClr val="1F1F1F"/>
                          </a:solidFill>
                          <a:latin typeface="Calibri"/>
                        </a:rPr>
                        <a:t>0.688</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0.665</a:t>
                      </a:r>
                    </a:p>
                  </a:txBody>
                  <a:tcPr marL="54864" marR="54864" marT="27432" marB="27432" anchor="ctr">
                    <a:solidFill>
                      <a:srgbClr val="EEF2F8"/>
                    </a:solidFill>
                  </a:tcPr>
                </a:tc>
                <a:tc>
                  <a:txBody>
                    <a:bodyPr wrap="square"/>
                    <a:lstStyle/>
                    <a:p>
                      <a:pPr algn="ctr"/>
                      <a:r>
                        <a:rPr sz="1100" b="0" i="0">
                          <a:solidFill>
                            <a:srgbClr val="1F1F1F"/>
                          </a:solidFill>
                          <a:latin typeface="Calibri"/>
                        </a:rPr>
                        <a:t>0.386</a:t>
                      </a:r>
                    </a:p>
                  </a:txBody>
                  <a:tcPr marL="54864" marR="54864" marT="27432" marB="27432" anchor="ctr">
                    <a:solidFill>
                      <a:srgbClr val="EEF2F8"/>
                    </a:solidFill>
                  </a:tcPr>
                </a:tc>
                <a:tc>
                  <a:txBody>
                    <a:bodyPr wrap="square"/>
                    <a:lstStyle/>
                    <a:p>
                      <a:pPr algn="ctr"/>
                      <a:r>
                        <a:rPr sz="1100" b="0" i="0">
                          <a:solidFill>
                            <a:srgbClr val="1F1F1F"/>
                          </a:solidFill>
                          <a:latin typeface="Calibri"/>
                        </a:rPr>
                        <a:t>0.383</a:t>
                      </a:r>
                    </a:p>
                  </a:txBody>
                  <a:tcPr marL="54864" marR="54864" marT="27432" marB="27432" anchor="ctr">
                    <a:solidFill>
                      <a:srgbClr val="EEF2F8"/>
                    </a:solidFill>
                  </a:tcPr>
                </a:tc>
                <a:tc>
                  <a:txBody>
                    <a:bodyPr wrap="square"/>
                    <a:lstStyle/>
                    <a:p>
                      <a:pPr algn="ctr"/>
                      <a:r>
                        <a:rPr sz="1100" b="0" i="0">
                          <a:solidFill>
                            <a:srgbClr val="1F1F1F"/>
                          </a:solidFill>
                          <a:latin typeface="Calibri"/>
                        </a:rPr>
                        <a:t>0.746</a:t>
                      </a:r>
                    </a:p>
                  </a:txBody>
                  <a:tcPr marL="54864" marR="54864" marT="27432" marB="27432" anchor="ctr">
                    <a:solidFill>
                      <a:srgbClr val="EEF2F8"/>
                    </a:solidFill>
                  </a:tcPr>
                </a:tc>
                <a:tc>
                  <a:txBody>
                    <a:bodyPr wrap="square"/>
                    <a:lstStyle/>
                    <a:p>
                      <a:pPr algn="ctr"/>
                      <a:r>
                        <a:rPr sz="1100" b="0" i="0">
                          <a:solidFill>
                            <a:srgbClr val="1F1F1F"/>
                          </a:solidFill>
                          <a:latin typeface="Calibri"/>
                        </a:rPr>
                        <a:t>0.611</a:t>
                      </a:r>
                    </a:p>
                  </a:txBody>
                  <a:tcPr marL="54864" marR="54864" marT="27432" marB="27432" anchor="ctr">
                    <a:solidFill>
                      <a:srgbClr val="EEF2F8"/>
                    </a:solidFill>
                  </a:tcPr>
                </a:tc>
                <a:tc>
                  <a:txBody>
                    <a:bodyPr wrap="square"/>
                    <a:lstStyle/>
                    <a:p>
                      <a:pPr algn="ctr"/>
                      <a:r>
                        <a:rPr sz="1100" b="0" i="0">
                          <a:solidFill>
                            <a:srgbClr val="1F1F1F"/>
                          </a:solidFill>
                          <a:latin typeface="Calibri"/>
                        </a:rPr>
                        <a:t>0.206</a:t>
                      </a:r>
                    </a:p>
                  </a:txBody>
                  <a:tcPr marL="54864" marR="54864" marT="27432" marB="27432" anchor="ctr">
                    <a:solidFill>
                      <a:srgbClr val="EEF2F8"/>
                    </a:solidFill>
                  </a:tcPr>
                </a:tc>
                <a:tc>
                  <a:txBody>
                    <a:bodyPr wrap="square"/>
                    <a:lstStyle/>
                    <a:p>
                      <a:pPr algn="ctr"/>
                      <a:r>
                        <a:rPr sz="1100" b="0" i="0">
                          <a:solidFill>
                            <a:srgbClr val="1F1F1F"/>
                          </a:solidFill>
                          <a:latin typeface="Calibri"/>
                        </a:rPr>
                        <a:t>0.101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100" b="0" i="0">
                          <a:solidFill>
                            <a:srgbClr val="1F1F1F"/>
                          </a:solidFill>
                          <a:latin typeface="Calibri"/>
                        </a:rPr>
                        <a:t>0.735</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0.742</a:t>
                      </a:r>
                    </a:p>
                  </a:txBody>
                  <a:tcPr marL="54864" marR="54864" marT="27432" marB="27432" anchor="ctr">
                    <a:solidFill>
                      <a:srgbClr val="FFFFFF"/>
                    </a:solidFill>
                  </a:tcPr>
                </a:tc>
                <a:tc>
                  <a:txBody>
                    <a:bodyPr wrap="square"/>
                    <a:lstStyle/>
                    <a:p>
                      <a:pPr algn="ctr"/>
                      <a:r>
                        <a:rPr sz="1100" b="0" i="0">
                          <a:solidFill>
                            <a:srgbClr val="1F1F1F"/>
                          </a:solidFill>
                          <a:latin typeface="Calibri"/>
                        </a:rPr>
                        <a:t>0.434</a:t>
                      </a:r>
                    </a:p>
                  </a:txBody>
                  <a:tcPr marL="54864" marR="54864" marT="27432" marB="27432" anchor="ctr">
                    <a:solidFill>
                      <a:srgbClr val="FFFFFF"/>
                    </a:solidFill>
                  </a:tcPr>
                </a:tc>
                <a:tc>
                  <a:txBody>
                    <a:bodyPr wrap="square"/>
                    <a:lstStyle/>
                    <a:p>
                      <a:pPr algn="ctr"/>
                      <a:r>
                        <a:rPr sz="1100" b="0" i="0">
                          <a:solidFill>
                            <a:srgbClr val="1F1F1F"/>
                          </a:solidFill>
                          <a:latin typeface="Calibri"/>
                        </a:rPr>
                        <a:t>0.430</a:t>
                      </a:r>
                    </a:p>
                  </a:txBody>
                  <a:tcPr marL="54864" marR="54864" marT="27432" marB="27432" anchor="ctr">
                    <a:solidFill>
                      <a:srgbClr val="FFFFFF"/>
                    </a:solidFill>
                  </a:tcPr>
                </a:tc>
                <a:tc>
                  <a:txBody>
                    <a:bodyPr wrap="square"/>
                    <a:lstStyle/>
                    <a:p>
                      <a:pPr algn="ctr"/>
                      <a:r>
                        <a:rPr sz="1100" b="0" i="0">
                          <a:solidFill>
                            <a:srgbClr val="1F1F1F"/>
                          </a:solidFill>
                          <a:latin typeface="Calibri"/>
                        </a:rPr>
                        <a:t>0.830</a:t>
                      </a:r>
                    </a:p>
                  </a:txBody>
                  <a:tcPr marL="54864" marR="54864" marT="27432" marB="27432" anchor="ctr">
                    <a:solidFill>
                      <a:srgbClr val="FFFFFF"/>
                    </a:solidFill>
                  </a:tcPr>
                </a:tc>
                <a:tc>
                  <a:txBody>
                    <a:bodyPr wrap="square"/>
                    <a:lstStyle/>
                    <a:p>
                      <a:pPr algn="ctr"/>
                      <a:r>
                        <a:rPr sz="1100" b="0" i="0">
                          <a:solidFill>
                            <a:srgbClr val="1F1F1F"/>
                          </a:solidFill>
                          <a:latin typeface="Calibri"/>
                        </a:rPr>
                        <a:t>0.539</a:t>
                      </a:r>
                    </a:p>
                  </a:txBody>
                  <a:tcPr marL="54864" marR="54864" marT="27432" marB="27432" anchor="ctr">
                    <a:solidFill>
                      <a:srgbClr val="FFFFFF"/>
                    </a:solidFill>
                  </a:tcPr>
                </a:tc>
                <a:tc>
                  <a:txBody>
                    <a:bodyPr wrap="square"/>
                    <a:lstStyle/>
                    <a:p>
                      <a:pPr algn="ctr"/>
                      <a:r>
                        <a:rPr sz="1100" b="0" i="0">
                          <a:solidFill>
                            <a:srgbClr val="1F1F1F"/>
                          </a:solidFill>
                          <a:latin typeface="Calibri"/>
                        </a:rPr>
                        <a:t>0.182</a:t>
                      </a:r>
                    </a:p>
                  </a:txBody>
                  <a:tcPr marL="54864" marR="54864" marT="27432" marB="27432" anchor="ctr">
                    <a:solidFill>
                      <a:srgbClr val="FFFFFF"/>
                    </a:solidFill>
                  </a:tcPr>
                </a:tc>
                <a:tc>
                  <a:txBody>
                    <a:bodyPr wrap="square"/>
                    <a:lstStyle/>
                    <a:p>
                      <a:pPr algn="ctr"/>
                      <a:r>
                        <a:rPr sz="1100" b="0" i="0">
                          <a:solidFill>
                            <a:srgbClr val="1F1F1F"/>
                          </a:solidFill>
                          <a:latin typeface="Calibri"/>
                        </a:rPr>
                        <a:t>0.095</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100" b="0" i="0">
                          <a:solidFill>
                            <a:srgbClr val="1F1F1F"/>
                          </a:solidFill>
                          <a:latin typeface="Calibri"/>
                        </a:rPr>
                        <a:t>0.736</a:t>
                      </a:r>
                    </a:p>
                  </a:txBody>
                  <a:tcPr marL="54864" marR="54864" marT="27432" marB="27432" anchor="ctr">
                    <a:solidFill>
                      <a:srgbClr val="EEF2F8"/>
                    </a:solidFill>
                  </a:tcPr>
                </a:tc>
                <a:tc>
                  <a:txBody>
                    <a:bodyPr wrap="square"/>
                    <a:lstStyle/>
                    <a:p>
                      <a:pPr algn="ctr"/>
                      <a:r>
                        <a:rPr sz="1100" b="0" i="0">
                          <a:solidFill>
                            <a:srgbClr val="1F1F1F"/>
                          </a:solidFill>
                          <a:latin typeface="Calibri"/>
                        </a:rPr>
                        <a:t>0.718</a:t>
                      </a:r>
                    </a:p>
                  </a:txBody>
                  <a:tcPr marL="54864" marR="54864" marT="27432" marB="27432" anchor="ctr">
                    <a:solidFill>
                      <a:srgbClr val="EEF2F8"/>
                    </a:solidFill>
                  </a:tcPr>
                </a:tc>
                <a:tc>
                  <a:txBody>
                    <a:bodyPr wrap="square"/>
                    <a:lstStyle/>
                    <a:p>
                      <a:pPr algn="ctr"/>
                      <a:r>
                        <a:rPr sz="1100" b="0" i="0">
                          <a:solidFill>
                            <a:srgbClr val="1F1F1F"/>
                          </a:solidFill>
                          <a:latin typeface="Calibri"/>
                        </a:rPr>
                        <a:t>0.733</a:t>
                      </a:r>
                    </a:p>
                  </a:txBody>
                  <a:tcPr marL="54864" marR="54864" marT="27432" marB="27432" anchor="ctr">
                    <a:solidFill>
                      <a:srgbClr val="EEF2F8"/>
                    </a:solidFill>
                  </a:tcPr>
                </a:tc>
                <a:tc>
                  <a:txBody>
                    <a:bodyPr wrap="square"/>
                    <a:lstStyle/>
                    <a:p>
                      <a:pPr algn="ctr"/>
                      <a:r>
                        <a:rPr sz="1100" b="0" i="0">
                          <a:solidFill>
                            <a:srgbClr val="1F1F1F"/>
                          </a:solidFill>
                          <a:latin typeface="Calibri"/>
                        </a:rPr>
                        <a:t>0.454</a:t>
                      </a:r>
                    </a:p>
                  </a:txBody>
                  <a:tcPr marL="54864" marR="54864" marT="27432" marB="27432" anchor="ctr">
                    <a:solidFill>
                      <a:srgbClr val="EEF2F8"/>
                    </a:solidFill>
                  </a:tcPr>
                </a:tc>
                <a:tc>
                  <a:txBody>
                    <a:bodyPr wrap="square"/>
                    <a:lstStyle/>
                    <a:p>
                      <a:pPr algn="ctr"/>
                      <a:r>
                        <a:rPr sz="1100" b="0" i="0">
                          <a:solidFill>
                            <a:srgbClr val="1F1F1F"/>
                          </a:solidFill>
                          <a:latin typeface="Calibri"/>
                        </a:rPr>
                        <a:t>0.451</a:t>
                      </a:r>
                    </a:p>
                  </a:txBody>
                  <a:tcPr marL="54864" marR="54864" marT="27432" marB="27432" anchor="ctr">
                    <a:solidFill>
                      <a:srgbClr val="EEF2F8"/>
                    </a:solidFill>
                  </a:tcPr>
                </a:tc>
                <a:tc>
                  <a:txBody>
                    <a:bodyPr wrap="square"/>
                    <a:lstStyle/>
                    <a:p>
                      <a:pPr algn="ctr"/>
                      <a:r>
                        <a:rPr sz="1100" b="0" i="0">
                          <a:solidFill>
                            <a:srgbClr val="1F1F1F"/>
                          </a:solidFill>
                          <a:latin typeface="Calibri"/>
                        </a:rPr>
                        <a:t>0.826</a:t>
                      </a:r>
                    </a:p>
                  </a:txBody>
                  <a:tcPr marL="54864" marR="54864" marT="27432" marB="27432" anchor="ctr">
                    <a:solidFill>
                      <a:srgbClr val="EEF2F8"/>
                    </a:solidFill>
                  </a:tcPr>
                </a:tc>
                <a:tc>
                  <a:txBody>
                    <a:bodyPr wrap="square"/>
                    <a:lstStyle/>
                    <a:p>
                      <a:pPr algn="ctr"/>
                      <a:r>
                        <a:rPr sz="1100" b="0" i="0">
                          <a:solidFill>
                            <a:srgbClr val="1F1F1F"/>
                          </a:solidFill>
                          <a:latin typeface="Calibri"/>
                        </a:rPr>
                        <a:t>0.570</a:t>
                      </a:r>
                    </a:p>
                  </a:txBody>
                  <a:tcPr marL="54864" marR="54864" marT="27432" marB="27432" anchor="ctr">
                    <a:solidFill>
                      <a:srgbClr val="EEF2F8"/>
                    </a:solidFill>
                  </a:tcPr>
                </a:tc>
                <a:tc>
                  <a:txBody>
                    <a:bodyPr wrap="square"/>
                    <a:lstStyle/>
                    <a:p>
                      <a:pPr algn="ctr"/>
                      <a:r>
                        <a:rPr sz="1100" b="0" i="0">
                          <a:solidFill>
                            <a:srgbClr val="1F1F1F"/>
                          </a:solidFill>
                          <a:latin typeface="Calibri"/>
                        </a:rPr>
                        <a:t>0.188</a:t>
                      </a:r>
                    </a:p>
                  </a:txBody>
                  <a:tcPr marL="54864" marR="54864" marT="27432" marB="27432" anchor="ctr">
                    <a:solidFill>
                      <a:srgbClr val="EEF2F8"/>
                    </a:solidFill>
                  </a:tcPr>
                </a:tc>
                <a:tc>
                  <a:txBody>
                    <a:bodyPr wrap="square"/>
                    <a:lstStyle/>
                    <a:p>
                      <a:pPr algn="ctr"/>
                      <a:r>
                        <a:rPr sz="1100" b="0" i="0">
                          <a:solidFill>
                            <a:srgbClr val="1F1F1F"/>
                          </a:solidFill>
                          <a:latin typeface="Calibri"/>
                        </a:rPr>
                        <a:t>0.131</a:t>
                      </a:r>
                    </a:p>
                  </a:txBody>
                  <a:tcPr marL="54864" marR="54864" marT="27432" marB="27432" anchor="ctr">
                    <a:solidFill>
                      <a:srgbClr val="EEF2F8"/>
                    </a:solidFill>
                  </a:tcPr>
                </a:tc>
              </a:tr>
              <a:tr h="548640">
                <a:tc>
                  <a:txBody>
                    <a:bodyPr wrap="square"/>
                    <a:lstStyle/>
                    <a:p>
                      <a:pPr algn="l"/>
                      <a:r>
                        <a:rPr sz="11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100" b="0" i="0">
                          <a:solidFill>
                            <a:srgbClr val="1F1F1F"/>
                          </a:solidFill>
                          <a:latin typeface="Calibri"/>
                        </a:rPr>
                        <a:t>0.689</a:t>
                      </a:r>
                    </a:p>
                  </a:txBody>
                  <a:tcPr marL="54864" marR="54864" marT="27432" marB="27432" anchor="ctr">
                    <a:solidFill>
                      <a:srgbClr val="FFFFFF"/>
                    </a:solidFill>
                  </a:tcPr>
                </a:tc>
                <a:tc>
                  <a:txBody>
                    <a:bodyPr wrap="square"/>
                    <a:lstStyle/>
                    <a:p>
                      <a:pPr algn="ctr"/>
                      <a:r>
                        <a:rPr sz="1100" b="0" i="0">
                          <a:solidFill>
                            <a:srgbClr val="1F1F1F"/>
                          </a:solidFill>
                          <a:latin typeface="Calibri"/>
                        </a:rPr>
                        <a:t>0.733</a:t>
                      </a:r>
                    </a:p>
                  </a:txBody>
                  <a:tcPr marL="54864" marR="54864" marT="27432" marB="27432" anchor="ctr">
                    <a:solidFill>
                      <a:srgbClr val="FFFFFF"/>
                    </a:solidFill>
                  </a:tcPr>
                </a:tc>
                <a:tc>
                  <a:txBody>
                    <a:bodyPr wrap="square"/>
                    <a:lstStyle/>
                    <a:p>
                      <a:pPr algn="ctr"/>
                      <a:r>
                        <a:rPr sz="1100" b="0" i="0">
                          <a:solidFill>
                            <a:srgbClr val="1F1F1F"/>
                          </a:solidFill>
                          <a:latin typeface="Calibri"/>
                        </a:rPr>
                        <a:t>0.659</a:t>
                      </a:r>
                    </a:p>
                  </a:txBody>
                  <a:tcPr marL="54864" marR="54864" marT="27432" marB="27432" anchor="ctr">
                    <a:solidFill>
                      <a:srgbClr val="FFFFFF"/>
                    </a:solidFill>
                  </a:tcPr>
                </a:tc>
                <a:tc>
                  <a:txBody>
                    <a:bodyPr wrap="square"/>
                    <a:lstStyle/>
                    <a:p>
                      <a:pPr algn="ctr"/>
                      <a:r>
                        <a:rPr sz="1100" b="0" i="0">
                          <a:solidFill>
                            <a:srgbClr val="1F1F1F"/>
                          </a:solidFill>
                          <a:latin typeface="Calibri"/>
                        </a:rPr>
                        <a:t>0.396</a:t>
                      </a:r>
                    </a:p>
                  </a:txBody>
                  <a:tcPr marL="54864" marR="54864" marT="27432" marB="27432" anchor="ctr">
                    <a:solidFill>
                      <a:srgbClr val="FFFFFF"/>
                    </a:solidFill>
                  </a:tcPr>
                </a:tc>
                <a:tc>
                  <a:txBody>
                    <a:bodyPr wrap="square"/>
                    <a:lstStyle/>
                    <a:p>
                      <a:pPr algn="ctr"/>
                      <a:r>
                        <a:rPr sz="1100" b="0" i="0">
                          <a:solidFill>
                            <a:srgbClr val="1F1F1F"/>
                          </a:solidFill>
                          <a:latin typeface="Calibri"/>
                        </a:rPr>
                        <a:t>0.392</a:t>
                      </a:r>
                    </a:p>
                  </a:txBody>
                  <a:tcPr marL="54864" marR="54864" marT="27432" marB="27432" anchor="ctr">
                    <a:solidFill>
                      <a:srgbClr val="FFFFFF"/>
                    </a:solidFill>
                  </a:tcPr>
                </a:tc>
                <a:tc>
                  <a:txBody>
                    <a:bodyPr wrap="square"/>
                    <a:lstStyle/>
                    <a:p>
                      <a:pPr algn="ctr"/>
                      <a:r>
                        <a:rPr sz="1100" b="0" i="0">
                          <a:solidFill>
                            <a:srgbClr val="1F1F1F"/>
                          </a:solidFill>
                          <a:latin typeface="Calibri"/>
                        </a:rPr>
                        <a:t>0.751</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c>
                  <a:txBody>
                    <a:bodyPr wrap="square"/>
                    <a:lstStyle/>
                    <a:p>
                      <a:pPr algn="ctr"/>
                      <a:r>
                        <a:rPr sz="1100" b="0" i="0">
                          <a:solidFill>
                            <a:srgbClr val="1F1F1F"/>
                          </a:solidFill>
                          <a:latin typeface="Calibri"/>
                        </a:rPr>
                        <a:t>n/a</a:t>
                      </a:r>
                    </a:p>
                  </a:txBody>
                  <a:tcPr marL="54864" marR="54864" marT="27432" marB="27432" anchor="ctr">
                    <a:solidFill>
                      <a:srgbClr val="FFFFFF"/>
                    </a:solidFill>
                  </a:tcPr>
                </a:tc>
              </a:tr>
              <a:tr h="548640">
                <a:tc>
                  <a:txBody>
                    <a:bodyPr wrap="square"/>
                    <a:lstStyle/>
                    <a:p>
                      <a:pPr algn="l"/>
                      <a:r>
                        <a:rPr sz="11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100" b="0" i="0">
                          <a:solidFill>
                            <a:srgbClr val="1F1F1F"/>
                          </a:solidFill>
                          <a:latin typeface="Calibri"/>
                        </a:rPr>
                        <a:t>0.719</a:t>
                      </a:r>
                    </a:p>
                  </a:txBody>
                  <a:tcPr marL="54864" marR="54864" marT="27432" marB="27432" anchor="ctr">
                    <a:solidFill>
                      <a:srgbClr val="EEF2F8"/>
                    </a:solidFill>
                  </a:tcPr>
                </a:tc>
                <a:tc>
                  <a:txBody>
                    <a:bodyPr wrap="square"/>
                    <a:lstStyle/>
                    <a:p>
                      <a:pPr algn="ctr"/>
                      <a:r>
                        <a:rPr sz="1100" b="0" i="0">
                          <a:solidFill>
                            <a:srgbClr val="1F1F1F"/>
                          </a:solidFill>
                          <a:latin typeface="Calibri"/>
                        </a:rPr>
                        <a:t>0.674</a:t>
                      </a:r>
                    </a:p>
                  </a:txBody>
                  <a:tcPr marL="54864" marR="54864" marT="27432" marB="27432" anchor="ctr">
                    <a:solidFill>
                      <a:srgbClr val="EEF2F8"/>
                    </a:solidFill>
                  </a:tcPr>
                </a:tc>
                <a:tc>
                  <a:txBody>
                    <a:bodyPr wrap="square"/>
                    <a:lstStyle/>
                    <a:p>
                      <a:pPr algn="ctr"/>
                      <a:r>
                        <a:rPr sz="1100" b="0" i="0">
                          <a:solidFill>
                            <a:srgbClr val="1F1F1F"/>
                          </a:solidFill>
                          <a:latin typeface="Calibri"/>
                        </a:rPr>
                        <a:t>0.724</a:t>
                      </a:r>
                    </a:p>
                  </a:txBody>
                  <a:tcPr marL="54864" marR="54864" marT="27432" marB="27432" anchor="ctr">
                    <a:solidFill>
                      <a:srgbClr val="EEF2F8"/>
                    </a:solidFill>
                  </a:tcPr>
                </a:tc>
                <a:tc>
                  <a:txBody>
                    <a:bodyPr wrap="square"/>
                    <a:lstStyle/>
                    <a:p>
                      <a:pPr algn="ctr"/>
                      <a:r>
                        <a:rPr sz="1100" b="0" i="0">
                          <a:solidFill>
                            <a:srgbClr val="1F1F1F"/>
                          </a:solidFill>
                          <a:latin typeface="Calibri"/>
                        </a:rPr>
                        <a:t>0.404</a:t>
                      </a:r>
                    </a:p>
                  </a:txBody>
                  <a:tcPr marL="54864" marR="54864" marT="27432" marB="27432" anchor="ctr">
                    <a:solidFill>
                      <a:srgbClr val="EEF2F8"/>
                    </a:solidFill>
                  </a:tcPr>
                </a:tc>
                <a:tc>
                  <a:txBody>
                    <a:bodyPr wrap="square"/>
                    <a:lstStyle/>
                    <a:p>
                      <a:pPr algn="ctr"/>
                      <a:r>
                        <a:rPr sz="1100" b="0" i="0">
                          <a:solidFill>
                            <a:srgbClr val="1F1F1F"/>
                          </a:solidFill>
                          <a:latin typeface="Calibri"/>
                        </a:rPr>
                        <a:t>0.398</a:t>
                      </a:r>
                    </a:p>
                  </a:txBody>
                  <a:tcPr marL="54864" marR="54864" marT="27432" marB="27432" anchor="ctr">
                    <a:solidFill>
                      <a:srgbClr val="EEF2F8"/>
                    </a:solidFill>
                  </a:tcPr>
                </a:tc>
                <a:tc>
                  <a:txBody>
                    <a:bodyPr wrap="square"/>
                    <a:lstStyle/>
                    <a:p>
                      <a:pPr algn="ctr"/>
                      <a:r>
                        <a:rPr sz="1100" b="0" i="0">
                          <a:solidFill>
                            <a:srgbClr val="1F1F1F"/>
                          </a:solidFill>
                          <a:latin typeface="Calibri"/>
                        </a:rPr>
                        <a:t>0.809</a:t>
                      </a:r>
                    </a:p>
                  </a:txBody>
                  <a:tcPr marL="54864" marR="54864" marT="27432" marB="27432" anchor="ctr">
                    <a:solidFill>
                      <a:srgbClr val="EEF2F8"/>
                    </a:solidFill>
                  </a:tcPr>
                </a:tc>
                <a:tc>
                  <a:txBody>
                    <a:bodyPr wrap="square"/>
                    <a:lstStyle/>
                    <a:p>
                      <a:pPr algn="ctr"/>
                      <a:r>
                        <a:rPr sz="1100" b="0" i="0">
                          <a:solidFill>
                            <a:srgbClr val="1F1F1F"/>
                          </a:solidFill>
                          <a:latin typeface="Calibri"/>
                        </a:rPr>
                        <a:t>0.579</a:t>
                      </a:r>
                    </a:p>
                  </a:txBody>
                  <a:tcPr marL="54864" marR="54864" marT="27432" marB="27432" anchor="ctr">
                    <a:solidFill>
                      <a:srgbClr val="EEF2F8"/>
                    </a:solidFill>
                  </a:tcPr>
                </a:tc>
                <a:tc>
                  <a:txBody>
                    <a:bodyPr wrap="square"/>
                    <a:lstStyle/>
                    <a:p>
                      <a:pPr algn="ctr"/>
                      <a:r>
                        <a:rPr sz="1100" b="0" i="0">
                          <a:solidFill>
                            <a:srgbClr val="1F1F1F"/>
                          </a:solidFill>
                          <a:latin typeface="Calibri"/>
                        </a:rPr>
                        <a:t>0.194</a:t>
                      </a:r>
                    </a:p>
                  </a:txBody>
                  <a:tcPr marL="54864" marR="54864" marT="27432" marB="27432" anchor="ctr">
                    <a:solidFill>
                      <a:srgbClr val="EEF2F8"/>
                    </a:solidFill>
                  </a:tcPr>
                </a:tc>
                <a:tc>
                  <a:txBody>
                    <a:bodyPr wrap="square"/>
                    <a:lstStyle/>
                    <a:p>
                      <a:pPr algn="ctr"/>
                      <a:r>
                        <a:rPr sz="1100" b="0" i="0">
                          <a:solidFill>
                            <a:srgbClr val="1F1F1F"/>
                          </a:solidFill>
                          <a:latin typeface="Calibri"/>
                        </a:rPr>
                        <a:t>0.114</a:t>
                      </a:r>
                    </a:p>
                  </a:txBody>
                  <a:tcPr marL="54864" marR="54864" marT="27432" marB="27432" anchor="ctr">
                    <a:solidFill>
                      <a:srgbClr val="EEF2F8"/>
                    </a:solidFill>
                  </a:tcPr>
                </a:tc>
              </a:tr>
            </a:tbl>
          </a:graphicData>
        </a:graphic>
      </p:graphicFrame>
      <p:sp>
        <p:nvSpPr>
          <p:cNvPr id="5" name="TextBox 4"/>
          <p:cNvSpPr txBox="1"/>
          <p:nvPr/>
        </p:nvSpPr>
        <p:spPr>
          <a:xfrm>
            <a:off x="365760" y="5257800"/>
            <a:ext cx="8412480" cy="109728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Higher is better: </a:t>
            </a:r>
            <a:r>
              <a:rPr sz="1500" b="0" i="0">
                <a:solidFill>
                  <a:srgbClr val="1F1F1F"/>
                </a:solidFill>
                <a:latin typeface="Calibri"/>
              </a:rPr>
              <a:t>precision, recall, specificity, MCC, Cohen's kappa, PR-AUC</a:t>
            </a:r>
          </a:p>
          <a:p>
            <a:pPr>
              <a:spcAft>
                <a:spcPts val="300"/>
              </a:spcAft>
            </a:pPr>
            <a:r>
              <a:rPr sz="1500" b="0" i="0">
                <a:solidFill>
                  <a:srgbClr val="0E6E6E"/>
                </a:solidFill>
                <a:latin typeface="Calibri"/>
              </a:rPr>
              <a:t>▪  </a:t>
            </a:r>
            <a:r>
              <a:rPr sz="1500" b="1" i="0">
                <a:solidFill>
                  <a:srgbClr val="1F1F1F"/>
                </a:solidFill>
                <a:latin typeface="Calibri"/>
              </a:rPr>
              <a:t>Lower is better: </a:t>
            </a:r>
            <a:r>
              <a:rPr sz="1500" b="0" i="0">
                <a:solidFill>
                  <a:srgbClr val="1F1F1F"/>
                </a:solidFill>
                <a:latin typeface="Calibri"/>
              </a:rPr>
              <a:t>log loss, Brier, ECE (Linear SVM: n/a, no probabilities)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Matrix, CIs and Significance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77" cy="3840480"/>
        </p:xfrm>
        <a:graphic>
          <a:graphicData uri="http://schemas.openxmlformats.org/drawingml/2006/table">
            <a:tbl>
              <a:tblPr firstRow="1" bandRow="1">
                <a:tableStyleId>{5C22544A-7EE6-4342-B048-85BDC9FD1C3A}</a:tableStyleId>
              </a:tblPr>
              <a:tblGrid>
                <a:gridCol w="2223988"/>
                <a:gridCol w="773561"/>
                <a:gridCol w="773561"/>
                <a:gridCol w="773561"/>
                <a:gridCol w="773561"/>
                <a:gridCol w="1837208"/>
                <a:gridCol w="1257037"/>
              </a:tblGrid>
              <a:tr h="548640">
                <a:tc>
                  <a:txBody>
                    <a:bodyPr wrap="square"/>
                    <a:lstStyle/>
                    <a:p>
                      <a:pPr algn="l"/>
                      <a:r>
                        <a:rPr sz="1200" b="1" i="0">
                          <a:solidFill>
                            <a:srgbClr val="FFFFFF"/>
                          </a:solidFill>
                          <a:latin typeface="Calibri"/>
                        </a:rPr>
                        <a:t>Model</a:t>
                      </a:r>
                    </a:p>
                  </a:txBody>
                  <a:tcPr marL="54864" marR="54864" marT="27432" marB="27432" anchor="ctr">
                    <a:solidFill>
                      <a:srgbClr val="1B3A6B"/>
                    </a:solidFill>
                  </a:tcPr>
                </a:tc>
                <a:tc>
                  <a:txBody>
                    <a:bodyPr wrap="square"/>
                    <a:lstStyle/>
                    <a:p>
                      <a:pPr algn="ctr"/>
                      <a:r>
                        <a:rPr sz="1200" b="1" i="0">
                          <a:solidFill>
                            <a:srgbClr val="FFFFFF"/>
                          </a:solidFill>
                          <a:latin typeface="Calibri"/>
                        </a:rPr>
                        <a:t>TP</a:t>
                      </a:r>
                    </a:p>
                  </a:txBody>
                  <a:tcPr marL="54864" marR="54864" marT="27432" marB="27432" anchor="ctr">
                    <a:solidFill>
                      <a:srgbClr val="1B3A6B"/>
                    </a:solidFill>
                  </a:tcPr>
                </a:tc>
                <a:tc>
                  <a:txBody>
                    <a:bodyPr wrap="square"/>
                    <a:lstStyle/>
                    <a:p>
                      <a:pPr algn="ctr"/>
                      <a:r>
                        <a:rPr sz="1200" b="1" i="0">
                          <a:solidFill>
                            <a:srgbClr val="FFFFFF"/>
                          </a:solidFill>
                          <a:latin typeface="Calibri"/>
                        </a:rPr>
                        <a:t>TN</a:t>
                      </a:r>
                    </a:p>
                  </a:txBody>
                  <a:tcPr marL="54864" marR="54864" marT="27432" marB="27432" anchor="ctr">
                    <a:solidFill>
                      <a:srgbClr val="1B3A6B"/>
                    </a:solidFill>
                  </a:tcPr>
                </a:tc>
                <a:tc>
                  <a:txBody>
                    <a:bodyPr wrap="square"/>
                    <a:lstStyle/>
                    <a:p>
                      <a:pPr algn="ctr"/>
                      <a:r>
                        <a:rPr sz="1200" b="1" i="0">
                          <a:solidFill>
                            <a:srgbClr val="FFFFFF"/>
                          </a:solidFill>
                          <a:latin typeface="Calibri"/>
                        </a:rPr>
                        <a:t>FP</a:t>
                      </a:r>
                    </a:p>
                  </a:txBody>
                  <a:tcPr marL="54864" marR="54864" marT="27432" marB="27432" anchor="ctr">
                    <a:solidFill>
                      <a:srgbClr val="1B3A6B"/>
                    </a:solidFill>
                  </a:tcPr>
                </a:tc>
                <a:tc>
                  <a:txBody>
                    <a:bodyPr wrap="square"/>
                    <a:lstStyle/>
                    <a:p>
                      <a:pPr algn="ctr"/>
                      <a:r>
                        <a:rPr sz="1200" b="1" i="0">
                          <a:solidFill>
                            <a:srgbClr val="FFFFFF"/>
                          </a:solidFill>
                          <a:latin typeface="Calibri"/>
                        </a:rPr>
                        <a:t>FN</a:t>
                      </a:r>
                    </a:p>
                  </a:txBody>
                  <a:tcPr marL="54864" marR="54864" marT="27432" marB="27432" anchor="ctr">
                    <a:solidFill>
                      <a:srgbClr val="1B3A6B"/>
                    </a:solidFill>
                  </a:tcPr>
                </a:tc>
                <a:tc>
                  <a:txBody>
                    <a:bodyPr wrap="square"/>
                    <a:lstStyle/>
                    <a:p>
                      <a:pPr algn="ctr"/>
                      <a:r>
                        <a:rPr sz="1200" b="1" i="0">
                          <a:solidFill>
                            <a:srgbClr val="FFFFFF"/>
                          </a:solidFill>
                          <a:latin typeface="Calibri"/>
                        </a:rPr>
                        <a:t>ROC-AUC 95% CI</a:t>
                      </a:r>
                    </a:p>
                  </a:txBody>
                  <a:tcPr marL="54864" marR="54864" marT="27432" marB="27432" anchor="ctr">
                    <a:solidFill>
                      <a:srgbClr val="1B3A6B"/>
                    </a:solidFill>
                  </a:tcPr>
                </a:tc>
                <a:tc>
                  <a:txBody>
                    <a:bodyPr wrap="square"/>
                    <a:lstStyle/>
                    <a:p>
                      <a:pPr algn="ctr"/>
                      <a:r>
                        <a:rPr sz="1200" b="1" i="0">
                          <a:solidFill>
                            <a:srgbClr val="FFFFFF"/>
                          </a:solidFill>
                          <a:latin typeface="Calibri"/>
                        </a:rPr>
                        <a:t>p vs B-ACPN</a:t>
                      </a:r>
                    </a:p>
                  </a:txBody>
                  <a:tcPr marL="54864" marR="54864" marT="27432" marB="27432" anchor="ctr">
                    <a:solidFill>
                      <a:srgbClr val="1B3A6B"/>
                    </a:solidFill>
                  </a:tcPr>
                </a:tc>
              </a:tr>
              <a:tr h="548640">
                <a:tc>
                  <a:txBody>
                    <a:bodyPr wrap="square"/>
                    <a:lstStyle/>
                    <a:p>
                      <a:pPr algn="l"/>
                      <a:r>
                        <a:rPr sz="1200" b="1" i="0">
                          <a:solidFill>
                            <a:srgbClr val="1F1F1F"/>
                          </a:solidFill>
                          <a:latin typeface="Calibri"/>
                        </a:rPr>
                        <a:t>B-ACPN (proposed)</a:t>
                      </a:r>
                    </a:p>
                  </a:txBody>
                  <a:tcPr marL="54864" marR="54864" marT="27432" marB="27432" anchor="ctr">
                    <a:solidFill>
                      <a:srgbClr val="FFF4CC"/>
                    </a:solidFill>
                  </a:tcPr>
                </a:tc>
                <a:tc>
                  <a:txBody>
                    <a:bodyPr wrap="square"/>
                    <a:lstStyle/>
                    <a:p>
                      <a:pPr algn="ctr"/>
                      <a:r>
                        <a:rPr sz="1200" b="1" i="0">
                          <a:solidFill>
                            <a:srgbClr val="1F1F1F"/>
                          </a:solidFill>
                          <a:latin typeface="Calibri"/>
                        </a:rPr>
                        <a:t>829</a:t>
                      </a:r>
                    </a:p>
                  </a:txBody>
                  <a:tcPr marL="54864" marR="54864" marT="27432" marB="27432" anchor="ctr">
                    <a:solidFill>
                      <a:srgbClr val="FFF4CC"/>
                    </a:solidFill>
                  </a:tcPr>
                </a:tc>
                <a:tc>
                  <a:txBody>
                    <a:bodyPr wrap="square"/>
                    <a:lstStyle/>
                    <a:p>
                      <a:pPr algn="ctr"/>
                      <a:r>
                        <a:rPr sz="1200" b="1" i="0">
                          <a:solidFill>
                            <a:srgbClr val="1F1F1F"/>
                          </a:solidFill>
                          <a:latin typeface="Calibri"/>
                        </a:rPr>
                        <a:t>902</a:t>
                      </a:r>
                    </a:p>
                  </a:txBody>
                  <a:tcPr marL="54864" marR="54864" marT="27432" marB="27432" anchor="ctr">
                    <a:solidFill>
                      <a:srgbClr val="FFF4CC"/>
                    </a:solidFill>
                  </a:tcPr>
                </a:tc>
                <a:tc>
                  <a:txBody>
                    <a:bodyPr wrap="square"/>
                    <a:lstStyle/>
                    <a:p>
                      <a:pPr algn="ctr"/>
                      <a:r>
                        <a:rPr sz="1200" b="1" i="0">
                          <a:solidFill>
                            <a:srgbClr val="1F1F1F"/>
                          </a:solidFill>
                          <a:latin typeface="Calibri"/>
                        </a:rPr>
                        <a:t>258</a:t>
                      </a:r>
                    </a:p>
                  </a:txBody>
                  <a:tcPr marL="54864" marR="54864" marT="27432" marB="27432" anchor="ctr">
                    <a:solidFill>
                      <a:srgbClr val="FFF4CC"/>
                    </a:solidFill>
                  </a:tcPr>
                </a:tc>
                <a:tc>
                  <a:txBody>
                    <a:bodyPr wrap="square"/>
                    <a:lstStyle/>
                    <a:p>
                      <a:pPr algn="ctr"/>
                      <a:r>
                        <a:rPr sz="1200" b="1" i="0">
                          <a:solidFill>
                            <a:srgbClr val="1F1F1F"/>
                          </a:solidFill>
                          <a:latin typeface="Calibri"/>
                        </a:rPr>
                        <a:t>356</a:t>
                      </a:r>
                    </a:p>
                  </a:txBody>
                  <a:tcPr marL="54864" marR="54864" marT="27432" marB="27432" anchor="ctr">
                    <a:solidFill>
                      <a:srgbClr val="FFF4CC"/>
                    </a:solidFill>
                  </a:tcPr>
                </a:tc>
                <a:tc>
                  <a:txBody>
                    <a:bodyPr wrap="square"/>
                    <a:lstStyle/>
                    <a:p>
                      <a:pPr algn="ctr"/>
                      <a:r>
                        <a:rPr sz="1200" b="1" i="0">
                          <a:solidFill>
                            <a:srgbClr val="1F1F1F"/>
                          </a:solidFill>
                          <a:latin typeface="Calibri"/>
                        </a:rPr>
                        <a:t>0.780 – 0.859</a:t>
                      </a:r>
                    </a:p>
                  </a:txBody>
                  <a:tcPr marL="54864" marR="54864" marT="27432" marB="27432" anchor="ctr">
                    <a:solidFill>
                      <a:srgbClr val="FFF4CC"/>
                    </a:solidFill>
                  </a:tcPr>
                </a:tc>
                <a:tc>
                  <a:txBody>
                    <a:bodyPr wrap="square"/>
                    <a:lstStyle/>
                    <a:p>
                      <a:pPr algn="ctr"/>
                      <a:r>
                        <a:rPr sz="1200" b="1" i="0">
                          <a:solidFill>
                            <a:srgbClr val="1F1F1F"/>
                          </a:solidFill>
                          <a:latin typeface="Calibri"/>
                        </a:rPr>
                        <a:t>—</a:t>
                      </a:r>
                    </a:p>
                  </a:txBody>
                  <a:tcPr marL="54864" marR="54864" marT="27432" marB="27432" anchor="ctr">
                    <a:solidFill>
                      <a:srgbClr val="FFF4CC"/>
                    </a:solidFill>
                  </a:tcPr>
                </a:tc>
              </a:tr>
              <a:tr h="548640">
                <a:tc>
                  <a:txBody>
                    <a:bodyPr wrap="square"/>
                    <a:lstStyle/>
                    <a:p>
                      <a:pPr algn="l"/>
                      <a:r>
                        <a:rPr sz="1200" b="1" i="0">
                          <a:solidFill>
                            <a:srgbClr val="1F1F1F"/>
                          </a:solidFill>
                          <a:latin typeface="Calibri"/>
                        </a:rPr>
                        <a:t>Logistic Regression</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771</a:t>
                      </a:r>
                    </a:p>
                  </a:txBody>
                  <a:tcPr marL="54864" marR="54864" marT="27432" marB="27432" anchor="ctr">
                    <a:solidFill>
                      <a:srgbClr val="EEF2F8"/>
                    </a:solidFill>
                  </a:tcPr>
                </a:tc>
                <a:tc>
                  <a:txBody>
                    <a:bodyPr wrap="square"/>
                    <a:lstStyle/>
                    <a:p>
                      <a:pPr algn="ctr"/>
                      <a:r>
                        <a:rPr sz="1200" b="0" i="0">
                          <a:solidFill>
                            <a:srgbClr val="1F1F1F"/>
                          </a:solidFill>
                          <a:latin typeface="Calibri"/>
                        </a:rPr>
                        <a:t>389</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0.700 – 0.793</a:t>
                      </a:r>
                    </a:p>
                  </a:txBody>
                  <a:tcPr marL="54864" marR="54864" marT="27432" marB="27432" anchor="ctr">
                    <a:solidFill>
                      <a:srgbClr val="EEF2F8"/>
                    </a:solidFill>
                  </a:tcPr>
                </a:tc>
                <a:tc>
                  <a:txBody>
                    <a:bodyPr wrap="square"/>
                    <a:lstStyle/>
                    <a:p>
                      <a:pPr algn="ctr"/>
                      <a:r>
                        <a:rPr sz="1200" b="0" i="0">
                          <a:solidFill>
                            <a:srgbClr val="1F1F1F"/>
                          </a:solidFill>
                          <a:latin typeface="Calibri"/>
                        </a:rPr>
                        <a:t>0.004</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Random Forest</a:t>
                      </a:r>
                    </a:p>
                  </a:txBody>
                  <a:tcPr marL="54864" marR="54864" marT="27432" marB="27432" anchor="ctr">
                    <a:solidFill>
                      <a:srgbClr val="FFFFFF"/>
                    </a:solidFill>
                  </a:tcPr>
                </a:tc>
                <a:tc>
                  <a:txBody>
                    <a:bodyPr wrap="square"/>
                    <a:lstStyle/>
                    <a:p>
                      <a:pPr algn="ctr"/>
                      <a:r>
                        <a:rPr sz="1200" b="0" i="0">
                          <a:solidFill>
                            <a:srgbClr val="1F1F1F"/>
                          </a:solidFill>
                          <a:latin typeface="Calibri"/>
                        </a:rPr>
                        <a:t>816</a:t>
                      </a:r>
                    </a:p>
                  </a:txBody>
                  <a:tcPr marL="54864" marR="54864" marT="27432" marB="27432" anchor="ctr">
                    <a:solidFill>
                      <a:srgbClr val="FFFFFF"/>
                    </a:solidFill>
                  </a:tcPr>
                </a:tc>
                <a:tc>
                  <a:txBody>
                    <a:bodyPr wrap="square"/>
                    <a:lstStyle/>
                    <a:p>
                      <a:pPr algn="ctr"/>
                      <a:r>
                        <a:rPr sz="1200" b="0" i="0">
                          <a:solidFill>
                            <a:srgbClr val="1F1F1F"/>
                          </a:solidFill>
                          <a:latin typeface="Calibri"/>
                        </a:rPr>
                        <a:t>860</a:t>
                      </a:r>
                    </a:p>
                  </a:txBody>
                  <a:tcPr marL="54864" marR="54864" marT="27432" marB="27432" anchor="ctr">
                    <a:solidFill>
                      <a:srgbClr val="FFFFFF"/>
                    </a:solidFill>
                  </a:tcPr>
                </a:tc>
                <a:tc>
                  <a:txBody>
                    <a:bodyPr wrap="square"/>
                    <a:lstStyle/>
                    <a:p>
                      <a:pPr algn="ctr"/>
                      <a:r>
                        <a:rPr sz="1200" b="0" i="0">
                          <a:solidFill>
                            <a:srgbClr val="1F1F1F"/>
                          </a:solidFill>
                          <a:latin typeface="Calibri"/>
                        </a:rPr>
                        <a:t>300</a:t>
                      </a:r>
                    </a:p>
                  </a:txBody>
                  <a:tcPr marL="54864" marR="54864" marT="27432" marB="27432" anchor="ctr">
                    <a:solidFill>
                      <a:srgbClr val="FFFFFF"/>
                    </a:solidFill>
                  </a:tcPr>
                </a:tc>
                <a:tc>
                  <a:txBody>
                    <a:bodyPr wrap="square"/>
                    <a:lstStyle/>
                    <a:p>
                      <a:pPr algn="ctr"/>
                      <a:r>
                        <a:rPr sz="1200" b="0" i="0">
                          <a:solidFill>
                            <a:srgbClr val="1F1F1F"/>
                          </a:solidFill>
                          <a:latin typeface="Calibri"/>
                        </a:rPr>
                        <a:t>369</a:t>
                      </a:r>
                    </a:p>
                  </a:txBody>
                  <a:tcPr marL="54864" marR="54864" marT="27432" marB="27432" anchor="ctr">
                    <a:solidFill>
                      <a:srgbClr val="FFFFFF"/>
                    </a:solidFill>
                  </a:tcPr>
                </a:tc>
                <a:tc>
                  <a:txBody>
                    <a:bodyPr wrap="square"/>
                    <a:lstStyle/>
                    <a:p>
                      <a:pPr algn="ctr"/>
                      <a:r>
                        <a:rPr sz="1200" b="0" i="0">
                          <a:solidFill>
                            <a:srgbClr val="1F1F1F"/>
                          </a:solidFill>
                          <a:latin typeface="Calibri"/>
                        </a:rPr>
                        <a:t>0.764 – 0.845</a:t>
                      </a:r>
                    </a:p>
                  </a:txBody>
                  <a:tcPr marL="54864" marR="54864" marT="27432" marB="27432" anchor="ctr">
                    <a:solidFill>
                      <a:srgbClr val="FFFFFF"/>
                    </a:solidFill>
                  </a:tcPr>
                </a:tc>
                <a:tc>
                  <a:txBody>
                    <a:bodyPr wrap="square"/>
                    <a:lstStyle/>
                    <a:p>
                      <a:pPr algn="ctr"/>
                      <a:r>
                        <a:rPr sz="1200" b="0" i="0">
                          <a:solidFill>
                            <a:srgbClr val="1F1F1F"/>
                          </a:solidFill>
                          <a:latin typeface="Calibri"/>
                        </a:rPr>
                        <a:t>0.042</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Gradient-Boosted Trees</a:t>
                      </a:r>
                    </a:p>
                  </a:txBody>
                  <a:tcPr marL="54864" marR="54864" marT="27432" marB="27432" anchor="ctr">
                    <a:solidFill>
                      <a:srgbClr val="EEF2F8"/>
                    </a:solidFill>
                  </a:tcPr>
                </a:tc>
                <a:tc>
                  <a:txBody>
                    <a:bodyPr wrap="square"/>
                    <a:lstStyle/>
                    <a:p>
                      <a:pPr algn="ctr"/>
                      <a:r>
                        <a:rPr sz="1200" b="0" i="0">
                          <a:solidFill>
                            <a:srgbClr val="1F1F1F"/>
                          </a:solidFill>
                          <a:latin typeface="Calibri"/>
                        </a:rPr>
                        <a:t>851</a:t>
                      </a:r>
                    </a:p>
                  </a:txBody>
                  <a:tcPr marL="54864" marR="54864" marT="27432" marB="27432" anchor="ctr">
                    <a:solidFill>
                      <a:srgbClr val="EEF2F8"/>
                    </a:solidFill>
                  </a:tcPr>
                </a:tc>
                <a:tc>
                  <a:txBody>
                    <a:bodyPr wrap="square"/>
                    <a:lstStyle/>
                    <a:p>
                      <a:pPr algn="ctr"/>
                      <a:r>
                        <a:rPr sz="1200" b="0" i="0">
                          <a:solidFill>
                            <a:srgbClr val="1F1F1F"/>
                          </a:solidFill>
                          <a:latin typeface="Calibri"/>
                        </a:rPr>
                        <a:t>850</a:t>
                      </a:r>
                    </a:p>
                  </a:txBody>
                  <a:tcPr marL="54864" marR="54864" marT="27432" marB="27432" anchor="ctr">
                    <a:solidFill>
                      <a:srgbClr val="EEF2F8"/>
                    </a:solidFill>
                  </a:tcPr>
                </a:tc>
                <a:tc>
                  <a:txBody>
                    <a:bodyPr wrap="square"/>
                    <a:lstStyle/>
                    <a:p>
                      <a:pPr algn="ctr"/>
                      <a:r>
                        <a:rPr sz="1200" b="0" i="0">
                          <a:solidFill>
                            <a:srgbClr val="1F1F1F"/>
                          </a:solidFill>
                          <a:latin typeface="Calibri"/>
                        </a:rPr>
                        <a:t>310</a:t>
                      </a:r>
                    </a:p>
                  </a:txBody>
                  <a:tcPr marL="54864" marR="54864" marT="27432" marB="27432" anchor="ctr">
                    <a:solidFill>
                      <a:srgbClr val="EEF2F8"/>
                    </a:solidFill>
                  </a:tcPr>
                </a:tc>
                <a:tc>
                  <a:txBody>
                    <a:bodyPr wrap="square"/>
                    <a:lstStyle/>
                    <a:p>
                      <a:pPr algn="ctr"/>
                      <a:r>
                        <a:rPr sz="1200" b="0" i="0">
                          <a:solidFill>
                            <a:srgbClr val="1F1F1F"/>
                          </a:solidFill>
                          <a:latin typeface="Calibri"/>
                        </a:rPr>
                        <a:t>334</a:t>
                      </a:r>
                    </a:p>
                  </a:txBody>
                  <a:tcPr marL="54864" marR="54864" marT="27432" marB="27432" anchor="ctr">
                    <a:solidFill>
                      <a:srgbClr val="EEF2F8"/>
                    </a:solidFill>
                  </a:tcPr>
                </a:tc>
                <a:tc>
                  <a:txBody>
                    <a:bodyPr wrap="square"/>
                    <a:lstStyle/>
                    <a:p>
                      <a:pPr algn="ctr"/>
                      <a:r>
                        <a:rPr sz="1200" b="0" i="0">
                          <a:solidFill>
                            <a:srgbClr val="1F1F1F"/>
                          </a:solidFill>
                          <a:latin typeface="Calibri"/>
                        </a:rPr>
                        <a:t>0.773 – 0.849</a:t>
                      </a:r>
                    </a:p>
                  </a:txBody>
                  <a:tcPr marL="54864" marR="54864" marT="27432" marB="27432" anchor="ctr">
                    <a:solidFill>
                      <a:srgbClr val="EEF2F8"/>
                    </a:solidFill>
                  </a:tcPr>
                </a:tc>
                <a:tc>
                  <a:txBody>
                    <a:bodyPr wrap="square"/>
                    <a:lstStyle/>
                    <a:p>
                      <a:pPr algn="ctr"/>
                      <a:r>
                        <a:rPr sz="1200" b="0" i="0">
                          <a:solidFill>
                            <a:srgbClr val="1F1F1F"/>
                          </a:solidFill>
                          <a:latin typeface="Calibri"/>
                        </a:rPr>
                        <a:t>0.550</a:t>
                      </a:r>
                    </a:p>
                  </a:txBody>
                  <a:tcPr marL="54864" marR="54864" marT="27432" marB="27432" anchor="ctr">
                    <a:solidFill>
                      <a:srgbClr val="EEF2F8"/>
                    </a:solidFill>
                  </a:tcPr>
                </a:tc>
              </a:tr>
              <a:tr h="548640">
                <a:tc>
                  <a:txBody>
                    <a:bodyPr wrap="square"/>
                    <a:lstStyle/>
                    <a:p>
                      <a:pPr algn="l"/>
                      <a:r>
                        <a:rPr sz="1200" b="1" i="0">
                          <a:solidFill>
                            <a:srgbClr val="1F1F1F"/>
                          </a:solidFill>
                          <a:latin typeface="Calibri"/>
                        </a:rPr>
                        <a:t>Linear SVM</a:t>
                      </a:r>
                    </a:p>
                  </a:txBody>
                  <a:tcPr marL="54864" marR="54864" marT="27432" marB="27432" anchor="ctr">
                    <a:solidFill>
                      <a:srgbClr val="FFFFFF"/>
                    </a:solidFill>
                  </a:tcPr>
                </a:tc>
                <a:tc>
                  <a:txBody>
                    <a:bodyPr wrap="square"/>
                    <a:lstStyle/>
                    <a:p>
                      <a:pPr algn="ctr"/>
                      <a:r>
                        <a:rPr sz="1200" b="0" i="0">
                          <a:solidFill>
                            <a:srgbClr val="1F1F1F"/>
                          </a:solidFill>
                          <a:latin typeface="Calibri"/>
                        </a:rPr>
                        <a:t>869</a:t>
                      </a:r>
                    </a:p>
                  </a:txBody>
                  <a:tcPr marL="54864" marR="54864" marT="27432" marB="27432" anchor="ctr">
                    <a:solidFill>
                      <a:srgbClr val="FFFFFF"/>
                    </a:solidFill>
                  </a:tcPr>
                </a:tc>
                <a:tc>
                  <a:txBody>
                    <a:bodyPr wrap="square"/>
                    <a:lstStyle/>
                    <a:p>
                      <a:pPr algn="ctr"/>
                      <a:r>
                        <a:rPr sz="1200" b="0" i="0">
                          <a:solidFill>
                            <a:srgbClr val="1F1F1F"/>
                          </a:solidFill>
                          <a:latin typeface="Calibri"/>
                        </a:rPr>
                        <a:t>764</a:t>
                      </a:r>
                    </a:p>
                  </a:txBody>
                  <a:tcPr marL="54864" marR="54864" marT="27432" marB="27432" anchor="ctr">
                    <a:solidFill>
                      <a:srgbClr val="FFFFFF"/>
                    </a:solidFill>
                  </a:tcPr>
                </a:tc>
                <a:tc>
                  <a:txBody>
                    <a:bodyPr wrap="square"/>
                    <a:lstStyle/>
                    <a:p>
                      <a:pPr algn="ctr"/>
                      <a:r>
                        <a:rPr sz="1200" b="0" i="0">
                          <a:solidFill>
                            <a:srgbClr val="1F1F1F"/>
                          </a:solidFill>
                          <a:latin typeface="Calibri"/>
                        </a:rPr>
                        <a:t>396</a:t>
                      </a:r>
                    </a:p>
                  </a:txBody>
                  <a:tcPr marL="54864" marR="54864" marT="27432" marB="27432" anchor="ctr">
                    <a:solidFill>
                      <a:srgbClr val="FFFFFF"/>
                    </a:solidFill>
                  </a:tcPr>
                </a:tc>
                <a:tc>
                  <a:txBody>
                    <a:bodyPr wrap="square"/>
                    <a:lstStyle/>
                    <a:p>
                      <a:pPr algn="ctr"/>
                      <a:r>
                        <a:rPr sz="1200" b="0" i="0">
                          <a:solidFill>
                            <a:srgbClr val="1F1F1F"/>
                          </a:solidFill>
                          <a:latin typeface="Calibri"/>
                        </a:rPr>
                        <a:t>316</a:t>
                      </a:r>
                    </a:p>
                  </a:txBody>
                  <a:tcPr marL="54864" marR="54864" marT="27432" marB="27432" anchor="ctr">
                    <a:solidFill>
                      <a:srgbClr val="FFFFFF"/>
                    </a:solidFill>
                  </a:tcPr>
                </a:tc>
                <a:tc>
                  <a:txBody>
                    <a:bodyPr wrap="square"/>
                    <a:lstStyle/>
                    <a:p>
                      <a:pPr algn="ctr"/>
                      <a:r>
                        <a:rPr sz="1200" b="0" i="0">
                          <a:solidFill>
                            <a:srgbClr val="1F1F1F"/>
                          </a:solidFill>
                          <a:latin typeface="Calibri"/>
                        </a:rPr>
                        <a:t>0.711 – 0.798</a:t>
                      </a:r>
                    </a:p>
                  </a:txBody>
                  <a:tcPr marL="54864" marR="54864" marT="27432" marB="27432" anchor="ctr">
                    <a:solidFill>
                      <a:srgbClr val="FFFFFF"/>
                    </a:solidFill>
                  </a:tcPr>
                </a:tc>
                <a:tc>
                  <a:txBody>
                    <a:bodyPr wrap="square"/>
                    <a:lstStyle/>
                    <a:p>
                      <a:pPr algn="ctr"/>
                      <a:r>
                        <a:rPr sz="1200" b="0" i="0">
                          <a:solidFill>
                            <a:srgbClr val="1F1F1F"/>
                          </a:solidFill>
                          <a:latin typeface="Calibri"/>
                        </a:rPr>
                        <a:t>0.006</a:t>
                      </a:r>
                    </a:p>
                  </a:txBody>
                  <a:tcPr marL="54864" marR="54864" marT="27432" marB="27432" anchor="ctr">
                    <a:solidFill>
                      <a:srgbClr val="FFFFFF"/>
                    </a:solidFill>
                  </a:tcPr>
                </a:tc>
              </a:tr>
              <a:tr h="548640">
                <a:tc>
                  <a:txBody>
                    <a:bodyPr wrap="square"/>
                    <a:lstStyle/>
                    <a:p>
                      <a:pPr algn="l"/>
                      <a:r>
                        <a:rPr sz="1200" b="1" i="0">
                          <a:solidFill>
                            <a:srgbClr val="1F1F1F"/>
                          </a:solidFill>
                          <a:latin typeface="Calibri"/>
                        </a:rPr>
                        <a:t>Standard MLP</a:t>
                      </a:r>
                    </a:p>
                  </a:txBody>
                  <a:tcPr marL="54864" marR="54864" marT="27432" marB="27432" anchor="ctr">
                    <a:solidFill>
                      <a:srgbClr val="EEF2F8"/>
                    </a:solidFill>
                  </a:tcPr>
                </a:tc>
                <a:tc>
                  <a:txBody>
                    <a:bodyPr wrap="square"/>
                    <a:lstStyle/>
                    <a:p>
                      <a:pPr algn="ctr"/>
                      <a:r>
                        <a:rPr sz="1200" b="0" i="0">
                          <a:solidFill>
                            <a:srgbClr val="1F1F1F"/>
                          </a:solidFill>
                          <a:latin typeface="Calibri"/>
                        </a:rPr>
                        <a:t>799</a:t>
                      </a:r>
                    </a:p>
                  </a:txBody>
                  <a:tcPr marL="54864" marR="54864" marT="27432" marB="27432" anchor="ctr">
                    <a:solidFill>
                      <a:srgbClr val="EEF2F8"/>
                    </a:solidFill>
                  </a:tcPr>
                </a:tc>
                <a:tc>
                  <a:txBody>
                    <a:bodyPr wrap="square"/>
                    <a:lstStyle/>
                    <a:p>
                      <a:pPr algn="ctr"/>
                      <a:r>
                        <a:rPr sz="1200" b="0" i="0">
                          <a:solidFill>
                            <a:srgbClr val="1F1F1F"/>
                          </a:solidFill>
                          <a:latin typeface="Calibri"/>
                        </a:rPr>
                        <a:t>840</a:t>
                      </a:r>
                    </a:p>
                  </a:txBody>
                  <a:tcPr marL="54864" marR="54864" marT="27432" marB="27432" anchor="ctr">
                    <a:solidFill>
                      <a:srgbClr val="EEF2F8"/>
                    </a:solidFill>
                  </a:tcPr>
                </a:tc>
                <a:tc>
                  <a:txBody>
                    <a:bodyPr wrap="square"/>
                    <a:lstStyle/>
                    <a:p>
                      <a:pPr algn="ctr"/>
                      <a:r>
                        <a:rPr sz="1200" b="0" i="0">
                          <a:solidFill>
                            <a:srgbClr val="1F1F1F"/>
                          </a:solidFill>
                          <a:latin typeface="Calibri"/>
                        </a:rPr>
                        <a:t>320</a:t>
                      </a:r>
                    </a:p>
                  </a:txBody>
                  <a:tcPr marL="54864" marR="54864" marT="27432" marB="27432" anchor="ctr">
                    <a:solidFill>
                      <a:srgbClr val="EEF2F8"/>
                    </a:solidFill>
                  </a:tcPr>
                </a:tc>
                <a:tc>
                  <a:txBody>
                    <a:bodyPr wrap="square"/>
                    <a:lstStyle/>
                    <a:p>
                      <a:pPr algn="ctr"/>
                      <a:r>
                        <a:rPr sz="1200" b="0" i="0">
                          <a:solidFill>
                            <a:srgbClr val="1F1F1F"/>
                          </a:solidFill>
                          <a:latin typeface="Calibri"/>
                        </a:rPr>
                        <a:t>386</a:t>
                      </a:r>
                    </a:p>
                  </a:txBody>
                  <a:tcPr marL="54864" marR="54864" marT="27432" marB="27432" anchor="ctr">
                    <a:solidFill>
                      <a:srgbClr val="EEF2F8"/>
                    </a:solidFill>
                  </a:tcPr>
                </a:tc>
                <a:tc>
                  <a:txBody>
                    <a:bodyPr wrap="square"/>
                    <a:lstStyle/>
                    <a:p>
                      <a:pPr algn="ctr"/>
                      <a:r>
                        <a:rPr sz="1200" b="0" i="0">
                          <a:solidFill>
                            <a:srgbClr val="1F1F1F"/>
                          </a:solidFill>
                          <a:latin typeface="Calibri"/>
                        </a:rPr>
                        <a:t>0.743 – 0.825</a:t>
                      </a:r>
                    </a:p>
                  </a:txBody>
                  <a:tcPr marL="54864" marR="54864" marT="27432" marB="27432" anchor="ctr">
                    <a:solidFill>
                      <a:srgbClr val="EEF2F8"/>
                    </a:solidFill>
                  </a:tcPr>
                </a:tc>
                <a:tc>
                  <a:txBody>
                    <a:bodyPr wrap="square"/>
                    <a:lstStyle/>
                    <a:p>
                      <a:pPr algn="ctr"/>
                      <a:r>
                        <a:rPr sz="1200" b="0" i="0">
                          <a:solidFill>
                            <a:srgbClr val="1F1F1F"/>
                          </a:solidFill>
                          <a:latin typeface="Calibri"/>
                        </a:rPr>
                        <a:t>0.019</a:t>
                      </a:r>
                    </a:p>
                  </a:txBody>
                  <a:tcPr marL="54864" marR="54864" marT="27432" marB="27432" anchor="ctr">
                    <a:solidFill>
                      <a:srgbClr val="EEF2F8"/>
                    </a:solidFill>
                  </a:tcPr>
                </a:tc>
              </a:tr>
            </a:tbl>
          </a:graphicData>
        </a:graphic>
      </p:graphicFrame>
      <p:sp>
        <p:nvSpPr>
          <p:cNvPr id="5" name="TextBox 4"/>
          <p:cNvSpPr txBox="1"/>
          <p:nvPr/>
        </p:nvSpPr>
        <p:spPr>
          <a:xfrm>
            <a:off x="365760" y="5166360"/>
            <a:ext cx="8412480" cy="1188720"/>
          </a:xfrm>
          <a:prstGeom prst="rect">
            <a:avLst/>
          </a:prstGeom>
          <a:noFill/>
        </p:spPr>
        <p:txBody>
          <a:bodyPr wrap="square" lIns="45720" rIns="45720">
            <a:spAutoFit/>
          </a:bodyPr>
          <a:lstStyle/>
          <a:p>
            <a:pPr>
              <a:spcAft>
                <a:spcPts val="300"/>
              </a:spcAft>
            </a:pPr>
            <a:r>
              <a:rPr sz="1500" b="0" i="0">
                <a:solidFill>
                  <a:srgbClr val="0E6E6E"/>
                </a:solidFill>
                <a:latin typeface="Calibri"/>
              </a:rPr>
              <a:t>▪  </a:t>
            </a:r>
            <a:r>
              <a:rPr sz="1500" b="1" i="0">
                <a:solidFill>
                  <a:srgbClr val="1F1F1F"/>
                </a:solidFill>
                <a:latin typeface="Calibri"/>
              </a:rPr>
              <a:t>TP/TN/FP/FN: </a:t>
            </a:r>
            <a:r>
              <a:rPr sz="1500" b="0" i="0">
                <a:solidFill>
                  <a:srgbClr val="1F1F1F"/>
                </a:solidFill>
                <a:latin typeface="Calibri"/>
              </a:rPr>
              <a:t>summed over the 25 test folds (High = positive class)</a:t>
            </a:r>
          </a:p>
          <a:p>
            <a:pPr>
              <a:spcAft>
                <a:spcPts val="300"/>
              </a:spcAft>
            </a:pPr>
            <a:r>
              <a:rPr sz="1500" b="0" i="0">
                <a:solidFill>
                  <a:srgbClr val="0E6E6E"/>
                </a:solidFill>
                <a:latin typeface="Calibri"/>
              </a:rPr>
              <a:t>▪  </a:t>
            </a:r>
            <a:r>
              <a:rPr sz="1500" b="1" i="0">
                <a:solidFill>
                  <a:srgbClr val="1F1F1F"/>
                </a:solidFill>
                <a:latin typeface="Calibri"/>
              </a:rPr>
              <a:t>Significance: </a:t>
            </a:r>
            <a:r>
              <a:rPr sz="1500" b="0" i="0">
                <a:solidFill>
                  <a:srgbClr val="1F1F1F"/>
                </a:solidFill>
                <a:latin typeface="Calibri"/>
              </a:rPr>
              <a:t>corrected resampled t-test (Nadeau–Bengio) on paired fold ROC-AUC; p &lt; 0.05 = real difference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Classification Performance Metrics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4727448"/>
        </p:xfrm>
        <a:graphic>
          <a:graphicData uri="http://schemas.openxmlformats.org/drawingml/2006/table">
            <a:tbl>
              <a:tblPr firstRow="1" bandRow="1">
                <a:tableStyleId>{5C22544A-7EE6-4342-B048-85BDC9FD1C3A}</a:tableStyleId>
              </a:tblPr>
              <a:tblGrid>
                <a:gridCol w="1234440"/>
                <a:gridCol w="2148840"/>
                <a:gridCol w="2743200"/>
                <a:gridCol w="914400"/>
                <a:gridCol w="1371600"/>
              </a:tblGrid>
              <a:tr h="429768">
                <a:tc>
                  <a:txBody>
                    <a:bodyPr wrap="square"/>
                    <a:lstStyle/>
                    <a:p>
                      <a:pPr algn="l"/>
                      <a:r>
                        <a:rPr sz="1100" b="1" i="0">
                          <a:solidFill>
                            <a:srgbClr val="FFFFFF"/>
                          </a:solidFill>
                          <a:latin typeface="Calibri"/>
                        </a:rPr>
                        <a:t>Metric</a:t>
                      </a:r>
                    </a:p>
                  </a:txBody>
                  <a:tcPr marL="54864" marR="54864" marT="27432" marB="27432" anchor="ctr">
                    <a:solidFill>
                      <a:srgbClr val="1B3A6B"/>
                    </a:solidFill>
                  </a:tcPr>
                </a:tc>
                <a:tc>
                  <a:txBody>
                    <a:bodyPr wrap="square"/>
                    <a:lstStyle/>
                    <a:p>
                      <a:pPr algn="ctr"/>
                      <a:r>
                        <a:rPr sz="1100" b="1" i="0">
                          <a:solidFill>
                            <a:srgbClr val="FFFFFF"/>
                          </a:solidFill>
                          <a:latin typeface="Calibri"/>
                        </a:rPr>
                        <a:t>Full form</a:t>
                      </a:r>
                    </a:p>
                  </a:txBody>
                  <a:tcPr marL="54864" marR="54864" marT="27432" marB="27432" anchor="ctr">
                    <a:solidFill>
                      <a:srgbClr val="1B3A6B"/>
                    </a:solidFill>
                  </a:tcPr>
                </a:tc>
                <a:tc>
                  <a:txBody>
                    <a:bodyPr wrap="square"/>
                    <a:lstStyle/>
                    <a:p>
                      <a:pPr algn="ctr"/>
                      <a:r>
                        <a:rPr sz="1100" b="1" i="0">
                          <a:solidFill>
                            <a:srgbClr val="FFFFFF"/>
                          </a:solidFill>
                          <a:latin typeface="Calibri"/>
                        </a:rPr>
                        <a:t>Purpose</a:t>
                      </a:r>
                    </a:p>
                  </a:txBody>
                  <a:tcPr marL="54864" marR="54864" marT="27432" marB="27432" anchor="ctr">
                    <a:solidFill>
                      <a:srgbClr val="1B3A6B"/>
                    </a:solidFill>
                  </a:tcPr>
                </a:tc>
                <a:tc>
                  <a:txBody>
                    <a:bodyPr wrap="square"/>
                    <a:lstStyle/>
                    <a:p>
                      <a:pPr algn="ctr"/>
                      <a:r>
                        <a:rPr sz="1100" b="1" i="0">
                          <a:solidFill>
                            <a:srgbClr val="FFFFFF"/>
                          </a:solidFill>
                          <a:latin typeface="Calibri"/>
                        </a:rPr>
                        <a:t>B-ACPN</a:t>
                      </a:r>
                    </a:p>
                  </a:txBody>
                  <a:tcPr marL="54864" marR="54864" marT="27432" marB="27432" anchor="ctr">
                    <a:solidFill>
                      <a:srgbClr val="1B3A6B"/>
                    </a:solidFill>
                  </a:tcPr>
                </a:tc>
                <a:tc>
                  <a:txBody>
                    <a:bodyPr wrap="square"/>
                    <a:lstStyle/>
                    <a:p>
                      <a:pPr algn="ctr"/>
                      <a:r>
                        <a:rPr sz="1100" b="1" i="0">
                          <a:solidFill>
                            <a:srgbClr val="FFFFFF"/>
                          </a:solidFill>
                          <a:latin typeface="Calibri"/>
                        </a:rPr>
                        <a:t>Best other model</a:t>
                      </a:r>
                    </a:p>
                  </a:txBody>
                  <a:tcPr marL="54864" marR="54864" marT="27432" marB="27432" anchor="ctr">
                    <a:solidFill>
                      <a:srgbClr val="1B3A6B"/>
                    </a:solidFill>
                  </a:tcPr>
                </a:tc>
              </a:tr>
              <a:tr h="429768">
                <a:tc>
                  <a:txBody>
                    <a:bodyPr wrap="square"/>
                    <a:lstStyle/>
                    <a:p>
                      <a:pPr algn="l"/>
                      <a:r>
                        <a:rPr sz="1100" b="1" i="0">
                          <a:solidFill>
                            <a:srgbClr val="1F1F1F"/>
                          </a:solidFill>
                          <a:latin typeface="Calibri"/>
                        </a:rPr>
                        <a:t>Accuracy</a:t>
                      </a:r>
                    </a:p>
                  </a:txBody>
                  <a:tcPr marL="54864" marR="54864" marT="27432" marB="27432" anchor="ctr">
                    <a:solidFill>
                      <a:srgbClr val="FFFFFF"/>
                    </a:solidFill>
                  </a:tcPr>
                </a:tc>
                <a:tc>
                  <a:txBody>
                    <a:bodyPr wrap="square"/>
                    <a:lstStyle/>
                    <a:p>
                      <a:pPr algn="ctr"/>
                      <a:r>
                        <a:rPr sz="1100" b="0" i="0">
                          <a:solidFill>
                            <a:srgbClr val="1F1F1F"/>
                          </a:solidFill>
                          <a:latin typeface="Calibri"/>
                        </a:rPr>
                        <a:t>Classification Accuracy</a:t>
                      </a:r>
                    </a:p>
                  </a:txBody>
                  <a:tcPr marL="54864" marR="54864" marT="27432" marB="27432" anchor="ctr">
                    <a:solidFill>
                      <a:srgbClr val="FFFFFF"/>
                    </a:solidFill>
                  </a:tcPr>
                </a:tc>
                <a:tc>
                  <a:txBody>
                    <a:bodyPr wrap="square"/>
                    <a:lstStyle/>
                    <a:p>
                      <a:pPr algn="ctr"/>
                      <a:r>
                        <a:rPr sz="1100" b="0" i="0">
                          <a:solidFill>
                            <a:srgbClr val="1F1F1F"/>
                          </a:solidFill>
                          <a:latin typeface="Calibri"/>
                        </a:rPr>
                        <a:t>Share of districts classified correctly</a:t>
                      </a:r>
                    </a:p>
                  </a:txBody>
                  <a:tcPr marL="54864" marR="54864" marT="27432" marB="27432" anchor="ctr">
                    <a:solidFill>
                      <a:srgbClr val="FFFFFF"/>
                    </a:solidFill>
                  </a:tcPr>
                </a:tc>
                <a:tc>
                  <a:txBody>
                    <a:bodyPr wrap="square"/>
                    <a:lstStyle/>
                    <a:p>
                      <a:pPr algn="ctr"/>
                      <a:r>
                        <a:rPr sz="1100" b="0" i="0">
                          <a:solidFill>
                            <a:srgbClr val="1F1F1F"/>
                          </a:solidFill>
                          <a:latin typeface="Calibri"/>
                        </a:rPr>
                        <a:t>0.738</a:t>
                      </a:r>
                    </a:p>
                  </a:txBody>
                  <a:tcPr marL="54864" marR="54864" marT="27432" marB="27432" anchor="ctr">
                    <a:solidFill>
                      <a:srgbClr val="FFFFFF"/>
                    </a:solidFill>
                  </a:tcPr>
                </a:tc>
                <a:tc>
                  <a:txBody>
                    <a:bodyPr wrap="square"/>
                    <a:lstStyle/>
                    <a:p>
                      <a:pPr algn="ctr"/>
                      <a:r>
                        <a:rPr sz="1100" b="0" i="0">
                          <a:solidFill>
                            <a:srgbClr val="1F1F1F"/>
                          </a:solidFill>
                          <a:latin typeface="Calibri"/>
                        </a:rPr>
                        <a:t>GBT 0.725</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Precision</a:t>
                      </a:r>
                    </a:p>
                  </a:txBody>
                  <a:tcPr marL="54864" marR="54864" marT="27432" marB="27432" anchor="ctr">
                    <a:solidFill>
                      <a:srgbClr val="EEF2F8"/>
                    </a:solidFill>
                  </a:tcPr>
                </a:tc>
                <a:tc>
                  <a:txBody>
                    <a:bodyPr wrap="square"/>
                    <a:lstStyle/>
                    <a:p>
                      <a:pPr algn="ctr"/>
                      <a:r>
                        <a:rPr sz="1100" b="0" i="0">
                          <a:solidFill>
                            <a:srgbClr val="1F1F1F"/>
                          </a:solidFill>
                          <a:latin typeface="Calibri"/>
                        </a:rPr>
                        <a:t>Positive Predictive Value</a:t>
                      </a:r>
                    </a:p>
                  </a:txBody>
                  <a:tcPr marL="54864" marR="54864" marT="27432" marB="27432" anchor="ctr">
                    <a:solidFill>
                      <a:srgbClr val="EEF2F8"/>
                    </a:solidFill>
                  </a:tcPr>
                </a:tc>
                <a:tc>
                  <a:txBody>
                    <a:bodyPr wrap="square"/>
                    <a:lstStyle/>
                    <a:p>
                      <a:pPr algn="ctr"/>
                      <a:r>
                        <a:rPr sz="1100" b="0" i="0">
                          <a:solidFill>
                            <a:srgbClr val="1F1F1F"/>
                          </a:solidFill>
                          <a:latin typeface="Calibri"/>
                        </a:rPr>
                        <a:t>Of districts predicted High, share truly High</a:t>
                      </a:r>
                    </a:p>
                  </a:txBody>
                  <a:tcPr marL="54864" marR="54864" marT="27432" marB="27432" anchor="ctr">
                    <a:solidFill>
                      <a:srgbClr val="EEF2F8"/>
                    </a:solidFill>
                  </a:tcPr>
                </a:tc>
                <a:tc>
                  <a:txBody>
                    <a:bodyPr wrap="square"/>
                    <a:lstStyle/>
                    <a:p>
                      <a:pPr algn="ctr"/>
                      <a:r>
                        <a:rPr sz="1100" b="0" i="0">
                          <a:solidFill>
                            <a:srgbClr val="1F1F1F"/>
                          </a:solidFill>
                          <a:latin typeface="Calibri"/>
                        </a:rPr>
                        <a:t>0.765</a:t>
                      </a:r>
                    </a:p>
                  </a:txBody>
                  <a:tcPr marL="54864" marR="54864" marT="27432" marB="27432" anchor="ctr">
                    <a:solidFill>
                      <a:srgbClr val="EEF2F8"/>
                    </a:solidFill>
                  </a:tcPr>
                </a:tc>
                <a:tc>
                  <a:txBody>
                    <a:bodyPr wrap="square"/>
                    <a:lstStyle/>
                    <a:p>
                      <a:pPr algn="ctr"/>
                      <a:r>
                        <a:rPr sz="1100" b="0" i="0">
                          <a:solidFill>
                            <a:srgbClr val="1F1F1F"/>
                          </a:solidFill>
                          <a:latin typeface="Calibri"/>
                        </a:rPr>
                        <a:t>GBT 0.736</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Recall</a:t>
                      </a:r>
                    </a:p>
                  </a:txBody>
                  <a:tcPr marL="54864" marR="54864" marT="27432" marB="27432" anchor="ctr">
                    <a:solidFill>
                      <a:srgbClr val="FFFFFF"/>
                    </a:solidFill>
                  </a:tcPr>
                </a:tc>
                <a:tc>
                  <a:txBody>
                    <a:bodyPr wrap="square"/>
                    <a:lstStyle/>
                    <a:p>
                      <a:pPr algn="ctr"/>
                      <a:r>
                        <a:rPr sz="1100" b="0" i="0">
                          <a:solidFill>
                            <a:srgbClr val="1F1F1F"/>
                          </a:solidFill>
                          <a:latin typeface="Calibri"/>
                        </a:rPr>
                        <a:t>Sensitivity / True Positive Rate</a:t>
                      </a:r>
                    </a:p>
                  </a:txBody>
                  <a:tcPr marL="54864" marR="54864" marT="27432" marB="27432" anchor="ctr">
                    <a:solidFill>
                      <a:srgbClr val="FFFFFF"/>
                    </a:solidFill>
                  </a:tcPr>
                </a:tc>
                <a:tc>
                  <a:txBody>
                    <a:bodyPr wrap="square"/>
                    <a:lstStyle/>
                    <a:p>
                      <a:pPr algn="ctr"/>
                      <a:r>
                        <a:rPr sz="1100" b="0" i="0">
                          <a:solidFill>
                            <a:srgbClr val="1F1F1F"/>
                          </a:solidFill>
                          <a:latin typeface="Calibri"/>
                        </a:rPr>
                        <a:t>Of truly High districts, share found</a:t>
                      </a:r>
                    </a:p>
                  </a:txBody>
                  <a:tcPr marL="54864" marR="54864" marT="27432" marB="27432" anchor="ctr">
                    <a:solidFill>
                      <a:srgbClr val="FFFFFF"/>
                    </a:solidFill>
                  </a:tcPr>
                </a:tc>
                <a:tc>
                  <a:txBody>
                    <a:bodyPr wrap="square"/>
                    <a:lstStyle/>
                    <a:p>
                      <a:pPr algn="ctr"/>
                      <a:r>
                        <a:rPr sz="1100" b="0" i="0">
                          <a:solidFill>
                            <a:srgbClr val="1F1F1F"/>
                          </a:solidFill>
                          <a:latin typeface="Calibri"/>
                        </a:rPr>
                        <a:t>0.700</a:t>
                      </a:r>
                    </a:p>
                  </a:txBody>
                  <a:tcPr marL="54864" marR="54864" marT="27432" marB="27432" anchor="ctr">
                    <a:solidFill>
                      <a:srgbClr val="FFFFFF"/>
                    </a:solidFill>
                  </a:tcPr>
                </a:tc>
                <a:tc>
                  <a:txBody>
                    <a:bodyPr wrap="square"/>
                    <a:lstStyle/>
                    <a:p>
                      <a:pPr algn="ctr"/>
                      <a:r>
                        <a:rPr sz="1100" b="0" i="0">
                          <a:solidFill>
                            <a:srgbClr val="1F1F1F"/>
                          </a:solidFill>
                          <a:latin typeface="Calibri"/>
                        </a:rPr>
                        <a:t>Linear SVM 0.733</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F1-score</a:t>
                      </a:r>
                    </a:p>
                  </a:txBody>
                  <a:tcPr marL="54864" marR="54864" marT="27432" marB="27432" anchor="ctr">
                    <a:solidFill>
                      <a:srgbClr val="EEF2F8"/>
                    </a:solidFill>
                  </a:tcPr>
                </a:tc>
                <a:tc>
                  <a:txBody>
                    <a:bodyPr wrap="square"/>
                    <a:lstStyle/>
                    <a:p>
                      <a:pPr algn="ctr"/>
                      <a:r>
                        <a:rPr sz="1100" b="0" i="0">
                          <a:solidFill>
                            <a:srgbClr val="1F1F1F"/>
                          </a:solidFill>
                          <a:latin typeface="Calibri"/>
                        </a:rPr>
                        <a:t>Harmonic mean of precision and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Balances precision and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0.728</a:t>
                      </a:r>
                    </a:p>
                  </a:txBody>
                  <a:tcPr marL="54864" marR="54864" marT="27432" marB="27432" anchor="ctr">
                    <a:solidFill>
                      <a:srgbClr val="EEF2F8"/>
                    </a:solidFill>
                  </a:tcPr>
                </a:tc>
                <a:tc>
                  <a:txBody>
                    <a:bodyPr wrap="square"/>
                    <a:lstStyle/>
                    <a:p>
                      <a:pPr algn="ctr"/>
                      <a:r>
                        <a:rPr sz="1100" b="0" i="0">
                          <a:solidFill>
                            <a:srgbClr val="1F1F1F"/>
                          </a:solidFill>
                          <a:latin typeface="Calibri"/>
                        </a:rPr>
                        <a:t>GBT 0.724</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Specificity</a:t>
                      </a:r>
                    </a:p>
                  </a:txBody>
                  <a:tcPr marL="54864" marR="54864" marT="27432" marB="27432" anchor="ctr">
                    <a:solidFill>
                      <a:srgbClr val="FFFFFF"/>
                    </a:solidFill>
                  </a:tcPr>
                </a:tc>
                <a:tc>
                  <a:txBody>
                    <a:bodyPr wrap="square"/>
                    <a:lstStyle/>
                    <a:p>
                      <a:pPr algn="ctr"/>
                      <a:r>
                        <a:rPr sz="1100" b="0" i="0">
                          <a:solidFill>
                            <a:srgbClr val="1F1F1F"/>
                          </a:solidFill>
                          <a:latin typeface="Calibri"/>
                        </a:rPr>
                        <a:t>True Negative Rate</a:t>
                      </a:r>
                    </a:p>
                  </a:txBody>
                  <a:tcPr marL="54864" marR="54864" marT="27432" marB="27432" anchor="ctr">
                    <a:solidFill>
                      <a:srgbClr val="FFFFFF"/>
                    </a:solidFill>
                  </a:tcPr>
                </a:tc>
                <a:tc>
                  <a:txBody>
                    <a:bodyPr wrap="square"/>
                    <a:lstStyle/>
                    <a:p>
                      <a:pPr algn="ctr"/>
                      <a:r>
                        <a:rPr sz="1100" b="0" i="0">
                          <a:solidFill>
                            <a:srgbClr val="1F1F1F"/>
                          </a:solidFill>
                          <a:latin typeface="Calibri"/>
                        </a:rPr>
                        <a:t>Of truly Low districts, share found</a:t>
                      </a:r>
                    </a:p>
                  </a:txBody>
                  <a:tcPr marL="54864" marR="54864" marT="27432" marB="27432" anchor="ctr">
                    <a:solidFill>
                      <a:srgbClr val="FFFFFF"/>
                    </a:solidFill>
                  </a:tcPr>
                </a:tc>
                <a:tc>
                  <a:txBody>
                    <a:bodyPr wrap="square"/>
                    <a:lstStyle/>
                    <a:p>
                      <a:pPr algn="ctr"/>
                      <a:r>
                        <a:rPr sz="1100" b="0" i="0">
                          <a:solidFill>
                            <a:srgbClr val="1F1F1F"/>
                          </a:solidFill>
                          <a:latin typeface="Calibri"/>
                        </a:rPr>
                        <a:t>0.778</a:t>
                      </a:r>
                    </a:p>
                  </a:txBody>
                  <a:tcPr marL="54864" marR="54864" marT="27432" marB="27432" anchor="ctr">
                    <a:solidFill>
                      <a:srgbClr val="FFFFFF"/>
                    </a:solidFill>
                  </a:tcPr>
                </a:tc>
                <a:tc>
                  <a:txBody>
                    <a:bodyPr wrap="square"/>
                    <a:lstStyle/>
                    <a:p>
                      <a:pPr algn="ctr"/>
                      <a:r>
                        <a:rPr sz="1100" b="0" i="0">
                          <a:solidFill>
                            <a:srgbClr val="1F1F1F"/>
                          </a:solidFill>
                          <a:latin typeface="Calibri"/>
                        </a:rPr>
                        <a:t>RF 0.742</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ROC-AUC</a:t>
                      </a:r>
                    </a:p>
                  </a:txBody>
                  <a:tcPr marL="54864" marR="54864" marT="27432" marB="27432" anchor="ctr">
                    <a:solidFill>
                      <a:srgbClr val="EEF2F8"/>
                    </a:solidFill>
                  </a:tcPr>
                </a:tc>
                <a:tc>
                  <a:txBody>
                    <a:bodyPr wrap="square"/>
                    <a:lstStyle/>
                    <a:p>
                      <a:pPr algn="ctr"/>
                      <a:r>
                        <a:rPr sz="1100" b="0" i="0">
                          <a:solidFill>
                            <a:srgbClr val="1F1F1F"/>
                          </a:solidFill>
                          <a:latin typeface="Calibri"/>
                        </a:rPr>
                        <a:t>Area Under the ROC Curve</a:t>
                      </a:r>
                    </a:p>
                  </a:txBody>
                  <a:tcPr marL="54864" marR="54864" marT="27432" marB="27432" anchor="ctr">
                    <a:solidFill>
                      <a:srgbClr val="EEF2F8"/>
                    </a:solidFill>
                  </a:tcPr>
                </a:tc>
                <a:tc>
                  <a:txBody>
                    <a:bodyPr wrap="square"/>
                    <a:lstStyle/>
                    <a:p>
                      <a:pPr algn="ctr"/>
                      <a:r>
                        <a:rPr sz="1100" b="0" i="0">
                          <a:solidFill>
                            <a:srgbClr val="1F1F1F"/>
                          </a:solidFill>
                          <a:latin typeface="Calibri"/>
                        </a:rPr>
                        <a:t>Ability to separate High from Low</a:t>
                      </a:r>
                    </a:p>
                  </a:txBody>
                  <a:tcPr marL="54864" marR="54864" marT="27432" marB="27432" anchor="ctr">
                    <a:solidFill>
                      <a:srgbClr val="EEF2F8"/>
                    </a:solidFill>
                  </a:tcPr>
                </a:tc>
                <a:tc>
                  <a:txBody>
                    <a:bodyPr wrap="square"/>
                    <a:lstStyle/>
                    <a:p>
                      <a:pPr algn="ctr"/>
                      <a:r>
                        <a:rPr sz="1100" b="0" i="0">
                          <a:solidFill>
                            <a:srgbClr val="1F1F1F"/>
                          </a:solidFill>
                          <a:latin typeface="Calibri"/>
                        </a:rPr>
                        <a:t>0.820</a:t>
                      </a:r>
                    </a:p>
                  </a:txBody>
                  <a:tcPr marL="54864" marR="54864" marT="27432" marB="27432" anchor="ctr">
                    <a:solidFill>
                      <a:srgbClr val="EEF2F8"/>
                    </a:solidFill>
                  </a:tcPr>
                </a:tc>
                <a:tc>
                  <a:txBody>
                    <a:bodyPr wrap="square"/>
                    <a:lstStyle/>
                    <a:p>
                      <a:pPr algn="ctr"/>
                      <a:r>
                        <a:rPr sz="1100" b="0" i="0">
                          <a:solidFill>
                            <a:srgbClr val="1F1F1F"/>
                          </a:solidFill>
                          <a:latin typeface="Calibri"/>
                        </a:rPr>
                        <a:t>GBT 0.811</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Log loss</a:t>
                      </a:r>
                    </a:p>
                  </a:txBody>
                  <a:tcPr marL="54864" marR="54864" marT="27432" marB="27432" anchor="ctr">
                    <a:solidFill>
                      <a:srgbClr val="FFFFFF"/>
                    </a:solidFill>
                  </a:tcPr>
                </a:tc>
                <a:tc>
                  <a:txBody>
                    <a:bodyPr wrap="square"/>
                    <a:lstStyle/>
                    <a:p>
                      <a:pPr algn="ctr"/>
                      <a:r>
                        <a:rPr sz="1100" b="0" i="0">
                          <a:solidFill>
                            <a:srgbClr val="1F1F1F"/>
                          </a:solidFill>
                          <a:latin typeface="Calibri"/>
                        </a:rPr>
                        <a:t>Cross-Entropy Loss</a:t>
                      </a:r>
                    </a:p>
                  </a:txBody>
                  <a:tcPr marL="54864" marR="54864" marT="27432" marB="27432" anchor="ctr">
                    <a:solidFill>
                      <a:srgbClr val="FFFFFF"/>
                    </a:solidFill>
                  </a:tcPr>
                </a:tc>
                <a:tc>
                  <a:txBody>
                    <a:bodyPr wrap="square"/>
                    <a:lstStyle/>
                    <a:p>
                      <a:pPr algn="ctr"/>
                      <a:r>
                        <a:rPr sz="1100" b="0" i="0">
                          <a:solidFill>
                            <a:srgbClr val="1F1F1F"/>
                          </a:solidFill>
                          <a:latin typeface="Calibri"/>
                        </a:rPr>
                        <a:t>Quality of predicted probabilities (lower is better)</a:t>
                      </a:r>
                    </a:p>
                  </a:txBody>
                  <a:tcPr marL="54864" marR="54864" marT="27432" marB="27432" anchor="ctr">
                    <a:solidFill>
                      <a:srgbClr val="FFFFFF"/>
                    </a:solidFill>
                  </a:tcPr>
                </a:tc>
                <a:tc>
                  <a:txBody>
                    <a:bodyPr wrap="square"/>
                    <a:lstStyle/>
                    <a:p>
                      <a:pPr algn="ctr"/>
                      <a:r>
                        <a:rPr sz="1100" b="0" i="0">
                          <a:solidFill>
                            <a:srgbClr val="1F1F1F"/>
                          </a:solidFill>
                          <a:latin typeface="Calibri"/>
                        </a:rPr>
                        <a:t>0.516</a:t>
                      </a:r>
                    </a:p>
                  </a:txBody>
                  <a:tcPr marL="54864" marR="54864" marT="27432" marB="27432" anchor="ctr">
                    <a:solidFill>
                      <a:srgbClr val="FFFFFF"/>
                    </a:solidFill>
                  </a:tcPr>
                </a:tc>
                <a:tc>
                  <a:txBody>
                    <a:bodyPr wrap="square"/>
                    <a:lstStyle/>
                    <a:p>
                      <a:pPr algn="ctr"/>
                      <a:r>
                        <a:rPr sz="1100" b="0" i="0">
                          <a:solidFill>
                            <a:srgbClr val="1F1F1F"/>
                          </a:solidFill>
                          <a:latin typeface="Calibri"/>
                        </a:rPr>
                        <a:t>RF 0.539</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MCC</a:t>
                      </a:r>
                    </a:p>
                  </a:txBody>
                  <a:tcPr marL="54864" marR="54864" marT="27432" marB="27432" anchor="ctr">
                    <a:solidFill>
                      <a:srgbClr val="EEF2F8"/>
                    </a:solidFill>
                  </a:tcPr>
                </a:tc>
                <a:tc>
                  <a:txBody>
                    <a:bodyPr wrap="square"/>
                    <a:lstStyle/>
                    <a:p>
                      <a:pPr algn="ctr"/>
                      <a:r>
                        <a:rPr sz="1100" b="0" i="0">
                          <a:solidFill>
                            <a:srgbClr val="1F1F1F"/>
                          </a:solidFill>
                          <a:latin typeface="Calibri"/>
                        </a:rPr>
                        <a:t>Matthews Correlation Coefficient</a:t>
                      </a:r>
                    </a:p>
                  </a:txBody>
                  <a:tcPr marL="54864" marR="54864" marT="27432" marB="27432" anchor="ctr">
                    <a:solidFill>
                      <a:srgbClr val="EEF2F8"/>
                    </a:solidFill>
                  </a:tcPr>
                </a:tc>
                <a:tc>
                  <a:txBody>
                    <a:bodyPr wrap="square"/>
                    <a:lstStyle/>
                    <a:p>
                      <a:pPr algn="ctr"/>
                      <a:r>
                        <a:rPr sz="1100" b="0" i="0">
                          <a:solidFill>
                            <a:srgbClr val="1F1F1F"/>
                          </a:solidFill>
                          <a:latin typeface="Calibri"/>
                        </a:rPr>
                        <a:t>Uses all four confusion-matrix cells</a:t>
                      </a:r>
                    </a:p>
                  </a:txBody>
                  <a:tcPr marL="54864" marR="54864" marT="27432" marB="27432" anchor="ctr">
                    <a:solidFill>
                      <a:srgbClr val="EEF2F8"/>
                    </a:solidFill>
                  </a:tcPr>
                </a:tc>
                <a:tc>
                  <a:txBody>
                    <a:bodyPr wrap="square"/>
                    <a:lstStyle/>
                    <a:p>
                      <a:pPr algn="ctr"/>
                      <a:r>
                        <a:rPr sz="1100" b="0" i="0">
                          <a:solidFill>
                            <a:srgbClr val="1F1F1F"/>
                          </a:solidFill>
                          <a:latin typeface="Calibri"/>
                        </a:rPr>
                        <a:t>0.482</a:t>
                      </a:r>
                    </a:p>
                  </a:txBody>
                  <a:tcPr marL="54864" marR="54864" marT="27432" marB="27432" anchor="ctr">
                    <a:solidFill>
                      <a:srgbClr val="EEF2F8"/>
                    </a:solidFill>
                  </a:tcPr>
                </a:tc>
                <a:tc>
                  <a:txBody>
                    <a:bodyPr wrap="square"/>
                    <a:lstStyle/>
                    <a:p>
                      <a:pPr algn="ctr"/>
                      <a:r>
                        <a:rPr sz="1100" b="0" i="0">
                          <a:solidFill>
                            <a:srgbClr val="1F1F1F"/>
                          </a:solidFill>
                          <a:latin typeface="Calibri"/>
                        </a:rPr>
                        <a:t>GBT 0.454</a:t>
                      </a:r>
                    </a:p>
                  </a:txBody>
                  <a:tcPr marL="54864" marR="54864" marT="27432" marB="27432" anchor="ctr">
                    <a:solidFill>
                      <a:srgbClr val="EEF2F8"/>
                    </a:solidFill>
                  </a:tcPr>
                </a:tc>
              </a:tr>
              <a:tr h="429768">
                <a:tc>
                  <a:txBody>
                    <a:bodyPr wrap="square"/>
                    <a:lstStyle/>
                    <a:p>
                      <a:pPr algn="l"/>
                      <a:r>
                        <a:rPr sz="1100" b="1" i="0">
                          <a:solidFill>
                            <a:srgbClr val="1F1F1F"/>
                          </a:solidFill>
                          <a:latin typeface="Calibri"/>
                        </a:rPr>
                        <a:t>Cohen's kappa</a:t>
                      </a:r>
                    </a:p>
                  </a:txBody>
                  <a:tcPr marL="54864" marR="54864" marT="27432" marB="27432" anchor="ctr">
                    <a:solidFill>
                      <a:srgbClr val="FFFFFF"/>
                    </a:solidFill>
                  </a:tcPr>
                </a:tc>
                <a:tc>
                  <a:txBody>
                    <a:bodyPr wrap="square"/>
                    <a:lstStyle/>
                    <a:p>
                      <a:pPr algn="ctr"/>
                      <a:r>
                        <a:rPr sz="1100" b="0" i="0">
                          <a:solidFill>
                            <a:srgbClr val="1F1F1F"/>
                          </a:solidFill>
                          <a:latin typeface="Calibri"/>
                        </a:rPr>
                        <a:t>Cohen's Kappa Coefficient</a:t>
                      </a:r>
                    </a:p>
                  </a:txBody>
                  <a:tcPr marL="54864" marR="54864" marT="27432" marB="27432" anchor="ctr">
                    <a:solidFill>
                      <a:srgbClr val="FFFFFF"/>
                    </a:solidFill>
                  </a:tcPr>
                </a:tc>
                <a:tc>
                  <a:txBody>
                    <a:bodyPr wrap="square"/>
                    <a:lstStyle/>
                    <a:p>
                      <a:pPr algn="ctr"/>
                      <a:r>
                        <a:rPr sz="1100" b="0" i="0">
                          <a:solidFill>
                            <a:srgbClr val="1F1F1F"/>
                          </a:solidFill>
                          <a:latin typeface="Calibri"/>
                        </a:rPr>
                        <a:t>Agreement with true labels, corrected for chance</a:t>
                      </a:r>
                    </a:p>
                  </a:txBody>
                  <a:tcPr marL="54864" marR="54864" marT="27432" marB="27432" anchor="ctr">
                    <a:solidFill>
                      <a:srgbClr val="FFFFFF"/>
                    </a:solidFill>
                  </a:tcPr>
                </a:tc>
                <a:tc>
                  <a:txBody>
                    <a:bodyPr wrap="square"/>
                    <a:lstStyle/>
                    <a:p>
                      <a:pPr algn="ctr"/>
                      <a:r>
                        <a:rPr sz="1100" b="0" i="0">
                          <a:solidFill>
                            <a:srgbClr val="1F1F1F"/>
                          </a:solidFill>
                          <a:latin typeface="Calibri"/>
                        </a:rPr>
                        <a:t>0.477</a:t>
                      </a:r>
                    </a:p>
                  </a:txBody>
                  <a:tcPr marL="54864" marR="54864" marT="27432" marB="27432" anchor="ctr">
                    <a:solidFill>
                      <a:srgbClr val="FFFFFF"/>
                    </a:solidFill>
                  </a:tcPr>
                </a:tc>
                <a:tc>
                  <a:txBody>
                    <a:bodyPr wrap="square"/>
                    <a:lstStyle/>
                    <a:p>
                      <a:pPr algn="ctr"/>
                      <a:r>
                        <a:rPr sz="1100" b="0" i="0">
                          <a:solidFill>
                            <a:srgbClr val="1F1F1F"/>
                          </a:solidFill>
                          <a:latin typeface="Calibri"/>
                        </a:rPr>
                        <a:t>GBT 0.451</a:t>
                      </a:r>
                    </a:p>
                  </a:txBody>
                  <a:tcPr marL="54864" marR="54864" marT="27432" marB="27432" anchor="ctr">
                    <a:solidFill>
                      <a:srgbClr val="FFFFFF"/>
                    </a:solidFill>
                  </a:tcPr>
                </a:tc>
              </a:tr>
              <a:tr h="429768">
                <a:tc>
                  <a:txBody>
                    <a:bodyPr wrap="square"/>
                    <a:lstStyle/>
                    <a:p>
                      <a:pPr algn="l"/>
                      <a:r>
                        <a:rPr sz="1100" b="1" i="0">
                          <a:solidFill>
                            <a:srgbClr val="1F1F1F"/>
                          </a:solidFill>
                          <a:latin typeface="Calibri"/>
                        </a:rPr>
                        <a:t>Balanced acc.</a:t>
                      </a:r>
                    </a:p>
                  </a:txBody>
                  <a:tcPr marL="54864" marR="54864" marT="27432" marB="27432" anchor="ctr">
                    <a:solidFill>
                      <a:srgbClr val="EEF2F8"/>
                    </a:solidFill>
                  </a:tcPr>
                </a:tc>
                <a:tc>
                  <a:txBody>
                    <a:bodyPr wrap="square"/>
                    <a:lstStyle/>
                    <a:p>
                      <a:pPr algn="ctr"/>
                      <a:r>
                        <a:rPr sz="1100" b="0" i="0">
                          <a:solidFill>
                            <a:srgbClr val="1F1F1F"/>
                          </a:solidFill>
                          <a:latin typeface="Calibri"/>
                        </a:rPr>
                        <a:t>Average class recall</a:t>
                      </a:r>
                    </a:p>
                  </a:txBody>
                  <a:tcPr marL="54864" marR="54864" marT="27432" marB="27432" anchor="ctr">
                    <a:solidFill>
                      <a:srgbClr val="EEF2F8"/>
                    </a:solidFill>
                  </a:tcPr>
                </a:tc>
                <a:tc>
                  <a:txBody>
                    <a:bodyPr wrap="square"/>
                    <a:lstStyle/>
                    <a:p>
                      <a:pPr algn="ctr"/>
                      <a:r>
                        <a:rPr sz="1100" b="0" i="0">
                          <a:solidFill>
                            <a:srgbClr val="1F1F1F"/>
                          </a:solidFill>
                          <a:latin typeface="Calibri"/>
                        </a:rPr>
                        <a:t>Accuracy that is fair to both classes</a:t>
                      </a:r>
                    </a:p>
                  </a:txBody>
                  <a:tcPr marL="54864" marR="54864" marT="27432" marB="27432" anchor="ctr">
                    <a:solidFill>
                      <a:srgbClr val="EEF2F8"/>
                    </a:solidFill>
                  </a:tcPr>
                </a:tc>
                <a:tc>
                  <a:txBody>
                    <a:bodyPr wrap="square"/>
                    <a:lstStyle/>
                    <a:p>
                      <a:pPr algn="ctr"/>
                      <a:r>
                        <a:rPr sz="1100" b="0" i="0">
                          <a:solidFill>
                            <a:srgbClr val="1F1F1F"/>
                          </a:solidFill>
                          <a:latin typeface="Calibri"/>
                        </a:rPr>
                        <a:t>0.739</a:t>
                      </a:r>
                    </a:p>
                  </a:txBody>
                  <a:tcPr marL="54864" marR="54864" marT="27432" marB="27432" anchor="ctr">
                    <a:solidFill>
                      <a:srgbClr val="EEF2F8"/>
                    </a:solidFill>
                  </a:tcPr>
                </a:tc>
                <a:tc>
                  <a:txBody>
                    <a:bodyPr wrap="square"/>
                    <a:lstStyle/>
                    <a:p>
                      <a:pPr algn="ctr"/>
                      <a:r>
                        <a:rPr sz="1100" b="0" i="0">
                          <a:solidFill>
                            <a:srgbClr val="1F1F1F"/>
                          </a:solidFill>
                          <a:latin typeface="Calibri"/>
                        </a:rPr>
                        <a:t>GBT 0.726</a:t>
                      </a:r>
                    </a:p>
                  </a:txBody>
                  <a:tcPr marL="54864" marR="54864" marT="27432" marB="27432" anchor="ctr">
                    <a:solidFill>
                      <a:srgbClr val="EEF2F8"/>
                    </a:solidFill>
                  </a:tcPr>
                </a:tc>
              </a:tr>
            </a:tbl>
          </a:graphicData>
        </a:graphic>
      </p:graphicFrame>
      <p:sp>
        <p:nvSpPr>
          <p:cNvPr id="5" name="TextBox 4"/>
          <p:cNvSpPr txBox="1"/>
          <p:nvPr/>
        </p:nvSpPr>
        <p:spPr>
          <a:xfrm>
            <a:off x="365760" y="5943600"/>
            <a:ext cx="8412480" cy="411480"/>
          </a:xfrm>
          <a:prstGeom prst="rect">
            <a:avLst/>
          </a:prstGeom>
          <a:noFill/>
        </p:spPr>
        <p:txBody>
          <a:bodyPr wrap="square" anchor="t" lIns="45720" rIns="45720">
            <a:spAutoFit/>
          </a:bodyPr>
          <a:lstStyle/>
          <a:p>
            <a:pPr algn="l"/>
            <a:r>
              <a:rPr sz="1100" b="0" i="0">
                <a:solidFill>
                  <a:srgbClr val="1F1F1F"/>
                </a:solidFill>
                <a:latin typeface="Calibri"/>
              </a:rPr>
              <a:t>B-ACPN is best on 9 of 10 (Accuracy, Precision, F1-score, Specificity, ROC-AUC, Log loss, MCC, Cohen's kappa, Balanced acc.); not best on Recall. Lower is better only for log loss.</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200" b="1" i="0">
                <a:solidFill>
                  <a:srgbClr val="1B3A6B"/>
                </a:solidFill>
                <a:latin typeface="Times New Roman"/>
              </a:rPr>
              <a:t>Classification Metrics: Before vs After</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6" cy="4608576"/>
        </p:xfrm>
        <a:graphic>
          <a:graphicData uri="http://schemas.openxmlformats.org/drawingml/2006/table">
            <a:tbl>
              <a:tblPr firstRow="1" bandRow="1">
                <a:tableStyleId>{5C22544A-7EE6-4342-B048-85BDC9FD1C3A}</a:tableStyleId>
              </a:tblPr>
              <a:tblGrid>
                <a:gridCol w="1327322"/>
                <a:gridCol w="1180859"/>
                <a:gridCol w="1180859"/>
                <a:gridCol w="1180859"/>
                <a:gridCol w="1180859"/>
                <a:gridCol w="1180859"/>
                <a:gridCol w="1180859"/>
              </a:tblGrid>
              <a:tr h="384048">
                <a:tc>
                  <a:txBody>
                    <a:bodyPr wrap="square"/>
                    <a:lstStyle/>
                    <a:p>
                      <a:pPr algn="l"/>
                      <a:r>
                        <a:rPr sz="1000" b="1" i="0">
                          <a:solidFill>
                            <a:srgbClr val="FFFFFF"/>
                          </a:solidFill>
                          <a:latin typeface="Calibri"/>
                        </a:rPr>
                        <a:t>Metric</a:t>
                      </a:r>
                    </a:p>
                  </a:txBody>
                  <a:tcPr marL="54864" marR="54864" marT="27432" marB="27432" anchor="ctr">
                    <a:solidFill>
                      <a:srgbClr val="1B3A6B"/>
                    </a:solidFill>
                  </a:tcPr>
                </a:tc>
                <a:tc>
                  <a:txBody>
                    <a:bodyPr wrap="square"/>
                    <a:lstStyle/>
                    <a:p>
                      <a:pPr algn="ctr"/>
                      <a:r>
                        <a:rPr sz="1000" b="1" i="0">
                          <a:solidFill>
                            <a:srgbClr val="FFFFFF"/>
                          </a:solidFill>
                          <a:latin typeface="Calibri"/>
                        </a:rPr>
                        <a:t>B-ACPN</a:t>
                      </a:r>
                    </a:p>
                  </a:txBody>
                  <a:tcPr marL="54864" marR="54864" marT="27432" marB="27432" anchor="ctr">
                    <a:solidFill>
                      <a:srgbClr val="1B3A6B"/>
                    </a:solidFill>
                  </a:tcPr>
                </a:tc>
                <a:tc>
                  <a:txBody>
                    <a:bodyPr wrap="square"/>
                    <a:lstStyle/>
                    <a:p>
                      <a:pPr algn="ctr"/>
                      <a:r>
                        <a:rPr sz="1000" b="1" i="0">
                          <a:solidFill>
                            <a:srgbClr val="FFFFFF"/>
                          </a:solidFill>
                          <a:latin typeface="Calibri"/>
                        </a:rPr>
                        <a:t>LR</a:t>
                      </a:r>
                    </a:p>
                  </a:txBody>
                  <a:tcPr marL="54864" marR="54864" marT="27432" marB="27432" anchor="ctr">
                    <a:solidFill>
                      <a:srgbClr val="1B3A6B"/>
                    </a:solidFill>
                  </a:tcPr>
                </a:tc>
                <a:tc>
                  <a:txBody>
                    <a:bodyPr wrap="square"/>
                    <a:lstStyle/>
                    <a:p>
                      <a:pPr algn="ctr"/>
                      <a:r>
                        <a:rPr sz="1000" b="1" i="0">
                          <a:solidFill>
                            <a:srgbClr val="FFFFFF"/>
                          </a:solidFill>
                          <a:latin typeface="Calibri"/>
                        </a:rPr>
                        <a:t>RF</a:t>
                      </a:r>
                    </a:p>
                  </a:txBody>
                  <a:tcPr marL="54864" marR="54864" marT="27432" marB="27432" anchor="ctr">
                    <a:solidFill>
                      <a:srgbClr val="1B3A6B"/>
                    </a:solidFill>
                  </a:tcPr>
                </a:tc>
                <a:tc>
                  <a:txBody>
                    <a:bodyPr wrap="square"/>
                    <a:lstStyle/>
                    <a:p>
                      <a:pPr algn="ctr"/>
                      <a:r>
                        <a:rPr sz="1000" b="1" i="0">
                          <a:solidFill>
                            <a:srgbClr val="FFFFFF"/>
                          </a:solidFill>
                          <a:latin typeface="Calibri"/>
                        </a:rPr>
                        <a:t>GBT</a:t>
                      </a:r>
                    </a:p>
                  </a:txBody>
                  <a:tcPr marL="54864" marR="54864" marT="27432" marB="27432" anchor="ctr">
                    <a:solidFill>
                      <a:srgbClr val="1B3A6B"/>
                    </a:solidFill>
                  </a:tcPr>
                </a:tc>
                <a:tc>
                  <a:txBody>
                    <a:bodyPr wrap="square"/>
                    <a:lstStyle/>
                    <a:p>
                      <a:pPr algn="ctr"/>
                      <a:r>
                        <a:rPr sz="1000" b="1" i="0">
                          <a:solidFill>
                            <a:srgbClr val="FFFFFF"/>
                          </a:solidFill>
                          <a:latin typeface="Calibri"/>
                        </a:rPr>
                        <a:t>Linear SVM</a:t>
                      </a:r>
                    </a:p>
                  </a:txBody>
                  <a:tcPr marL="54864" marR="54864" marT="27432" marB="27432" anchor="ctr">
                    <a:solidFill>
                      <a:srgbClr val="1B3A6B"/>
                    </a:solidFill>
                  </a:tcPr>
                </a:tc>
                <a:tc>
                  <a:txBody>
                    <a:bodyPr wrap="square"/>
                    <a:lstStyle/>
                    <a:p>
                      <a:pPr algn="ctr"/>
                      <a:r>
                        <a:rPr sz="1000" b="1" i="0">
                          <a:solidFill>
                            <a:srgbClr val="FFFFFF"/>
                          </a:solidFill>
                          <a:latin typeface="Calibri"/>
                        </a:rPr>
                        <a:t>MLP</a:t>
                      </a:r>
                    </a:p>
                  </a:txBody>
                  <a:tcPr marL="54864" marR="54864" marT="27432" marB="27432" anchor="ctr">
                    <a:solidFill>
                      <a:srgbClr val="1B3A6B"/>
                    </a:solidFill>
                  </a:tcPr>
                </a:tc>
              </a:tr>
              <a:tr h="384048">
                <a:tc>
                  <a:txBody>
                    <a:bodyPr wrap="square"/>
                    <a:lstStyle/>
                    <a:p>
                      <a:pPr algn="l"/>
                      <a:r>
                        <a:rPr sz="1000" b="1" i="0">
                          <a:solidFill>
                            <a:srgbClr val="1F1F1F"/>
                          </a:solidFill>
                          <a:latin typeface="Calibri"/>
                        </a:rPr>
                        <a:t>Accuracy</a:t>
                      </a:r>
                    </a:p>
                  </a:txBody>
                  <a:tcPr marL="54864" marR="54864" marT="27432" marB="27432" anchor="ctr">
                    <a:solidFill>
                      <a:srgbClr val="FFFFFF"/>
                    </a:solidFill>
                  </a:tcPr>
                </a:tc>
                <a:tc>
                  <a:txBody>
                    <a:bodyPr wrap="square"/>
                    <a:lstStyle/>
                    <a:p>
                      <a:pPr algn="ctr"/>
                      <a:r>
                        <a:rPr sz="1000" b="0" i="0">
                          <a:solidFill>
                            <a:srgbClr val="1F1F1F"/>
                          </a:solidFill>
                          <a:latin typeface="Calibri"/>
                        </a:rPr>
                        <a:t>0.735 → 0.738</a:t>
                      </a:r>
                    </a:p>
                  </a:txBody>
                  <a:tcPr marL="54864" marR="54864" marT="27432" marB="27432" anchor="ctr">
                    <a:solidFill>
                      <a:srgbClr val="FFFFFF"/>
                    </a:solidFill>
                  </a:tcPr>
                </a:tc>
                <a:tc>
                  <a:txBody>
                    <a:bodyPr wrap="square"/>
                    <a:lstStyle/>
                    <a:p>
                      <a:pPr algn="ctr"/>
                      <a:r>
                        <a:rPr sz="1000" b="0" i="0">
                          <a:solidFill>
                            <a:srgbClr val="1F1F1F"/>
                          </a:solidFill>
                          <a:latin typeface="Calibri"/>
                        </a:rPr>
                        <a:t>0.692 → 0.692</a:t>
                      </a:r>
                    </a:p>
                  </a:txBody>
                  <a:tcPr marL="54864" marR="54864" marT="27432" marB="27432" anchor="ctr">
                    <a:solidFill>
                      <a:srgbClr val="FFFFFF"/>
                    </a:solidFill>
                  </a:tcPr>
                </a:tc>
                <a:tc>
                  <a:txBody>
                    <a:bodyPr wrap="square"/>
                    <a:lstStyle/>
                    <a:p>
                      <a:pPr algn="ctr"/>
                      <a:r>
                        <a:rPr sz="1000" b="0" i="0">
                          <a:solidFill>
                            <a:srgbClr val="1F1F1F"/>
                          </a:solidFill>
                          <a:latin typeface="Calibri"/>
                        </a:rPr>
                        <a:t>0.715 → 0.715</a:t>
                      </a:r>
                    </a:p>
                  </a:txBody>
                  <a:tcPr marL="54864" marR="54864" marT="27432" marB="27432" anchor="ctr">
                    <a:solidFill>
                      <a:srgbClr val="FFFFFF"/>
                    </a:solidFill>
                  </a:tcPr>
                </a:tc>
                <a:tc>
                  <a:txBody>
                    <a:bodyPr wrap="square"/>
                    <a:lstStyle/>
                    <a:p>
                      <a:pPr algn="ctr"/>
                      <a:r>
                        <a:rPr sz="1000" b="0" i="0">
                          <a:solidFill>
                            <a:srgbClr val="1F1F1F"/>
                          </a:solidFill>
                          <a:latin typeface="Calibri"/>
                        </a:rPr>
                        <a:t>0.726 → 0.725</a:t>
                      </a:r>
                    </a:p>
                  </a:txBody>
                  <a:tcPr marL="54864" marR="54864" marT="27432" marB="27432" anchor="ctr">
                    <a:solidFill>
                      <a:srgbClr val="FFFFFF"/>
                    </a:solidFill>
                  </a:tcPr>
                </a:tc>
                <a:tc>
                  <a:txBody>
                    <a:bodyPr wrap="square"/>
                    <a:lstStyle/>
                    <a:p>
                      <a:pPr algn="ctr"/>
                      <a:r>
                        <a:rPr sz="1000" b="0" i="0">
                          <a:solidFill>
                            <a:srgbClr val="1F1F1F"/>
                          </a:solidFill>
                          <a:latin typeface="Calibri"/>
                        </a:rPr>
                        <a:t>0.696 → 0.696</a:t>
                      </a:r>
                    </a:p>
                  </a:txBody>
                  <a:tcPr marL="54864" marR="54864" marT="27432" marB="27432" anchor="ctr">
                    <a:solidFill>
                      <a:srgbClr val="FFFFFF"/>
                    </a:solidFill>
                  </a:tcPr>
                </a:tc>
                <a:tc>
                  <a:txBody>
                    <a:bodyPr wrap="square"/>
                    <a:lstStyle/>
                    <a:p>
                      <a:pPr algn="ctr"/>
                      <a:r>
                        <a:rPr sz="1000" b="0" i="0">
                          <a:solidFill>
                            <a:srgbClr val="1F1F1F"/>
                          </a:solidFill>
                          <a:latin typeface="Calibri"/>
                        </a:rPr>
                        <a:t>0.711 → 0.699</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Precision</a:t>
                      </a:r>
                    </a:p>
                  </a:txBody>
                  <a:tcPr marL="54864" marR="54864" marT="27432" marB="27432" anchor="ctr">
                    <a:solidFill>
                      <a:srgbClr val="EEF2F8"/>
                    </a:solidFill>
                  </a:tcPr>
                </a:tc>
                <a:tc>
                  <a:txBody>
                    <a:bodyPr wrap="square"/>
                    <a:lstStyle/>
                    <a:p>
                      <a:pPr algn="ctr"/>
                      <a:r>
                        <a:rPr sz="1000" b="0" i="0">
                          <a:solidFill>
                            <a:srgbClr val="1F1F1F"/>
                          </a:solidFill>
                          <a:latin typeface="Calibri"/>
                        </a:rPr>
                        <a:t>0.760 → 0.765</a:t>
                      </a:r>
                    </a:p>
                  </a:txBody>
                  <a:tcPr marL="54864" marR="54864" marT="27432" marB="27432" anchor="ctr">
                    <a:solidFill>
                      <a:srgbClr val="EEF2F8"/>
                    </a:solidFill>
                  </a:tcPr>
                </a:tc>
                <a:tc>
                  <a:txBody>
                    <a:bodyPr wrap="square"/>
                    <a:lstStyle/>
                    <a:p>
                      <a:pPr algn="ctr"/>
                      <a:r>
                        <a:rPr sz="1000" b="0" i="0">
                          <a:solidFill>
                            <a:srgbClr val="1F1F1F"/>
                          </a:solidFill>
                          <a:latin typeface="Calibri"/>
                        </a:rPr>
                        <a:t>0.688 → 0.688</a:t>
                      </a:r>
                    </a:p>
                  </a:txBody>
                  <a:tcPr marL="54864" marR="54864" marT="27432" marB="27432" anchor="ctr">
                    <a:solidFill>
                      <a:srgbClr val="EEF2F8"/>
                    </a:solidFill>
                  </a:tcPr>
                </a:tc>
                <a:tc>
                  <a:txBody>
                    <a:bodyPr wrap="square"/>
                    <a:lstStyle/>
                    <a:p>
                      <a:pPr algn="ctr"/>
                      <a:r>
                        <a:rPr sz="1000" b="0" i="0">
                          <a:solidFill>
                            <a:srgbClr val="1F1F1F"/>
                          </a:solidFill>
                          <a:latin typeface="Calibri"/>
                        </a:rPr>
                        <a:t>0.735 → 0.735</a:t>
                      </a:r>
                    </a:p>
                  </a:txBody>
                  <a:tcPr marL="54864" marR="54864" marT="27432" marB="27432" anchor="ctr">
                    <a:solidFill>
                      <a:srgbClr val="EEF2F8"/>
                    </a:solidFill>
                  </a:tcPr>
                </a:tc>
                <a:tc>
                  <a:txBody>
                    <a:bodyPr wrap="square"/>
                    <a:lstStyle/>
                    <a:p>
                      <a:pPr algn="ctr"/>
                      <a:r>
                        <a:rPr sz="1000" b="0" i="0">
                          <a:solidFill>
                            <a:srgbClr val="1F1F1F"/>
                          </a:solidFill>
                          <a:latin typeface="Calibri"/>
                        </a:rPr>
                        <a:t>0.737 → 0.736</a:t>
                      </a:r>
                    </a:p>
                  </a:txBody>
                  <a:tcPr marL="54864" marR="54864" marT="27432" marB="27432" anchor="ctr">
                    <a:solidFill>
                      <a:srgbClr val="EEF2F8"/>
                    </a:solidFill>
                  </a:tcPr>
                </a:tc>
                <a:tc>
                  <a:txBody>
                    <a:bodyPr wrap="square"/>
                    <a:lstStyle/>
                    <a:p>
                      <a:pPr algn="ctr"/>
                      <a:r>
                        <a:rPr sz="1000" b="0" i="0">
                          <a:solidFill>
                            <a:srgbClr val="1F1F1F"/>
                          </a:solidFill>
                          <a:latin typeface="Calibri"/>
                        </a:rPr>
                        <a:t>0.689 → 0.689</a:t>
                      </a:r>
                    </a:p>
                  </a:txBody>
                  <a:tcPr marL="54864" marR="54864" marT="27432" marB="27432" anchor="ctr">
                    <a:solidFill>
                      <a:srgbClr val="EEF2F8"/>
                    </a:solidFill>
                  </a:tcPr>
                </a:tc>
                <a:tc>
                  <a:txBody>
                    <a:bodyPr wrap="square"/>
                    <a:lstStyle/>
                    <a:p>
                      <a:pPr algn="ctr"/>
                      <a:r>
                        <a:rPr sz="1000" b="0" i="0">
                          <a:solidFill>
                            <a:srgbClr val="1F1F1F"/>
                          </a:solidFill>
                          <a:latin typeface="Calibri"/>
                        </a:rPr>
                        <a:t>0.776 → 0.719</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Recall</a:t>
                      </a:r>
                    </a:p>
                  </a:txBody>
                  <a:tcPr marL="54864" marR="54864" marT="27432" marB="27432" anchor="ctr">
                    <a:solidFill>
                      <a:srgbClr val="FFFFFF"/>
                    </a:solidFill>
                  </a:tcPr>
                </a:tc>
                <a:tc>
                  <a:txBody>
                    <a:bodyPr wrap="square"/>
                    <a:lstStyle/>
                    <a:p>
                      <a:pPr algn="ctr"/>
                      <a:r>
                        <a:rPr sz="1000" b="0" i="0">
                          <a:solidFill>
                            <a:srgbClr val="1F1F1F"/>
                          </a:solidFill>
                          <a:latin typeface="Calibri"/>
                        </a:rPr>
                        <a:t>0.700 → 0.700</a:t>
                      </a:r>
                    </a:p>
                  </a:txBody>
                  <a:tcPr marL="54864" marR="54864" marT="27432" marB="27432" anchor="ctr">
                    <a:solidFill>
                      <a:srgbClr val="FFFFFF"/>
                    </a:solidFill>
                  </a:tcPr>
                </a:tc>
                <a:tc>
                  <a:txBody>
                    <a:bodyPr wrap="square"/>
                    <a:lstStyle/>
                    <a:p>
                      <a:pPr algn="ctr"/>
                      <a:r>
                        <a:rPr sz="1000" b="0" i="0">
                          <a:solidFill>
                            <a:srgbClr val="1F1F1F"/>
                          </a:solidFill>
                          <a:latin typeface="Calibri"/>
                        </a:rPr>
                        <a:t>0.718 → 0.718</a:t>
                      </a:r>
                    </a:p>
                  </a:txBody>
                  <a:tcPr marL="54864" marR="54864" marT="27432" marB="27432" anchor="ctr">
                    <a:solidFill>
                      <a:srgbClr val="FFFFFF"/>
                    </a:solidFill>
                  </a:tcPr>
                </a:tc>
                <a:tc>
                  <a:txBody>
                    <a:bodyPr wrap="square"/>
                    <a:lstStyle/>
                    <a:p>
                      <a:pPr algn="ctr"/>
                      <a:r>
                        <a:rPr sz="1000" b="0" i="0">
                          <a:solidFill>
                            <a:srgbClr val="1F1F1F"/>
                          </a:solidFill>
                          <a:latin typeface="Calibri"/>
                        </a:rPr>
                        <a:t>0.689 → 0.689</a:t>
                      </a:r>
                    </a:p>
                  </a:txBody>
                  <a:tcPr marL="54864" marR="54864" marT="27432" marB="27432" anchor="ctr">
                    <a:solidFill>
                      <a:srgbClr val="FFFFFF"/>
                    </a:solidFill>
                  </a:tcPr>
                </a:tc>
                <a:tc>
                  <a:txBody>
                    <a:bodyPr wrap="square"/>
                    <a:lstStyle/>
                    <a:p>
                      <a:pPr algn="ctr"/>
                      <a:r>
                        <a:rPr sz="1000" b="0" i="0">
                          <a:solidFill>
                            <a:srgbClr val="1F1F1F"/>
                          </a:solidFill>
                          <a:latin typeface="Calibri"/>
                        </a:rPr>
                        <a:t>0.718 → 0.718</a:t>
                      </a:r>
                    </a:p>
                  </a:txBody>
                  <a:tcPr marL="54864" marR="54864" marT="27432" marB="27432" anchor="ctr">
                    <a:solidFill>
                      <a:srgbClr val="FFFFFF"/>
                    </a:solidFill>
                  </a:tcPr>
                </a:tc>
                <a:tc>
                  <a:txBody>
                    <a:bodyPr wrap="square"/>
                    <a:lstStyle/>
                    <a:p>
                      <a:pPr algn="ctr"/>
                      <a:r>
                        <a:rPr sz="1000" b="0" i="0">
                          <a:solidFill>
                            <a:srgbClr val="1F1F1F"/>
                          </a:solidFill>
                          <a:latin typeface="Calibri"/>
                        </a:rPr>
                        <a:t>0.733 → 0.733</a:t>
                      </a:r>
                    </a:p>
                  </a:txBody>
                  <a:tcPr marL="54864" marR="54864" marT="27432" marB="27432" anchor="ctr">
                    <a:solidFill>
                      <a:srgbClr val="FFFFFF"/>
                    </a:solidFill>
                  </a:tcPr>
                </a:tc>
                <a:tc>
                  <a:txBody>
                    <a:bodyPr wrap="square"/>
                    <a:lstStyle/>
                    <a:p>
                      <a:pPr algn="ctr"/>
                      <a:r>
                        <a:rPr sz="1000" b="0" i="0">
                          <a:solidFill>
                            <a:srgbClr val="1F1F1F"/>
                          </a:solidFill>
                          <a:latin typeface="Calibri"/>
                        </a:rPr>
                        <a:t>0.611 → 0.674</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F1-score</a:t>
                      </a:r>
                    </a:p>
                  </a:txBody>
                  <a:tcPr marL="54864" marR="54864" marT="27432" marB="27432" anchor="ctr">
                    <a:solidFill>
                      <a:srgbClr val="EEF2F8"/>
                    </a:solidFill>
                  </a:tcPr>
                </a:tc>
                <a:tc>
                  <a:txBody>
                    <a:bodyPr wrap="square"/>
                    <a:lstStyle/>
                    <a:p>
                      <a:pPr algn="ctr"/>
                      <a:r>
                        <a:rPr sz="1000" b="0" i="0">
                          <a:solidFill>
                            <a:srgbClr val="1F1F1F"/>
                          </a:solidFill>
                          <a:latin typeface="Calibri"/>
                        </a:rPr>
                        <a:t>0.726 → 0.728</a:t>
                      </a:r>
                    </a:p>
                  </a:txBody>
                  <a:tcPr marL="54864" marR="54864" marT="27432" marB="27432" anchor="ctr">
                    <a:solidFill>
                      <a:srgbClr val="EEF2F8"/>
                    </a:solidFill>
                  </a:tcPr>
                </a:tc>
                <a:tc>
                  <a:txBody>
                    <a:bodyPr wrap="square"/>
                    <a:lstStyle/>
                    <a:p>
                      <a:pPr algn="ctr"/>
                      <a:r>
                        <a:rPr sz="1000" b="0" i="0">
                          <a:solidFill>
                            <a:srgbClr val="1F1F1F"/>
                          </a:solidFill>
                          <a:latin typeface="Calibri"/>
                        </a:rPr>
                        <a:t>0.701 → 0.701</a:t>
                      </a:r>
                    </a:p>
                  </a:txBody>
                  <a:tcPr marL="54864" marR="54864" marT="27432" marB="27432" anchor="ctr">
                    <a:solidFill>
                      <a:srgbClr val="EEF2F8"/>
                    </a:solidFill>
                  </a:tcPr>
                </a:tc>
                <a:tc>
                  <a:txBody>
                    <a:bodyPr wrap="square"/>
                    <a:lstStyle/>
                    <a:p>
                      <a:pPr algn="ctr"/>
                      <a:r>
                        <a:rPr sz="1000" b="0" i="0">
                          <a:solidFill>
                            <a:srgbClr val="1F1F1F"/>
                          </a:solidFill>
                          <a:latin typeface="Calibri"/>
                        </a:rPr>
                        <a:t>0.708 → 0.708</a:t>
                      </a:r>
                    </a:p>
                  </a:txBody>
                  <a:tcPr marL="54864" marR="54864" marT="27432" marB="27432" anchor="ctr">
                    <a:solidFill>
                      <a:srgbClr val="EEF2F8"/>
                    </a:solidFill>
                  </a:tcPr>
                </a:tc>
                <a:tc>
                  <a:txBody>
                    <a:bodyPr wrap="square"/>
                    <a:lstStyle/>
                    <a:p>
                      <a:pPr algn="ctr"/>
                      <a:r>
                        <a:rPr sz="1000" b="0" i="0">
                          <a:solidFill>
                            <a:srgbClr val="1F1F1F"/>
                          </a:solidFill>
                          <a:latin typeface="Calibri"/>
                        </a:rPr>
                        <a:t>0.724 → 0.724</a:t>
                      </a:r>
                    </a:p>
                  </a:txBody>
                  <a:tcPr marL="54864" marR="54864" marT="27432" marB="27432" anchor="ctr">
                    <a:solidFill>
                      <a:srgbClr val="EEF2F8"/>
                    </a:solidFill>
                  </a:tcPr>
                </a:tc>
                <a:tc>
                  <a:txBody>
                    <a:bodyPr wrap="square"/>
                    <a:lstStyle/>
                    <a:p>
                      <a:pPr algn="ctr"/>
                      <a:r>
                        <a:rPr sz="1000" b="0" i="0">
                          <a:solidFill>
                            <a:srgbClr val="1F1F1F"/>
                          </a:solidFill>
                          <a:latin typeface="Calibri"/>
                        </a:rPr>
                        <a:t>0.708 → 0.708</a:t>
                      </a:r>
                    </a:p>
                  </a:txBody>
                  <a:tcPr marL="54864" marR="54864" marT="27432" marB="27432" anchor="ctr">
                    <a:solidFill>
                      <a:srgbClr val="EEF2F8"/>
                    </a:solidFill>
                  </a:tcPr>
                </a:tc>
                <a:tc>
                  <a:txBody>
                    <a:bodyPr wrap="square"/>
                    <a:lstStyle/>
                    <a:p>
                      <a:pPr algn="ctr"/>
                      <a:r>
                        <a:rPr sz="1000" b="0" i="0">
                          <a:solidFill>
                            <a:srgbClr val="1F1F1F"/>
                          </a:solidFill>
                          <a:latin typeface="Calibri"/>
                        </a:rPr>
                        <a:t>0.678 → 0.692</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Specificity</a:t>
                      </a:r>
                    </a:p>
                  </a:txBody>
                  <a:tcPr marL="54864" marR="54864" marT="27432" marB="27432" anchor="ctr">
                    <a:solidFill>
                      <a:srgbClr val="FFFFFF"/>
                    </a:solidFill>
                  </a:tcPr>
                </a:tc>
                <a:tc>
                  <a:txBody>
                    <a:bodyPr wrap="square"/>
                    <a:lstStyle/>
                    <a:p>
                      <a:pPr algn="ctr"/>
                      <a:r>
                        <a:rPr sz="1000" b="0" i="0">
                          <a:solidFill>
                            <a:srgbClr val="1F1F1F"/>
                          </a:solidFill>
                          <a:latin typeface="Calibri"/>
                        </a:rPr>
                        <a:t>0.770 → 0.778</a:t>
                      </a:r>
                    </a:p>
                  </a:txBody>
                  <a:tcPr marL="54864" marR="54864" marT="27432" marB="27432" anchor="ctr">
                    <a:solidFill>
                      <a:srgbClr val="FFFFFF"/>
                    </a:solidFill>
                  </a:tcPr>
                </a:tc>
                <a:tc>
                  <a:txBody>
                    <a:bodyPr wrap="square"/>
                    <a:lstStyle/>
                    <a:p>
                      <a:pPr algn="ctr"/>
                      <a:r>
                        <a:rPr sz="1000" b="0" i="0">
                          <a:solidFill>
                            <a:srgbClr val="1F1F1F"/>
                          </a:solidFill>
                          <a:latin typeface="Calibri"/>
                        </a:rPr>
                        <a:t>0.665 → 0.665</a:t>
                      </a:r>
                    </a:p>
                  </a:txBody>
                  <a:tcPr marL="54864" marR="54864" marT="27432" marB="27432" anchor="ctr">
                    <a:solidFill>
                      <a:srgbClr val="FFFFFF"/>
                    </a:solidFill>
                  </a:tcPr>
                </a:tc>
                <a:tc>
                  <a:txBody>
                    <a:bodyPr wrap="square"/>
                    <a:lstStyle/>
                    <a:p>
                      <a:pPr algn="ctr"/>
                      <a:r>
                        <a:rPr sz="1000" b="0" i="0">
                          <a:solidFill>
                            <a:srgbClr val="1F1F1F"/>
                          </a:solidFill>
                          <a:latin typeface="Calibri"/>
                        </a:rPr>
                        <a:t>0.742 → 0.742</a:t>
                      </a:r>
                    </a:p>
                  </a:txBody>
                  <a:tcPr marL="54864" marR="54864" marT="27432" marB="27432" anchor="ctr">
                    <a:solidFill>
                      <a:srgbClr val="FFFFFF"/>
                    </a:solidFill>
                  </a:tcPr>
                </a:tc>
                <a:tc>
                  <a:txBody>
                    <a:bodyPr wrap="square"/>
                    <a:lstStyle/>
                    <a:p>
                      <a:pPr algn="ctr"/>
                      <a:r>
                        <a:rPr sz="1000" b="0" i="0">
                          <a:solidFill>
                            <a:srgbClr val="1F1F1F"/>
                          </a:solidFill>
                          <a:latin typeface="Calibri"/>
                        </a:rPr>
                        <a:t>0.734 → 0.733</a:t>
                      </a:r>
                    </a:p>
                  </a:txBody>
                  <a:tcPr marL="54864" marR="54864" marT="27432" marB="27432" anchor="ctr">
                    <a:solidFill>
                      <a:srgbClr val="FFFFFF"/>
                    </a:solidFill>
                  </a:tcPr>
                </a:tc>
                <a:tc>
                  <a:txBody>
                    <a:bodyPr wrap="square"/>
                    <a:lstStyle/>
                    <a:p>
                      <a:pPr algn="ctr"/>
                      <a:r>
                        <a:rPr sz="1000" b="0" i="0">
                          <a:solidFill>
                            <a:srgbClr val="1F1F1F"/>
                          </a:solidFill>
                          <a:latin typeface="Calibri"/>
                        </a:rPr>
                        <a:t>0.659 → 0.659</a:t>
                      </a:r>
                    </a:p>
                  </a:txBody>
                  <a:tcPr marL="54864" marR="54864" marT="27432" marB="27432" anchor="ctr">
                    <a:solidFill>
                      <a:srgbClr val="FFFFFF"/>
                    </a:solidFill>
                  </a:tcPr>
                </a:tc>
                <a:tc>
                  <a:txBody>
                    <a:bodyPr wrap="square"/>
                    <a:lstStyle/>
                    <a:p>
                      <a:pPr algn="ctr"/>
                      <a:r>
                        <a:rPr sz="1000" b="0" i="0">
                          <a:solidFill>
                            <a:srgbClr val="1F1F1F"/>
                          </a:solidFill>
                          <a:latin typeface="Calibri"/>
                        </a:rPr>
                        <a:t>0.813 → 0.724</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ROC-AUC</a:t>
                      </a:r>
                    </a:p>
                  </a:txBody>
                  <a:tcPr marL="54864" marR="54864" marT="27432" marB="27432" anchor="ctr">
                    <a:solidFill>
                      <a:srgbClr val="EEF2F8"/>
                    </a:solidFill>
                  </a:tcPr>
                </a:tc>
                <a:tc>
                  <a:txBody>
                    <a:bodyPr wrap="square"/>
                    <a:lstStyle/>
                    <a:p>
                      <a:pPr algn="ctr"/>
                      <a:r>
                        <a:rPr sz="1000" b="0" i="0">
                          <a:solidFill>
                            <a:srgbClr val="1F1F1F"/>
                          </a:solidFill>
                          <a:latin typeface="Calibri"/>
                        </a:rPr>
                        <a:t>0.806 → 0.820</a:t>
                      </a:r>
                    </a:p>
                  </a:txBody>
                  <a:tcPr marL="54864" marR="54864" marT="27432" marB="27432" anchor="ctr">
                    <a:solidFill>
                      <a:srgbClr val="EEF2F8"/>
                    </a:solidFill>
                  </a:tcPr>
                </a:tc>
                <a:tc>
                  <a:txBody>
                    <a:bodyPr wrap="square"/>
                    <a:lstStyle/>
                    <a:p>
                      <a:pPr algn="ctr"/>
                      <a:r>
                        <a:rPr sz="1000" b="0" i="0">
                          <a:solidFill>
                            <a:srgbClr val="1F1F1F"/>
                          </a:solidFill>
                          <a:latin typeface="Calibri"/>
                        </a:rPr>
                        <a:t>0.747 → 0.747</a:t>
                      </a:r>
                    </a:p>
                  </a:txBody>
                  <a:tcPr marL="54864" marR="54864" marT="27432" marB="27432" anchor="ctr">
                    <a:solidFill>
                      <a:srgbClr val="EEF2F8"/>
                    </a:solidFill>
                  </a:tcPr>
                </a:tc>
                <a:tc>
                  <a:txBody>
                    <a:bodyPr wrap="square"/>
                    <a:lstStyle/>
                    <a:p>
                      <a:pPr algn="ctr"/>
                      <a:r>
                        <a:rPr sz="1000" b="0" i="0">
                          <a:solidFill>
                            <a:srgbClr val="1F1F1F"/>
                          </a:solidFill>
                          <a:latin typeface="Calibri"/>
                        </a:rPr>
                        <a:t>0.805 → 0.804</a:t>
                      </a:r>
                    </a:p>
                  </a:txBody>
                  <a:tcPr marL="54864" marR="54864" marT="27432" marB="27432" anchor="ctr">
                    <a:solidFill>
                      <a:srgbClr val="EEF2F8"/>
                    </a:solidFill>
                  </a:tcPr>
                </a:tc>
                <a:tc>
                  <a:txBody>
                    <a:bodyPr wrap="square"/>
                    <a:lstStyle/>
                    <a:p>
                      <a:pPr algn="ctr"/>
                      <a:r>
                        <a:rPr sz="1000" b="0" i="0">
                          <a:solidFill>
                            <a:srgbClr val="1F1F1F"/>
                          </a:solidFill>
                          <a:latin typeface="Calibri"/>
                        </a:rPr>
                        <a:t>0.811 → 0.811</a:t>
                      </a:r>
                    </a:p>
                  </a:txBody>
                  <a:tcPr marL="54864" marR="54864" marT="27432" marB="27432" anchor="ctr">
                    <a:solidFill>
                      <a:srgbClr val="EEF2F8"/>
                    </a:solidFill>
                  </a:tcPr>
                </a:tc>
                <a:tc>
                  <a:txBody>
                    <a:bodyPr wrap="square"/>
                    <a:lstStyle/>
                    <a:p>
                      <a:pPr algn="ctr"/>
                      <a:r>
                        <a:rPr sz="1000" b="0" i="0">
                          <a:solidFill>
                            <a:srgbClr val="1F1F1F"/>
                          </a:solidFill>
                          <a:latin typeface="Calibri"/>
                        </a:rPr>
                        <a:t>0.755 → 0.755</a:t>
                      </a:r>
                    </a:p>
                  </a:txBody>
                  <a:tcPr marL="54864" marR="54864" marT="27432" marB="27432" anchor="ctr">
                    <a:solidFill>
                      <a:srgbClr val="EEF2F8"/>
                    </a:solidFill>
                  </a:tcPr>
                </a:tc>
                <a:tc>
                  <a:txBody>
                    <a:bodyPr wrap="square"/>
                    <a:lstStyle/>
                    <a:p>
                      <a:pPr algn="ctr"/>
                      <a:r>
                        <a:rPr sz="1000" b="0" i="0">
                          <a:solidFill>
                            <a:srgbClr val="1F1F1F"/>
                          </a:solidFill>
                          <a:latin typeface="Calibri"/>
                        </a:rPr>
                        <a:t>0.759 → 0.784</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Log loss ↓</a:t>
                      </a:r>
                    </a:p>
                  </a:txBody>
                  <a:tcPr marL="54864" marR="54864" marT="27432" marB="27432" anchor="ctr">
                    <a:solidFill>
                      <a:srgbClr val="FFFFFF"/>
                    </a:solidFill>
                  </a:tcPr>
                </a:tc>
                <a:tc>
                  <a:txBody>
                    <a:bodyPr wrap="square"/>
                    <a:lstStyle/>
                    <a:p>
                      <a:pPr algn="ctr"/>
                      <a:r>
                        <a:rPr sz="1000" b="0" i="0">
                          <a:solidFill>
                            <a:srgbClr val="1F1F1F"/>
                          </a:solidFill>
                          <a:latin typeface="Calibri"/>
                        </a:rPr>
                        <a:t>0.528 → 0.516</a:t>
                      </a:r>
                    </a:p>
                  </a:txBody>
                  <a:tcPr marL="54864" marR="54864" marT="27432" marB="27432" anchor="ctr">
                    <a:solidFill>
                      <a:srgbClr val="FFFFFF"/>
                    </a:solidFill>
                  </a:tcPr>
                </a:tc>
                <a:tc>
                  <a:txBody>
                    <a:bodyPr wrap="square"/>
                    <a:lstStyle/>
                    <a:p>
                      <a:pPr algn="ctr"/>
                      <a:r>
                        <a:rPr sz="1000" b="0" i="0">
                          <a:solidFill>
                            <a:srgbClr val="1F1F1F"/>
                          </a:solidFill>
                          <a:latin typeface="Calibri"/>
                        </a:rPr>
                        <a:t>0.611 → 0.611</a:t>
                      </a:r>
                    </a:p>
                  </a:txBody>
                  <a:tcPr marL="54864" marR="54864" marT="27432" marB="27432" anchor="ctr">
                    <a:solidFill>
                      <a:srgbClr val="FFFFFF"/>
                    </a:solidFill>
                  </a:tcPr>
                </a:tc>
                <a:tc>
                  <a:txBody>
                    <a:bodyPr wrap="square"/>
                    <a:lstStyle/>
                    <a:p>
                      <a:pPr algn="ctr"/>
                      <a:r>
                        <a:rPr sz="1000" b="0" i="0">
                          <a:solidFill>
                            <a:srgbClr val="1F1F1F"/>
                          </a:solidFill>
                          <a:latin typeface="Calibri"/>
                        </a:rPr>
                        <a:t>0.539 → 0.539</a:t>
                      </a:r>
                    </a:p>
                  </a:txBody>
                  <a:tcPr marL="54864" marR="54864" marT="27432" marB="27432" anchor="ctr">
                    <a:solidFill>
                      <a:srgbClr val="FFFFFF"/>
                    </a:solidFill>
                  </a:tcPr>
                </a:tc>
                <a:tc>
                  <a:txBody>
                    <a:bodyPr wrap="square"/>
                    <a:lstStyle/>
                    <a:p>
                      <a:pPr algn="ctr"/>
                      <a:r>
                        <a:rPr sz="1000" b="0" i="0">
                          <a:solidFill>
                            <a:srgbClr val="1F1F1F"/>
                          </a:solidFill>
                          <a:latin typeface="Calibri"/>
                        </a:rPr>
                        <a:t>0.570 → 0.570</a:t>
                      </a:r>
                    </a:p>
                  </a:txBody>
                  <a:tcPr marL="54864" marR="54864" marT="27432" marB="27432" anchor="ctr">
                    <a:solidFill>
                      <a:srgbClr val="FFFFFF"/>
                    </a:solidFill>
                  </a:tcPr>
                </a:tc>
                <a:tc>
                  <a:txBody>
                    <a:bodyPr wrap="square"/>
                    <a:lstStyle/>
                    <a:p>
                      <a:pPr algn="ctr"/>
                      <a:r>
                        <a:rPr sz="1000" b="0" i="0">
                          <a:solidFill>
                            <a:srgbClr val="1F1F1F"/>
                          </a:solidFill>
                          <a:latin typeface="Calibri"/>
                        </a:rPr>
                        <a:t>n/a</a:t>
                      </a:r>
                    </a:p>
                  </a:txBody>
                  <a:tcPr marL="54864" marR="54864" marT="27432" marB="27432" anchor="ctr">
                    <a:solidFill>
                      <a:srgbClr val="FFFFFF"/>
                    </a:solidFill>
                  </a:tcPr>
                </a:tc>
                <a:tc>
                  <a:txBody>
                    <a:bodyPr wrap="square"/>
                    <a:lstStyle/>
                    <a:p>
                      <a:pPr algn="ctr"/>
                      <a:r>
                        <a:rPr sz="1000" b="0" i="0">
                          <a:solidFill>
                            <a:srgbClr val="1F1F1F"/>
                          </a:solidFill>
                          <a:latin typeface="Calibri"/>
                        </a:rPr>
                        <a:t>0.588 → 0.579</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MCC</a:t>
                      </a:r>
                    </a:p>
                  </a:txBody>
                  <a:tcPr marL="54864" marR="54864" marT="27432" marB="27432" anchor="ctr">
                    <a:solidFill>
                      <a:srgbClr val="EEF2F8"/>
                    </a:solidFill>
                  </a:tcPr>
                </a:tc>
                <a:tc>
                  <a:txBody>
                    <a:bodyPr wrap="square"/>
                    <a:lstStyle/>
                    <a:p>
                      <a:pPr algn="ctr"/>
                      <a:r>
                        <a:rPr sz="1000" b="0" i="0">
                          <a:solidFill>
                            <a:srgbClr val="1F1F1F"/>
                          </a:solidFill>
                          <a:latin typeface="Calibri"/>
                        </a:rPr>
                        <a:t>0.474 → 0.482</a:t>
                      </a:r>
                    </a:p>
                  </a:txBody>
                  <a:tcPr marL="54864" marR="54864" marT="27432" marB="27432" anchor="ctr">
                    <a:solidFill>
                      <a:srgbClr val="EEF2F8"/>
                    </a:solidFill>
                  </a:tcPr>
                </a:tc>
                <a:tc>
                  <a:txBody>
                    <a:bodyPr wrap="square"/>
                    <a:lstStyle/>
                    <a:p>
                      <a:pPr algn="ctr"/>
                      <a:r>
                        <a:rPr sz="1000" b="0" i="0">
                          <a:solidFill>
                            <a:srgbClr val="1F1F1F"/>
                          </a:solidFill>
                          <a:latin typeface="Calibri"/>
                        </a:rPr>
                        <a:t>0.386 → 0.386</a:t>
                      </a:r>
                    </a:p>
                  </a:txBody>
                  <a:tcPr marL="54864" marR="54864" marT="27432" marB="27432" anchor="ctr">
                    <a:solidFill>
                      <a:srgbClr val="EEF2F8"/>
                    </a:solidFill>
                  </a:tcPr>
                </a:tc>
                <a:tc>
                  <a:txBody>
                    <a:bodyPr wrap="square"/>
                    <a:lstStyle/>
                    <a:p>
                      <a:pPr algn="ctr"/>
                      <a:r>
                        <a:rPr sz="1000" b="0" i="0">
                          <a:solidFill>
                            <a:srgbClr val="1F1F1F"/>
                          </a:solidFill>
                          <a:latin typeface="Calibri"/>
                        </a:rPr>
                        <a:t>0.434 → 0.434</a:t>
                      </a:r>
                    </a:p>
                  </a:txBody>
                  <a:tcPr marL="54864" marR="54864" marT="27432" marB="27432" anchor="ctr">
                    <a:solidFill>
                      <a:srgbClr val="EEF2F8"/>
                    </a:solidFill>
                  </a:tcPr>
                </a:tc>
                <a:tc>
                  <a:txBody>
                    <a:bodyPr wrap="square"/>
                    <a:lstStyle/>
                    <a:p>
                      <a:pPr algn="ctr"/>
                      <a:r>
                        <a:rPr sz="1000" b="0" i="0">
                          <a:solidFill>
                            <a:srgbClr val="1F1F1F"/>
                          </a:solidFill>
                          <a:latin typeface="Calibri"/>
                        </a:rPr>
                        <a:t>0.455 → 0.454</a:t>
                      </a:r>
                    </a:p>
                  </a:txBody>
                  <a:tcPr marL="54864" marR="54864" marT="27432" marB="27432" anchor="ctr">
                    <a:solidFill>
                      <a:srgbClr val="EEF2F8"/>
                    </a:solidFill>
                  </a:tcPr>
                </a:tc>
                <a:tc>
                  <a:txBody>
                    <a:bodyPr wrap="square"/>
                    <a:lstStyle/>
                    <a:p>
                      <a:pPr algn="ctr"/>
                      <a:r>
                        <a:rPr sz="1000" b="0" i="0">
                          <a:solidFill>
                            <a:srgbClr val="1F1F1F"/>
                          </a:solidFill>
                          <a:latin typeface="Calibri"/>
                        </a:rPr>
                        <a:t>0.396 → 0.396</a:t>
                      </a:r>
                    </a:p>
                  </a:txBody>
                  <a:tcPr marL="54864" marR="54864" marT="27432" marB="27432" anchor="ctr">
                    <a:solidFill>
                      <a:srgbClr val="EEF2F8"/>
                    </a:solidFill>
                  </a:tcPr>
                </a:tc>
                <a:tc>
                  <a:txBody>
                    <a:bodyPr wrap="square"/>
                    <a:lstStyle/>
                    <a:p>
                      <a:pPr algn="ctr"/>
                      <a:r>
                        <a:rPr sz="1000" b="0" i="0">
                          <a:solidFill>
                            <a:srgbClr val="1F1F1F"/>
                          </a:solidFill>
                          <a:latin typeface="Calibri"/>
                        </a:rPr>
                        <a:t>0.437 → 0.404</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Cohen's kappa</a:t>
                      </a:r>
                    </a:p>
                  </a:txBody>
                  <a:tcPr marL="54864" marR="54864" marT="27432" marB="27432" anchor="ctr">
                    <a:solidFill>
                      <a:srgbClr val="FFFFFF"/>
                    </a:solidFill>
                  </a:tcPr>
                </a:tc>
                <a:tc>
                  <a:txBody>
                    <a:bodyPr wrap="square"/>
                    <a:lstStyle/>
                    <a:p>
                      <a:pPr algn="ctr"/>
                      <a:r>
                        <a:rPr sz="1000" b="0" i="0">
                          <a:solidFill>
                            <a:srgbClr val="1F1F1F"/>
                          </a:solidFill>
                          <a:latin typeface="Calibri"/>
                        </a:rPr>
                        <a:t>0.470 → 0.477</a:t>
                      </a:r>
                    </a:p>
                  </a:txBody>
                  <a:tcPr marL="54864" marR="54864" marT="27432" marB="27432" anchor="ctr">
                    <a:solidFill>
                      <a:srgbClr val="FFFFFF"/>
                    </a:solidFill>
                  </a:tcPr>
                </a:tc>
                <a:tc>
                  <a:txBody>
                    <a:bodyPr wrap="square"/>
                    <a:lstStyle/>
                    <a:p>
                      <a:pPr algn="ctr"/>
                      <a:r>
                        <a:rPr sz="1000" b="0" i="0">
                          <a:solidFill>
                            <a:srgbClr val="1F1F1F"/>
                          </a:solidFill>
                          <a:latin typeface="Calibri"/>
                        </a:rPr>
                        <a:t>0.383 → 0.383</a:t>
                      </a:r>
                    </a:p>
                  </a:txBody>
                  <a:tcPr marL="54864" marR="54864" marT="27432" marB="27432" anchor="ctr">
                    <a:solidFill>
                      <a:srgbClr val="FFFFFF"/>
                    </a:solidFill>
                  </a:tcPr>
                </a:tc>
                <a:tc>
                  <a:txBody>
                    <a:bodyPr wrap="square"/>
                    <a:lstStyle/>
                    <a:p>
                      <a:pPr algn="ctr"/>
                      <a:r>
                        <a:rPr sz="1000" b="0" i="0">
                          <a:solidFill>
                            <a:srgbClr val="1F1F1F"/>
                          </a:solidFill>
                          <a:latin typeface="Calibri"/>
                        </a:rPr>
                        <a:t>0.430 → 0.430</a:t>
                      </a:r>
                    </a:p>
                  </a:txBody>
                  <a:tcPr marL="54864" marR="54864" marT="27432" marB="27432" anchor="ctr">
                    <a:solidFill>
                      <a:srgbClr val="FFFFFF"/>
                    </a:solidFill>
                  </a:tcPr>
                </a:tc>
                <a:tc>
                  <a:txBody>
                    <a:bodyPr wrap="square"/>
                    <a:lstStyle/>
                    <a:p>
                      <a:pPr algn="ctr"/>
                      <a:r>
                        <a:rPr sz="1000" b="0" i="0">
                          <a:solidFill>
                            <a:srgbClr val="1F1F1F"/>
                          </a:solidFill>
                          <a:latin typeface="Calibri"/>
                        </a:rPr>
                        <a:t>0.452 → 0.451</a:t>
                      </a:r>
                    </a:p>
                  </a:txBody>
                  <a:tcPr marL="54864" marR="54864" marT="27432" marB="27432" anchor="ctr">
                    <a:solidFill>
                      <a:srgbClr val="FFFFFF"/>
                    </a:solidFill>
                  </a:tcPr>
                </a:tc>
                <a:tc>
                  <a:txBody>
                    <a:bodyPr wrap="square"/>
                    <a:lstStyle/>
                    <a:p>
                      <a:pPr algn="ctr"/>
                      <a:r>
                        <a:rPr sz="1000" b="0" i="0">
                          <a:solidFill>
                            <a:srgbClr val="1F1F1F"/>
                          </a:solidFill>
                          <a:latin typeface="Calibri"/>
                        </a:rPr>
                        <a:t>0.392 → 0.392</a:t>
                      </a:r>
                    </a:p>
                  </a:txBody>
                  <a:tcPr marL="54864" marR="54864" marT="27432" marB="27432" anchor="ctr">
                    <a:solidFill>
                      <a:srgbClr val="FFFFFF"/>
                    </a:solidFill>
                  </a:tcPr>
                </a:tc>
                <a:tc>
                  <a:txBody>
                    <a:bodyPr wrap="square"/>
                    <a:lstStyle/>
                    <a:p>
                      <a:pPr algn="ctr"/>
                      <a:r>
                        <a:rPr sz="1000" b="0" i="0">
                          <a:solidFill>
                            <a:srgbClr val="1F1F1F"/>
                          </a:solidFill>
                          <a:latin typeface="Calibri"/>
                        </a:rPr>
                        <a:t>0.423 → 0.398</a:t>
                      </a:r>
                    </a:p>
                  </a:txBody>
                  <a:tcPr marL="54864" marR="54864" marT="27432" marB="27432" anchor="ctr">
                    <a:solidFill>
                      <a:srgbClr val="FFFFFF"/>
                    </a:solidFill>
                  </a:tcPr>
                </a:tc>
              </a:tr>
              <a:tr h="384048">
                <a:tc>
                  <a:txBody>
                    <a:bodyPr wrap="square"/>
                    <a:lstStyle/>
                    <a:p>
                      <a:pPr algn="l"/>
                      <a:r>
                        <a:rPr sz="1000" b="1" i="0">
                          <a:solidFill>
                            <a:srgbClr val="1F1F1F"/>
                          </a:solidFill>
                          <a:latin typeface="Calibri"/>
                        </a:rPr>
                        <a:t>Balanced acc.</a:t>
                      </a:r>
                    </a:p>
                  </a:txBody>
                  <a:tcPr marL="54864" marR="54864" marT="27432" marB="27432" anchor="ctr">
                    <a:solidFill>
                      <a:srgbClr val="EEF2F8"/>
                    </a:solidFill>
                  </a:tcPr>
                </a:tc>
                <a:tc>
                  <a:txBody>
                    <a:bodyPr wrap="square"/>
                    <a:lstStyle/>
                    <a:p>
                      <a:pPr algn="ctr"/>
                      <a:r>
                        <a:rPr sz="1000" b="0" i="0">
                          <a:solidFill>
                            <a:srgbClr val="1F1F1F"/>
                          </a:solidFill>
                          <a:latin typeface="Calibri"/>
                        </a:rPr>
                        <a:t>0.735 → 0.739</a:t>
                      </a:r>
                    </a:p>
                  </a:txBody>
                  <a:tcPr marL="54864" marR="54864" marT="27432" marB="27432" anchor="ctr">
                    <a:solidFill>
                      <a:srgbClr val="EEF2F8"/>
                    </a:solidFill>
                  </a:tcPr>
                </a:tc>
                <a:tc>
                  <a:txBody>
                    <a:bodyPr wrap="square"/>
                    <a:lstStyle/>
                    <a:p>
                      <a:pPr algn="ctr"/>
                      <a:r>
                        <a:rPr sz="1000" b="0" i="0">
                          <a:solidFill>
                            <a:srgbClr val="1F1F1F"/>
                          </a:solidFill>
                          <a:latin typeface="Calibri"/>
                        </a:rPr>
                        <a:t>0.691 → 0.691</a:t>
                      </a:r>
                    </a:p>
                  </a:txBody>
                  <a:tcPr marL="54864" marR="54864" marT="27432" marB="27432" anchor="ctr">
                    <a:solidFill>
                      <a:srgbClr val="EEF2F8"/>
                    </a:solidFill>
                  </a:tcPr>
                </a:tc>
                <a:tc>
                  <a:txBody>
                    <a:bodyPr wrap="square"/>
                    <a:lstStyle/>
                    <a:p>
                      <a:pPr algn="ctr"/>
                      <a:r>
                        <a:rPr sz="1000" b="0" i="0">
                          <a:solidFill>
                            <a:srgbClr val="1F1F1F"/>
                          </a:solidFill>
                          <a:latin typeface="Calibri"/>
                        </a:rPr>
                        <a:t>0.715 → 0.715</a:t>
                      </a:r>
                    </a:p>
                  </a:txBody>
                  <a:tcPr marL="54864" marR="54864" marT="27432" marB="27432" anchor="ctr">
                    <a:solidFill>
                      <a:srgbClr val="EEF2F8"/>
                    </a:solidFill>
                  </a:tcPr>
                </a:tc>
                <a:tc>
                  <a:txBody>
                    <a:bodyPr wrap="square"/>
                    <a:lstStyle/>
                    <a:p>
                      <a:pPr algn="ctr"/>
                      <a:r>
                        <a:rPr sz="1000" b="0" i="0">
                          <a:solidFill>
                            <a:srgbClr val="1F1F1F"/>
                          </a:solidFill>
                          <a:latin typeface="Calibri"/>
                        </a:rPr>
                        <a:t>0.726 → 0.726</a:t>
                      </a:r>
                    </a:p>
                  </a:txBody>
                  <a:tcPr marL="54864" marR="54864" marT="27432" marB="27432" anchor="ctr">
                    <a:solidFill>
                      <a:srgbClr val="EEF2F8"/>
                    </a:solidFill>
                  </a:tcPr>
                </a:tc>
                <a:tc>
                  <a:txBody>
                    <a:bodyPr wrap="square"/>
                    <a:lstStyle/>
                    <a:p>
                      <a:pPr algn="ctr"/>
                      <a:r>
                        <a:rPr sz="1000" b="0" i="0">
                          <a:solidFill>
                            <a:srgbClr val="1F1F1F"/>
                          </a:solidFill>
                          <a:latin typeface="Calibri"/>
                        </a:rPr>
                        <a:t>0.696 → 0.696</a:t>
                      </a:r>
                    </a:p>
                  </a:txBody>
                  <a:tcPr marL="54864" marR="54864" marT="27432" marB="27432" anchor="ctr">
                    <a:solidFill>
                      <a:srgbClr val="EEF2F8"/>
                    </a:solidFill>
                  </a:tcPr>
                </a:tc>
                <a:tc>
                  <a:txBody>
                    <a:bodyPr wrap="square"/>
                    <a:lstStyle/>
                    <a:p>
                      <a:pPr algn="ctr"/>
                      <a:r>
                        <a:rPr sz="1000" b="0" i="0">
                          <a:solidFill>
                            <a:srgbClr val="1F1F1F"/>
                          </a:solidFill>
                          <a:latin typeface="Calibri"/>
                        </a:rPr>
                        <a:t>0.712 → 0.699</a:t>
                      </a:r>
                    </a:p>
                  </a:txBody>
                  <a:tcPr marL="54864" marR="54864" marT="27432" marB="27432" anchor="ctr">
                    <a:solidFill>
                      <a:srgbClr val="EEF2F8"/>
                    </a:solidFill>
                  </a:tcPr>
                </a:tc>
              </a:tr>
              <a:tr h="384048">
                <a:tc>
                  <a:txBody>
                    <a:bodyPr wrap="square"/>
                    <a:lstStyle/>
                    <a:p>
                      <a:pPr algn="l"/>
                      <a:r>
                        <a:rPr sz="1000" b="1" i="0">
                          <a:solidFill>
                            <a:srgbClr val="1F1F1F"/>
                          </a:solidFill>
                          <a:latin typeface="Calibri"/>
                        </a:rPr>
                        <a:t>RMSE ↓</a:t>
                      </a:r>
                    </a:p>
                  </a:txBody>
                  <a:tcPr marL="54864" marR="54864" marT="27432" marB="27432" anchor="ctr">
                    <a:solidFill>
                      <a:srgbClr val="FFFFFF"/>
                    </a:solidFill>
                  </a:tcPr>
                </a:tc>
                <a:tc>
                  <a:txBody>
                    <a:bodyPr wrap="square"/>
                    <a:lstStyle/>
                    <a:p>
                      <a:pPr algn="ctr"/>
                      <a:r>
                        <a:rPr sz="1000" b="0" i="0">
                          <a:solidFill>
                            <a:srgbClr val="1F1F1F"/>
                          </a:solidFill>
                          <a:latin typeface="Calibri"/>
                        </a:rPr>
                        <a:t>0.422 → 0.417</a:t>
                      </a:r>
                    </a:p>
                  </a:txBody>
                  <a:tcPr marL="54864" marR="54864" marT="27432" marB="27432" anchor="ctr">
                    <a:solidFill>
                      <a:srgbClr val="FFFFFF"/>
                    </a:solidFill>
                  </a:tcPr>
                </a:tc>
                <a:tc>
                  <a:txBody>
                    <a:bodyPr wrap="square"/>
                    <a:lstStyle/>
                    <a:p>
                      <a:pPr algn="ctr"/>
                      <a:r>
                        <a:rPr sz="1000" b="0" i="0">
                          <a:solidFill>
                            <a:srgbClr val="1F1F1F"/>
                          </a:solidFill>
                          <a:latin typeface="Calibri"/>
                        </a:rPr>
                        <a:t>0.454 → 0.454</a:t>
                      </a:r>
                    </a:p>
                  </a:txBody>
                  <a:tcPr marL="54864" marR="54864" marT="27432" marB="27432" anchor="ctr">
                    <a:solidFill>
                      <a:srgbClr val="FFFFFF"/>
                    </a:solidFill>
                  </a:tcPr>
                </a:tc>
                <a:tc>
                  <a:txBody>
                    <a:bodyPr wrap="square"/>
                    <a:lstStyle/>
                    <a:p>
                      <a:pPr algn="ctr"/>
                      <a:r>
                        <a:rPr sz="1000" b="0" i="0">
                          <a:solidFill>
                            <a:srgbClr val="1F1F1F"/>
                          </a:solidFill>
                          <a:latin typeface="Calibri"/>
                        </a:rPr>
                        <a:t>0.427 → 0.427</a:t>
                      </a:r>
                    </a:p>
                  </a:txBody>
                  <a:tcPr marL="54864" marR="54864" marT="27432" marB="27432" anchor="ctr">
                    <a:solidFill>
                      <a:srgbClr val="FFFFFF"/>
                    </a:solidFill>
                  </a:tcPr>
                </a:tc>
                <a:tc>
                  <a:txBody>
                    <a:bodyPr wrap="square"/>
                    <a:lstStyle/>
                    <a:p>
                      <a:pPr algn="ctr"/>
                      <a:r>
                        <a:rPr sz="1000" b="0" i="0">
                          <a:solidFill>
                            <a:srgbClr val="1F1F1F"/>
                          </a:solidFill>
                          <a:latin typeface="Calibri"/>
                        </a:rPr>
                        <a:t>0.432 → 0.433</a:t>
                      </a:r>
                    </a:p>
                  </a:txBody>
                  <a:tcPr marL="54864" marR="54864" marT="27432" marB="27432" anchor="ctr">
                    <a:solidFill>
                      <a:srgbClr val="FFFFFF"/>
                    </a:solidFill>
                  </a:tcPr>
                </a:tc>
                <a:tc>
                  <a:txBody>
                    <a:bodyPr wrap="square"/>
                    <a:lstStyle/>
                    <a:p>
                      <a:pPr algn="ctr"/>
                      <a:r>
                        <a:rPr sz="1000" b="0" i="0">
                          <a:solidFill>
                            <a:srgbClr val="1F1F1F"/>
                          </a:solidFill>
                          <a:latin typeface="Calibri"/>
                        </a:rPr>
                        <a:t>n/a</a:t>
                      </a:r>
                    </a:p>
                  </a:txBody>
                  <a:tcPr marL="54864" marR="54864" marT="27432" marB="27432" anchor="ctr">
                    <a:solidFill>
                      <a:srgbClr val="FFFFFF"/>
                    </a:solidFill>
                  </a:tcPr>
                </a:tc>
                <a:tc>
                  <a:txBody>
                    <a:bodyPr wrap="square"/>
                    <a:lstStyle/>
                    <a:p>
                      <a:pPr algn="ctr"/>
                      <a:r>
                        <a:rPr sz="1000" b="0" i="0">
                          <a:solidFill>
                            <a:srgbClr val="1F1F1F"/>
                          </a:solidFill>
                          <a:latin typeface="Calibri"/>
                        </a:rPr>
                        <a:t>0.445 → 0.440</a:t>
                      </a:r>
                    </a:p>
                  </a:txBody>
                  <a:tcPr marL="54864" marR="54864" marT="27432" marB="27432" anchor="ctr">
                    <a:solidFill>
                      <a:srgbClr val="FFFFFF"/>
                    </a:solidFill>
                  </a:tcPr>
                </a:tc>
              </a:tr>
            </a:tbl>
          </a:graphicData>
        </a:graphic>
      </p:graphicFrame>
      <p:sp>
        <p:nvSpPr>
          <p:cNvPr id="5" name="TextBox 4"/>
          <p:cNvSpPr txBox="1"/>
          <p:nvPr/>
        </p:nvSpPr>
        <p:spPr>
          <a:xfrm>
            <a:off x="365760" y="5852160"/>
            <a:ext cx="8412480" cy="457200"/>
          </a:xfrm>
          <a:prstGeom prst="rect">
            <a:avLst/>
          </a:prstGeom>
          <a:noFill/>
        </p:spPr>
        <p:txBody>
          <a:bodyPr wrap="square" anchor="t" lIns="45720" rIns="45720">
            <a:spAutoFit/>
          </a:bodyPr>
          <a:lstStyle/>
          <a:p>
            <a:pPr algn="l"/>
            <a:r>
              <a:rPr sz="1100" b="0" i="0">
                <a:solidFill>
                  <a:srgbClr val="1F1F1F"/>
                </a:solidFill>
                <a:latin typeface="Calibri"/>
              </a:rPr>
              <a:t>B-ACPN: 10 of 11 metrics improve, 1 unchanged, 0 worse. MLP: 5 improve, 0 unchanged, 6 worse. ↓ = lower is better. Linear SVM gives no probabilities (n/a).</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2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Study</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88720"/>
          <a:ext cx="8412480" cy="3803904"/>
        </p:xfrm>
        <a:graphic>
          <a:graphicData uri="http://schemas.openxmlformats.org/drawingml/2006/table">
            <a:tbl>
              <a:tblPr firstRow="1" bandRow="1">
                <a:tableStyleId>{5C22544A-7EE6-4342-B048-85BDC9FD1C3A}</a:tableStyleId>
              </a:tblPr>
              <a:tblGrid>
                <a:gridCol w="4206240"/>
                <a:gridCol w="1371600"/>
                <a:gridCol w="1463040"/>
                <a:gridCol w="1371600"/>
              </a:tblGrid>
              <a:tr h="475488">
                <a:tc>
                  <a:txBody>
                    <a:bodyPr wrap="square"/>
                    <a:lstStyle/>
                    <a:p>
                      <a:pPr algn="l"/>
                      <a:r>
                        <a:rPr sz="1300" b="1" i="0">
                          <a:solidFill>
                            <a:srgbClr val="FFFFFF"/>
                          </a:solidFill>
                          <a:latin typeface="Calibri"/>
                        </a:rPr>
                        <a:t>Variant</a:t>
                      </a:r>
                    </a:p>
                  </a:txBody>
                  <a:tcPr marL="54864" marR="54864" marT="27432" marB="27432" anchor="ctr">
                    <a:solidFill>
                      <a:srgbClr val="1B3A6B"/>
                    </a:solidFill>
                  </a:tcPr>
                </a:tc>
                <a:tc>
                  <a:txBody>
                    <a:bodyPr wrap="square"/>
                    <a:lstStyle/>
                    <a:p>
                      <a:pPr algn="ctr"/>
                      <a:r>
                        <a:rPr sz="1300" b="1" i="0">
                          <a:solidFill>
                            <a:srgbClr val="FFFFFF"/>
                          </a:solidFill>
                          <a:latin typeface="Calibri"/>
                        </a:rPr>
                        <a:t>ROC-AUC</a:t>
                      </a:r>
                    </a:p>
                  </a:txBody>
                  <a:tcPr marL="54864" marR="54864" marT="27432" marB="27432" anchor="ctr">
                    <a:solidFill>
                      <a:srgbClr val="1B3A6B"/>
                    </a:solidFill>
                  </a:tcPr>
                </a:tc>
                <a:tc>
                  <a:txBody>
                    <a:bodyPr wrap="square"/>
                    <a:lstStyle/>
                    <a:p>
                      <a:pPr algn="ctr"/>
                      <a:r>
                        <a:rPr sz="1300" b="1" i="0">
                          <a:solidFill>
                            <a:srgbClr val="FFFFFF"/>
                          </a:solidFill>
                          <a:latin typeface="Calibri"/>
                        </a:rPr>
                        <a:t>Change vs full</a:t>
                      </a:r>
                    </a:p>
                  </a:txBody>
                  <a:tcPr marL="54864" marR="54864" marT="27432" marB="27432" anchor="ctr">
                    <a:solidFill>
                      <a:srgbClr val="1B3A6B"/>
                    </a:solidFill>
                  </a:tcPr>
                </a:tc>
                <a:tc>
                  <a:txBody>
                    <a:bodyPr wrap="square"/>
                    <a:lstStyle/>
                    <a:p>
                      <a:pPr algn="ctr"/>
                      <a:r>
                        <a:rPr sz="1300" b="1" i="0">
                          <a:solidFill>
                            <a:srgbClr val="FFFFFF"/>
                          </a:solidFill>
                          <a:latin typeface="Calibri"/>
                        </a:rPr>
                        <a:t>p vs full</a:t>
                      </a:r>
                    </a:p>
                  </a:txBody>
                  <a:tcPr marL="54864" marR="54864" marT="27432" marB="27432" anchor="ctr">
                    <a:solidFill>
                      <a:srgbClr val="1B3A6B"/>
                    </a:solidFill>
                  </a:tcPr>
                </a:tc>
              </a:tr>
              <a:tr h="475488">
                <a:tc>
                  <a:txBody>
                    <a:bodyPr wrap="square"/>
                    <a:lstStyle/>
                    <a:p>
                      <a:pPr algn="l"/>
                      <a:r>
                        <a:rPr sz="1300" b="1" i="0">
                          <a:solidFill>
                            <a:srgbClr val="1F1F1F"/>
                          </a:solidFill>
                          <a:latin typeface="Calibri"/>
                        </a:rPr>
                        <a:t>Full B-ACPN</a:t>
                      </a:r>
                    </a:p>
                  </a:txBody>
                  <a:tcPr marL="54864" marR="54864" marT="27432" marB="27432" anchor="ctr">
                    <a:solidFill>
                      <a:srgbClr val="FFF4CC"/>
                    </a:solidFill>
                  </a:tcPr>
                </a:tc>
                <a:tc>
                  <a:txBody>
                    <a:bodyPr wrap="square"/>
                    <a:lstStyle/>
                    <a:p>
                      <a:pPr algn="ctr"/>
                      <a:r>
                        <a:rPr sz="1300" b="1" i="0">
                          <a:solidFill>
                            <a:srgbClr val="1F1F1F"/>
                          </a:solidFill>
                          <a:latin typeface="Calibri"/>
                        </a:rPr>
                        <a:t>0.820</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c>
                  <a:txBody>
                    <a:bodyPr wrap="square"/>
                    <a:lstStyle/>
                    <a:p>
                      <a:pPr algn="ctr"/>
                      <a:r>
                        <a:rPr sz="1300" b="1" i="0">
                          <a:solidFill>
                            <a:srgbClr val="1F1F1F"/>
                          </a:solidFill>
                          <a:latin typeface="Calibri"/>
                        </a:rPr>
                        <a:t>—</a:t>
                      </a:r>
                    </a:p>
                  </a:txBody>
                  <a:tcPr marL="54864" marR="54864" marT="27432" marB="27432" anchor="ctr">
                    <a:solidFill>
                      <a:srgbClr val="FFF4CC"/>
                    </a:solidFill>
                  </a:tcPr>
                </a:tc>
              </a:tr>
              <a:tr h="475488">
                <a:tc>
                  <a:txBody>
                    <a:bodyPr wrap="square"/>
                    <a:lstStyle/>
                    <a:p>
                      <a:pPr algn="l"/>
                      <a:r>
                        <a:rPr sz="1300" b="1" i="0">
                          <a:solidFill>
                            <a:srgbClr val="1F1F1F"/>
                          </a:solidFill>
                          <a:latin typeface="Calibri"/>
                        </a:rPr>
                        <a:t>Deep stage only (no tree stage)</a:t>
                      </a:r>
                    </a:p>
                  </a:txBody>
                  <a:tcPr marL="54864" marR="54864" marT="27432" marB="27432" anchor="ctr">
                    <a:solidFill>
                      <a:srgbClr val="EEF2F8"/>
                    </a:solidFill>
                  </a:tcPr>
                </a:tc>
                <a:tc>
                  <a:txBody>
                    <a:bodyPr wrap="square"/>
                    <a:lstStyle/>
                    <a:p>
                      <a:pPr algn="ctr"/>
                      <a:r>
                        <a:rPr sz="1300" b="0" i="0">
                          <a:solidFill>
                            <a:srgbClr val="1F1F1F"/>
                          </a:solidFill>
                          <a:latin typeface="Calibri"/>
                        </a:rPr>
                        <a:t>0.800</a:t>
                      </a:r>
                    </a:p>
                  </a:txBody>
                  <a:tcPr marL="54864" marR="54864" marT="27432" marB="27432" anchor="ctr">
                    <a:solidFill>
                      <a:srgbClr val="EEF2F8"/>
                    </a:solidFill>
                  </a:tcPr>
                </a:tc>
                <a:tc>
                  <a:txBody>
                    <a:bodyPr wrap="square"/>
                    <a:lstStyle/>
                    <a:p>
                      <a:pPr algn="ctr"/>
                      <a:r>
                        <a:rPr sz="1300" b="0" i="0">
                          <a:solidFill>
                            <a:srgbClr val="1F1F1F"/>
                          </a:solidFill>
                          <a:latin typeface="Calibri"/>
                        </a:rPr>
                        <a:t>-0.019</a:t>
                      </a:r>
                    </a:p>
                  </a:txBody>
                  <a:tcPr marL="54864" marR="54864" marT="27432" marB="27432" anchor="ctr">
                    <a:solidFill>
                      <a:srgbClr val="EEF2F8"/>
                    </a:solidFill>
                  </a:tcPr>
                </a:tc>
                <a:tc>
                  <a:txBody>
                    <a:bodyPr wrap="square"/>
                    <a:lstStyle/>
                    <a:p>
                      <a:pPr algn="ctr"/>
                      <a:r>
                        <a:rPr sz="1300" b="0" i="0">
                          <a:solidFill>
                            <a:srgbClr val="1F1F1F"/>
                          </a:solidFill>
                          <a:latin typeface="Calibri"/>
                        </a:rPr>
                        <a:t>0.497</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Tree stage only (no deep stage)</a:t>
                      </a:r>
                    </a:p>
                  </a:txBody>
                  <a:tcPr marL="54864" marR="54864" marT="27432" marB="27432" anchor="ctr">
                    <a:solidFill>
                      <a:srgbClr val="FFFFFF"/>
                    </a:solidFill>
                  </a:tcPr>
                </a:tc>
                <a:tc>
                  <a:txBody>
                    <a:bodyPr wrap="square"/>
                    <a:lstStyle/>
                    <a:p>
                      <a:pPr algn="ctr"/>
                      <a:r>
                        <a:rPr sz="1300" b="0" i="0">
                          <a:solidFill>
                            <a:srgbClr val="1F1F1F"/>
                          </a:solidFill>
                          <a:latin typeface="Calibri"/>
                        </a:rPr>
                        <a:t>0.818</a:t>
                      </a:r>
                    </a:p>
                  </a:txBody>
                  <a:tcPr marL="54864" marR="54864" marT="27432" marB="27432" anchor="ctr">
                    <a:solidFill>
                      <a:srgbClr val="FFFFFF"/>
                    </a:solidFill>
                  </a:tcPr>
                </a:tc>
                <a:tc>
                  <a:txBody>
                    <a:bodyPr wrap="square"/>
                    <a:lstStyle/>
                    <a:p>
                      <a:pPr algn="ctr"/>
                      <a:r>
                        <a:rPr sz="1300" b="0" i="0">
                          <a:solidFill>
                            <a:srgbClr val="1F1F1F"/>
                          </a:solidFill>
                          <a:latin typeface="Calibri"/>
                        </a:rPr>
                        <a:t>-0.002</a:t>
                      </a:r>
                    </a:p>
                  </a:txBody>
                  <a:tcPr marL="54864" marR="54864" marT="27432" marB="27432" anchor="ctr">
                    <a:solidFill>
                      <a:srgbClr val="FFFFFF"/>
                    </a:solidFill>
                  </a:tcPr>
                </a:tc>
                <a:tc>
                  <a:txBody>
                    <a:bodyPr wrap="square"/>
                    <a:lstStyle/>
                    <a:p>
                      <a:pPr algn="ctr"/>
                      <a:r>
                        <a:rPr sz="1300" b="0" i="0">
                          <a:solidFill>
                            <a:srgbClr val="1F1F1F"/>
                          </a:solidFill>
                          <a:latin typeface="Calibri"/>
                        </a:rPr>
                        <a:t>0.952</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climate push</a:t>
                      </a:r>
                    </a:p>
                  </a:txBody>
                  <a:tcPr marL="54864" marR="54864" marT="27432" marB="27432" anchor="ctr">
                    <a:solidFill>
                      <a:srgbClr val="EEF2F8"/>
                    </a:solidFill>
                  </a:tcPr>
                </a:tc>
                <a:tc>
                  <a:txBody>
                    <a:bodyPr wrap="square"/>
                    <a:lstStyle/>
                    <a:p>
                      <a:pPr algn="ctr"/>
                      <a:r>
                        <a:rPr sz="1300" b="0" i="0">
                          <a:solidFill>
                            <a:srgbClr val="1F1F1F"/>
                          </a:solidFill>
                          <a:latin typeface="Calibri"/>
                        </a:rPr>
                        <a:t>0.816</a:t>
                      </a:r>
                    </a:p>
                  </a:txBody>
                  <a:tcPr marL="54864" marR="54864" marT="27432" marB="27432" anchor="ctr">
                    <a:solidFill>
                      <a:srgbClr val="EEF2F8"/>
                    </a:solidFill>
                  </a:tcPr>
                </a:tc>
                <a:tc>
                  <a:txBody>
                    <a:bodyPr wrap="square"/>
                    <a:lstStyle/>
                    <a:p>
                      <a:pPr algn="ctr"/>
                      <a:r>
                        <a:rPr sz="1300" b="0" i="0">
                          <a:solidFill>
                            <a:srgbClr val="1F1F1F"/>
                          </a:solidFill>
                          <a:latin typeface="Calibri"/>
                        </a:rPr>
                        <a:t>-0.004</a:t>
                      </a:r>
                    </a:p>
                  </a:txBody>
                  <a:tcPr marL="54864" marR="54864" marT="27432" marB="27432" anchor="ctr">
                    <a:solidFill>
                      <a:srgbClr val="EEF2F8"/>
                    </a:solidFill>
                  </a:tcPr>
                </a:tc>
                <a:tc>
                  <a:txBody>
                    <a:bodyPr wrap="square"/>
                    <a:lstStyle/>
                    <a:p>
                      <a:pPr algn="ctr"/>
                      <a:r>
                        <a:rPr sz="1300" b="0" i="0">
                          <a:solidFill>
                            <a:srgbClr val="1F1F1F"/>
                          </a:solidFill>
                          <a:latin typeface="Calibri"/>
                        </a:rPr>
                        <a:t>0.882</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Without development gate</a:t>
                      </a:r>
                    </a:p>
                  </a:txBody>
                  <a:tcPr marL="54864" marR="54864" marT="27432" marB="27432" anchor="ctr">
                    <a:solidFill>
                      <a:srgbClr val="FFFFFF"/>
                    </a:solidFill>
                  </a:tcPr>
                </a:tc>
                <a:tc>
                  <a:txBody>
                    <a:bodyPr wrap="square"/>
                    <a:lstStyle/>
                    <a:p>
                      <a:pPr algn="ctr"/>
                      <a:r>
                        <a:rPr sz="1300" b="0" i="0">
                          <a:solidFill>
                            <a:srgbClr val="1F1F1F"/>
                          </a:solidFill>
                          <a:latin typeface="Calibri"/>
                        </a:rPr>
                        <a:t>0.821</a:t>
                      </a:r>
                    </a:p>
                  </a:txBody>
                  <a:tcPr marL="54864" marR="54864" marT="27432" marB="27432" anchor="ctr">
                    <a:solidFill>
                      <a:srgbClr val="FFFFFF"/>
                    </a:solidFill>
                  </a:tcPr>
                </a:tc>
                <a:tc>
                  <a:txBody>
                    <a:bodyPr wrap="square"/>
                    <a:lstStyle/>
                    <a:p>
                      <a:pPr algn="ctr"/>
                      <a:r>
                        <a:rPr sz="1300" b="0" i="0">
                          <a:solidFill>
                            <a:srgbClr val="1F1F1F"/>
                          </a:solidFill>
                          <a:latin typeface="Calibri"/>
                        </a:rPr>
                        <a:t>+0.001</a:t>
                      </a:r>
                    </a:p>
                  </a:txBody>
                  <a:tcPr marL="54864" marR="54864" marT="27432" marB="27432" anchor="ctr">
                    <a:solidFill>
                      <a:srgbClr val="FFFFFF"/>
                    </a:solidFill>
                  </a:tcPr>
                </a:tc>
                <a:tc>
                  <a:txBody>
                    <a:bodyPr wrap="square"/>
                    <a:lstStyle/>
                    <a:p>
                      <a:pPr algn="ctr"/>
                      <a:r>
                        <a:rPr sz="1300" b="0" i="0">
                          <a:solidFill>
                            <a:srgbClr val="1F1F1F"/>
                          </a:solidFill>
                          <a:latin typeface="Calibri"/>
                        </a:rPr>
                        <a:t>0.959</a:t>
                      </a:r>
                    </a:p>
                  </a:txBody>
                  <a:tcPr marL="54864" marR="54864" marT="27432" marB="27432" anchor="ctr">
                    <a:solidFill>
                      <a:srgbClr val="FFFFFF"/>
                    </a:solidFill>
                  </a:tcPr>
                </a:tc>
              </a:tr>
              <a:tr h="475488">
                <a:tc>
                  <a:txBody>
                    <a:bodyPr wrap="square"/>
                    <a:lstStyle/>
                    <a:p>
                      <a:pPr algn="l"/>
                      <a:r>
                        <a:rPr sz="1300" b="1" i="0">
                          <a:solidFill>
                            <a:srgbClr val="1F1F1F"/>
                          </a:solidFill>
                          <a:latin typeface="Calibri"/>
                        </a:rPr>
                        <a:t>Without feature attention</a:t>
                      </a:r>
                    </a:p>
                  </a:txBody>
                  <a:tcPr marL="54864" marR="54864" marT="27432" marB="27432" anchor="ctr">
                    <a:solidFill>
                      <a:srgbClr val="EEF2F8"/>
                    </a:solidFill>
                  </a:tcPr>
                </a:tc>
                <a:tc>
                  <a:txBody>
                    <a:bodyPr wrap="square"/>
                    <a:lstStyle/>
                    <a:p>
                      <a:pPr algn="ctr"/>
                      <a:r>
                        <a:rPr sz="1300" b="0" i="0">
                          <a:solidFill>
                            <a:srgbClr val="1F1F1F"/>
                          </a:solidFill>
                          <a:latin typeface="Calibri"/>
                        </a:rPr>
                        <a:t>0.817</a:t>
                      </a:r>
                    </a:p>
                  </a:txBody>
                  <a:tcPr marL="54864" marR="54864" marT="27432" marB="27432" anchor="ctr">
                    <a:solidFill>
                      <a:srgbClr val="EEF2F8"/>
                    </a:solidFill>
                  </a:tcPr>
                </a:tc>
                <a:tc>
                  <a:txBody>
                    <a:bodyPr wrap="square"/>
                    <a:lstStyle/>
                    <a:p>
                      <a:pPr algn="ctr"/>
                      <a:r>
                        <a:rPr sz="1300" b="0" i="0">
                          <a:solidFill>
                            <a:srgbClr val="1F1F1F"/>
                          </a:solidFill>
                          <a:latin typeface="Calibri"/>
                        </a:rPr>
                        <a:t>-0.003</a:t>
                      </a:r>
                    </a:p>
                  </a:txBody>
                  <a:tcPr marL="54864" marR="54864" marT="27432" marB="27432" anchor="ctr">
                    <a:solidFill>
                      <a:srgbClr val="EEF2F8"/>
                    </a:solidFill>
                  </a:tcPr>
                </a:tc>
                <a:tc>
                  <a:txBody>
                    <a:bodyPr wrap="square"/>
                    <a:lstStyle/>
                    <a:p>
                      <a:pPr algn="ctr"/>
                      <a:r>
                        <a:rPr sz="1300" b="0" i="0">
                          <a:solidFill>
                            <a:srgbClr val="1F1F1F"/>
                          </a:solidFill>
                          <a:latin typeface="Calibri"/>
                        </a:rPr>
                        <a:t>0.926</a:t>
                      </a:r>
                    </a:p>
                  </a:txBody>
                  <a:tcPr marL="54864" marR="54864" marT="27432" marB="27432" anchor="ctr">
                    <a:solidFill>
                      <a:srgbClr val="EEF2F8"/>
                    </a:solidFill>
                  </a:tcPr>
                </a:tc>
              </a:tr>
              <a:tr h="475488">
                <a:tc>
                  <a:txBody>
                    <a:bodyPr wrap="square"/>
                    <a:lstStyle/>
                    <a:p>
                      <a:pPr algn="l"/>
                      <a:r>
                        <a:rPr sz="1300" b="1" i="0">
                          <a:solidFill>
                            <a:srgbClr val="1F1F1F"/>
                          </a:solidFill>
                          <a:latin typeface="Calibri"/>
                        </a:rPr>
                        <a:t>Single network (no ensemble)</a:t>
                      </a:r>
                    </a:p>
                  </a:txBody>
                  <a:tcPr marL="54864" marR="54864" marT="27432" marB="27432" anchor="ctr">
                    <a:solidFill>
                      <a:srgbClr val="FFFFFF"/>
                    </a:solidFill>
                  </a:tcPr>
                </a:tc>
                <a:tc>
                  <a:txBody>
                    <a:bodyPr wrap="square"/>
                    <a:lstStyle/>
                    <a:p>
                      <a:pPr algn="ctr"/>
                      <a:r>
                        <a:rPr sz="1300" b="0" i="0">
                          <a:solidFill>
                            <a:srgbClr val="1F1F1F"/>
                          </a:solidFill>
                          <a:latin typeface="Calibri"/>
                        </a:rPr>
                        <a:t>0.801</a:t>
                      </a:r>
                    </a:p>
                  </a:txBody>
                  <a:tcPr marL="54864" marR="54864" marT="27432" marB="27432" anchor="ctr">
                    <a:solidFill>
                      <a:srgbClr val="FFFFFF"/>
                    </a:solidFill>
                  </a:tcPr>
                </a:tc>
                <a:tc>
                  <a:txBody>
                    <a:bodyPr wrap="square"/>
                    <a:lstStyle/>
                    <a:p>
                      <a:pPr algn="ctr"/>
                      <a:r>
                        <a:rPr sz="1300" b="0" i="0">
                          <a:solidFill>
                            <a:srgbClr val="1F1F1F"/>
                          </a:solidFill>
                          <a:latin typeface="Calibri"/>
                        </a:rPr>
                        <a:t>-0.018</a:t>
                      </a:r>
                    </a:p>
                  </a:txBody>
                  <a:tcPr marL="54864" marR="54864" marT="27432" marB="27432" anchor="ctr">
                    <a:solidFill>
                      <a:srgbClr val="FFFFFF"/>
                    </a:solidFill>
                  </a:tcPr>
                </a:tc>
                <a:tc>
                  <a:txBody>
                    <a:bodyPr wrap="square"/>
                    <a:lstStyle/>
                    <a:p>
                      <a:pPr algn="ctr"/>
                      <a:r>
                        <a:rPr sz="1300" b="0" i="0">
                          <a:solidFill>
                            <a:srgbClr val="1F1F1F"/>
                          </a:solidFill>
                          <a:latin typeface="Calibri"/>
                        </a:rPr>
                        <a:t>0.579</a:t>
                      </a:r>
                    </a:p>
                  </a:txBody>
                  <a:tcPr marL="54864" marR="54864" marT="27432" marB="27432" anchor="ctr">
                    <a:solidFill>
                      <a:srgbClr val="FFFFFF"/>
                    </a:solidFill>
                  </a:tcPr>
                </a:tc>
              </a:tr>
            </a:tbl>
          </a:graphicData>
        </a:graphic>
      </p:graphicFrame>
      <p:sp>
        <p:nvSpPr>
          <p:cNvPr id="5" name="TextBox 4"/>
          <p:cNvSpPr txBox="1"/>
          <p:nvPr/>
        </p:nvSpPr>
        <p:spPr>
          <a:xfrm>
            <a:off x="365760" y="5120640"/>
            <a:ext cx="8412480" cy="1280160"/>
          </a:xfrm>
          <a:prstGeom prst="rect">
            <a:avLst/>
          </a:prstGeom>
          <a:noFill/>
        </p:spPr>
        <p:txBody>
          <a:bodyPr wrap="square" lIns="45720" rIns="45720">
            <a:spAutoFit/>
          </a:bodyPr>
          <a:lstStyle/>
          <a:p>
            <a:pPr>
              <a:spcAft>
                <a:spcPts val="300"/>
              </a:spcAft>
            </a:pPr>
            <a:r>
              <a:rPr sz="1400" b="0" i="0">
                <a:solidFill>
                  <a:srgbClr val="0E6E6E"/>
                </a:solidFill>
                <a:latin typeface="Calibri"/>
              </a:rPr>
              <a:t>▪  </a:t>
            </a:r>
            <a:r>
              <a:rPr sz="1400" b="1" i="0">
                <a:solidFill>
                  <a:srgbClr val="1F1F1F"/>
                </a:solidFill>
                <a:latin typeface="Calibri"/>
              </a:rPr>
              <a:t>Removal hurts by more than 1 SD: </a:t>
            </a:r>
            <a:r>
              <a:rPr sz="1400" b="0" i="0">
                <a:solidFill>
                  <a:srgbClr val="1F1F1F"/>
                </a:solidFill>
                <a:latin typeface="Calibri"/>
              </a:rPr>
              <a:t>no single component</a:t>
            </a:r>
          </a:p>
          <a:p>
            <a:pPr>
              <a:spcAft>
                <a:spcPts val="300"/>
              </a:spcAft>
            </a:pPr>
            <a:r>
              <a:rPr sz="1400" b="0" i="0">
                <a:solidFill>
                  <a:srgbClr val="0E6E6E"/>
                </a:solidFill>
                <a:latin typeface="Calibri"/>
              </a:rPr>
              <a:t>▪  </a:t>
            </a:r>
            <a:r>
              <a:rPr sz="1400" b="1" i="0">
                <a:solidFill>
                  <a:srgbClr val="1F1F1F"/>
                </a:solidFill>
                <a:latin typeface="Calibri"/>
              </a:rPr>
              <a:t>Within 1 SD (no clear accuracy gain): </a:t>
            </a:r>
            <a:r>
              <a:rPr sz="1400" b="0" i="0">
                <a:solidFill>
                  <a:srgbClr val="1F1F1F"/>
                </a:solidFill>
                <a:latin typeface="Calibri"/>
              </a:rPr>
              <a:t>Deep stage only (no tree stage), Tree stage only (no deep stage), Without climate push, Without development gate, Without feature attention, Single network (no ensemble)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400" b="1" i="0">
                <a:solidFill>
                  <a:srgbClr val="1B3A6B"/>
                </a:solidFill>
                <a:latin typeface="Times New Roman"/>
              </a:rPr>
              <a:t>Climate-Push Analysis: What It Explains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80" cy="2880360"/>
        </p:xfrm>
        <a:graphic>
          <a:graphicData uri="http://schemas.openxmlformats.org/drawingml/2006/table">
            <a:tbl>
              <a:tblPr firstRow="1" bandRow="1">
                <a:tableStyleId>{5C22544A-7EE6-4342-B048-85BDC9FD1C3A}</a:tableStyleId>
              </a:tblPr>
              <a:tblGrid>
                <a:gridCol w="3291840"/>
                <a:gridCol w="914400"/>
                <a:gridCol w="1463040"/>
                <a:gridCol w="914400"/>
                <a:gridCol w="1828800"/>
              </a:tblGrid>
              <a:tr h="411480">
                <a:tc>
                  <a:txBody>
                    <a:bodyPr wrap="square"/>
                    <a:lstStyle/>
                    <a:p>
                      <a:pPr algn="l"/>
                      <a:r>
                        <a:rPr sz="1200" b="1" i="0">
                          <a:solidFill>
                            <a:srgbClr val="FFFFFF"/>
                          </a:solidFill>
                          <a:latin typeface="Calibri"/>
                        </a:rPr>
                        <a:t>Group</a:t>
                      </a:r>
                    </a:p>
                  </a:txBody>
                  <a:tcPr marL="54864" marR="54864" marT="27432" marB="27432" anchor="ctr">
                    <a:solidFill>
                      <a:srgbClr val="1B3A6B"/>
                    </a:solidFill>
                  </a:tcPr>
                </a:tc>
                <a:tc>
                  <a:txBody>
                    <a:bodyPr wrap="square"/>
                    <a:lstStyle/>
                    <a:p>
                      <a:pPr algn="ctr"/>
                      <a:r>
                        <a:rPr sz="1200" b="1" i="0">
                          <a:solidFill>
                            <a:srgbClr val="FFFFFF"/>
                          </a:solidFill>
                          <a:latin typeface="Calibri"/>
                        </a:rPr>
                        <a:t>Districts</a:t>
                      </a:r>
                    </a:p>
                  </a:txBody>
                  <a:tcPr marL="54864" marR="54864" marT="27432" marB="27432" anchor="ctr">
                    <a:solidFill>
                      <a:srgbClr val="1B3A6B"/>
                    </a:solidFill>
                  </a:tcPr>
                </a:tc>
                <a:tc>
                  <a:txBody>
                    <a:bodyPr wrap="square"/>
                    <a:lstStyle/>
                    <a:p>
                      <a:pPr algn="ctr"/>
                      <a:r>
                        <a:rPr sz="1200" b="1" i="0">
                          <a:solidFill>
                            <a:srgbClr val="FFFFFF"/>
                          </a:solidFill>
                          <a:latin typeface="Calibri"/>
                        </a:rPr>
                        <a:t>Mean climate push</a:t>
                      </a:r>
                    </a:p>
                  </a:txBody>
                  <a:tcPr marL="54864" marR="54864" marT="27432" marB="27432" anchor="ctr">
                    <a:solidFill>
                      <a:srgbClr val="1B3A6B"/>
                    </a:solidFill>
                  </a:tcPr>
                </a:tc>
                <a:tc>
                  <a:txBody>
                    <a:bodyPr wrap="square"/>
                    <a:lstStyle/>
                    <a:p>
                      <a:pPr algn="ctr"/>
                      <a:r>
                        <a:rPr sz="1200" b="1" i="0">
                          <a:solidFill>
                            <a:srgbClr val="FFFFFF"/>
                          </a:solidFill>
                          <a:latin typeface="Calibri"/>
                        </a:rPr>
                        <a:t>Push &gt; 0</a:t>
                      </a:r>
                    </a:p>
                  </a:txBody>
                  <a:tcPr marL="54864" marR="54864" marT="27432" marB="27432" anchor="ctr">
                    <a:solidFill>
                      <a:srgbClr val="1B3A6B"/>
                    </a:solidFill>
                  </a:tcPr>
                </a:tc>
                <a:tc>
                  <a:txBody>
                    <a:bodyPr wrap="square"/>
                    <a:lstStyle/>
                    <a:p>
                      <a:pPr algn="ctr"/>
                      <a:r>
                        <a:rPr sz="1200" b="1" i="0">
                          <a:solidFill>
                            <a:srgbClr val="FFFFFF"/>
                          </a:solidFill>
                          <a:latin typeface="Calibri"/>
                        </a:rPr>
                        <a:t>Top climate factor</a:t>
                      </a:r>
                    </a:p>
                  </a:txBody>
                  <a:tcPr marL="54864" marR="54864" marT="27432" marB="27432" anchor="ctr">
                    <a:solidFill>
                      <a:srgbClr val="1B3A6B"/>
                    </a:solidFill>
                  </a:tcPr>
                </a:tc>
              </a:tr>
              <a:tr h="411480">
                <a:tc>
                  <a:txBody>
                    <a:bodyPr wrap="square"/>
                    <a:lstStyle/>
                    <a:p>
                      <a:pPr algn="l"/>
                      <a:r>
                        <a:rPr sz="1200" b="1" i="0">
                          <a:solidFill>
                            <a:srgbClr val="1F1F1F"/>
                          </a:solidFill>
                          <a:latin typeface="Calibri"/>
                        </a:rPr>
                        <a:t>High dev / Low vul (expected)</a:t>
                      </a:r>
                    </a:p>
                  </a:txBody>
                  <a:tcPr marL="54864" marR="54864" marT="27432" marB="27432" anchor="ctr">
                    <a:solidFill>
                      <a:srgbClr val="FFFFFF"/>
                    </a:solidFill>
                  </a:tcPr>
                </a:tc>
                <a:tc>
                  <a:txBody>
                    <a:bodyPr wrap="square"/>
                    <a:lstStyle/>
                    <a:p>
                      <a:pPr algn="ctr"/>
                      <a:r>
                        <a:rPr sz="1200" b="0" i="0">
                          <a:solidFill>
                            <a:srgbClr val="1F1F1F"/>
                          </a:solidFill>
                          <a:latin typeface="Calibri"/>
                        </a:rPr>
                        <a:t>143</a:t>
                      </a:r>
                    </a:p>
                  </a:txBody>
                  <a:tcPr marL="54864" marR="54864" marT="27432" marB="27432" anchor="ctr">
                    <a:solidFill>
                      <a:srgbClr val="FFFFFF"/>
                    </a:solidFill>
                  </a:tcPr>
                </a:tc>
                <a:tc>
                  <a:txBody>
                    <a:bodyPr wrap="square"/>
                    <a:lstStyle/>
                    <a:p>
                      <a:pPr algn="ctr"/>
                      <a:r>
                        <a:rPr sz="1200" b="0" i="0">
                          <a:solidFill>
                            <a:srgbClr val="1F1F1F"/>
                          </a:solidFill>
                          <a:latin typeface="Calibri"/>
                        </a:rPr>
                        <a:t>-0.10</a:t>
                      </a:r>
                    </a:p>
                  </a:txBody>
                  <a:tcPr marL="54864" marR="54864" marT="27432" marB="27432" anchor="ctr">
                    <a:solidFill>
                      <a:srgbClr val="FFFFFF"/>
                    </a:solidFill>
                  </a:tcPr>
                </a:tc>
                <a:tc>
                  <a:txBody>
                    <a:bodyPr wrap="square"/>
                    <a:lstStyle/>
                    <a:p>
                      <a:pPr algn="ctr"/>
                      <a:r>
                        <a:rPr sz="1200" b="0" i="0">
                          <a:solidFill>
                            <a:srgbClr val="1F1F1F"/>
                          </a:solidFill>
                          <a:latin typeface="Calibri"/>
                        </a:rPr>
                        <a:t>45%</a:t>
                      </a:r>
                    </a:p>
                  </a:txBody>
                  <a:tcPr marL="54864" marR="54864" marT="27432" marB="27432" anchor="ctr">
                    <a:solidFill>
                      <a:srgbClr val="FFFFFF"/>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Low dev / High vul (expected)</a:t>
                      </a:r>
                    </a:p>
                  </a:txBody>
                  <a:tcPr marL="54864" marR="54864" marT="27432" marB="27432" anchor="ctr">
                    <a:solidFill>
                      <a:srgbClr val="EEF2F8"/>
                    </a:solidFill>
                  </a:tcPr>
                </a:tc>
                <a:tc>
                  <a:txBody>
                    <a:bodyPr wrap="square"/>
                    <a:lstStyle/>
                    <a:p>
                      <a:pPr algn="ctr"/>
                      <a:r>
                        <a:rPr sz="1200" b="0" i="0">
                          <a:solidFill>
                            <a:srgbClr val="1F1F1F"/>
                          </a:solidFill>
                          <a:latin typeface="Calibri"/>
                        </a:rPr>
                        <a:t>145</a:t>
                      </a:r>
                    </a:p>
                  </a:txBody>
                  <a:tcPr marL="54864" marR="54864" marT="27432" marB="27432" anchor="ctr">
                    <a:solidFill>
                      <a:srgbClr val="EEF2F8"/>
                    </a:solidFill>
                  </a:tcPr>
                </a:tc>
                <a:tc>
                  <a:txBody>
                    <a:bodyPr wrap="square"/>
                    <a:lstStyle/>
                    <a:p>
                      <a:pPr algn="ctr"/>
                      <a:r>
                        <a:rPr sz="1200" b="0" i="0">
                          <a:solidFill>
                            <a:srgbClr val="1F1F1F"/>
                          </a:solidFill>
                          <a:latin typeface="Calibri"/>
                        </a:rPr>
                        <a:t>+0.13</a:t>
                      </a:r>
                    </a:p>
                  </a:txBody>
                  <a:tcPr marL="54864" marR="54864" marT="27432" marB="27432" anchor="ctr">
                    <a:solidFill>
                      <a:srgbClr val="EEF2F8"/>
                    </a:solidFill>
                  </a:tcPr>
                </a:tc>
                <a:tc>
                  <a:txBody>
                    <a:bodyPr wrap="square"/>
                    <a:lstStyle/>
                    <a:p>
                      <a:pPr algn="ctr"/>
                      <a:r>
                        <a:rPr sz="1200" b="0" i="0">
                          <a:solidFill>
                            <a:srgbClr val="1F1F1F"/>
                          </a:solidFill>
                          <a:latin typeface="Calibri"/>
                        </a:rPr>
                        <a:t>86%</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r h="411480">
                <a:tc>
                  <a:txBody>
                    <a:bodyPr wrap="square"/>
                    <a:lstStyle/>
                    <a:p>
                      <a:pPr algn="l"/>
                      <a:r>
                        <a:rPr sz="1200" b="1" i="0">
                          <a:solidFill>
                            <a:srgbClr val="1F1F1F"/>
                          </a:solidFill>
                          <a:latin typeface="Calibri"/>
                        </a:rPr>
                        <a:t>Anomaly A: developed yet vulnerable</a:t>
                      </a:r>
                    </a:p>
                  </a:txBody>
                  <a:tcPr marL="54864" marR="54864" marT="27432" marB="27432" anchor="ctr">
                    <a:solidFill>
                      <a:srgbClr val="FFF4CC"/>
                    </a:solidFill>
                  </a:tcPr>
                </a:tc>
                <a:tc>
                  <a:txBody>
                    <a:bodyPr wrap="square"/>
                    <a:lstStyle/>
                    <a:p>
                      <a:pPr algn="ctr"/>
                      <a:r>
                        <a:rPr sz="1200" b="1" i="0">
                          <a:solidFill>
                            <a:srgbClr val="1F1F1F"/>
                          </a:solidFill>
                          <a:latin typeface="Calibri"/>
                        </a:rPr>
                        <a:t>92</a:t>
                      </a:r>
                    </a:p>
                  </a:txBody>
                  <a:tcPr marL="54864" marR="54864" marT="27432" marB="27432" anchor="ctr">
                    <a:solidFill>
                      <a:srgbClr val="FFF4CC"/>
                    </a:solidFill>
                  </a:tcPr>
                </a:tc>
                <a:tc>
                  <a:txBody>
                    <a:bodyPr wrap="square"/>
                    <a:lstStyle/>
                    <a:p>
                      <a:pPr algn="ctr"/>
                      <a:r>
                        <a:rPr sz="1200" b="1" i="0">
                          <a:solidFill>
                            <a:srgbClr val="1F1F1F"/>
                          </a:solidFill>
                          <a:latin typeface="Calibri"/>
                        </a:rPr>
                        <a:t>+0.09</a:t>
                      </a:r>
                    </a:p>
                  </a:txBody>
                  <a:tcPr marL="54864" marR="54864" marT="27432" marB="27432" anchor="ctr">
                    <a:solidFill>
                      <a:srgbClr val="FFF4CC"/>
                    </a:solidFill>
                  </a:tcPr>
                </a:tc>
                <a:tc>
                  <a:txBody>
                    <a:bodyPr wrap="square"/>
                    <a:lstStyle/>
                    <a:p>
                      <a:pPr algn="ctr"/>
                      <a:r>
                        <a:rPr sz="1200" b="1" i="0">
                          <a:solidFill>
                            <a:srgbClr val="1F1F1F"/>
                          </a:solidFill>
                          <a:latin typeface="Calibri"/>
                        </a:rPr>
                        <a:t>82%</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Anomaly B: less developed yet resilient</a:t>
                      </a:r>
                    </a:p>
                  </a:txBody>
                  <a:tcPr marL="54864" marR="54864" marT="27432" marB="27432" anchor="ctr">
                    <a:solidFill>
                      <a:srgbClr val="FFF4CC"/>
                    </a:solidFill>
                  </a:tcPr>
                </a:tc>
                <a:tc>
                  <a:txBody>
                    <a:bodyPr wrap="square"/>
                    <a:lstStyle/>
                    <a:p>
                      <a:pPr algn="ctr"/>
                      <a:r>
                        <a:rPr sz="1200" b="1" i="0">
                          <a:solidFill>
                            <a:srgbClr val="1F1F1F"/>
                          </a:solidFill>
                          <a:latin typeface="Calibri"/>
                        </a:rPr>
                        <a:t>89</a:t>
                      </a:r>
                    </a:p>
                  </a:txBody>
                  <a:tcPr marL="54864" marR="54864" marT="27432" marB="27432" anchor="ctr">
                    <a:solidFill>
                      <a:srgbClr val="FFF4CC"/>
                    </a:solidFill>
                  </a:tcPr>
                </a:tc>
                <a:tc>
                  <a:txBody>
                    <a:bodyPr wrap="square"/>
                    <a:lstStyle/>
                    <a:p>
                      <a:pPr algn="ctr"/>
                      <a:r>
                        <a:rPr sz="1200" b="1" i="0">
                          <a:solidFill>
                            <a:srgbClr val="1F1F1F"/>
                          </a:solidFill>
                          <a:latin typeface="Calibri"/>
                        </a:rPr>
                        <a:t>-0.17</a:t>
                      </a:r>
                    </a:p>
                  </a:txBody>
                  <a:tcPr marL="54864" marR="54864" marT="27432" marB="27432" anchor="ctr">
                    <a:solidFill>
                      <a:srgbClr val="FFF4CC"/>
                    </a:solidFill>
                  </a:tcPr>
                </a:tc>
                <a:tc>
                  <a:txBody>
                    <a:bodyPr wrap="square"/>
                    <a:lstStyle/>
                    <a:p>
                      <a:pPr algn="ctr"/>
                      <a:r>
                        <a:rPr sz="1200" b="1" i="0">
                          <a:solidFill>
                            <a:srgbClr val="1F1F1F"/>
                          </a:solidFill>
                          <a:latin typeface="Calibri"/>
                        </a:rPr>
                        <a:t>46%</a:t>
                      </a:r>
                    </a:p>
                  </a:txBody>
                  <a:tcPr marL="54864" marR="54864" marT="27432" marB="27432" anchor="ctr">
                    <a:solidFill>
                      <a:srgbClr val="FFF4CC"/>
                    </a:solidFill>
                  </a:tcPr>
                </a:tc>
                <a:tc>
                  <a:txBody>
                    <a:bodyPr wrap="square"/>
                    <a:lstStyle/>
                    <a:p>
                      <a:pPr algn="ctr"/>
                      <a:r>
                        <a:rPr sz="1200" b="1" i="0">
                          <a:solidFill>
                            <a:srgbClr val="1F1F1F"/>
                          </a:solidFill>
                          <a:latin typeface="Calibri"/>
                        </a:rPr>
                        <a:t>heavy rain days</a:t>
                      </a:r>
                    </a:p>
                  </a:txBody>
                  <a:tcPr marL="54864" marR="54864" marT="27432" marB="27432" anchor="ctr">
                    <a:solidFill>
                      <a:srgbClr val="FFF4CC"/>
                    </a:solidFill>
                  </a:tcPr>
                </a:tc>
              </a:tr>
              <a:tr h="411480">
                <a:tc>
                  <a:txBody>
                    <a:bodyPr wrap="square"/>
                    <a:lstStyle/>
                    <a:p>
                      <a:pPr algn="l"/>
                      <a:r>
                        <a:rPr sz="1200" b="1" i="0">
                          <a:solidFill>
                            <a:srgbClr val="1F1F1F"/>
                          </a:solidFill>
                          <a:latin typeface="Calibri"/>
                        </a:rPr>
                        <a:t>Spark k-means climate regime 0</a:t>
                      </a:r>
                    </a:p>
                  </a:txBody>
                  <a:tcPr marL="54864" marR="54864" marT="27432" marB="27432" anchor="ctr">
                    <a:solidFill>
                      <a:srgbClr val="FFFFFF"/>
                    </a:solidFill>
                  </a:tcPr>
                </a:tc>
                <a:tc>
                  <a:txBody>
                    <a:bodyPr wrap="square"/>
                    <a:lstStyle/>
                    <a:p>
                      <a:pPr algn="ctr"/>
                      <a:r>
                        <a:rPr sz="1200" b="0" i="0">
                          <a:solidFill>
                            <a:srgbClr val="1F1F1F"/>
                          </a:solidFill>
                          <a:latin typeface="Calibri"/>
                        </a:rPr>
                        <a:t>95</a:t>
                      </a:r>
                    </a:p>
                  </a:txBody>
                  <a:tcPr marL="54864" marR="54864" marT="27432" marB="27432" anchor="ctr">
                    <a:solidFill>
                      <a:srgbClr val="FFFFFF"/>
                    </a:solidFill>
                  </a:tcPr>
                </a:tc>
                <a:tc>
                  <a:txBody>
                    <a:bodyPr wrap="square"/>
                    <a:lstStyle/>
                    <a:p>
                      <a:pPr algn="ctr"/>
                      <a:r>
                        <a:rPr sz="1200" b="0" i="0">
                          <a:solidFill>
                            <a:srgbClr val="1F1F1F"/>
                          </a:solidFill>
                          <a:latin typeface="Calibri"/>
                        </a:rPr>
                        <a:t>-0.24</a:t>
                      </a:r>
                    </a:p>
                  </a:txBody>
                  <a:tcPr marL="54864" marR="54864" marT="27432" marB="27432" anchor="ctr">
                    <a:solidFill>
                      <a:srgbClr val="FFFFFF"/>
                    </a:solidFill>
                  </a:tcPr>
                </a:tc>
                <a:tc>
                  <a:txBody>
                    <a:bodyPr wrap="square"/>
                    <a:lstStyle/>
                    <a:p>
                      <a:pPr algn="ctr"/>
                      <a:r>
                        <a:rPr sz="1200" b="0" i="0">
                          <a:solidFill>
                            <a:srgbClr val="1F1F1F"/>
                          </a:solidFill>
                          <a:latin typeface="Calibri"/>
                        </a:rPr>
                        <a:t>—</a:t>
                      </a:r>
                    </a:p>
                  </a:txBody>
                  <a:tcPr marL="54864" marR="54864" marT="27432" marB="27432" anchor="ctr">
                    <a:solidFill>
                      <a:srgbClr val="FFFFFF"/>
                    </a:solidFill>
                  </a:tcPr>
                </a:tc>
                <a:tc>
                  <a:txBody>
                    <a:bodyPr wrap="square"/>
                    <a:lstStyle/>
                    <a:p>
                      <a:pPr algn="ctr"/>
                      <a:r>
                        <a:rPr sz="1200" b="0" i="0">
                          <a:solidFill>
                            <a:srgbClr val="1F1F1F"/>
                          </a:solidFill>
                          <a:latin typeface="Calibri"/>
                        </a:rPr>
                        <a:t>rain variability</a:t>
                      </a:r>
                    </a:p>
                  </a:txBody>
                  <a:tcPr marL="54864" marR="54864" marT="27432" marB="27432" anchor="ctr">
                    <a:solidFill>
                      <a:srgbClr val="FFFFFF"/>
                    </a:solidFill>
                  </a:tcPr>
                </a:tc>
              </a:tr>
              <a:tr h="411480">
                <a:tc>
                  <a:txBody>
                    <a:bodyPr wrap="square"/>
                    <a:lstStyle/>
                    <a:p>
                      <a:pPr algn="l"/>
                      <a:r>
                        <a:rPr sz="1200" b="1" i="0">
                          <a:solidFill>
                            <a:srgbClr val="1F1F1F"/>
                          </a:solidFill>
                          <a:latin typeface="Calibri"/>
                        </a:rPr>
                        <a:t>Spark k-means climate regime 1</a:t>
                      </a:r>
                    </a:p>
                  </a:txBody>
                  <a:tcPr marL="54864" marR="54864" marT="27432" marB="27432" anchor="ctr">
                    <a:solidFill>
                      <a:srgbClr val="EEF2F8"/>
                    </a:solidFill>
                  </a:tcPr>
                </a:tc>
                <a:tc>
                  <a:txBody>
                    <a:bodyPr wrap="square"/>
                    <a:lstStyle/>
                    <a:p>
                      <a:pPr algn="ctr"/>
                      <a:r>
                        <a:rPr sz="1200" b="0" i="0">
                          <a:solidFill>
                            <a:srgbClr val="1F1F1F"/>
                          </a:solidFill>
                          <a:latin typeface="Calibri"/>
                        </a:rPr>
                        <a:t>374</a:t>
                      </a:r>
                    </a:p>
                  </a:txBody>
                  <a:tcPr marL="54864" marR="54864" marT="27432" marB="27432" anchor="ctr">
                    <a:solidFill>
                      <a:srgbClr val="EEF2F8"/>
                    </a:solidFill>
                  </a:tcPr>
                </a:tc>
                <a:tc>
                  <a:txBody>
                    <a:bodyPr wrap="square"/>
                    <a:lstStyle/>
                    <a:p>
                      <a:pPr algn="ctr"/>
                      <a:r>
                        <a:rPr sz="1200" b="0" i="0">
                          <a:solidFill>
                            <a:srgbClr val="1F1F1F"/>
                          </a:solidFill>
                          <a:latin typeface="Calibri"/>
                        </a:rPr>
                        <a:t>+0.05</a:t>
                      </a:r>
                    </a:p>
                  </a:txBody>
                  <a:tcPr marL="54864" marR="54864" marT="27432" marB="27432" anchor="ctr">
                    <a:solidFill>
                      <a:srgbClr val="EEF2F8"/>
                    </a:solidFill>
                  </a:tcPr>
                </a:tc>
                <a:tc>
                  <a:txBody>
                    <a:bodyPr wrap="square"/>
                    <a:lstStyle/>
                    <a:p>
                      <a:pPr algn="ctr"/>
                      <a:r>
                        <a:rPr sz="1200" b="0" i="0">
                          <a:solidFill>
                            <a:srgbClr val="1F1F1F"/>
                          </a:solidFill>
                          <a:latin typeface="Calibri"/>
                        </a:rPr>
                        <a:t>—</a:t>
                      </a:r>
                    </a:p>
                  </a:txBody>
                  <a:tcPr marL="54864" marR="54864" marT="27432" marB="27432" anchor="ctr">
                    <a:solidFill>
                      <a:srgbClr val="EEF2F8"/>
                    </a:solidFill>
                  </a:tcPr>
                </a:tc>
                <a:tc>
                  <a:txBody>
                    <a:bodyPr wrap="square"/>
                    <a:lstStyle/>
                    <a:p>
                      <a:pPr algn="ctr"/>
                      <a:r>
                        <a:rPr sz="1200" b="0" i="0">
                          <a:solidFill>
                            <a:srgbClr val="1F1F1F"/>
                          </a:solidFill>
                          <a:latin typeface="Calibri"/>
                        </a:rPr>
                        <a:t>heavy rain days</a:t>
                      </a:r>
                    </a:p>
                  </a:txBody>
                  <a:tcPr marL="54864" marR="54864" marT="27432" marB="27432" anchor="ctr">
                    <a:solidFill>
                      <a:srgbClr val="EEF2F8"/>
                    </a:solidFill>
                  </a:tcPr>
                </a:tc>
              </a:tr>
            </a:tbl>
          </a:graphicData>
        </a:graphic>
      </p:graphicFrame>
      <p:sp>
        <p:nvSpPr>
          <p:cNvPr id="5" name="TextBox 4"/>
          <p:cNvSpPr txBox="1"/>
          <p:nvPr/>
        </p:nvSpPr>
        <p:spPr>
          <a:xfrm>
            <a:off x="365760" y="4160520"/>
            <a:ext cx="8412480" cy="365760"/>
          </a:xfrm>
          <a:prstGeom prst="rect">
            <a:avLst/>
          </a:prstGeom>
          <a:noFill/>
        </p:spPr>
        <p:txBody>
          <a:bodyPr wrap="square" anchor="t" lIns="45720" rIns="45720">
            <a:spAutoFit/>
          </a:bodyPr>
          <a:lstStyle/>
          <a:p>
            <a:pPr algn="l"/>
            <a:r>
              <a:rPr sz="1200" b="0" i="0">
                <a:solidFill>
                  <a:srgbClr val="595959"/>
                </a:solidFill>
                <a:latin typeface="Calibri"/>
              </a:rPr>
              <a:t>Anomaly A vs expected developed: p = 1.56e-05;  Anomaly B vs expected less-developed: p = 4.45e-07;  mean MC Dropout SD of push = 0.54</a:t>
            </a:r>
          </a:p>
        </p:txBody>
      </p:sp>
      <p:sp>
        <p:nvSpPr>
          <p:cNvPr id="6" name="TextBox 5"/>
          <p:cNvSpPr txBox="1"/>
          <p:nvPr/>
        </p:nvSpPr>
        <p:spPr>
          <a:xfrm>
            <a:off x="3657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climate-driven districts (push)</a:t>
            </a:r>
          </a:p>
        </p:txBody>
      </p:sp>
      <p:sp>
        <p:nvSpPr>
          <p:cNvPr id="7" name="TextBox 6"/>
          <p:cNvSpPr txBox="1"/>
          <p:nvPr/>
        </p:nvSpPr>
        <p:spPr>
          <a:xfrm>
            <a:off x="4709160" y="4572000"/>
            <a:ext cx="4069080" cy="320040"/>
          </a:xfrm>
          <a:prstGeom prst="rect">
            <a:avLst/>
          </a:prstGeom>
          <a:noFill/>
        </p:spPr>
        <p:txBody>
          <a:bodyPr wrap="square" anchor="t" lIns="45720" rIns="45720">
            <a:spAutoFit/>
          </a:bodyPr>
          <a:lstStyle/>
          <a:p>
            <a:pPr algn="l"/>
            <a:r>
              <a:rPr sz="1400" b="1" i="0">
                <a:solidFill>
                  <a:srgbClr val="1B3A6B"/>
                </a:solidFill>
                <a:latin typeface="Calibri"/>
              </a:rPr>
              <a:t>Top 5 development-driven (climate share)</a:t>
            </a:r>
          </a:p>
        </p:txBody>
      </p:sp>
      <p:sp>
        <p:nvSpPr>
          <p:cNvPr id="8" name="TextBox 7"/>
          <p:cNvSpPr txBox="1"/>
          <p:nvPr/>
        </p:nvSpPr>
        <p:spPr>
          <a:xfrm>
            <a:off x="3657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Kishanganj (Bihar) +0.98</a:t>
            </a:r>
          </a:p>
          <a:p>
            <a:pPr>
              <a:spcAft>
                <a:spcPts val="0"/>
              </a:spcAft>
            </a:pPr>
            <a:r>
              <a:rPr sz="1200" b="0" i="0">
                <a:solidFill>
                  <a:srgbClr val="0E6E6E"/>
                </a:solidFill>
                <a:latin typeface="Calibri"/>
              </a:rPr>
              <a:t>▪  </a:t>
            </a:r>
            <a:r>
              <a:rPr sz="1200" b="0" i="0">
                <a:solidFill>
                  <a:srgbClr val="1F1F1F"/>
                </a:solidFill>
                <a:latin typeface="Calibri"/>
              </a:rPr>
              <a:t>Kodagu (Karnataka) +0.68</a:t>
            </a:r>
          </a:p>
          <a:p>
            <a:pPr>
              <a:spcAft>
                <a:spcPts val="0"/>
              </a:spcAft>
            </a:pPr>
            <a:r>
              <a:rPr sz="1200" b="0" i="0">
                <a:solidFill>
                  <a:srgbClr val="0E6E6E"/>
                </a:solidFill>
                <a:latin typeface="Calibri"/>
              </a:rPr>
              <a:t>▪  </a:t>
            </a:r>
            <a:r>
              <a:rPr sz="1200" b="0" i="0">
                <a:solidFill>
                  <a:srgbClr val="1F1F1F"/>
                </a:solidFill>
                <a:latin typeface="Calibri"/>
              </a:rPr>
              <a:t>Sahebganj (Jharkhand) +0.67</a:t>
            </a:r>
          </a:p>
          <a:p>
            <a:pPr>
              <a:spcAft>
                <a:spcPts val="0"/>
              </a:spcAft>
            </a:pPr>
            <a:r>
              <a:rPr sz="1200" b="0" i="0">
                <a:solidFill>
                  <a:srgbClr val="0E6E6E"/>
                </a:solidFill>
                <a:latin typeface="Calibri"/>
              </a:rPr>
              <a:t>▪  </a:t>
            </a:r>
            <a:r>
              <a:rPr sz="1200" b="0" i="0">
                <a:solidFill>
                  <a:srgbClr val="1F1F1F"/>
                </a:solidFill>
                <a:latin typeface="Calibri"/>
              </a:rPr>
              <a:t>Medinipur East (West Bengal) +0.65</a:t>
            </a:r>
          </a:p>
          <a:p>
            <a:pPr>
              <a:spcAft>
                <a:spcPts val="0"/>
              </a:spcAft>
            </a:pPr>
            <a:r>
              <a:rPr sz="1200" b="0" i="0">
                <a:solidFill>
                  <a:srgbClr val="0E6E6E"/>
                </a:solidFill>
                <a:latin typeface="Calibri"/>
              </a:rPr>
              <a:t>▪  </a:t>
            </a:r>
            <a:r>
              <a:rPr sz="1200" b="0" i="0">
                <a:solidFill>
                  <a:srgbClr val="1F1F1F"/>
                </a:solidFill>
                <a:latin typeface="Calibri"/>
              </a:rPr>
              <a:t>Purnia (Bihar) +0.57</a:t>
            </a:r>
          </a:p>
        </p:txBody>
      </p:sp>
      <p:sp>
        <p:nvSpPr>
          <p:cNvPr id="9" name="TextBox 8"/>
          <p:cNvSpPr txBox="1"/>
          <p:nvPr/>
        </p:nvSpPr>
        <p:spPr>
          <a:xfrm>
            <a:off x="4709160" y="4937760"/>
            <a:ext cx="4206240" cy="1463040"/>
          </a:xfrm>
          <a:prstGeom prst="rect">
            <a:avLst/>
          </a:prstGeom>
          <a:noFill/>
        </p:spPr>
        <p:txBody>
          <a:bodyPr wrap="square" lIns="45720" rIns="45720">
            <a:spAutoFit/>
          </a:bodyPr>
          <a:lstStyle/>
          <a:p>
            <a:pPr>
              <a:spcAft>
                <a:spcPts val="0"/>
              </a:spcAft>
            </a:pPr>
            <a:r>
              <a:rPr sz="1200" b="0" i="0">
                <a:solidFill>
                  <a:srgbClr val="0E6E6E"/>
                </a:solidFill>
                <a:latin typeface="Calibri"/>
              </a:rPr>
              <a:t>▪  </a:t>
            </a:r>
            <a:r>
              <a:rPr sz="1200" b="0" i="0">
                <a:solidFill>
                  <a:srgbClr val="1F1F1F"/>
                </a:solidFill>
                <a:latin typeface="Calibri"/>
              </a:rPr>
              <a:t>Ariyalur (Tamil Nadu) 0%</a:t>
            </a:r>
          </a:p>
          <a:p>
            <a:pPr>
              <a:spcAft>
                <a:spcPts val="0"/>
              </a:spcAft>
            </a:pPr>
            <a:r>
              <a:rPr sz="1200" b="0" i="0">
                <a:solidFill>
                  <a:srgbClr val="0E6E6E"/>
                </a:solidFill>
                <a:latin typeface="Calibri"/>
              </a:rPr>
              <a:t>▪  </a:t>
            </a:r>
            <a:r>
              <a:rPr sz="1200" b="0" i="0">
                <a:solidFill>
                  <a:srgbClr val="1F1F1F"/>
                </a:solidFill>
                <a:latin typeface="Calibri"/>
              </a:rPr>
              <a:t>Davangere (Karnataka) 0%</a:t>
            </a:r>
          </a:p>
          <a:p>
            <a:pPr>
              <a:spcAft>
                <a:spcPts val="0"/>
              </a:spcAft>
            </a:pPr>
            <a:r>
              <a:rPr sz="1200" b="0" i="0">
                <a:solidFill>
                  <a:srgbClr val="0E6E6E"/>
                </a:solidFill>
                <a:latin typeface="Calibri"/>
              </a:rPr>
              <a:t>▪  </a:t>
            </a:r>
            <a:r>
              <a:rPr sz="1200" b="0" i="0">
                <a:solidFill>
                  <a:srgbClr val="1F1F1F"/>
                </a:solidFill>
                <a:latin typeface="Calibri"/>
              </a:rPr>
              <a:t>Ahmadabad (Gujarat) 1%</a:t>
            </a:r>
          </a:p>
          <a:p>
            <a:pPr>
              <a:spcAft>
                <a:spcPts val="0"/>
              </a:spcAft>
            </a:pPr>
            <a:r>
              <a:rPr sz="1200" b="0" i="0">
                <a:solidFill>
                  <a:srgbClr val="0E6E6E"/>
                </a:solidFill>
                <a:latin typeface="Calibri"/>
              </a:rPr>
              <a:t>▪  </a:t>
            </a:r>
            <a:r>
              <a:rPr sz="1200" b="0" i="0">
                <a:solidFill>
                  <a:srgbClr val="1F1F1F"/>
                </a:solidFill>
                <a:latin typeface="Calibri"/>
              </a:rPr>
              <a:t>Thiruvallur (Tamil Nadu) 1%</a:t>
            </a:r>
          </a:p>
          <a:p>
            <a:pPr>
              <a:spcAft>
                <a:spcPts val="0"/>
              </a:spcAft>
            </a:pPr>
            <a:r>
              <a:rPr sz="1200" b="0" i="0">
                <a:solidFill>
                  <a:srgbClr val="0E6E6E"/>
                </a:solidFill>
                <a:latin typeface="Calibri"/>
              </a:rPr>
              <a:t>▪  </a:t>
            </a:r>
            <a:r>
              <a:rPr sz="1200" b="0" i="0">
                <a:solidFill>
                  <a:srgbClr val="1F1F1F"/>
                </a:solidFill>
                <a:latin typeface="Calibri"/>
              </a:rPr>
              <a:t>Panchkula (Haryana) 1%</a:t>
            </a:r>
          </a:p>
        </p:txBody>
      </p:sp>
      <p:sp>
        <p:nvSpPr>
          <p:cNvPr id="10" name="TextBox 9"/>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Before vs After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quality_before_after.png"/>
          <p:cNvPicPr>
            <a:picLocks noChangeAspect="1"/>
          </p:cNvPicPr>
          <p:nvPr/>
        </p:nvPicPr>
        <p:blipFill>
          <a:blip r:embed="rId4"/>
          <a:stretch>
            <a:fillRect/>
          </a:stretch>
        </p:blipFill>
        <p:spPr>
          <a:xfrm>
            <a:off x="2263940" y="1188720"/>
            <a:ext cx="4616119" cy="2423160"/>
          </a:xfrm>
          <a:prstGeom prst="rect">
            <a:avLst/>
          </a:prstGeom>
        </p:spPr>
      </p:pic>
      <p:pic>
        <p:nvPicPr>
          <p:cNvPr id="5" name="Picture 4" descr="prep_feature_scaling.png"/>
          <p:cNvPicPr>
            <a:picLocks noChangeAspect="1"/>
          </p:cNvPicPr>
          <p:nvPr/>
        </p:nvPicPr>
        <p:blipFill>
          <a:blip r:embed="rId5"/>
          <a:stretch>
            <a:fillRect/>
          </a:stretch>
        </p:blipFill>
        <p:spPr>
          <a:xfrm>
            <a:off x="1633772" y="3703320"/>
            <a:ext cx="5876455"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Data-quality problems before vs after.  Bottom: Feature scales before (raw) vs after (standardised).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Preprocessing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retention.png"/>
          <p:cNvPicPr>
            <a:picLocks noChangeAspect="1"/>
          </p:cNvPicPr>
          <p:nvPr/>
        </p:nvPicPr>
        <p:blipFill>
          <a:blip r:embed="rId4"/>
          <a:stretch>
            <a:fillRect/>
          </a:stretch>
        </p:blipFill>
        <p:spPr>
          <a:xfrm>
            <a:off x="1890962" y="1188720"/>
            <a:ext cx="5362075" cy="2423160"/>
          </a:xfrm>
          <a:prstGeom prst="rect">
            <a:avLst/>
          </a:prstGeom>
        </p:spPr>
      </p:pic>
      <p:pic>
        <p:nvPicPr>
          <p:cNvPr id="5" name="Picture 4" descr="prep_feature_signal.png"/>
          <p:cNvPicPr>
            <a:picLocks noChangeAspect="1"/>
          </p:cNvPicPr>
          <p:nvPr/>
        </p:nvPicPr>
        <p:blipFill>
          <a:blip r:embed="rId5"/>
          <a:stretch>
            <a:fillRect/>
          </a:stretch>
        </p:blipFill>
        <p:spPr>
          <a:xfrm>
            <a:off x="2276065" y="3703320"/>
            <a:ext cx="4591868"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District retention 640 → 469.  Bottom: Single-feature ROC-AUC (blue development, orange hazard).</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Sehjodh Grewal</a:t>
            </a:r>
          </a:p>
        </p:txBody>
      </p:sp>
    </p:spTree>
  </p:cSld>
  <p:clrMapOvr>
    <a:masterClrMapping/>
  </p:clrMapOvr>
</p:sld>
</file>

<file path=ppt/slides/slide2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HDFS Storage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hdfs_storage.png"/>
          <p:cNvPicPr>
            <a:picLocks noChangeAspect="1"/>
          </p:cNvPicPr>
          <p:nvPr/>
        </p:nvPicPr>
        <p:blipFill>
          <a:blip r:embed="rId4"/>
          <a:stretch>
            <a:fillRect/>
          </a:stretch>
        </p:blipFill>
        <p:spPr>
          <a:xfrm>
            <a:off x="365760" y="1810318"/>
            <a:ext cx="8412480" cy="3420242"/>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HDFS storage by zone (Colab run 2026-10-22)</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MapReduce &amp; Spark Results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mapreduce_scalability.png"/>
          <p:cNvPicPr>
            <a:picLocks noChangeAspect="1"/>
          </p:cNvPicPr>
          <p:nvPr/>
        </p:nvPicPr>
        <p:blipFill>
          <a:blip r:embed="rId4"/>
          <a:stretch>
            <a:fillRect/>
          </a:stretch>
        </p:blipFill>
        <p:spPr>
          <a:xfrm>
            <a:off x="365760" y="2292396"/>
            <a:ext cx="4114800" cy="2456087"/>
          </a:xfrm>
          <a:prstGeom prst="rect">
            <a:avLst/>
          </a:prstGeom>
        </p:spPr>
      </p:pic>
      <p:pic>
        <p:nvPicPr>
          <p:cNvPr id="5" name="Picture 4" descr="kmeans_silhouette.png"/>
          <p:cNvPicPr>
            <a:picLocks noChangeAspect="1"/>
          </p:cNvPicPr>
          <p:nvPr/>
        </p:nvPicPr>
        <p:blipFill>
          <a:blip r:embed="rId5"/>
          <a:stretch>
            <a:fillRect/>
          </a:stretch>
        </p:blipFill>
        <p:spPr>
          <a:xfrm>
            <a:off x="4663440" y="2141331"/>
            <a:ext cx="4114800" cy="2758217"/>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MapReduce scaling, single node (Colab run 2026-10-22)</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Spark k-means: silhouette by k</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Deepankar</a:t>
            </a:r>
          </a:p>
        </p:txBody>
      </p:sp>
    </p:spTree>
  </p:cSld>
  <p:clrMapOvr>
    <a:masterClrMapping/>
  </p:clrMapOvr>
</p:sld>
</file>

<file path=ppt/slides/slide2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B-ACPN Training &amp; Attention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bacpn_training_curve.png"/>
          <p:cNvPicPr>
            <a:picLocks noChangeAspect="1"/>
          </p:cNvPicPr>
          <p:nvPr/>
        </p:nvPicPr>
        <p:blipFill>
          <a:blip r:embed="rId4"/>
          <a:stretch>
            <a:fillRect/>
          </a:stretch>
        </p:blipFill>
        <p:spPr>
          <a:xfrm>
            <a:off x="365760" y="2127166"/>
            <a:ext cx="4114800" cy="2786546"/>
          </a:xfrm>
          <a:prstGeom prst="rect">
            <a:avLst/>
          </a:prstGeom>
        </p:spPr>
      </p:pic>
      <p:pic>
        <p:nvPicPr>
          <p:cNvPr id="5" name="Picture 4" descr="attention_importance.png"/>
          <p:cNvPicPr>
            <a:picLocks noChangeAspect="1"/>
          </p:cNvPicPr>
          <p:nvPr/>
        </p:nvPicPr>
        <p:blipFill>
          <a:blip r:embed="rId5"/>
          <a:stretch>
            <a:fillRect/>
          </a:stretch>
        </p:blipFill>
        <p:spPr>
          <a:xfrm>
            <a:off x="4663440" y="2359070"/>
            <a:ext cx="4114800" cy="2322739"/>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B-ACPN deep stage: training curve (early stopping)</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Feature attention (mean weight)</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Ablation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ablation.png"/>
          <p:cNvPicPr>
            <a:picLocks noChangeAspect="1"/>
          </p:cNvPicPr>
          <p:nvPr/>
        </p:nvPicPr>
        <p:blipFill>
          <a:blip r:embed="rId4"/>
          <a:stretch>
            <a:fillRect/>
          </a:stretch>
        </p:blipFill>
        <p:spPr>
          <a:xfrm>
            <a:off x="365760" y="1666490"/>
            <a:ext cx="8412480" cy="3707898"/>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Ablation: one B-ACPN component removed at a time</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Climate-Push Visualisation</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limate_push_by_quadrant.png"/>
          <p:cNvPicPr>
            <a:picLocks noChangeAspect="1"/>
          </p:cNvPicPr>
          <p:nvPr/>
        </p:nvPicPr>
        <p:blipFill>
          <a:blip r:embed="rId4"/>
          <a:stretch>
            <a:fillRect/>
          </a:stretch>
        </p:blipFill>
        <p:spPr>
          <a:xfrm>
            <a:off x="365760" y="2225613"/>
            <a:ext cx="4114800" cy="2589653"/>
          </a:xfrm>
          <a:prstGeom prst="rect">
            <a:avLst/>
          </a:prstGeom>
        </p:spPr>
      </p:pic>
      <p:pic>
        <p:nvPicPr>
          <p:cNvPr id="5" name="Picture 4" descr="climate_push_map.png"/>
          <p:cNvPicPr>
            <a:picLocks noChangeAspect="1"/>
          </p:cNvPicPr>
          <p:nvPr/>
        </p:nvPicPr>
        <p:blipFill>
          <a:blip r:embed="rId5"/>
          <a:stretch>
            <a:fillRect/>
          </a:stretch>
        </p:blipFill>
        <p:spPr>
          <a:xfrm>
            <a:off x="4663440" y="1724224"/>
            <a:ext cx="4114800" cy="3592431"/>
          </a:xfrm>
          <a:prstGeom prst="rect">
            <a:avLst/>
          </a:prstGeom>
        </p:spPr>
      </p:pic>
      <p:sp>
        <p:nvSpPr>
          <p:cNvPr id="6" name="TextBox 5"/>
          <p:cNvSpPr txBox="1"/>
          <p:nvPr/>
        </p:nvSpPr>
        <p:spPr>
          <a:xfrm>
            <a:off x="36576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by group (bar = mean)</a:t>
            </a:r>
          </a:p>
        </p:txBody>
      </p:sp>
      <p:sp>
        <p:nvSpPr>
          <p:cNvPr id="7" name="TextBox 6"/>
          <p:cNvSpPr txBox="1"/>
          <p:nvPr/>
        </p:nvSpPr>
        <p:spPr>
          <a:xfrm>
            <a:off x="4663440" y="5897880"/>
            <a:ext cx="4114800" cy="457200"/>
          </a:xfrm>
          <a:prstGeom prst="rect">
            <a:avLst/>
          </a:prstGeom>
          <a:noFill/>
        </p:spPr>
        <p:txBody>
          <a:bodyPr wrap="square" anchor="t" lIns="45720" rIns="45720">
            <a:spAutoFit/>
          </a:bodyPr>
          <a:lstStyle/>
          <a:p>
            <a:pPr algn="ctr"/>
            <a:r>
              <a:rPr sz="1200" b="0" i="0">
                <a:solidFill>
                  <a:srgbClr val="595959"/>
                </a:solidFill>
                <a:latin typeface="Calibri"/>
              </a:rPr>
              <a:t>Climate push per district (469)</a:t>
            </a:r>
          </a:p>
        </p:txBody>
      </p:sp>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Devanshu Kumar</a:t>
            </a:r>
          </a:p>
        </p:txBody>
      </p:sp>
    </p:spTree>
  </p:cSld>
  <p:clrMapOvr>
    <a:masterClrMapping/>
  </p:clrMapOvr>
</p:sld>
</file>

<file path=ppt/slides/slide2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Results of Classification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roc_curves.png"/>
          <p:cNvPicPr>
            <a:picLocks noChangeAspect="1"/>
          </p:cNvPicPr>
          <p:nvPr/>
        </p:nvPicPr>
        <p:blipFill>
          <a:blip r:embed="rId4"/>
          <a:stretch>
            <a:fillRect/>
          </a:stretch>
        </p:blipFill>
        <p:spPr>
          <a:xfrm>
            <a:off x="2010175" y="1188720"/>
            <a:ext cx="5123648" cy="2423160"/>
          </a:xfrm>
          <a:prstGeom prst="rect">
            <a:avLst/>
          </a:prstGeom>
        </p:spPr>
      </p:pic>
      <p:pic>
        <p:nvPicPr>
          <p:cNvPr id="5" name="Picture 4" descr="comparison_bars.png"/>
          <p:cNvPicPr>
            <a:picLocks noChangeAspect="1"/>
          </p:cNvPicPr>
          <p:nvPr/>
        </p:nvPicPr>
        <p:blipFill>
          <a:blip r:embed="rId5"/>
          <a:stretch>
            <a:fillRect/>
          </a:stretch>
        </p:blipFill>
        <p:spPr>
          <a:xfrm>
            <a:off x="1955065" y="3703320"/>
            <a:ext cx="5233869"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ROC and precision-recall curves (25 folds).  Bottom: Comparison: mean ± SD over 25 folds.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600" b="1" i="0">
                <a:solidFill>
                  <a:srgbClr val="1B3A6B"/>
                </a:solidFill>
                <a:latin typeface="Times New Roman"/>
              </a:rPr>
              <a:t>Confusion Matrices &amp; Stability (Figures)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confusion_matrices.png"/>
          <p:cNvPicPr>
            <a:picLocks noChangeAspect="1"/>
          </p:cNvPicPr>
          <p:nvPr/>
        </p:nvPicPr>
        <p:blipFill>
          <a:blip r:embed="rId4"/>
          <a:stretch>
            <a:fillRect/>
          </a:stretch>
        </p:blipFill>
        <p:spPr>
          <a:xfrm>
            <a:off x="2609144" y="1188720"/>
            <a:ext cx="3925710" cy="2423160"/>
          </a:xfrm>
          <a:prstGeom prst="rect">
            <a:avLst/>
          </a:prstGeom>
        </p:spPr>
      </p:pic>
      <p:pic>
        <p:nvPicPr>
          <p:cNvPr id="5" name="Picture 4" descr="fold_boxplots.png"/>
          <p:cNvPicPr>
            <a:picLocks noChangeAspect="1"/>
          </p:cNvPicPr>
          <p:nvPr/>
        </p:nvPicPr>
        <p:blipFill>
          <a:blip r:embed="rId5"/>
          <a:stretch>
            <a:fillRect/>
          </a:stretch>
        </p:blipFill>
        <p:spPr>
          <a:xfrm>
            <a:off x="2287539" y="3703320"/>
            <a:ext cx="4568921" cy="2423160"/>
          </a:xfrm>
          <a:prstGeom prst="rect">
            <a:avLst/>
          </a:prstGeom>
        </p:spPr>
      </p:pic>
      <p:sp>
        <p:nvSpPr>
          <p:cNvPr id="6" name="TextBox 5"/>
          <p:cNvSpPr txBox="1"/>
          <p:nvPr/>
        </p:nvSpPr>
        <p:spPr>
          <a:xfrm>
            <a:off x="365760" y="6144768"/>
            <a:ext cx="8412480" cy="292608"/>
          </a:xfrm>
          <a:prstGeom prst="rect">
            <a:avLst/>
          </a:prstGeom>
          <a:noFill/>
        </p:spPr>
        <p:txBody>
          <a:bodyPr wrap="square" anchor="t" lIns="45720" rIns="45720">
            <a:spAutoFit/>
          </a:bodyPr>
          <a:lstStyle/>
          <a:p>
            <a:pPr algn="ctr"/>
            <a:r>
              <a:rPr sz="1200" b="0" i="0">
                <a:solidFill>
                  <a:srgbClr val="595959"/>
                </a:solidFill>
                <a:latin typeface="Calibri"/>
              </a:rPr>
              <a:t>Top: Confusion matrices, all models.  Bottom: ROC-AUC per fold, all models.</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Effect of Preprocessing (Figure)</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pic>
        <p:nvPicPr>
          <p:cNvPr id="4" name="Picture 3" descr="prep_model_gain.png"/>
          <p:cNvPicPr>
            <a:picLocks noChangeAspect="1"/>
          </p:cNvPicPr>
          <p:nvPr/>
        </p:nvPicPr>
        <p:blipFill>
          <a:blip r:embed="rId4"/>
          <a:stretch>
            <a:fillRect/>
          </a:stretch>
        </p:blipFill>
        <p:spPr>
          <a:xfrm>
            <a:off x="940100" y="1234440"/>
            <a:ext cx="7263798" cy="4572000"/>
          </a:xfrm>
          <a:prstGeom prst="rect">
            <a:avLst/>
          </a:prstGeom>
        </p:spPr>
      </p:pic>
      <p:sp>
        <p:nvSpPr>
          <p:cNvPr id="5" name="TextBox 4"/>
          <p:cNvSpPr txBox="1"/>
          <p:nvPr/>
        </p:nvSpPr>
        <p:spPr>
          <a:xfrm>
            <a:off x="365760" y="5897880"/>
            <a:ext cx="8412480" cy="457200"/>
          </a:xfrm>
          <a:prstGeom prst="rect">
            <a:avLst/>
          </a:prstGeom>
          <a:noFill/>
        </p:spPr>
        <p:txBody>
          <a:bodyPr wrap="square" anchor="t" lIns="45720" rIns="45720">
            <a:spAutoFit/>
          </a:bodyPr>
          <a:lstStyle/>
          <a:p>
            <a:pPr algn="ctr"/>
            <a:r>
              <a:rPr sz="1200" b="0" i="0">
                <a:solidFill>
                  <a:srgbClr val="595959"/>
                </a:solidFill>
                <a:latin typeface="Calibri"/>
              </a:rPr>
              <a:t>Accuracy, F1, ROC-AUC and RMSE before vs after preprocessing</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Key Findings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4572000" cy="5120640"/>
          </a:xfrm>
          <a:prstGeom prst="rect">
            <a:avLst/>
          </a:prstGeom>
          <a:noFill/>
        </p:spPr>
        <p:txBody>
          <a:bodyPr wrap="square" lIns="45720" rIns="45720">
            <a:spAutoFit/>
          </a:bodyPr>
          <a:lstStyle/>
          <a:p>
            <a:pPr>
              <a:spcAft>
                <a:spcPts val="1000"/>
              </a:spcAft>
            </a:pPr>
            <a:r>
              <a:rPr sz="1500" b="0" i="0">
                <a:solidFill>
                  <a:srgbClr val="0E6E6E"/>
                </a:solidFill>
                <a:latin typeface="Calibri"/>
              </a:rPr>
              <a:t>▪  </a:t>
            </a:r>
            <a:r>
              <a:rPr sz="1500" b="1" i="0">
                <a:solidFill>
                  <a:srgbClr val="1F1F1F"/>
                </a:solidFill>
                <a:latin typeface="Calibri"/>
              </a:rPr>
              <a:t>Development is not enough: </a:t>
            </a:r>
            <a:r>
              <a:rPr sz="1500" b="0" i="0">
                <a:solidFill>
                  <a:srgbClr val="1F1F1F"/>
                </a:solidFill>
                <a:latin typeface="Calibri"/>
              </a:rPr>
              <a:t>R² 0.127; Pearson -0.356</a:t>
            </a:r>
          </a:p>
          <a:p>
            <a:pPr>
              <a:spcAft>
                <a:spcPts val="1000"/>
              </a:spcAft>
            </a:pPr>
            <a:r>
              <a:rPr sz="1500" b="0" i="0">
                <a:solidFill>
                  <a:srgbClr val="0E6E6E"/>
                </a:solidFill>
                <a:latin typeface="Calibri"/>
              </a:rPr>
              <a:t>▪  </a:t>
            </a:r>
            <a:r>
              <a:rPr sz="1500" b="1" i="0">
                <a:solidFill>
                  <a:srgbClr val="1F1F1F"/>
                </a:solidFill>
                <a:latin typeface="Calibri"/>
              </a:rPr>
              <a:t>Climate adds signal: </a:t>
            </a:r>
            <a:r>
              <a:rPr sz="1500" b="0" i="0">
                <a:solidFill>
                  <a:srgbClr val="1F1F1F"/>
                </a:solidFill>
                <a:latin typeface="Calibri"/>
              </a:rPr>
              <a:t>R² rises to 0.334 with the 8 hazard variables</a:t>
            </a:r>
          </a:p>
          <a:p>
            <a:pPr>
              <a:spcAft>
                <a:spcPts val="1000"/>
              </a:spcAft>
            </a:pPr>
            <a:r>
              <a:rPr sz="1500" b="0" i="0">
                <a:solidFill>
                  <a:srgbClr val="0E6E6E"/>
                </a:solidFill>
                <a:latin typeface="Calibri"/>
              </a:rPr>
              <a:t>▪  </a:t>
            </a:r>
            <a:r>
              <a:rPr sz="1500" b="1" i="0">
                <a:solidFill>
                  <a:srgbClr val="1F1F1F"/>
                </a:solidFill>
                <a:latin typeface="Calibri"/>
              </a:rPr>
              <a:t>Anomalies are common: </a:t>
            </a:r>
            <a:r>
              <a:rPr sz="1500" b="0" i="0">
                <a:solidFill>
                  <a:srgbClr val="1F1F1F"/>
                </a:solidFill>
                <a:latin typeface="Calibri"/>
              </a:rPr>
              <a:t>181/469 districts (38.6%)</a:t>
            </a:r>
          </a:p>
          <a:p>
            <a:pPr>
              <a:spcAft>
                <a:spcPts val="1000"/>
              </a:spcAft>
            </a:pPr>
            <a:r>
              <a:rPr sz="1500" b="0" i="0">
                <a:solidFill>
                  <a:srgbClr val="0E6E6E"/>
                </a:solidFill>
                <a:latin typeface="Calibri"/>
              </a:rPr>
              <a:t>▪  </a:t>
            </a:r>
            <a:r>
              <a:rPr sz="1500" b="1" i="0">
                <a:solidFill>
                  <a:srgbClr val="1F1F1F"/>
                </a:solidFill>
                <a:latin typeface="Calibri"/>
              </a:rPr>
              <a:t>Anomaly A: </a:t>
            </a:r>
            <a:r>
              <a:rPr sz="1500" b="0" i="0">
                <a:solidFill>
                  <a:srgbClr val="1F1F1F"/>
                </a:solidFill>
                <a:latin typeface="Calibri"/>
              </a:rPr>
              <a:t>≈2× tropical nights (91 vs 45 per year)</a:t>
            </a:r>
          </a:p>
          <a:p>
            <a:pPr>
              <a:spcAft>
                <a:spcPts val="1000"/>
              </a:spcAft>
            </a:pPr>
            <a:r>
              <a:rPr sz="1500" b="0" i="0">
                <a:solidFill>
                  <a:srgbClr val="0E6E6E"/>
                </a:solidFill>
                <a:latin typeface="Calibri"/>
              </a:rPr>
              <a:t>▪  </a:t>
            </a:r>
            <a:r>
              <a:rPr sz="1500" b="1" i="0">
                <a:solidFill>
                  <a:srgbClr val="1F1F1F"/>
                </a:solidFill>
                <a:latin typeface="Calibri"/>
              </a:rPr>
              <a:t>Anomaly B: </a:t>
            </a:r>
            <a:r>
              <a:rPr sz="1500" b="0" i="0">
                <a:solidFill>
                  <a:srgbClr val="1F1F1F"/>
                </a:solidFill>
                <a:latin typeface="Calibri"/>
              </a:rPr>
              <a:t>drier (863 vs 1078 mm annual rain)</a:t>
            </a:r>
          </a:p>
          <a:p>
            <a:pPr>
              <a:spcAft>
                <a:spcPts val="1000"/>
              </a:spcAft>
            </a:pPr>
            <a:r>
              <a:rPr sz="1500" b="0" i="0">
                <a:solidFill>
                  <a:srgbClr val="0E6E6E"/>
                </a:solidFill>
                <a:latin typeface="Calibri"/>
              </a:rPr>
              <a:t>▪  </a:t>
            </a:r>
            <a:r>
              <a:rPr sz="1500" b="1" i="0">
                <a:solidFill>
                  <a:srgbClr val="1F1F1F"/>
                </a:solidFill>
                <a:latin typeface="Calibri"/>
              </a:rPr>
              <a:t>Limitations: </a:t>
            </a:r>
            <a:r>
              <a:rPr sz="1500" b="0" i="0">
                <a:solidFill>
                  <a:srgbClr val="1F1F1F"/>
                </a:solidFill>
                <a:latin typeface="Calibri"/>
              </a:rPr>
              <a:t>2011 Census vs 2021 index; 1° temperature grid; single-node Hadoop; 469 districts</a:t>
            </a:r>
          </a:p>
        </p:txBody>
      </p:sp>
      <p:graphicFrame>
        <p:nvGraphicFramePr>
          <p:cNvPr id="5" name="Chart 4"/>
          <p:cNvGraphicFramePr>
            <a:graphicFrameLocks noGrp="1"/>
          </p:cNvGraphicFramePr>
          <p:nvPr/>
        </p:nvGraphicFramePr>
        <p:xfrm>
          <a:off x="5120640" y="1280160"/>
          <a:ext cx="3657600" cy="4206240"/>
        </p:xfrm>
        <a:graphic>
          <a:graphicData uri="http://schemas.openxmlformats.org/drawingml/2006/chart">
            <c:chart xmlns:c="http://schemas.openxmlformats.org/drawingml/2006/chart" r:id="rId4"/>
          </a:graphicData>
        </a:graphic>
      </p:graphicFrame>
      <p:sp>
        <p:nvSpPr>
          <p:cNvPr id="6" name="TextBox 5"/>
          <p:cNvSpPr txBox="1"/>
          <p:nvPr/>
        </p:nvSpPr>
        <p:spPr>
          <a:xfrm>
            <a:off x="5120640" y="5577840"/>
            <a:ext cx="3657600" cy="457200"/>
          </a:xfrm>
          <a:prstGeom prst="rect">
            <a:avLst/>
          </a:prstGeom>
          <a:noFill/>
        </p:spPr>
        <p:txBody>
          <a:bodyPr wrap="square" anchor="t" lIns="45720" rIns="45720">
            <a:spAutoFit/>
          </a:bodyPr>
          <a:lstStyle/>
          <a:p>
            <a:pPr algn="ctr"/>
            <a:r>
              <a:rPr sz="1100" b="0" i="0">
                <a:solidFill>
                  <a:srgbClr val="595959"/>
                </a:solidFill>
                <a:latin typeface="Calibri"/>
              </a:rPr>
              <a:t>Source: Colab run 2026-10-22</a:t>
            </a:r>
          </a:p>
        </p:txBody>
      </p:sp>
      <p:sp>
        <p:nvSpPr>
          <p:cNvPr id="7" name="TextBox 6"/>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Plan of Action / Member Tasks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graphicFrame>
        <p:nvGraphicFramePr>
          <p:cNvPr id="4" name="Table 3"/>
          <p:cNvGraphicFramePr>
            <a:graphicFrameLocks noGrp="1"/>
          </p:cNvGraphicFramePr>
          <p:nvPr/>
        </p:nvGraphicFramePr>
        <p:xfrm>
          <a:off x="365760" y="1143000"/>
          <a:ext cx="8412478" cy="4114800"/>
        </p:xfrm>
        <a:graphic>
          <a:graphicData uri="http://schemas.openxmlformats.org/drawingml/2006/table">
            <a:tbl>
              <a:tblPr firstRow="1" bandRow="1">
                <a:tableStyleId>{5C22544A-7EE6-4342-B048-85BDC9FD1C3A}</a:tableStyleId>
              </a:tblPr>
              <a:tblGrid>
                <a:gridCol w="1431911"/>
                <a:gridCol w="1610900"/>
                <a:gridCol w="3937756"/>
                <a:gridCol w="1431911"/>
              </a:tblGrid>
              <a:tr h="822960">
                <a:tc>
                  <a:txBody>
                    <a:bodyPr wrap="square"/>
                    <a:lstStyle/>
                    <a:p>
                      <a:pPr algn="l"/>
                      <a:r>
                        <a:rPr sz="1100" b="1" i="0">
                          <a:solidFill>
                            <a:srgbClr val="FFFFFF"/>
                          </a:solidFill>
                          <a:latin typeface="Calibri"/>
                        </a:rPr>
                        <a:t>Member</a:t>
                      </a:r>
                    </a:p>
                  </a:txBody>
                  <a:tcPr marL="54864" marR="54864" marT="27432" marB="27432" anchor="ctr">
                    <a:solidFill>
                      <a:srgbClr val="1B3A6B"/>
                    </a:solidFill>
                  </a:tcPr>
                </a:tc>
                <a:tc>
                  <a:txBody>
                    <a:bodyPr wrap="square"/>
                    <a:lstStyle/>
                    <a:p>
                      <a:pPr algn="ctr"/>
                      <a:r>
                        <a:rPr sz="1100" b="1" i="0">
                          <a:solidFill>
                            <a:srgbClr val="FFFFFF"/>
                          </a:solidFill>
                          <a:latin typeface="Calibri"/>
                        </a:rPr>
                        <a:t>Role</a:t>
                      </a:r>
                    </a:p>
                  </a:txBody>
                  <a:tcPr marL="54864" marR="54864" marT="27432" marB="27432" anchor="ctr">
                    <a:solidFill>
                      <a:srgbClr val="1B3A6B"/>
                    </a:solidFill>
                  </a:tcPr>
                </a:tc>
                <a:tc>
                  <a:txBody>
                    <a:bodyPr wrap="square"/>
                    <a:lstStyle/>
                    <a:p>
                      <a:pPr algn="ctr"/>
                      <a:r>
                        <a:rPr sz="1100" b="1" i="0">
                          <a:solidFill>
                            <a:srgbClr val="FFFFFF"/>
                          </a:solidFill>
                          <a:latin typeface="Calibri"/>
                        </a:rPr>
                        <a:t>Key Responsibilities</a:t>
                      </a:r>
                    </a:p>
                  </a:txBody>
                  <a:tcPr marL="54864" marR="54864" marT="27432" marB="27432" anchor="ctr">
                    <a:solidFill>
                      <a:srgbClr val="1B3A6B"/>
                    </a:solidFill>
                  </a:tcPr>
                </a:tc>
                <a:tc>
                  <a:txBody>
                    <a:bodyPr wrap="square"/>
                    <a:lstStyle/>
                    <a:p>
                      <a:pPr algn="ctr"/>
                      <a:r>
                        <a:rPr sz="1100" b="1" i="0">
                          <a:solidFill>
                            <a:srgbClr val="FFFFFF"/>
                          </a:solidFill>
                          <a:latin typeface="Calibri"/>
                        </a:rPr>
                        <a:t>Status</a:t>
                      </a:r>
                    </a:p>
                  </a:txBody>
                  <a:tcPr marL="54864" marR="54864" marT="27432" marB="27432" anchor="ctr">
                    <a:solidFill>
                      <a:srgbClr val="1B3A6B"/>
                    </a:solidFill>
                  </a:tcPr>
                </a:tc>
              </a:tr>
              <a:tr h="822960">
                <a:tc>
                  <a:txBody>
                    <a:bodyPr wrap="square"/>
                    <a:lstStyle/>
                    <a:p>
                      <a:pPr algn="l"/>
                      <a:r>
                        <a:rPr sz="1100" b="1" i="0">
                          <a:solidFill>
                            <a:srgbClr val="1F1F1F"/>
                          </a:solidFill>
                          <a:latin typeface="Calibri"/>
                        </a:rPr>
                        <a:t>Sehjodh Grewal</a:t>
                      </a:r>
                    </a:p>
                  </a:txBody>
                  <a:tcPr marL="54864" marR="54864" marT="27432" marB="27432" anchor="ctr">
                    <a:solidFill>
                      <a:srgbClr val="FFFFFF"/>
                    </a:solidFill>
                  </a:tcPr>
                </a:tc>
                <a:tc>
                  <a:txBody>
                    <a:bodyPr wrap="square"/>
                    <a:lstStyle/>
                    <a:p>
                      <a:pPr algn="ctr"/>
                      <a:r>
                        <a:rPr sz="1100" b="0" i="0">
                          <a:solidFill>
                            <a:srgbClr val="1F1F1F"/>
                          </a:solidFill>
                          <a:latin typeface="Calibri"/>
                        </a:rPr>
                        <a:t>Dataset &amp; Preprocessing</a:t>
                      </a:r>
                    </a:p>
                  </a:txBody>
                  <a:tcPr marL="54864" marR="54864" marT="27432" marB="27432" anchor="ctr">
                    <a:solidFill>
                      <a:srgbClr val="FFFFFF"/>
                    </a:solidFill>
                  </a:tcPr>
                </a:tc>
                <a:tc>
                  <a:txBody>
                    <a:bodyPr wrap="square"/>
                    <a:lstStyle/>
                    <a:p>
                      <a:pPr algn="ctr"/>
                      <a:r>
                        <a:rPr sz="1100" b="0" i="0">
                          <a:solidFill>
                            <a:srgbClr val="1F1F1F"/>
                          </a:solidFill>
                          <a:latin typeface="Calibri"/>
                        </a:rPr>
                        <a:t>Collect NDAP, Census 2011, IMD and boundary data; Census rates; district matching; variable selection (no imputation); grid-to-district aggregation; district-day table; orientation check; preprocessing results and error metrics (Table 1)</a:t>
                      </a:r>
                    </a:p>
                  </a:txBody>
                  <a:tcPr marL="54864" marR="54864" marT="27432" marB="27432" anchor="ctr">
                    <a:solidFill>
                      <a:srgbClr val="FFFFFF"/>
                    </a:solidFill>
                  </a:tcPr>
                </a:tc>
                <a:tc>
                  <a:txBody>
                    <a:bodyPr wrap="square"/>
                    <a:lstStyle/>
                    <a:p>
                      <a:pPr algn="ctr"/>
                      <a:r>
                        <a:rPr sz="1100" b="0" i="0">
                          <a:solidFill>
                            <a:srgbClr val="1F1F1F"/>
                          </a:solidFill>
                          <a:latin typeface="Calibri"/>
                        </a:rPr>
                        <a:t>Completed</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Deepankar</a:t>
                      </a:r>
                    </a:p>
                  </a:txBody>
                  <a:tcPr marL="54864" marR="54864" marT="27432" marB="27432" anchor="ctr">
                    <a:solidFill>
                      <a:srgbClr val="EEF2F8"/>
                    </a:solidFill>
                  </a:tcPr>
                </a:tc>
                <a:tc>
                  <a:txBody>
                    <a:bodyPr wrap="square"/>
                    <a:lstStyle/>
                    <a:p>
                      <a:pPr algn="ctr"/>
                      <a:r>
                        <a:rPr sz="1100" b="0" i="0">
                          <a:solidFill>
                            <a:srgbClr val="1F1F1F"/>
                          </a:solidFill>
                          <a:latin typeface="Calibri"/>
                        </a:rPr>
                        <a:t>Big Data Pipeline</a:t>
                      </a:r>
                    </a:p>
                  </a:txBody>
                  <a:tcPr marL="54864" marR="54864" marT="27432" marB="27432" anchor="ctr">
                    <a:solidFill>
                      <a:srgbClr val="EEF2F8"/>
                    </a:solidFill>
                  </a:tcPr>
                </a:tc>
                <a:tc>
                  <a:txBody>
                    <a:bodyPr wrap="square"/>
                    <a:lstStyle/>
                    <a:p>
                      <a:pPr algn="ctr"/>
                      <a:r>
                        <a:rPr sz="1100" b="0" i="0">
                          <a:solidFill>
                            <a:srgbClr val="1F1F1F"/>
                          </a:solidFill>
                          <a:latin typeface="Calibri"/>
                        </a:rPr>
                        <a:t>Set up Hadoop (HDFS + YARN), Hive and Spark in Colab; HDFS zones and data loading; storage report (Table 2); MapReduce yearly climate indices and scalability; Hive 30-year baseline and join; Spark k-means climate regimes (Table 3)</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(full 1901–2024 rainfall in HDFS for Review 3)</a:t>
                      </a:r>
                    </a:p>
                  </a:txBody>
                  <a:tcPr marL="54864" marR="54864" marT="27432" marB="27432" anchor="ctr">
                    <a:solidFill>
                      <a:srgbClr val="EEF2F8"/>
                    </a:solidFill>
                  </a:tcPr>
                </a:tc>
              </a:tr>
              <a:tr h="822960">
                <a:tc>
                  <a:txBody>
                    <a:bodyPr wrap="square"/>
                    <a:lstStyle/>
                    <a:p>
                      <a:pPr algn="l"/>
                      <a:r>
                        <a:rPr sz="1100" b="1" i="0">
                          <a:solidFill>
                            <a:srgbClr val="1F1F1F"/>
                          </a:solidFill>
                          <a:latin typeface="Calibri"/>
                        </a:rPr>
                        <a:t>Devanshu Kumar</a:t>
                      </a:r>
                    </a:p>
                  </a:txBody>
                  <a:tcPr marL="54864" marR="54864" marT="27432" marB="27432" anchor="ctr">
                    <a:solidFill>
                      <a:srgbClr val="FFFFFF"/>
                    </a:solidFill>
                  </a:tcPr>
                </a:tc>
                <a:tc>
                  <a:txBody>
                    <a:bodyPr wrap="square"/>
                    <a:lstStyle/>
                    <a:p>
                      <a:pPr algn="ctr"/>
                      <a:r>
                        <a:rPr sz="1100" b="0" i="0">
                          <a:solidFill>
                            <a:srgbClr val="1F1F1F"/>
                          </a:solidFill>
                          <a:latin typeface="Calibri"/>
                        </a:rPr>
                        <a:t>Novel Deep Learning Model</a:t>
                      </a:r>
                    </a:p>
                  </a:txBody>
                  <a:tcPr marL="54864" marR="54864" marT="27432" marB="27432" anchor="ctr">
                    <a:solidFill>
                      <a:srgbClr val="FFFFFF"/>
                    </a:solidFill>
                  </a:tcPr>
                </a:tc>
                <a:tc>
                  <a:txBody>
                    <a:bodyPr wrap="square"/>
                    <a:lstStyle/>
                    <a:p>
                      <a:pPr algn="ctr"/>
                      <a:r>
                        <a:rPr sz="1100" b="0" i="0">
                          <a:solidFill>
                            <a:srgbClr val="1F1F1F"/>
                          </a:solidFill>
                          <a:latin typeface="Calibri"/>
                        </a:rPr>
                        <a:t>Design and train B-ACPN (random-forest tree stage, attention, residual MLP, development gate, 5-network ensemble); MC Dropout and conformal uncertainty; model card (Table 4); ablation; climate-push analysis (Table 6)</a:t>
                      </a:r>
                    </a:p>
                  </a:txBody>
                  <a:tcPr marL="54864" marR="54864" marT="27432" marB="27432" anchor="ctr">
                    <a:solidFill>
                      <a:srgbClr val="FFFFFF"/>
                    </a:solidFill>
                  </a:tcPr>
                </a:tc>
                <a:tc>
                  <a:txBody>
                    <a:bodyPr wrap="square"/>
                    <a:lstStyle/>
                    <a:p>
                      <a:pPr algn="ctr"/>
                      <a:r>
                        <a:rPr sz="1100" b="0" i="0">
                          <a:solidFill>
                            <a:srgbClr val="1F1F1F"/>
                          </a:solidFill>
                          <a:latin typeface="Calibri"/>
                        </a:rPr>
                        <a:t>In progress (B-ACPN tuning)</a:t>
                      </a:r>
                    </a:p>
                  </a:txBody>
                  <a:tcPr marL="54864" marR="54864" marT="27432" marB="27432" anchor="ctr">
                    <a:solidFill>
                      <a:srgbClr val="FFFFFF"/>
                    </a:solidFill>
                  </a:tcPr>
                </a:tc>
              </a:tr>
              <a:tr h="822960">
                <a:tc>
                  <a:txBody>
                    <a:bodyPr wrap="square"/>
                    <a:lstStyle/>
                    <a:p>
                      <a:pPr algn="l"/>
                      <a:r>
                        <a:rPr sz="1100" b="1" i="0">
                          <a:solidFill>
                            <a:srgbClr val="1F1F1F"/>
                          </a:solidFill>
                          <a:latin typeface="Calibri"/>
                        </a:rPr>
                        <a:t>Tanmay Singh</a:t>
                      </a:r>
                    </a:p>
                  </a:txBody>
                  <a:tcPr marL="54864" marR="54864" marT="27432" marB="27432" anchor="ctr">
                    <a:solidFill>
                      <a:srgbClr val="EEF2F8"/>
                    </a:solidFill>
                  </a:tcPr>
                </a:tc>
                <a:tc>
                  <a:txBody>
                    <a:bodyPr wrap="square"/>
                    <a:lstStyle/>
                    <a:p>
                      <a:pPr algn="ctr"/>
                      <a:r>
                        <a:rPr sz="1100" b="0" i="0">
                          <a:solidFill>
                            <a:srgbClr val="1F1F1F"/>
                          </a:solidFill>
                          <a:latin typeface="Calibri"/>
                        </a:rPr>
                        <a:t>Comparative ML &amp; Visualization</a:t>
                      </a:r>
                    </a:p>
                  </a:txBody>
                  <a:tcPr marL="54864" marR="54864" marT="27432" marB="27432" anchor="ctr">
                    <a:solidFill>
                      <a:srgbClr val="EEF2F8"/>
                    </a:solidFill>
                  </a:tcPr>
                </a:tc>
                <a:tc>
                  <a:txBody>
                    <a:bodyPr wrap="square"/>
                    <a:lstStyle/>
                    <a:p>
                      <a:pPr algn="ctr"/>
                      <a:r>
                        <a:rPr sz="1100" b="0" i="0">
                          <a:solidFill>
                            <a:srgbClr val="1F1F1F"/>
                          </a:solidFill>
                          <a:latin typeface="Calibri"/>
                        </a:rPr>
                        <a:t>Compare B-ACPN with Logistic Regression, Random Forest, GBT, Linear SVM (Spark MLlib) and MLP on the same folds; all metrics, confidence intervals, significance; effect of preprocessing on the models (Table 5); result figures; slides</a:t>
                      </a:r>
                    </a:p>
                  </a:txBody>
                  <a:tcPr marL="54864" marR="54864" marT="27432" marB="27432" anchor="ctr">
                    <a:solidFill>
                      <a:srgbClr val="EEF2F8"/>
                    </a:solidFill>
                  </a:tcPr>
                </a:tc>
                <a:tc>
                  <a:txBody>
                    <a:bodyPr wrap="square"/>
                    <a:lstStyle/>
                    <a:p>
                      <a:pPr algn="ctr"/>
                      <a:r>
                        <a:rPr sz="1100" b="0" i="0">
                          <a:solidFill>
                            <a:srgbClr val="1F1F1F"/>
                          </a:solidFill>
                          <a:latin typeface="Calibri"/>
                        </a:rPr>
                        <a:t>In progress (Spark MLlib re-run in Colab; final report)</a:t>
                      </a:r>
                    </a:p>
                  </a:txBody>
                  <a:tcPr marL="54864" marR="54864" marT="27432" marB="27432" anchor="ctr">
                    <a:solidFill>
                      <a:srgbClr val="EEF2F8"/>
                    </a:solidFill>
                  </a:tcPr>
                </a:tc>
              </a:tr>
            </a:tbl>
          </a:graphicData>
        </a:graphic>
      </p:graphicFrame>
      <p:sp>
        <p:nvSpPr>
          <p:cNvPr id="5" name="TextBox 4"/>
          <p:cNvSpPr txBox="1"/>
          <p:nvPr/>
        </p:nvSpPr>
        <p:spPr>
          <a:xfrm>
            <a:off x="365760" y="5897880"/>
            <a:ext cx="8412480" cy="502920"/>
          </a:xfrm>
          <a:prstGeom prst="rect">
            <a:avLst/>
          </a:prstGeom>
          <a:noFill/>
        </p:spPr>
        <p:txBody>
          <a:bodyPr wrap="square" anchor="t" lIns="45720" rIns="45720">
            <a:spAutoFit/>
          </a:bodyPr>
          <a:lstStyle/>
          <a:p>
            <a:pPr algn="l"/>
            <a:r>
              <a:rPr sz="1200" b="0" i="0">
                <a:solidFill>
                  <a:srgbClr val="1F1F1F"/>
                </a:solidFill>
                <a:latin typeface="Calibri"/>
              </a:rPr>
              <a:t>Next (Review 3): full 1901–2024 rainfall in HDFS and re-timing; B-ACPN tuning; comparison with CEEW / DST district rankings; final report.</a:t>
            </a:r>
          </a:p>
        </p:txBody>
      </p:sp>
      <p:sp>
        <p:nvSpPr>
          <p:cNvPr id="6" name="TextBox 5"/>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References</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5212080"/>
          </a:xfrm>
          <a:prstGeom prst="rect">
            <a:avLst/>
          </a:prstGeom>
          <a:noFill/>
        </p:spPr>
        <p:txBody>
          <a:bodyPr wrap="square">
            <a:spAutoFit/>
          </a:bodyPr>
          <a:lstStyle/>
          <a:p>
            <a:pPr>
              <a:spcAft>
                <a:spcPts val="400"/>
              </a:spcAft>
            </a:pPr>
            <a:r>
              <a:rPr sz="1300" b="1" i="0">
                <a:solidFill>
                  <a:srgbClr val="1B3A6B"/>
                </a:solidFill>
                <a:latin typeface="Calibri"/>
              </a:rPr>
              <a:t>[1]  </a:t>
            </a:r>
            <a:r>
              <a:rPr sz="1300" b="0" i="0">
                <a:solidFill>
                  <a:srgbClr val="1F1F1F"/>
                </a:solidFill>
                <a:latin typeface="Calibri"/>
              </a:rPr>
              <a:t>A. Mohanty and S. Wadhawan, Mapping India's Climate Vulnerability, CEEW, 2021.</a:t>
            </a:r>
          </a:p>
          <a:p>
            <a:pPr>
              <a:spcAft>
                <a:spcPts val="400"/>
              </a:spcAft>
            </a:pPr>
            <a:r>
              <a:rPr sz="1300" b="1" i="0">
                <a:solidFill>
                  <a:srgbClr val="1B3A6B"/>
                </a:solidFill>
                <a:latin typeface="Calibri"/>
              </a:rPr>
              <a:t>[2]  </a:t>
            </a:r>
            <a:r>
              <a:rPr sz="1300" b="0" i="0">
                <a:solidFill>
                  <a:srgbClr val="1F1F1F"/>
                </a:solidFill>
                <a:latin typeface="Calibri"/>
              </a:rPr>
              <a:t>NITI Aayog, District-Level Climate Vulnerability Indicators, NDAP dataset 7160.</a:t>
            </a:r>
          </a:p>
          <a:p>
            <a:pPr>
              <a:spcAft>
                <a:spcPts val="400"/>
              </a:spcAft>
            </a:pPr>
            <a:r>
              <a:rPr sz="1300" b="1" i="0">
                <a:solidFill>
                  <a:srgbClr val="1B3A6B"/>
                </a:solidFill>
                <a:latin typeface="Calibri"/>
              </a:rPr>
              <a:t>[3]  </a:t>
            </a:r>
            <a:r>
              <a:rPr sz="1300" b="0" i="0">
                <a:solidFill>
                  <a:srgbClr val="1F1F1F"/>
                </a:solidFill>
                <a:latin typeface="Calibri"/>
              </a:rPr>
              <a:t>Census of India 2011, Primary Census Abstract.</a:t>
            </a:r>
          </a:p>
          <a:p>
            <a:pPr>
              <a:spcAft>
                <a:spcPts val="400"/>
              </a:spcAft>
            </a:pPr>
            <a:r>
              <a:rPr sz="1300" b="1" i="0">
                <a:solidFill>
                  <a:srgbClr val="1B3A6B"/>
                </a:solidFill>
                <a:latin typeface="Calibri"/>
              </a:rPr>
              <a:t>[4]  </a:t>
            </a:r>
            <a:r>
              <a:rPr sz="1300" b="0" i="0">
                <a:solidFill>
                  <a:srgbClr val="1F1F1F"/>
                </a:solidFill>
                <a:latin typeface="Calibri"/>
              </a:rPr>
              <a:t>D. S. Pai et al., MAUSAM 65(1), 2014 (IMD gridded rainfall).</a:t>
            </a:r>
          </a:p>
          <a:p>
            <a:pPr>
              <a:spcAft>
                <a:spcPts val="400"/>
              </a:spcAft>
            </a:pPr>
            <a:r>
              <a:rPr sz="1300" b="1" i="0">
                <a:solidFill>
                  <a:srgbClr val="1B3A6B"/>
                </a:solidFill>
                <a:latin typeface="Calibri"/>
              </a:rPr>
              <a:t>[5]  </a:t>
            </a:r>
            <a:r>
              <a:rPr sz="1300" b="0" i="0">
                <a:solidFill>
                  <a:srgbClr val="1F1F1F"/>
                </a:solidFill>
                <a:latin typeface="Calibri"/>
              </a:rPr>
              <a:t>A. K. Srivastava et al., Atmospheric Science Letters 10, 2009 (IMD gridded temperature).</a:t>
            </a:r>
          </a:p>
          <a:p>
            <a:pPr>
              <a:spcAft>
                <a:spcPts val="400"/>
              </a:spcAft>
            </a:pPr>
            <a:r>
              <a:rPr sz="1300" b="1" i="0">
                <a:solidFill>
                  <a:srgbClr val="1B3A6B"/>
                </a:solidFill>
                <a:latin typeface="Calibri"/>
              </a:rPr>
              <a:t>[6]  </a:t>
            </a:r>
            <a:r>
              <a:rPr sz="1300" b="0" i="0">
                <a:solidFill>
                  <a:srgbClr val="1F1F1F"/>
                </a:solidFill>
                <a:latin typeface="Calibri"/>
              </a:rPr>
              <a:t>H.-T. Cheng et al., Wide &amp; Deep Learning for Recommender Systems, DLRS 2016.</a:t>
            </a:r>
          </a:p>
          <a:p>
            <a:pPr>
              <a:spcAft>
                <a:spcPts val="400"/>
              </a:spcAft>
            </a:pPr>
            <a:r>
              <a:rPr sz="1300" b="1" i="0">
                <a:solidFill>
                  <a:srgbClr val="1B3A6B"/>
                </a:solidFill>
                <a:latin typeface="Calibri"/>
              </a:rPr>
              <a:t>[7]  </a:t>
            </a:r>
            <a:r>
              <a:rPr sz="1300" b="0" i="0">
                <a:solidFill>
                  <a:srgbClr val="1F1F1F"/>
                </a:solidFill>
                <a:latin typeface="Calibri"/>
              </a:rPr>
              <a:t>S. Ö. Arık and T. Pfister, TabNet: Attentive Interpretable Tabular Learning, AAAI 2021.</a:t>
            </a:r>
          </a:p>
          <a:p>
            <a:pPr>
              <a:spcAft>
                <a:spcPts val="400"/>
              </a:spcAft>
            </a:pPr>
            <a:r>
              <a:rPr sz="1300" b="1" i="0">
                <a:solidFill>
                  <a:srgbClr val="1B3A6B"/>
                </a:solidFill>
                <a:latin typeface="Calibri"/>
              </a:rPr>
              <a:t>[8]  </a:t>
            </a:r>
            <a:r>
              <a:rPr sz="1300" b="0" i="0">
                <a:solidFill>
                  <a:srgbClr val="1F1F1F"/>
                </a:solidFill>
                <a:latin typeface="Calibri"/>
              </a:rPr>
              <a:t>L. Breiman, Random Forests, Machine Learning 45, 2001.</a:t>
            </a:r>
          </a:p>
          <a:p>
            <a:pPr>
              <a:spcAft>
                <a:spcPts val="400"/>
              </a:spcAft>
            </a:pPr>
            <a:r>
              <a:rPr sz="1300" b="1" i="0">
                <a:solidFill>
                  <a:srgbClr val="1B3A6B"/>
                </a:solidFill>
                <a:latin typeface="Calibri"/>
              </a:rPr>
              <a:t>[9]  </a:t>
            </a:r>
            <a:r>
              <a:rPr sz="1300" b="0" i="0">
                <a:solidFill>
                  <a:srgbClr val="1F1F1F"/>
                </a:solidFill>
                <a:latin typeface="Calibri"/>
              </a:rPr>
              <a:t>D. H. Wolpert, Stacked Generalization, Neural Networks 5, 1992.</a:t>
            </a:r>
          </a:p>
          <a:p>
            <a:pPr>
              <a:spcAft>
                <a:spcPts val="400"/>
              </a:spcAft>
            </a:pPr>
            <a:r>
              <a:rPr sz="1300" b="1" i="0">
                <a:solidFill>
                  <a:srgbClr val="1B3A6B"/>
                </a:solidFill>
                <a:latin typeface="Calibri"/>
              </a:rPr>
              <a:t>[10]  </a:t>
            </a:r>
            <a:r>
              <a:rPr sz="1300" b="0" i="0">
                <a:solidFill>
                  <a:srgbClr val="1F1F1F"/>
                </a:solidFill>
                <a:latin typeface="Calibri"/>
              </a:rPr>
              <a:t>K. He et al., Deep Residual Learning for Image Recognition, CVPR 2016.</a:t>
            </a:r>
          </a:p>
          <a:p>
            <a:pPr>
              <a:spcAft>
                <a:spcPts val="400"/>
              </a:spcAft>
            </a:pPr>
            <a:r>
              <a:rPr sz="1300" b="1" i="0">
                <a:solidFill>
                  <a:srgbClr val="1B3A6B"/>
                </a:solidFill>
                <a:latin typeface="Calibri"/>
              </a:rPr>
              <a:t>[11]  </a:t>
            </a:r>
            <a:r>
              <a:rPr sz="1300" b="0" i="0">
                <a:solidFill>
                  <a:srgbClr val="1F1F1F"/>
                </a:solidFill>
                <a:latin typeface="Calibri"/>
              </a:rPr>
              <a:t>Y. Gal and Z. Ghahramani, Dropout as a Bayesian Approximation, ICML 2016.</a:t>
            </a:r>
          </a:p>
          <a:p>
            <a:pPr>
              <a:spcAft>
                <a:spcPts val="400"/>
              </a:spcAft>
            </a:pPr>
            <a:r>
              <a:rPr sz="1300" b="1" i="0">
                <a:solidFill>
                  <a:srgbClr val="1B3A6B"/>
                </a:solidFill>
                <a:latin typeface="Calibri"/>
              </a:rPr>
              <a:t>[12]  </a:t>
            </a:r>
            <a:r>
              <a:rPr sz="1300" b="0" i="0">
                <a:solidFill>
                  <a:srgbClr val="1F1F1F"/>
                </a:solidFill>
                <a:latin typeface="Calibri"/>
              </a:rPr>
              <a:t>A. N. Angelopoulos and S. Bates, A Gentle Introduction to Conformal Prediction, arXiv:2107.07511, 2021.</a:t>
            </a:r>
          </a:p>
          <a:p>
            <a:pPr>
              <a:spcAft>
                <a:spcPts val="400"/>
              </a:spcAft>
            </a:pPr>
            <a:r>
              <a:rPr sz="1300" b="1" i="0">
                <a:solidFill>
                  <a:srgbClr val="1B3A6B"/>
                </a:solidFill>
                <a:latin typeface="Calibri"/>
              </a:rPr>
              <a:t>[13]  </a:t>
            </a:r>
            <a:r>
              <a:rPr sz="1300" b="0" i="0">
                <a:solidFill>
                  <a:srgbClr val="1F1F1F"/>
                </a:solidFill>
                <a:latin typeface="Calibri"/>
              </a:rPr>
              <a:t>K. Shvachko et al., The Hadoop Distributed File System, MSST 2010.</a:t>
            </a:r>
          </a:p>
          <a:p>
            <a:pPr>
              <a:spcAft>
                <a:spcPts val="400"/>
              </a:spcAft>
            </a:pPr>
            <a:r>
              <a:rPr sz="1300" b="1" i="0">
                <a:solidFill>
                  <a:srgbClr val="1B3A6B"/>
                </a:solidFill>
                <a:latin typeface="Calibri"/>
              </a:rPr>
              <a:t>[14]  </a:t>
            </a:r>
            <a:r>
              <a:rPr sz="1300" b="0" i="0">
                <a:solidFill>
                  <a:srgbClr val="1F1F1F"/>
                </a:solidFill>
                <a:latin typeface="Calibri"/>
              </a:rPr>
              <a:t>J. Dean and S. Ghemawat, MapReduce, Communications of the ACM, 2008.</a:t>
            </a:r>
          </a:p>
          <a:p>
            <a:pPr>
              <a:spcAft>
                <a:spcPts val="400"/>
              </a:spcAft>
            </a:pPr>
            <a:r>
              <a:rPr sz="1300" b="1" i="0">
                <a:solidFill>
                  <a:srgbClr val="1B3A6B"/>
                </a:solidFill>
                <a:latin typeface="Calibri"/>
              </a:rPr>
              <a:t>[15]  </a:t>
            </a:r>
            <a:r>
              <a:rPr sz="1300" b="0" i="0">
                <a:solidFill>
                  <a:srgbClr val="1F1F1F"/>
                </a:solidFill>
                <a:latin typeface="Calibri"/>
              </a:rPr>
              <a:t>A. Thusoo et al., Hive, VLDB 2009.</a:t>
            </a:r>
          </a:p>
          <a:p>
            <a:pPr>
              <a:spcAft>
                <a:spcPts val="400"/>
              </a:spcAft>
            </a:pPr>
            <a:r>
              <a:rPr sz="1300" b="1" i="0">
                <a:solidFill>
                  <a:srgbClr val="1B3A6B"/>
                </a:solidFill>
                <a:latin typeface="Calibri"/>
              </a:rPr>
              <a:t>[16]  </a:t>
            </a:r>
            <a:r>
              <a:rPr sz="1300" b="0" i="0">
                <a:solidFill>
                  <a:srgbClr val="1F1F1F"/>
                </a:solidFill>
                <a:latin typeface="Calibri"/>
              </a:rPr>
              <a:t>M. Zaharia et al., Apache Spark: A Unified Engine for Big Data Processing, CACM 59(11), 2016.</a:t>
            </a:r>
          </a:p>
          <a:p>
            <a:pPr>
              <a:spcAft>
                <a:spcPts val="400"/>
              </a:spcAft>
            </a:pPr>
            <a:r>
              <a:rPr sz="1300" b="1" i="0">
                <a:solidFill>
                  <a:srgbClr val="1B3A6B"/>
                </a:solidFill>
                <a:latin typeface="Calibri"/>
              </a:rPr>
              <a:t>[17]  </a:t>
            </a:r>
            <a:r>
              <a:rPr sz="1300" b="0" i="0">
                <a:solidFill>
                  <a:srgbClr val="1F1F1F"/>
                </a:solidFill>
                <a:latin typeface="Calibri"/>
              </a:rPr>
              <a:t>X. Meng et al., MLlib: Machine Learning in Apache Spark, JMLR 17, 2016.</a:t>
            </a:r>
          </a:p>
          <a:p>
            <a:pPr>
              <a:spcAft>
                <a:spcPts val="400"/>
              </a:spcAft>
            </a:pPr>
            <a:r>
              <a:rPr sz="1300" b="1" i="0">
                <a:solidFill>
                  <a:srgbClr val="1B3A6B"/>
                </a:solidFill>
                <a:latin typeface="Calibri"/>
              </a:rPr>
              <a:t>[18]  </a:t>
            </a:r>
            <a:r>
              <a:rPr sz="1300" b="0" i="0">
                <a:solidFill>
                  <a:srgbClr val="1F1F1F"/>
                </a:solidFill>
                <a:latin typeface="Calibri"/>
              </a:rPr>
              <a:t>DataMeet, Community Created Maps of India.</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Geotagged Photo: Review 2</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Rectangle 3"/>
          <p:cNvSpPr/>
          <p:nvPr/>
        </p:nvSpPr>
        <p:spPr>
          <a:xfrm>
            <a:off x="548640" y="1280160"/>
            <a:ext cx="8046720" cy="4937760"/>
          </a:xfrm>
          <a:prstGeom prst="rect">
            <a:avLst/>
          </a:prstGeom>
          <a:noFill/>
          <a:ln w="19050">
            <a:solidFill>
              <a:srgbClr val="595959"/>
            </a:solid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r>
              <a:rPr sz="2000" b="0" i="0">
                <a:solidFill>
                  <a:srgbClr val="595959"/>
                </a:solidFill>
                <a:latin typeface="Calibri"/>
              </a:rPr>
              <a:t>Insert geotagged photo</a:t>
            </a:r>
          </a:p>
        </p:txBody>
      </p:sp>
      <p:sp>
        <p:nvSpPr>
          <p:cNvPr id="5" name="TextBox 4"/>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slides/slide3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a:xfrm>
            <a:off x="365760" y="274320"/>
            <a:ext cx="6355080" cy="822960"/>
          </a:xfrm>
        </p:spPr>
        <p:txBody>
          <a:bodyPr wrap="square" anchor="ctr" lIns="45720"/>
          <a:lstStyle/>
          <a:p>
            <a:pPr algn="l"/>
            <a:r>
              <a:rPr sz="2800" b="1" i="0">
                <a:solidFill>
                  <a:srgbClr val="1B3A6B"/>
                </a:solidFill>
                <a:latin typeface="Times New Roman"/>
              </a:rPr>
              <a:t>Google Colab Implementation Link</a:t>
            </a:r>
          </a:p>
        </p:txBody>
      </p:sp>
      <p:pic>
        <p:nvPicPr>
          <p:cNvPr id="3" name="Picture 2" descr="image.jpeg"/>
          <p:cNvPicPr>
            <a:picLocks noChangeAspect="1"/>
          </p:cNvPicPr>
          <p:nvPr/>
        </p:nvPicPr>
        <p:blipFill>
          <a:blip r:embed="rId2"/>
          <a:stretch>
            <a:fillRect/>
          </a:stretch>
        </p:blipFill>
        <p:spPr>
          <a:xfrm>
            <a:off x="6858000" y="228600"/>
            <a:ext cx="2066925" cy="857250"/>
          </a:xfrm>
          <a:prstGeom prst="rect">
            <a:avLst/>
          </a:prstGeom>
        </p:spPr>
      </p:pic>
      <p:sp>
        <p:nvSpPr>
          <p:cNvPr id="4" name="TextBox 3"/>
          <p:cNvSpPr txBox="1"/>
          <p:nvPr/>
        </p:nvSpPr>
        <p:spPr>
          <a:xfrm>
            <a:off x="365760" y="1188720"/>
            <a:ext cx="8412480" cy="320040"/>
          </a:xfrm>
          <a:prstGeom prst="rect">
            <a:avLst/>
          </a:prstGeom>
          <a:noFill/>
        </p:spPr>
        <p:txBody>
          <a:bodyPr wrap="square" anchor="t" lIns="45720" rIns="45720">
            <a:spAutoFit/>
          </a:bodyPr>
          <a:lstStyle/>
          <a:p>
            <a:pPr algn="l"/>
            <a:r>
              <a:rPr sz="1400" b="1" i="0">
                <a:solidFill>
                  <a:srgbClr val="1B3A6B"/>
                </a:solidFill>
                <a:latin typeface="Calibri"/>
              </a:rPr>
              <a:t>Colab (with outputs):</a:t>
            </a:r>
          </a:p>
        </p:txBody>
      </p:sp>
      <p:sp>
        <p:nvSpPr>
          <p:cNvPr id="5" name="TextBox 4"/>
          <p:cNvSpPr txBox="1"/>
          <p:nvPr/>
        </p:nvSpPr>
        <p:spPr>
          <a:xfrm>
            <a:off x="365760" y="1481328"/>
            <a:ext cx="8412480" cy="502920"/>
          </a:xfrm>
          <a:prstGeom prst="rect">
            <a:avLst/>
          </a:prstGeom>
          <a:noFill/>
        </p:spPr>
        <p:txBody>
          <a:bodyPr wrap="square" anchor="t" lIns="45720" rIns="45720">
            <a:spAutoFit/>
          </a:bodyPr>
          <a:lstStyle/>
          <a:p>
            <a:pPr algn="l"/>
            <a:r>
              <a:rPr sz="1200" b="0" i="0">
                <a:solidFill>
                  <a:srgbClr val="0E6E6E"/>
                </a:solidFill>
                <a:latin typeface="Calibri"/>
              </a:rPr>
              <a:t>https://colab.research.google.com/github/deepankarkumar1310/hadoop-ml-algorithm-/blob/main/notebooks/Review2_Colab.ipynb</a:t>
            </a:r>
          </a:p>
        </p:txBody>
      </p:sp>
      <p:sp>
        <p:nvSpPr>
          <p:cNvPr id="6" name="TextBox 5"/>
          <p:cNvSpPr txBox="1"/>
          <p:nvPr/>
        </p:nvSpPr>
        <p:spPr>
          <a:xfrm>
            <a:off x="365760" y="2011680"/>
            <a:ext cx="8412480" cy="320040"/>
          </a:xfrm>
          <a:prstGeom prst="rect">
            <a:avLst/>
          </a:prstGeom>
          <a:noFill/>
        </p:spPr>
        <p:txBody>
          <a:bodyPr wrap="square" anchor="t" lIns="45720" rIns="45720">
            <a:spAutoFit/>
          </a:bodyPr>
          <a:lstStyle/>
          <a:p>
            <a:pPr algn="l"/>
            <a:r>
              <a:rPr sz="1300" b="1" i="0">
                <a:solidFill>
                  <a:srgbClr val="1B3A6B"/>
                </a:solidFill>
                <a:latin typeface="Calibri"/>
              </a:rPr>
              <a:t>GitHub:  https://github.com/deepankarkumar1310/hadoop-ml-algorithm-</a:t>
            </a:r>
          </a:p>
        </p:txBody>
      </p:sp>
      <p:graphicFrame>
        <p:nvGraphicFramePr>
          <p:cNvPr id="7" name="Table 6"/>
          <p:cNvGraphicFramePr>
            <a:graphicFrameLocks noGrp="1"/>
          </p:cNvGraphicFramePr>
          <p:nvPr/>
        </p:nvGraphicFramePr>
        <p:xfrm>
          <a:off x="365760" y="2514600"/>
          <a:ext cx="8412480" cy="3520440"/>
        </p:xfrm>
        <a:graphic>
          <a:graphicData uri="http://schemas.openxmlformats.org/drawingml/2006/table">
            <a:tbl>
              <a:tblPr firstRow="1" bandRow="1">
                <a:tableStyleId>{5C22544A-7EE6-4342-B048-85BDC9FD1C3A}</a:tableStyleId>
              </a:tblPr>
              <a:tblGrid>
                <a:gridCol w="2468880"/>
                <a:gridCol w="4572000"/>
                <a:gridCol w="1371600"/>
              </a:tblGrid>
              <a:tr h="502920">
                <a:tc>
                  <a:txBody>
                    <a:bodyPr wrap="square"/>
                    <a:lstStyle/>
                    <a:p>
                      <a:pPr algn="l"/>
                      <a:r>
                        <a:rPr sz="1200" b="1" i="0">
                          <a:solidFill>
                            <a:srgbClr val="FFFFFF"/>
                          </a:solidFill>
                          <a:latin typeface="Calibri"/>
                        </a:rPr>
                        <a:t>Notebook section</a:t>
                      </a:r>
                    </a:p>
                  </a:txBody>
                  <a:tcPr marL="54864" marR="54864" marT="27432" marB="27432" anchor="ctr">
                    <a:solidFill>
                      <a:srgbClr val="1B3A6B"/>
                    </a:solidFill>
                  </a:tcPr>
                </a:tc>
                <a:tc>
                  <a:txBody>
                    <a:bodyPr wrap="square"/>
                    <a:lstStyle/>
                    <a:p>
                      <a:pPr algn="ctr"/>
                      <a:r>
                        <a:rPr sz="1200" b="1" i="0">
                          <a:solidFill>
                            <a:srgbClr val="FFFFFF"/>
                          </a:solidFill>
                          <a:latin typeface="Calibri"/>
                        </a:rPr>
                        <a:t>What it shows</a:t>
                      </a:r>
                    </a:p>
                  </a:txBody>
                  <a:tcPr marL="54864" marR="54864" marT="27432" marB="27432" anchor="ctr">
                    <a:solidFill>
                      <a:srgbClr val="1B3A6B"/>
                    </a:solidFill>
                  </a:tcPr>
                </a:tc>
                <a:tc>
                  <a:txBody>
                    <a:bodyPr wrap="square"/>
                    <a:lstStyle/>
                    <a:p>
                      <a:pPr algn="ctr"/>
                      <a:r>
                        <a:rPr sz="1200" b="1" i="0">
                          <a:solidFill>
                            <a:srgbClr val="FFFFFF"/>
                          </a:solidFill>
                          <a:latin typeface="Calibri"/>
                        </a:rPr>
                        <a:t>Owner</a:t>
                      </a:r>
                    </a:p>
                  </a:txBody>
                  <a:tcPr marL="54864" marR="54864" marT="27432" marB="27432" anchor="ctr">
                    <a:solidFill>
                      <a:srgbClr val="1B3A6B"/>
                    </a:solidFill>
                  </a:tcPr>
                </a:tc>
              </a:tr>
              <a:tr h="502920">
                <a:tc>
                  <a:txBody>
                    <a:bodyPr wrap="square"/>
                    <a:lstStyle/>
                    <a:p>
                      <a:pPr algn="l"/>
                      <a:r>
                        <a:rPr sz="1200" b="1" i="0">
                          <a:solidFill>
                            <a:srgbClr val="1F1F1F"/>
                          </a:solidFill>
                          <a:latin typeface="Calibri"/>
                        </a:rPr>
                        <a:t>0–2 Setup, data, preprocessing</a:t>
                      </a:r>
                    </a:p>
                  </a:txBody>
                  <a:tcPr marL="54864" marR="54864" marT="27432" marB="27432" anchor="ctr">
                    <a:solidFill>
                      <a:srgbClr val="FFFFFF"/>
                    </a:solidFill>
                  </a:tcPr>
                </a:tc>
                <a:tc>
                  <a:txBody>
                    <a:bodyPr wrap="square"/>
                    <a:lstStyle/>
                    <a:p>
                      <a:pPr algn="ctr"/>
                      <a:r>
                        <a:rPr sz="1200" b="0" i="0">
                          <a:solidFill>
                            <a:srgbClr val="1F1F1F"/>
                          </a:solidFill>
                          <a:latin typeface="Calibri"/>
                        </a:rPr>
                        <a:t>Install, IMD download to Drive, Table 1 + error metrics</a:t>
                      </a:r>
                    </a:p>
                  </a:txBody>
                  <a:tcPr marL="54864" marR="54864" marT="27432" marB="27432" anchor="ctr">
                    <a:solidFill>
                      <a:srgbClr val="FFFFFF"/>
                    </a:solidFill>
                  </a:tcPr>
                </a:tc>
                <a:tc>
                  <a:txBody>
                    <a:bodyPr wrap="square"/>
                    <a:lstStyle/>
                    <a:p>
                      <a:pPr algn="ctr"/>
                      <a:r>
                        <a:rPr sz="1200" b="0" i="0">
                          <a:solidFill>
                            <a:srgbClr val="1F1F1F"/>
                          </a:solidFill>
                          <a:latin typeface="Calibri"/>
                        </a:rPr>
                        <a:t>Sehjodh</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3–7 Hadoop, HDFS, MapReduce, Hive, Spark</a:t>
                      </a:r>
                    </a:p>
                  </a:txBody>
                  <a:tcPr marL="54864" marR="54864" marT="27432" marB="27432" anchor="ctr">
                    <a:solidFill>
                      <a:srgbClr val="EEF2F8"/>
                    </a:solidFill>
                  </a:tcPr>
                </a:tc>
                <a:tc>
                  <a:txBody>
                    <a:bodyPr wrap="square"/>
                    <a:lstStyle/>
                    <a:p>
                      <a:pPr algn="ctr"/>
                      <a:r>
                        <a:rPr sz="1200" b="0" i="0">
                          <a:solidFill>
                            <a:srgbClr val="1F1F1F"/>
                          </a:solidFill>
                          <a:latin typeface="Calibri"/>
                        </a:rPr>
                        <a:t>Cluster, HDFS load (Table 2), YARN job + timings, Hive, k-means (Table 3)</a:t>
                      </a:r>
                    </a:p>
                  </a:txBody>
                  <a:tcPr marL="54864" marR="54864" marT="27432" marB="27432" anchor="ctr">
                    <a:solidFill>
                      <a:srgbClr val="EEF2F8"/>
                    </a:solidFill>
                  </a:tcPr>
                </a:tc>
                <a:tc>
                  <a:txBody>
                    <a:bodyPr wrap="square"/>
                    <a:lstStyle/>
                    <a:p>
                      <a:pPr algn="ctr"/>
                      <a:r>
                        <a:rPr sz="1200" b="0" i="0">
                          <a:solidFill>
                            <a:srgbClr val="1F1F1F"/>
                          </a:solidFill>
                          <a:latin typeface="Calibri"/>
                        </a:rPr>
                        <a:t>Deepankar</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8 B-ACPN (proposed model)</a:t>
                      </a:r>
                    </a:p>
                  </a:txBody>
                  <a:tcPr marL="54864" marR="54864" marT="27432" marB="27432" anchor="ctr">
                    <a:solidFill>
                      <a:srgbClr val="FFFFFF"/>
                    </a:solidFill>
                  </a:tcPr>
                </a:tc>
                <a:tc>
                  <a:txBody>
                    <a:bodyPr wrap="square"/>
                    <a:lstStyle/>
                    <a:p>
                      <a:pPr algn="ctr"/>
                      <a:r>
                        <a:rPr sz="1200" b="0" i="0">
                          <a:solidFill>
                            <a:srgbClr val="1F1F1F"/>
                          </a:solidFill>
                          <a:latin typeface="Calibri"/>
                        </a:rPr>
                        <a:t>Architecture, model card (Table 4), ablation, climate push (Table 6)</a:t>
                      </a:r>
                    </a:p>
                  </a:txBody>
                  <a:tcPr marL="54864" marR="54864" marT="27432" marB="27432" anchor="ctr">
                    <a:solidFill>
                      <a:srgbClr val="FFFFFF"/>
                    </a:solidFill>
                  </a:tcPr>
                </a:tc>
                <a:tc>
                  <a:txBody>
                    <a:bodyPr wrap="square"/>
                    <a:lstStyle/>
                    <a:p>
                      <a:pPr algn="ctr"/>
                      <a:r>
                        <a:rPr sz="1200" b="0" i="0">
                          <a:solidFill>
                            <a:srgbClr val="1F1F1F"/>
                          </a:solidFill>
                          <a:latin typeface="Calibri"/>
                        </a:rPr>
                        <a:t>Devanshu</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9–10 Comparison</a:t>
                      </a:r>
                    </a:p>
                  </a:txBody>
                  <a:tcPr marL="54864" marR="54864" marT="27432" marB="27432" anchor="ctr">
                    <a:solidFill>
                      <a:srgbClr val="EEF2F8"/>
                    </a:solidFill>
                  </a:tcPr>
                </a:tc>
                <a:tc>
                  <a:txBody>
                    <a:bodyPr wrap="square"/>
                    <a:lstStyle/>
                    <a:p>
                      <a:pPr algn="ctr"/>
                      <a:r>
                        <a:rPr sz="1200" b="0" i="0">
                          <a:solidFill>
                            <a:srgbClr val="1F1F1F"/>
                          </a:solidFill>
                          <a:latin typeface="Calibri"/>
                        </a:rPr>
                        <a:t>5 existing models, all metrics, preprocessing before/after (Table 5)</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r h="502920">
                <a:tc>
                  <a:txBody>
                    <a:bodyPr wrap="square"/>
                    <a:lstStyle/>
                    <a:p>
                      <a:pPr algn="l"/>
                      <a:r>
                        <a:rPr sz="1200" b="1" i="0">
                          <a:solidFill>
                            <a:srgbClr val="1F1F1F"/>
                          </a:solidFill>
                          <a:latin typeface="Calibri"/>
                        </a:rPr>
                        <a:t>11 Visualisations</a:t>
                      </a:r>
                    </a:p>
                  </a:txBody>
                  <a:tcPr marL="54864" marR="54864" marT="27432" marB="27432" anchor="ctr">
                    <a:solidFill>
                      <a:srgbClr val="FFFFFF"/>
                    </a:solidFill>
                  </a:tcPr>
                </a:tc>
                <a:tc>
                  <a:txBody>
                    <a:bodyPr wrap="square"/>
                    <a:lstStyle/>
                    <a:p>
                      <a:pPr algn="ctr"/>
                      <a:r>
                        <a:rPr sz="1200" b="0" i="0">
                          <a:solidFill>
                            <a:srgbClr val="1F1F1F"/>
                          </a:solidFill>
                          <a:latin typeface="Calibri"/>
                        </a:rPr>
                        <a:t>All figures, only after every table</a:t>
                      </a:r>
                    </a:p>
                  </a:txBody>
                  <a:tcPr marL="54864" marR="54864" marT="27432" marB="27432" anchor="ctr">
                    <a:solidFill>
                      <a:srgbClr val="FFFFFF"/>
                    </a:solidFill>
                  </a:tcPr>
                </a:tc>
                <a:tc>
                  <a:txBody>
                    <a:bodyPr wrap="square"/>
                    <a:lstStyle/>
                    <a:p>
                      <a:pPr algn="ctr"/>
                      <a:r>
                        <a:rPr sz="1200" b="0" i="0">
                          <a:solidFill>
                            <a:srgbClr val="1F1F1F"/>
                          </a:solidFill>
                          <a:latin typeface="Calibri"/>
                        </a:rPr>
                        <a:t>Each owner</a:t>
                      </a:r>
                    </a:p>
                  </a:txBody>
                  <a:tcPr marL="54864" marR="54864" marT="27432" marB="27432" anchor="ctr">
                    <a:solidFill>
                      <a:srgbClr val="FFFFFF"/>
                    </a:solidFill>
                  </a:tcPr>
                </a:tc>
              </a:tr>
              <a:tr h="502920">
                <a:tc>
                  <a:txBody>
                    <a:bodyPr wrap="square"/>
                    <a:lstStyle/>
                    <a:p>
                      <a:pPr algn="l"/>
                      <a:r>
                        <a:rPr sz="1200" b="1" i="0">
                          <a:solidFill>
                            <a:srgbClr val="1F1F1F"/>
                          </a:solidFill>
                          <a:latin typeface="Calibri"/>
                        </a:rPr>
                        <a:t>12 Slides</a:t>
                      </a:r>
                    </a:p>
                  </a:txBody>
                  <a:tcPr marL="54864" marR="54864" marT="27432" marB="27432" anchor="ctr">
                    <a:solidFill>
                      <a:srgbClr val="EEF2F8"/>
                    </a:solidFill>
                  </a:tcPr>
                </a:tc>
                <a:tc>
                  <a:txBody>
                    <a:bodyPr wrap="square"/>
                    <a:lstStyle/>
                    <a:p>
                      <a:pPr algn="ctr"/>
                      <a:r>
                        <a:rPr sz="1200" b="0" i="0">
                          <a:solidFill>
                            <a:srgbClr val="1F1F1F"/>
                          </a:solidFill>
                          <a:latin typeface="Calibri"/>
                        </a:rPr>
                        <a:t>Builds this deck from results/</a:t>
                      </a:r>
                    </a:p>
                  </a:txBody>
                  <a:tcPr marL="54864" marR="54864" marT="27432" marB="27432" anchor="ctr">
                    <a:solidFill>
                      <a:srgbClr val="EEF2F8"/>
                    </a:solidFill>
                  </a:tcPr>
                </a:tc>
                <a:tc>
                  <a:txBody>
                    <a:bodyPr wrap="square"/>
                    <a:lstStyle/>
                    <a:p>
                      <a:pPr algn="ctr"/>
                      <a:r>
                        <a:rPr sz="1200" b="0" i="0">
                          <a:solidFill>
                            <a:srgbClr val="1F1F1F"/>
                          </a:solidFill>
                          <a:latin typeface="Calibri"/>
                        </a:rPr>
                        <a:t>Tanmay</a:t>
                      </a:r>
                    </a:p>
                  </a:txBody>
                  <a:tcPr marL="54864" marR="54864" marT="27432" marB="27432" anchor="ctr">
                    <a:solidFill>
                      <a:srgbClr val="EEF2F8"/>
                    </a:solidFill>
                  </a:tcPr>
                </a:tc>
              </a:tr>
            </a:tbl>
          </a:graphicData>
        </a:graphic>
      </p:graphicFrame>
      <p:sp>
        <p:nvSpPr>
          <p:cNvPr id="8" name="TextBox 7"/>
          <p:cNvSpPr txBox="1"/>
          <p:nvPr/>
        </p:nvSpPr>
        <p:spPr>
          <a:xfrm>
            <a:off x="365760" y="6446520"/>
            <a:ext cx="8412480" cy="274320"/>
          </a:xfrm>
          <a:prstGeom prst="rect">
            <a:avLst/>
          </a:prstGeom>
          <a:noFill/>
        </p:spPr>
        <p:txBody>
          <a:bodyPr wrap="square" anchor="t" lIns="45720" rIns="45720">
            <a:spAutoFit/>
          </a:bodyPr>
          <a:lstStyle/>
          <a:p>
            <a:pPr algn="r"/>
            <a:r>
              <a:rPr sz="1000" b="0" i="0">
                <a:solidFill>
                  <a:srgbClr val="595959"/>
                </a:solidFill>
                <a:latin typeface="Calibri"/>
              </a:rPr>
              <a:t>Presenter: Tanmay Singh</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emplate/>
  <TotalTime>95422</TotalTime>
  <Words>102</Words>
  <Application>Microsoft Office PowerPoint</Application>
  <PresentationFormat>On-screen Show (4:3)</PresentationFormat>
  <Paragraphs>17</Paragraphs>
  <Slides>2</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2</vt:i4>
      </vt:variant>
    </vt:vector>
  </HeadingPairs>
  <TitlesOfParts>
    <vt:vector size="6" baseType="lpstr">
      <vt:lpstr>Arial</vt:lpstr>
      <vt:lpstr>Calibri</vt:lpstr>
      <vt:lpstr>Times New Roman</vt:lpstr>
      <vt:lpstr>Office Theme</vt:lpstr>
      <vt:lpstr>Title Review 2</vt:lpstr>
      <vt:lpstr>Contents</vt:lpstr>
    </vt:vector>
  </TitlesOfParts>
  <Company>Microsoft</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Beyond Development: Explaining Climate Resilience Across Indian Districts - Review 2</dc:title>
  <dc:creator>Deepankar</dc:creator>
  <cp:lastModifiedBy>Deepankar</cp:lastModifiedBy>
  <cp:revision>1599</cp:revision>
  <dcterms:created xsi:type="dcterms:W3CDTF">2017-03-21T16:05:31Z</dcterms:created>
  <dcterms:modified xsi:type="dcterms:W3CDTF">2026-09-28T03:14:54Z</dcterms:modified>
  <dc:subject>Big Data Review 2</dc:subject>
  <cp:keywords/>
  <dc:description/>
</cp:coreProperties>
</file>