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A-CPN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A-CPN with one component removed, on the same 25 folds. Removing the climate push costs the most; removing attention or the KAN layer does not lower accuracy, so those parts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ROC-AUC of every model on raw versus preprocessed features, with the gain written above each pair. The neural models gain;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7.png"/><Relationship Id="rId5"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9.png"/><Relationship Id="rId5"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12.png"/><Relationship Id="rId5"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14.png"/><Relationship Id="rId5"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6.png"/><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chart" Target="../charts/char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1.57</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2.0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0.760</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0.694</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(0.760,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A-CPN and MLP: Colab run 2026-10-22. Spark MLlib models: same code, data and folds, run with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0.737</a:t>
                      </a:r>
                    </a:p>
                  </a:txBody>
                  <a:tcPr marL="54864" marR="54864" marT="27432" marB="27432" anchor="ctr">
                    <a:solidFill>
                      <a:srgbClr val="FFF4CC"/>
                    </a:solidFill>
                  </a:tcPr>
                </a:tc>
                <a:tc>
                  <a:txBody>
                    <a:bodyPr wrap="square"/>
                    <a:lstStyle/>
                    <a:p>
                      <a:pPr algn="ctr"/>
                      <a:r>
                        <a:rPr sz="1200" b="1" i="0">
                          <a:solidFill>
                            <a:srgbClr val="1F1F1F"/>
                          </a:solidFill>
                          <a:latin typeface="Calibri"/>
                        </a:rPr>
                        <a:t>0.760</a:t>
                      </a:r>
                    </a:p>
                  </a:txBody>
                  <a:tcPr marL="54864" marR="54864" marT="27432" marB="27432" anchor="ctr">
                    <a:solidFill>
                      <a:srgbClr val="FFF4CC"/>
                    </a:solidFill>
                  </a:tcPr>
                </a:tc>
                <a:tc>
                  <a:txBody>
                    <a:bodyPr wrap="square"/>
                    <a:lstStyle/>
                    <a:p>
                      <a:pPr algn="ctr"/>
                      <a:r>
                        <a:rPr sz="1200" b="1" i="0">
                          <a:solidFill>
                            <a:srgbClr val="1F1F1F"/>
                          </a:solidFill>
                          <a:latin typeface="Calibri"/>
                        </a:rPr>
                        <a:t>+0.023</a:t>
                      </a:r>
                    </a:p>
                  </a:txBody>
                  <a:tcPr marL="54864" marR="54864" marT="27432" marB="27432" anchor="ctr">
                    <a:solidFill>
                      <a:srgbClr val="FFF4CC"/>
                    </a:solidFill>
                  </a:tcPr>
                </a:tc>
                <a:tc>
                  <a:txBody>
                    <a:bodyPr wrap="square"/>
                    <a:lstStyle/>
                    <a:p>
                      <a:pPr algn="ctr"/>
                      <a:r>
                        <a:rPr sz="1200" b="1" i="0">
                          <a:solidFill>
                            <a:srgbClr val="1F1F1F"/>
                          </a:solidFill>
                          <a:latin typeface="Calibri"/>
                        </a:rPr>
                        <a:t>0.672</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0.759</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+0.025</a:t>
                      </a:r>
                    </a:p>
                  </a:txBody>
                  <a:tcPr marL="54864" marR="54864" marT="27432" marB="27432" anchor="ctr">
                    <a:solidFill>
                      <a:srgbClr val="EEF2F8"/>
                    </a:solidFill>
                  </a:tcPr>
                </a:tc>
                <a:tc>
                  <a:txBody>
                    <a:bodyPr wrap="square"/>
                    <a:lstStyle/>
                    <a:p>
                      <a:pPr algn="ctr"/>
                      <a:r>
                        <a:rPr sz="1200" b="0" i="0">
                          <a:solidFill>
                            <a:srgbClr val="1F1F1F"/>
                          </a:solidFill>
                          <a:latin typeface="Calibri"/>
                        </a:rPr>
                        <a:t>0.678</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+0.013</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+0.025 ROC-AUC, A-CPN +0.023.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0.729</a:t>
                      </a:r>
                    </a:p>
                  </a:txBody>
                  <a:tcPr marL="54864" marR="54864" marT="27432" marB="27432" anchor="ctr">
                    <a:solidFill>
                      <a:srgbClr val="FFF4CC"/>
                    </a:solidFill>
                  </a:tcPr>
                </a:tc>
                <a:tc>
                  <a:txBody>
                    <a:bodyPr wrap="square"/>
                    <a:lstStyle/>
                    <a:p>
                      <a:pPr algn="ctr"/>
                      <a:r>
                        <a:rPr sz="1100" b="1" i="0">
                          <a:solidFill>
                            <a:srgbClr val="1F1F1F"/>
                          </a:solidFill>
                          <a:latin typeface="Calibri"/>
                        </a:rPr>
                        <a:t>0.405</a:t>
                      </a:r>
                    </a:p>
                  </a:txBody>
                  <a:tcPr marL="54864" marR="54864" marT="27432" marB="27432" anchor="ctr">
                    <a:solidFill>
                      <a:srgbClr val="FFF4CC"/>
                    </a:solidFill>
                  </a:tcPr>
                </a:tc>
                <a:tc>
                  <a:txBody>
                    <a:bodyPr wrap="square"/>
                    <a:lstStyle/>
                    <a:p>
                      <a:pPr algn="ctr"/>
                      <a:r>
                        <a:rPr sz="1100" b="1" i="0">
                          <a:solidFill>
                            <a:srgbClr val="1F1F1F"/>
                          </a:solidFill>
                          <a:latin typeface="Calibri"/>
                        </a:rPr>
                        <a:t>0.402</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0.614</a:t>
                      </a:r>
                    </a:p>
                  </a:txBody>
                  <a:tcPr marL="54864" marR="54864" marT="27432" marB="27432" anchor="ctr">
                    <a:solidFill>
                      <a:srgbClr val="FFF4CC"/>
                    </a:solidFill>
                  </a:tcPr>
                </a:tc>
                <a:tc>
                  <a:txBody>
                    <a:bodyPr wrap="square"/>
                    <a:lstStyle/>
                    <a:p>
                      <a:pPr algn="ctr"/>
                      <a:r>
                        <a:rPr sz="1100" b="1" i="0">
                          <a:solidFill>
                            <a:srgbClr val="1F1F1F"/>
                          </a:solidFill>
                          <a:latin typeface="Calibri"/>
                        </a:rPr>
                        <a:t>0.204</a:t>
                      </a:r>
                    </a:p>
                  </a:txBody>
                  <a:tcPr marL="54864" marR="54864" marT="27432" marB="27432" anchor="ctr">
                    <a:solidFill>
                      <a:srgbClr val="FFF4CC"/>
                    </a:solidFill>
                  </a:tcPr>
                </a:tc>
                <a:tc>
                  <a:txBody>
                    <a:bodyPr wrap="square"/>
                    <a:lstStyle/>
                    <a:p>
                      <a:pPr algn="ctr"/>
                      <a:r>
                        <a:rPr sz="1100" b="1" i="0">
                          <a:solidFill>
                            <a:srgbClr val="1F1F1F"/>
                          </a:solidFill>
                          <a:latin typeface="Calibri"/>
                        </a:rPr>
                        <a:t>0.120</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845</a:t>
                      </a:r>
                    </a:p>
                  </a:txBody>
                  <a:tcPr marL="54864" marR="54864" marT="27432" marB="27432" anchor="ctr">
                    <a:solidFill>
                      <a:srgbClr val="FFF4CC"/>
                    </a:solidFill>
                  </a:tcPr>
                </a:tc>
                <a:tc>
                  <a:txBody>
                    <a:bodyPr wrap="square"/>
                    <a:lstStyle/>
                    <a:p>
                      <a:pPr algn="ctr"/>
                      <a:r>
                        <a:rPr sz="1200" b="1" i="0">
                          <a:solidFill>
                            <a:srgbClr val="1F1F1F"/>
                          </a:solidFill>
                          <a:latin typeface="Calibri"/>
                        </a:rPr>
                        <a:t>315</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0.810</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0.602</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0.047</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0.071</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0.835</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0.311</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0.698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0.529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0.902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0.910</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-0.090</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0.495</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72%</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+0.32</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-0.99</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-0.99</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+0.20</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annual rain mm</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6.31e-07;  Anomaly B vs expected less-developed: p = 2.46e-18;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+3.30</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Mahoba (Uttar Pradesh) 2%</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Deogarh (Odisha) 4%</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Kandhamal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cpn_training_curve.png"/>
          <p:cNvPicPr>
            <a:picLocks noChangeAspect="1"/>
          </p:cNvPicPr>
          <p:nvPr/>
        </p:nvPicPr>
        <p:blipFill>
          <a:blip r:embed="rId4"/>
          <a:stretch>
            <a:fillRect/>
          </a:stretch>
        </p:blipFill>
        <p:spPr>
          <a:xfrm>
            <a:off x="365760" y="2081698"/>
            <a:ext cx="4114800" cy="2877482"/>
          </a:xfrm>
          <a:prstGeom prst="rect">
            <a:avLst/>
          </a:prstGeom>
        </p:spPr>
      </p:pic>
      <p:pic>
        <p:nvPicPr>
          <p:cNvPr id="5" name="Picture 4" descr="attention_importance.png"/>
          <p:cNvPicPr>
            <a:picLocks noChangeAspect="1"/>
          </p:cNvPicPr>
          <p:nvPr/>
        </p:nvPicPr>
        <p:blipFill>
          <a:blip r:embed="rId5"/>
          <a:stretch>
            <a:fillRect/>
          </a:stretch>
        </p:blipFill>
        <p:spPr>
          <a:xfrm>
            <a:off x="4663440" y="2336758"/>
            <a:ext cx="4114800" cy="236736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778292"/>
            <a:ext cx="8412480" cy="3484294"/>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365760" y="1471338"/>
            <a:ext cx="8412480" cy="4098203"/>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Model ROC-AUC before vs after preprocessing (label = gain)</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A-CPN (attention, KAN layer, residual MLP, development baseline);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Completed</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