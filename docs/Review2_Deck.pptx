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A-CPN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A-CPN with one component removed, on the same 25 folds. Removing the climate push costs the most; removing attention or the KAN layer does not lower accuracy, so those parts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ROC-AUC of every model on raw versus preprocessed features, with the gain written above each pair. The neural models gain;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2026-10-11);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1.2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2026-10-11)</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306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53 s / 132 s / 306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2026-10-11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0">
                          <a:solidFill>
                            <a:srgbClr val="1F1F1F"/>
                          </a:solidFill>
                          <a:latin typeface="Calibri"/>
                        </a:rPr>
                        <a:t>RMSE: PENDING</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2026-10-21 from project data; district-day values from the Colab run 2026-10-11.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1.58</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1.3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0.702</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0.711</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5544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(0.761,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0.740</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c>
                  <a:txBody>
                    <a:bodyPr wrap="square"/>
                    <a:lstStyle/>
                    <a:p>
                      <a:pPr algn="ctr"/>
                      <a:r>
                        <a:rPr sz="1200" b="1" i="0">
                          <a:solidFill>
                            <a:srgbClr val="1F1F1F"/>
                          </a:solidFill>
                          <a:latin typeface="Calibri"/>
                        </a:rPr>
                        <a:t>0.679</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+0.014</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0.758</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+0.026</a:t>
                      </a:r>
                    </a:p>
                  </a:txBody>
                  <a:tcPr marL="54864" marR="54864" marT="27432" marB="27432" anchor="ctr">
                    <a:solidFill>
                      <a:srgbClr val="EEF2F8"/>
                    </a:solidFill>
                  </a:tcPr>
                </a:tc>
                <a:tc>
                  <a:txBody>
                    <a:bodyPr wrap="square"/>
                    <a:lstStyle/>
                    <a:p>
                      <a:pPr algn="ctr"/>
                      <a:r>
                        <a:rPr sz="1200" b="0" i="0">
                          <a:solidFill>
                            <a:srgbClr val="1F1F1F"/>
                          </a:solidFill>
                          <a:latin typeface="Calibri"/>
                        </a:rPr>
                        <a:t>0.677</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+0.018</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+0.026 ROC-AUC, A-CPN +0.021.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0.730</a:t>
                      </a:r>
                    </a:p>
                  </a:txBody>
                  <a:tcPr marL="54864" marR="54864" marT="27432" marB="27432" anchor="ctr">
                    <a:solidFill>
                      <a:srgbClr val="FFF4CC"/>
                    </a:solidFill>
                  </a:tcPr>
                </a:tc>
                <a:tc>
                  <a:txBody>
                    <a:bodyPr wrap="square"/>
                    <a:lstStyle/>
                    <a:p>
                      <a:pPr algn="ctr"/>
                      <a:r>
                        <a:rPr sz="1100" b="1" i="0">
                          <a:solidFill>
                            <a:srgbClr val="1F1F1F"/>
                          </a:solidFill>
                          <a:latin typeface="Calibri"/>
                        </a:rPr>
                        <a:t>0.406</a:t>
                      </a:r>
                    </a:p>
                  </a:txBody>
                  <a:tcPr marL="54864" marR="54864" marT="27432" marB="27432" anchor="ctr">
                    <a:solidFill>
                      <a:srgbClr val="FFF4CC"/>
                    </a:solidFill>
                  </a:tcPr>
                </a:tc>
                <a:tc>
                  <a:txBody>
                    <a:bodyPr wrap="square"/>
                    <a:lstStyle/>
                    <a:p>
                      <a:pPr algn="ctr"/>
                      <a:r>
                        <a:rPr sz="1100" b="1" i="0">
                          <a:solidFill>
                            <a:srgbClr val="1F1F1F"/>
                          </a:solidFill>
                          <a:latin typeface="Calibri"/>
                        </a:rPr>
                        <a:t>0.403</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0.613</a:t>
                      </a:r>
                    </a:p>
                  </a:txBody>
                  <a:tcPr marL="54864" marR="54864" marT="27432" marB="27432" anchor="ctr">
                    <a:solidFill>
                      <a:srgbClr val="FFF4CC"/>
                    </a:solidFill>
                  </a:tcPr>
                </a:tc>
                <a:tc>
                  <a:txBody>
                    <a:bodyPr wrap="square"/>
                    <a:lstStyle/>
                    <a:p>
                      <a:pPr algn="ctr"/>
                      <a:r>
                        <a:rPr sz="1100" b="1" i="0">
                          <a:solidFill>
                            <a:srgbClr val="1F1F1F"/>
                          </a:solidFill>
                          <a:latin typeface="Calibri"/>
                        </a:rPr>
                        <a:t>0.203</a:t>
                      </a:r>
                    </a:p>
                  </a:txBody>
                  <a:tcPr marL="54864" marR="54864" marT="27432" marB="27432" anchor="ctr">
                    <a:solidFill>
                      <a:srgbClr val="FFF4CC"/>
                    </a:solidFill>
                  </a:tcPr>
                </a:tc>
                <a:tc>
                  <a:txBody>
                    <a:bodyPr wrap="square"/>
                    <a:lstStyle/>
                    <a:p>
                      <a:pPr algn="ctr"/>
                      <a:r>
                        <a:rPr sz="1100" b="1" i="0">
                          <a:solidFill>
                            <a:srgbClr val="1F1F1F"/>
                          </a:solidFill>
                          <a:latin typeface="Calibri"/>
                        </a:rPr>
                        <a:t>0.119</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0.720</a:t>
                      </a:r>
                    </a:p>
                  </a:txBody>
                  <a:tcPr marL="54864" marR="54864" marT="27432" marB="27432" anchor="ctr">
                    <a:solidFill>
                      <a:srgbClr val="EEF2F8"/>
                    </a:solidFill>
                  </a:tcPr>
                </a:tc>
                <a:tc>
                  <a:txBody>
                    <a:bodyPr wrap="square"/>
                    <a:lstStyle/>
                    <a:p>
                      <a:pPr algn="ctr"/>
                      <a:r>
                        <a:rPr sz="1100" b="0" i="0">
                          <a:solidFill>
                            <a:srgbClr val="1F1F1F"/>
                          </a:solidFill>
                          <a:latin typeface="Calibri"/>
                        </a:rPr>
                        <a:t>0.680</a:t>
                      </a:r>
                    </a:p>
                  </a:txBody>
                  <a:tcPr marL="54864" marR="54864" marT="27432" marB="27432" anchor="ctr">
                    <a:solidFill>
                      <a:srgbClr val="EEF2F8"/>
                    </a:solidFill>
                  </a:tcPr>
                </a:tc>
                <a:tc>
                  <a:txBody>
                    <a:bodyPr wrap="square"/>
                    <a:lstStyle/>
                    <a:p>
                      <a:pPr algn="ctr"/>
                      <a:r>
                        <a:rPr sz="1100" b="0" i="0">
                          <a:solidFill>
                            <a:srgbClr val="1F1F1F"/>
                          </a:solidFill>
                          <a:latin typeface="Calibri"/>
                        </a:rPr>
                        <a:t>0.723</a:t>
                      </a:r>
                    </a:p>
                  </a:txBody>
                  <a:tcPr marL="54864" marR="54864" marT="27432" marB="27432" anchor="ctr">
                    <a:solidFill>
                      <a:srgbClr val="EEF2F8"/>
                    </a:solidFill>
                  </a:tcPr>
                </a:tc>
                <a:tc>
                  <a:txBody>
                    <a:bodyPr wrap="square"/>
                    <a:lstStyle/>
                    <a:p>
                      <a:pPr algn="ctr"/>
                      <a:r>
                        <a:rPr sz="1100" b="0" i="0">
                          <a:solidFill>
                            <a:srgbClr val="1F1F1F"/>
                          </a:solidFill>
                          <a:latin typeface="Calibri"/>
                        </a:rPr>
                        <a:t>0.407</a:t>
                      </a:r>
                    </a:p>
                  </a:txBody>
                  <a:tcPr marL="54864" marR="54864" marT="27432" marB="27432" anchor="ctr">
                    <a:solidFill>
                      <a:srgbClr val="EEF2F8"/>
                    </a:solidFill>
                  </a:tcPr>
                </a:tc>
                <a:tc>
                  <a:txBody>
                    <a:bodyPr wrap="square"/>
                    <a:lstStyle/>
                    <a:p>
                      <a:pPr algn="ctr"/>
                      <a:r>
                        <a:rPr sz="1100" b="0" i="0">
                          <a:solidFill>
                            <a:srgbClr val="1F1F1F"/>
                          </a:solidFill>
                          <a:latin typeface="Calibri"/>
                        </a:rPr>
                        <a:t>0.403</a:t>
                      </a:r>
                    </a:p>
                  </a:txBody>
                  <a:tcPr marL="54864" marR="54864" marT="27432" marB="27432" anchor="ctr">
                    <a:solidFill>
                      <a:srgbClr val="EEF2F8"/>
                    </a:solidFill>
                  </a:tcPr>
                </a:tc>
                <a:tc>
                  <a:txBody>
                    <a:bodyPr wrap="square"/>
                    <a:lstStyle/>
                    <a:p>
                      <a:pPr algn="ctr"/>
                      <a:r>
                        <a:rPr sz="1100" b="0" i="0">
                          <a:solidFill>
                            <a:srgbClr val="1F1F1F"/>
                          </a:solidFill>
                          <a:latin typeface="Calibri"/>
                        </a:rPr>
                        <a:t>0.810</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0.118</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846</a:t>
                      </a:r>
                    </a:p>
                  </a:txBody>
                  <a:tcPr marL="54864" marR="54864" marT="27432" marB="27432" anchor="ctr">
                    <a:solidFill>
                      <a:srgbClr val="FFF4CC"/>
                    </a:solidFill>
                  </a:tcPr>
                </a:tc>
                <a:tc>
                  <a:txBody>
                    <a:bodyPr wrap="square"/>
                    <a:lstStyle/>
                    <a:p>
                      <a:pPr algn="ctr"/>
                      <a:r>
                        <a:rPr sz="1200" b="1" i="0">
                          <a:solidFill>
                            <a:srgbClr val="1F1F1F"/>
                          </a:solidFill>
                          <a:latin typeface="Calibri"/>
                        </a:rPr>
                        <a:t>314</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0.811</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0.594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0.049</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0.073</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0.826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806</a:t>
                      </a:r>
                    </a:p>
                  </a:txBody>
                  <a:tcPr marL="54864" marR="54864" marT="27432" marB="27432" anchor="ctr">
                    <a:solidFill>
                      <a:srgbClr val="EEF2F8"/>
                    </a:solidFill>
                  </a:tcPr>
                </a:tc>
                <a:tc>
                  <a:txBody>
                    <a:bodyPr wrap="square"/>
                    <a:lstStyle/>
                    <a:p>
                      <a:pPr algn="ctr"/>
                      <a:r>
                        <a:rPr sz="1200" b="0" i="0">
                          <a:solidFill>
                            <a:srgbClr val="1F1F1F"/>
                          </a:solidFill>
                          <a:latin typeface="Calibri"/>
                        </a:rPr>
                        <a:t>838</a:t>
                      </a:r>
                    </a:p>
                  </a:txBody>
                  <a:tcPr marL="54864" marR="54864" marT="27432" marB="27432" anchor="ctr">
                    <a:solidFill>
                      <a:srgbClr val="EEF2F8"/>
                    </a:solidFill>
                  </a:tcPr>
                </a:tc>
                <a:tc>
                  <a:txBody>
                    <a:bodyPr wrap="square"/>
                    <a:lstStyle/>
                    <a:p>
                      <a:pPr algn="ctr"/>
                      <a:r>
                        <a:rPr sz="1200" b="0" i="0">
                          <a:solidFill>
                            <a:srgbClr val="1F1F1F"/>
                          </a:solidFill>
                          <a:latin typeface="Calibri"/>
                        </a:rPr>
                        <a:t>322</a:t>
                      </a:r>
                    </a:p>
                  </a:txBody>
                  <a:tcPr marL="54864" marR="54864" marT="27432" marB="27432" anchor="ctr">
                    <a:solidFill>
                      <a:srgbClr val="EEF2F8"/>
                    </a:solidFill>
                  </a:tcPr>
                </a:tc>
                <a:tc>
                  <a:txBody>
                    <a:bodyPr wrap="square"/>
                    <a:lstStyle/>
                    <a:p>
                      <a:pPr algn="ctr"/>
                      <a:r>
                        <a:rPr sz="1200" b="0" i="0">
                          <a:solidFill>
                            <a:srgbClr val="1F1F1F"/>
                          </a:solidFill>
                          <a:latin typeface="Calibri"/>
                        </a:rPr>
                        <a:t>379</a:t>
                      </a:r>
                    </a:p>
                  </a:txBody>
                  <a:tcPr marL="54864" marR="54864" marT="27432" marB="27432" anchor="ctr">
                    <a:solidFill>
                      <a:srgbClr val="EEF2F8"/>
                    </a:solidFill>
                  </a:tcPr>
                </a:tc>
                <a:tc>
                  <a:txBody>
                    <a:bodyPr wrap="square"/>
                    <a:lstStyle/>
                    <a:p>
                      <a:pPr algn="ctr"/>
                      <a:r>
                        <a:rPr sz="1200" b="0" i="0">
                          <a:solidFill>
                            <a:srgbClr val="1F1F1F"/>
                          </a:solidFill>
                          <a:latin typeface="Calibri"/>
                        </a:rPr>
                        <a:t>0.741 – 0.827</a:t>
                      </a:r>
                    </a:p>
                  </a:txBody>
                  <a:tcPr marL="54864" marR="54864" marT="27432" marB="27432" anchor="ctr">
                    <a:solidFill>
                      <a:srgbClr val="EEF2F8"/>
                    </a:solidFill>
                  </a:tcPr>
                </a:tc>
                <a:tc>
                  <a:txBody>
                    <a:bodyPr wrap="square"/>
                    <a:lstStyle/>
                    <a:p>
                      <a:pPr algn="ctr"/>
                      <a:r>
                        <a:rPr sz="1200" b="0" i="0">
                          <a:solidFill>
                            <a:srgbClr val="1F1F1F"/>
                          </a:solidFill>
                          <a:latin typeface="Calibri"/>
                        </a:rPr>
                        <a:t>0.330</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0.761</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0.709</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0.532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0.895</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0.903</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-0.091</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0.491</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73%</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+0.31</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-0.98</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-1.00</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+0.21</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mean tmax</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9.21e-07;  Anomaly B vs expected less-developed: p = 3.06e-18;  mean MC Dropout SD of push = 0.53</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+3.31</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Darjeeling (West Bengal) 1%</a:t>
            </a:r>
          </a:p>
          <a:p>
            <a:pPr>
              <a:spcAft>
                <a:spcPts val="0"/>
              </a:spcAft>
            </a:pPr>
            <a:r>
              <a:rPr sz="1200" b="0" i="0">
                <a:solidFill>
                  <a:srgbClr val="0E6E6E"/>
                </a:solidFill>
                <a:latin typeface="Calibri"/>
              </a:rPr>
              <a:t>▪  </a:t>
            </a:r>
            <a:r>
              <a:rPr sz="1200" b="0" i="0">
                <a:solidFill>
                  <a:srgbClr val="1F1F1F"/>
                </a:solidFill>
                <a:latin typeface="Calibri"/>
              </a:rPr>
              <a:t>Mahoba (Uttar Pradesh) 1%</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Deogarh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2026-10-11)</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2026-10-11)</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cpn_training_curve.png"/>
          <p:cNvPicPr>
            <a:picLocks noChangeAspect="1"/>
          </p:cNvPicPr>
          <p:nvPr/>
        </p:nvPicPr>
        <p:blipFill>
          <a:blip r:embed="rId4"/>
          <a:stretch>
            <a:fillRect/>
          </a:stretch>
        </p:blipFill>
        <p:spPr>
          <a:xfrm>
            <a:off x="365760" y="2081698"/>
            <a:ext cx="4114800" cy="2877482"/>
          </a:xfrm>
          <a:prstGeom prst="rect">
            <a:avLst/>
          </a:prstGeom>
        </p:spPr>
      </p:pic>
      <p:pic>
        <p:nvPicPr>
          <p:cNvPr id="5" name="Picture 4" descr="attention_importance.png"/>
          <p:cNvPicPr>
            <a:picLocks noChangeAspect="1"/>
          </p:cNvPicPr>
          <p:nvPr/>
        </p:nvPicPr>
        <p:blipFill>
          <a:blip r:embed="rId5"/>
          <a:stretch>
            <a:fillRect/>
          </a:stretch>
        </p:blipFill>
        <p:spPr>
          <a:xfrm>
            <a:off x="4663440" y="2336758"/>
            <a:ext cx="4114800" cy="236736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778292"/>
            <a:ext cx="8412480" cy="3484294"/>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365760" y="1471338"/>
            <a:ext cx="8412480" cy="4098203"/>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Model ROC-AUC before vs after preprocessing (label = gain)</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2026-10-11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 (IMD re-run in Colab pending)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 (fresh Colab run pending)</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A-CPN (attention, KAN layer, residual MLP, development baseline);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