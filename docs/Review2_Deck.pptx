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deep-learning model, 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A-CPN splits each district's risk into two parts. A linear development baseline says how vulnerable the district should be from development alone. A deep climate network learns a climate push that raises or lowers that risk.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A-CPN is trained in PyTorch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2026-10-22.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A-CPN specification. The development part is deliberately linear so the baseline is readable; the climate part is a small deep network sized for 469 districts. Every model, including 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A-CPN with five existing models on exactly the same 25 folds and the same leave-one-state-out split. Values are means over folds. We call a model best only if its lead is larger than one standard deviation, and we report a baseline that beats 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The gain column is the improvement.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A-CPN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A-CPN with one component removed, on the same 25 folds. Removing the climate push costs the most; removing attention or the KAN layer does not lower accuracy, so those parts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ROC-AUC of every model on raw versus preprocessed features, with the gain written above each pair. The neural models gain; tree models and Spark's internally standardised models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 Id="rId4" Type="http://schemas.openxmlformats.org/officeDocument/2006/relationships/image" Target="../media/image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 Id="rId4" Type="http://schemas.openxmlformats.org/officeDocument/2006/relationships/image" Target="../media/image4.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7.png"/><Relationship Id="rId5"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9.png"/><Relationship Id="rId5"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12.png"/><Relationship Id="rId5"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6.png"/><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A-CPN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Attentive Climate Push Network: </a:t>
            </a:r>
            <a:r>
              <a:rPr sz="1500" b="0" i="0">
                <a:solidFill>
                  <a:srgbClr val="1F1F1F"/>
                </a:solidFill>
                <a:latin typeface="Calibri"/>
              </a:rPr>
              <a:t>a novel deep-learning model combining recent techniques</a:t>
            </a:r>
          </a:p>
          <a:p>
            <a:pPr>
              <a:spcAft>
                <a:spcPts val="300"/>
              </a:spcAft>
            </a:pPr>
            <a:r>
              <a:rPr sz="1500" b="0" i="0">
                <a:solidFill>
                  <a:srgbClr val="0E6E6E"/>
                </a:solidFill>
                <a:latin typeface="Calibri"/>
              </a:rPr>
              <a:t>▪  </a:t>
            </a:r>
            <a:r>
              <a:rPr sz="1500" b="1" i="0">
                <a:solidFill>
                  <a:srgbClr val="1F1F1F"/>
                </a:solidFill>
                <a:latin typeface="Calibri"/>
              </a:rPr>
              <a:t>Development baseline: </a:t>
            </a:r>
            <a:r>
              <a:rPr sz="1500" b="0" i="0">
                <a:solidFill>
                  <a:srgbClr val="1F1F1F"/>
                </a:solidFill>
                <a:latin typeface="Calibri"/>
              </a:rPr>
              <a:t>linear layer on the 5 development features (interpretable)</a:t>
            </a:r>
          </a:p>
          <a:p>
            <a:pPr>
              <a:spcAft>
                <a:spcPts val="300"/>
              </a:spcAft>
            </a:pPr>
            <a:r>
              <a:rPr sz="1500" b="0" i="0">
                <a:solidFill>
                  <a:srgbClr val="0E6E6E"/>
                </a:solidFill>
                <a:latin typeface="Calibri"/>
              </a:rPr>
              <a:t>▪  </a:t>
            </a:r>
            <a:r>
              <a:rPr sz="1500" b="1" i="0">
                <a:solidFill>
                  <a:srgbClr val="1F1F1F"/>
                </a:solidFill>
                <a:latin typeface="Calibri"/>
              </a:rPr>
              <a:t>Climate push: </a:t>
            </a:r>
            <a:r>
              <a:rPr sz="1500" b="0" i="0">
                <a:solidFill>
                  <a:srgbClr val="1F1F1F"/>
                </a:solidFill>
                <a:latin typeface="Calibri"/>
              </a:rPr>
              <a:t>feature attention → KAN layer → residual MLP on the 8 IMD hazard features</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p = σ(baseline + climate push);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Development</a:t>
            </a:r>
          </a:p>
          <a:p>
            <a:pPr algn="ctr"/>
            <a:r>
              <a:rPr sz="1100" b="0" i="0">
                <a:solidFill>
                  <a:srgbClr val="595959"/>
                </a:solidFill>
                <a:latin typeface="Calibri"/>
              </a:rPr>
              <a:t>5 features</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Linear baseline</a:t>
            </a:r>
          </a:p>
          <a:p>
            <a:pPr algn="ctr"/>
            <a:r>
              <a:rPr sz="1100" b="0" i="0">
                <a:solidFill>
                  <a:srgbClr val="595959"/>
                </a:solidFill>
                <a:latin typeface="Calibri"/>
              </a:rPr>
              <a:t>interpretable</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KAN → Residual MLP</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Baseline</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a:t>
            </a:r>
          </a:p>
          <a:p>
            <a:pPr algn="ctr"/>
            <a:r>
              <a:rPr sz="1100" b="0" i="0">
                <a:solidFill>
                  <a:srgbClr val="595959"/>
                </a:solidFill>
                <a:latin typeface="Calibri"/>
              </a:rPr>
              <a:t>High / Low</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recent techniques (attention, KAN, residual blocks, conformal prediction) combined into a development-anchored network for district climate vulnerability</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A-CPN</a:t>
            </a:r>
          </a:p>
          <a:p>
            <a:pPr algn="ctr"/>
            <a:r>
              <a:rPr sz="1100" b="0" i="0">
                <a:solidFill>
                  <a:srgbClr val="595959"/>
                </a:solidFill>
                <a:latin typeface="Calibri"/>
              </a:rPr>
              <a:t>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2026-10-22);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2026-10-22)</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333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55 s / 140 s / 333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0">
                          <a:solidFill>
                            <a:srgbClr val="1F1F1F"/>
                          </a:solidFill>
                          <a:latin typeface="Calibri"/>
                        </a:rPr>
                        <a:t>RMSE ≤ 0.0029, MAE ≤ 0.0025</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2026-10-22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 2020</a:t>
                      </a:r>
                    </a:p>
                  </a:txBody>
                  <a:tcPr marL="54864" marR="54864" marT="27432" marB="27432" anchor="ctr">
                    <a:solidFill>
                      <a:srgbClr val="EEF2F8"/>
                    </a:solidFill>
                  </a:tcPr>
                </a:tc>
                <a:tc>
                  <a:txBody>
                    <a:bodyPr wrap="square"/>
                    <a:lstStyle/>
                    <a:p>
                      <a:pPr algn="ctr"/>
                      <a:r>
                        <a:rPr sz="1200" b="0" i="0">
                          <a:solidFill>
                            <a:srgbClr val="1F1F1F"/>
                          </a:solidFill>
                          <a:latin typeface="Calibri"/>
                        </a:rPr>
                        <a:t>636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RMSE 287 mm (11.1%) avoided</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2026-10-22 from project data; district-day values from the Colab run 2026-10-22.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5230368"/>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Development baseline</a:t>
                      </a:r>
                    </a:p>
                  </a:txBody>
                  <a:tcPr marL="54864" marR="54864" marT="27432" marB="27432" anchor="ctr">
                    <a:solidFill>
                      <a:srgbClr val="FFFFFF"/>
                    </a:solidFill>
                  </a:tcPr>
                </a:tc>
                <a:tc>
                  <a:txBody>
                    <a:bodyPr wrap="square"/>
                    <a:lstStyle/>
                    <a:p>
                      <a:pPr algn="ctr"/>
                      <a:r>
                        <a:rPr sz="1200" b="0" i="0">
                          <a:solidFill>
                            <a:srgbClr val="1F1F1F"/>
                          </a:solidFill>
                          <a:latin typeface="Calibri"/>
                        </a:rPr>
                        <a:t>Linear(5 → 1) on the 5 development features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Feature attention</a:t>
                      </a:r>
                    </a:p>
                  </a:txBody>
                  <a:tcPr marL="54864" marR="54864" marT="27432" marB="27432" anchor="ctr">
                    <a:solidFill>
                      <a:srgbClr val="EEF2F8"/>
                    </a:solidFill>
                  </a:tcPr>
                </a:tc>
                <a:tc>
                  <a:txBody>
                    <a:bodyPr wrap="square"/>
                    <a:lstStyle/>
                    <a:p>
                      <a:pPr algn="ctr"/>
                      <a:r>
                        <a:rPr sz="1200" b="0" i="0">
                          <a:solidFill>
                            <a:srgbClr val="1F1F1F"/>
                          </a:solidFill>
                          <a:latin typeface="Calibri"/>
                        </a:rPr>
                        <a:t>8 climate features → softmax attention weights (which factor matters)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KAN layer</a:t>
                      </a:r>
                    </a:p>
                  </a:txBody>
                  <a:tcPr marL="54864" marR="54864" marT="27432" marB="27432" anchor="ctr">
                    <a:solidFill>
                      <a:srgbClr val="FFFFFF"/>
                    </a:solidFill>
                  </a:tcPr>
                </a:tc>
                <a:tc>
                  <a:txBody>
                    <a:bodyPr wrap="square"/>
                    <a:lstStyle/>
                    <a:p>
                      <a:pPr algn="ctr"/>
                      <a:r>
                        <a:rPr sz="1200" b="0" i="0">
                          <a:solidFill>
                            <a:srgbClr val="1F1F1F"/>
                          </a:solidFill>
                          <a:latin typeface="Calibri"/>
                        </a:rPr>
                        <a:t>Kolmogorov–Arnold layer (8 → 16), learnable cubic B-spline per edge</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Residual MLP</a:t>
                      </a:r>
                    </a:p>
                  </a:txBody>
                  <a:tcPr marL="54864" marR="54864" marT="27432" marB="27432" anchor="ctr">
                    <a:solidFill>
                      <a:srgbClr val="EEF2F8"/>
                    </a:solidFill>
                  </a:tcPr>
                </a:tc>
                <a:tc>
                  <a:txBody>
                    <a:bodyPr wrap="square"/>
                    <a:lstStyle/>
                    <a:p>
                      <a:pPr algn="ctr"/>
                      <a:r>
                        <a:rPr sz="1200" b="0" i="0">
                          <a:solidFill>
                            <a:srgbClr val="1F1F1F"/>
                          </a:solidFill>
                          <a:latin typeface="Calibri"/>
                        </a:rPr>
                        <a:t>Linear(16→16) → BatchNorm → ReLU → Dropout 0.3, skip connection → Linear(16→1)</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Output</a:t>
                      </a:r>
                    </a:p>
                  </a:txBody>
                  <a:tcPr marL="54864" marR="54864" marT="27432" marB="27432" anchor="ctr">
                    <a:solidFill>
                      <a:srgbClr val="FFFFFF"/>
                    </a:solidFill>
                  </a:tcPr>
                </a:tc>
                <a:tc>
                  <a:txBody>
                    <a:bodyPr wrap="square"/>
                    <a:lstStyle/>
                    <a:p>
                      <a:pPr algn="ctr"/>
                      <a:r>
                        <a:rPr sz="1200" b="0" i="0">
                          <a:solidFill>
                            <a:srgbClr val="1F1F1F"/>
                          </a:solidFill>
                          <a:latin typeface="Calibri"/>
                        </a:rPr>
                        <a:t>p = σ(development baseline + climate push)</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EEF2F8"/>
                    </a:solidFill>
                  </a:tcPr>
                </a:tc>
                <a:tc>
                  <a:txBody>
                    <a:bodyPr wrap="square"/>
                    <a:lstStyle/>
                    <a:p>
                      <a:pPr algn="ctr"/>
                      <a:r>
                        <a:rPr sz="1200" b="0" i="0">
                          <a:solidFill>
                            <a:srgbClr val="1F1F1F"/>
                          </a:solidFill>
                          <a:latin typeface="Calibri"/>
                        </a:rPr>
                        <a:t>MC Dropout (50 passes) + split conformal: 91.2% coverage (target 90%), avg set size 1.57</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FFFFFF"/>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EEF2F8"/>
                    </a:solidFill>
                  </a:tcPr>
                </a:tc>
                <a:tc>
                  <a:txBody>
                    <a:bodyPr wrap="square"/>
                    <a:lstStyle/>
                    <a:p>
                      <a:pPr algn="ctr"/>
                      <a:r>
                        <a:rPr sz="1200" b="0" i="0">
                          <a:solidFill>
                            <a:srgbClr val="1F1F1F"/>
                          </a:solidFill>
                          <a:latin typeface="Calibri"/>
                        </a:rPr>
                        <a:t>1,775 trainable / 2.0 s per fold (CPU)</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FFFFFF"/>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EEF2F8"/>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EEF2F8"/>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0.760</a:t>
                      </a:r>
                    </a:p>
                  </a:txBody>
                  <a:tcPr marL="54864" marR="54864" marT="27432" marB="27432" anchor="ctr">
                    <a:solidFill>
                      <a:srgbClr val="FFF4CC"/>
                    </a:solidFill>
                  </a:tcPr>
                </a:tc>
                <a:tc>
                  <a:txBody>
                    <a:bodyPr wrap="square"/>
                    <a:lstStyle/>
                    <a:p>
                      <a:pPr algn="ctr"/>
                      <a:r>
                        <a:rPr sz="1200" b="1" i="0">
                          <a:solidFill>
                            <a:srgbClr val="1F1F1F"/>
                          </a:solidFill>
                          <a:latin typeface="Calibri"/>
                        </a:rPr>
                        <a:t>0.701</a:t>
                      </a:r>
                    </a:p>
                  </a:txBody>
                  <a:tcPr marL="54864" marR="54864" marT="27432" marB="27432" anchor="ctr">
                    <a:solidFill>
                      <a:srgbClr val="FFF4CC"/>
                    </a:solidFill>
                  </a:tcPr>
                </a:tc>
                <a:tc>
                  <a:txBody>
                    <a:bodyPr wrap="square"/>
                    <a:lstStyle/>
                    <a:p>
                      <a:pPr algn="ctr"/>
                      <a:r>
                        <a:rPr sz="1200" b="1" i="0">
                          <a:solidFill>
                            <a:srgbClr val="1F1F1F"/>
                          </a:solidFill>
                          <a:latin typeface="Calibri"/>
                        </a:rPr>
                        <a:t>0.701</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0.694</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0.710</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28016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Gradient-Boosted Trees is best (ROC-AUC 0.811); A-CPN ranks 4 of 6 (0.760, gap 0.050 &gt; 1 SD = 0.045)</a:t>
            </a:r>
          </a:p>
          <a:p>
            <a:pPr>
              <a:spcAft>
                <a:spcPts val="300"/>
              </a:spcAft>
            </a:pPr>
            <a:r>
              <a:rPr sz="1500" b="0" i="0">
                <a:solidFill>
                  <a:srgbClr val="0E6E6E"/>
                </a:solidFill>
                <a:latin typeface="Calibri"/>
              </a:rPr>
              <a:t>▪  </a:t>
            </a:r>
            <a:r>
              <a:rPr sz="1500" b="1" i="0">
                <a:solidFill>
                  <a:srgbClr val="1F1F1F"/>
                </a:solidFill>
                <a:latin typeface="Calibri"/>
              </a:rPr>
              <a:t>A-CPN is higher than: </a:t>
            </a:r>
            <a:r>
              <a:rPr sz="1500" b="0" i="0">
                <a:solidFill>
                  <a:srgbClr val="1F1F1F"/>
                </a:solidFill>
                <a:latin typeface="Calibri"/>
              </a:rPr>
              <a:t>LR, Linear SVM</a:t>
            </a:r>
          </a:p>
          <a:p>
            <a:pPr>
              <a:spcAft>
                <a:spcPts val="300"/>
              </a:spcAft>
            </a:pPr>
            <a:r>
              <a:rPr sz="1500" b="0" i="0">
                <a:solidFill>
                  <a:srgbClr val="0E6E6E"/>
                </a:solidFill>
                <a:latin typeface="Calibri"/>
              </a:rPr>
              <a:t>▪  </a:t>
            </a:r>
            <a:r>
              <a:rPr sz="1500" b="1" i="0">
                <a:solidFill>
                  <a:srgbClr val="1F1F1F"/>
                </a:solidFill>
                <a:latin typeface="Calibri"/>
              </a:rPr>
              <a:t>A-CPN's added value: </a:t>
            </a:r>
            <a:r>
              <a:rPr sz="1500" b="0" i="0">
                <a:solidFill>
                  <a:srgbClr val="1F1F1F"/>
                </a:solidFill>
                <a:latin typeface="Calibri"/>
              </a:rPr>
              <a:t>a per-district climate push, attention and uncertainty, which the baselines do not give</a:t>
            </a:r>
          </a:p>
        </p:txBody>
      </p:sp>
      <p:sp>
        <p:nvSpPr>
          <p:cNvPr id="6" name="TextBox 5"/>
          <p:cNvSpPr txBox="1"/>
          <p:nvPr/>
        </p:nvSpPr>
        <p:spPr>
          <a:xfrm>
            <a:off x="365760" y="6126480"/>
            <a:ext cx="8412480" cy="320040"/>
          </a:xfrm>
          <a:prstGeom prst="rect">
            <a:avLst/>
          </a:prstGeom>
          <a:noFill/>
        </p:spPr>
        <p:txBody>
          <a:bodyPr wrap="square" anchor="t" lIns="45720" rIns="45720">
            <a:spAutoFit/>
          </a:bodyPr>
          <a:lstStyle/>
          <a:p>
            <a:pPr algn="l"/>
            <a:r>
              <a:rPr sz="1000" b="0" i="0">
                <a:solidFill>
                  <a:srgbClr val="595959"/>
                </a:solidFill>
                <a:latin typeface="Calibri"/>
              </a:rPr>
              <a:t>A-CPN and MLP: Colab run 2026-10-22. Spark MLlib models: same code, data and folds, run with Spark 3.5.3 on 2026-10-21.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712464"/>
        </p:xfrm>
        <a:graphic>
          <a:graphicData uri="http://schemas.openxmlformats.org/drawingml/2006/table">
            <a:tbl>
              <a:tblPr firstRow="1" bandRow="1">
                <a:tableStyleId>{5C22544A-7EE6-4342-B048-85BDC9FD1C3A}</a:tableStyleId>
              </a:tblPr>
              <a:tblGrid>
                <a:gridCol w="2103120"/>
                <a:gridCol w="1051560"/>
                <a:gridCol w="1051560"/>
                <a:gridCol w="1051560"/>
                <a:gridCol w="1051560"/>
                <a:gridCol w="1051560"/>
                <a:gridCol w="1051560"/>
              </a:tblGrid>
              <a:tr h="530352">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AUC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AUC after</a:t>
                      </a:r>
                    </a:p>
                  </a:txBody>
                  <a:tcPr marL="54864" marR="54864" marT="27432" marB="27432" anchor="ctr">
                    <a:solidFill>
                      <a:srgbClr val="1B3A6B"/>
                    </a:solidFill>
                  </a:tcPr>
                </a:tc>
                <a:tc>
                  <a:txBody>
                    <a:bodyPr wrap="square"/>
                    <a:lstStyle/>
                    <a:p>
                      <a:pPr algn="ctr"/>
                      <a:r>
                        <a:rPr sz="1200" b="1" i="0">
                          <a:solidFill>
                            <a:srgbClr val="FFFFFF"/>
                          </a:solidFill>
                          <a:latin typeface="Calibri"/>
                        </a:rPr>
                        <a:t>AUC gain</a:t>
                      </a:r>
                    </a:p>
                  </a:txBody>
                  <a:tcPr marL="54864" marR="54864" marT="27432" marB="27432" anchor="ctr">
                    <a:solidFill>
                      <a:srgbClr val="1B3A6B"/>
                    </a:solidFill>
                  </a:tcPr>
                </a:tc>
                <a:tc>
                  <a:txBody>
                    <a:bodyPr wrap="square"/>
                    <a:lstStyle/>
                    <a:p>
                      <a:pPr algn="ctr"/>
                      <a:r>
                        <a:rPr sz="1200" b="1" i="0">
                          <a:solidFill>
                            <a:srgbClr val="FFFFFF"/>
                          </a:solidFill>
                          <a:latin typeface="Calibri"/>
                        </a:rPr>
                        <a:t>F1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F1 after</a:t>
                      </a:r>
                    </a:p>
                  </a:txBody>
                  <a:tcPr marL="54864" marR="54864" marT="27432" marB="27432" anchor="ctr">
                    <a:solidFill>
                      <a:srgbClr val="1B3A6B"/>
                    </a:solidFill>
                  </a:tcPr>
                </a:tc>
                <a:tc>
                  <a:txBody>
                    <a:bodyPr wrap="square"/>
                    <a:lstStyle/>
                    <a:p>
                      <a:pPr algn="ctr"/>
                      <a:r>
                        <a:rPr sz="1200" b="1" i="0">
                          <a:solidFill>
                            <a:srgbClr val="FFFFFF"/>
                          </a:solidFill>
                          <a:latin typeface="Calibri"/>
                        </a:rPr>
                        <a:t>F1 gain</a:t>
                      </a:r>
                    </a:p>
                  </a:txBody>
                  <a:tcPr marL="54864" marR="54864" marT="27432" marB="27432" anchor="ctr">
                    <a:solidFill>
                      <a:srgbClr val="1B3A6B"/>
                    </a:solidFill>
                  </a:tcPr>
                </a:tc>
              </a:tr>
              <a:tr h="530352">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0.737</a:t>
                      </a:r>
                    </a:p>
                  </a:txBody>
                  <a:tcPr marL="54864" marR="54864" marT="27432" marB="27432" anchor="ctr">
                    <a:solidFill>
                      <a:srgbClr val="FFF4CC"/>
                    </a:solidFill>
                  </a:tcPr>
                </a:tc>
                <a:tc>
                  <a:txBody>
                    <a:bodyPr wrap="square"/>
                    <a:lstStyle/>
                    <a:p>
                      <a:pPr algn="ctr"/>
                      <a:r>
                        <a:rPr sz="1200" b="1" i="0">
                          <a:solidFill>
                            <a:srgbClr val="1F1F1F"/>
                          </a:solidFill>
                          <a:latin typeface="Calibri"/>
                        </a:rPr>
                        <a:t>0.760</a:t>
                      </a:r>
                    </a:p>
                  </a:txBody>
                  <a:tcPr marL="54864" marR="54864" marT="27432" marB="27432" anchor="ctr">
                    <a:solidFill>
                      <a:srgbClr val="FFF4CC"/>
                    </a:solidFill>
                  </a:tcPr>
                </a:tc>
                <a:tc>
                  <a:txBody>
                    <a:bodyPr wrap="square"/>
                    <a:lstStyle/>
                    <a:p>
                      <a:pPr algn="ctr"/>
                      <a:r>
                        <a:rPr sz="1200" b="1" i="0">
                          <a:solidFill>
                            <a:srgbClr val="1F1F1F"/>
                          </a:solidFill>
                          <a:latin typeface="Calibri"/>
                        </a:rPr>
                        <a:t>+0.023</a:t>
                      </a:r>
                    </a:p>
                  </a:txBody>
                  <a:tcPr marL="54864" marR="54864" marT="27432" marB="27432" anchor="ctr">
                    <a:solidFill>
                      <a:srgbClr val="FFF4CC"/>
                    </a:solidFill>
                  </a:tcPr>
                </a:tc>
                <a:tc>
                  <a:txBody>
                    <a:bodyPr wrap="square"/>
                    <a:lstStyle/>
                    <a:p>
                      <a:pPr algn="ctr"/>
                      <a:r>
                        <a:rPr sz="1200" b="1" i="0">
                          <a:solidFill>
                            <a:srgbClr val="1F1F1F"/>
                          </a:solidFill>
                          <a:latin typeface="Calibri"/>
                        </a:rPr>
                        <a:t>0.672</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+0.021</a:t>
                      </a:r>
                    </a:p>
                  </a:txBody>
                  <a:tcPr marL="54864" marR="54864" marT="27432" marB="27432" anchor="ctr">
                    <a:solidFill>
                      <a:srgbClr val="FFF4CC"/>
                    </a:solidFill>
                  </a:tcPr>
                </a:tc>
              </a:tr>
              <a:tr h="530352">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0.805</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0.759</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+0.025</a:t>
                      </a:r>
                    </a:p>
                  </a:txBody>
                  <a:tcPr marL="54864" marR="54864" marT="27432" marB="27432" anchor="ctr">
                    <a:solidFill>
                      <a:srgbClr val="EEF2F8"/>
                    </a:solidFill>
                  </a:tcPr>
                </a:tc>
                <a:tc>
                  <a:txBody>
                    <a:bodyPr wrap="square"/>
                    <a:lstStyle/>
                    <a:p>
                      <a:pPr algn="ctr"/>
                      <a:r>
                        <a:rPr sz="1200" b="0" i="0">
                          <a:solidFill>
                            <a:srgbClr val="1F1F1F"/>
                          </a:solidFill>
                          <a:latin typeface="Calibri"/>
                        </a:rPr>
                        <a:t>0.678</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+0.013</a:t>
                      </a:r>
                    </a:p>
                  </a:txBody>
                  <a:tcPr marL="54864" marR="54864" marT="27432" marB="27432" anchor="ctr">
                    <a:solidFill>
                      <a:srgbClr val="EEF2F8"/>
                    </a:solidFill>
                  </a:tcPr>
                </a:tc>
              </a:tr>
            </a:tbl>
          </a:graphicData>
        </a:graphic>
      </p:graphicFrame>
      <p:sp>
        <p:nvSpPr>
          <p:cNvPr id="5" name="TextBox 4"/>
          <p:cNvSpPr txBox="1"/>
          <p:nvPr/>
        </p:nvSpPr>
        <p:spPr>
          <a:xfrm>
            <a:off x="365760" y="5074920"/>
            <a:ext cx="8412480" cy="1280160"/>
          </a:xfrm>
          <a:prstGeom prst="rect">
            <a:avLst/>
          </a:prstGeom>
          <a:noFill/>
        </p:spPr>
        <p:txBody>
          <a:bodyPr wrap="square" lIns="45720" rIns="45720">
            <a:spAutoFit/>
          </a:bodyPr>
          <a:lstStyle/>
          <a:p>
            <a:pPr>
              <a:spcAft>
                <a:spcPts val="400"/>
              </a:spcAft>
            </a:pPr>
            <a:r>
              <a:rPr sz="1500" b="0" i="0">
                <a:solidFill>
                  <a:srgbClr val="0E6E6E"/>
                </a:solidFill>
                <a:latin typeface="Calibri"/>
              </a:rPr>
              <a:t>▪  </a:t>
            </a:r>
            <a:r>
              <a:rPr sz="1500" b="1" i="0">
                <a:solidFill>
                  <a:srgbClr val="1F1F1F"/>
                </a:solidFill>
                <a:latin typeface="Calibri"/>
              </a:rPr>
              <a:t>Before: </a:t>
            </a:r>
            <a:r>
              <a:rPr sz="1500" b="0" i="0">
                <a:solidFill>
                  <a:srgbClr val="1F1F1F"/>
                </a:solidFill>
                <a:latin typeface="Calibri"/>
              </a:rPr>
              <a:t>raw features (rain in mm, days, %, °C on very different scales); After: preprocessed, same 25 folds</a:t>
            </a:r>
          </a:p>
          <a:p>
            <a:pPr>
              <a:spcAft>
                <a:spcPts val="4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largest gain MLP +0.025 ROC-AUC, A-CPN +0.023. RF and GBT ignore feature scale, and Spark's LR and Linear SVM standardise internally, so their before/after runs are equal.</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0.720</a:t>
                      </a:r>
                    </a:p>
                  </a:txBody>
                  <a:tcPr marL="54864" marR="54864" marT="27432" marB="27432" anchor="ctr">
                    <a:solidFill>
                      <a:srgbClr val="FFF4CC"/>
                    </a:solidFill>
                  </a:tcPr>
                </a:tc>
                <a:tc>
                  <a:txBody>
                    <a:bodyPr wrap="square"/>
                    <a:lstStyle/>
                    <a:p>
                      <a:pPr algn="ctr"/>
                      <a:r>
                        <a:rPr sz="1100" b="1" i="0">
                          <a:solidFill>
                            <a:srgbClr val="1F1F1F"/>
                          </a:solidFill>
                          <a:latin typeface="Calibri"/>
                        </a:rPr>
                        <a:t>0.673</a:t>
                      </a:r>
                    </a:p>
                  </a:txBody>
                  <a:tcPr marL="54864" marR="54864" marT="27432" marB="27432" anchor="ctr">
                    <a:solidFill>
                      <a:srgbClr val="FFF4CC"/>
                    </a:solidFill>
                  </a:tcPr>
                </a:tc>
                <a:tc>
                  <a:txBody>
                    <a:bodyPr wrap="square"/>
                    <a:lstStyle/>
                    <a:p>
                      <a:pPr algn="ctr"/>
                      <a:r>
                        <a:rPr sz="1100" b="1" i="0">
                          <a:solidFill>
                            <a:srgbClr val="1F1F1F"/>
                          </a:solidFill>
                          <a:latin typeface="Calibri"/>
                        </a:rPr>
                        <a:t>0.729</a:t>
                      </a:r>
                    </a:p>
                  </a:txBody>
                  <a:tcPr marL="54864" marR="54864" marT="27432" marB="27432" anchor="ctr">
                    <a:solidFill>
                      <a:srgbClr val="FFF4CC"/>
                    </a:solidFill>
                  </a:tcPr>
                </a:tc>
                <a:tc>
                  <a:txBody>
                    <a:bodyPr wrap="square"/>
                    <a:lstStyle/>
                    <a:p>
                      <a:pPr algn="ctr"/>
                      <a:r>
                        <a:rPr sz="1100" b="1" i="0">
                          <a:solidFill>
                            <a:srgbClr val="1F1F1F"/>
                          </a:solidFill>
                          <a:latin typeface="Calibri"/>
                        </a:rPr>
                        <a:t>0.405</a:t>
                      </a:r>
                    </a:p>
                  </a:txBody>
                  <a:tcPr marL="54864" marR="54864" marT="27432" marB="27432" anchor="ctr">
                    <a:solidFill>
                      <a:srgbClr val="FFF4CC"/>
                    </a:solidFill>
                  </a:tcPr>
                </a:tc>
                <a:tc>
                  <a:txBody>
                    <a:bodyPr wrap="square"/>
                    <a:lstStyle/>
                    <a:p>
                      <a:pPr algn="ctr"/>
                      <a:r>
                        <a:rPr sz="1100" b="1" i="0">
                          <a:solidFill>
                            <a:srgbClr val="1F1F1F"/>
                          </a:solidFill>
                          <a:latin typeface="Calibri"/>
                        </a:rPr>
                        <a:t>0.402</a:t>
                      </a:r>
                    </a:p>
                  </a:txBody>
                  <a:tcPr marL="54864" marR="54864" marT="27432" marB="27432" anchor="ctr">
                    <a:solidFill>
                      <a:srgbClr val="FFF4CC"/>
                    </a:solidFill>
                  </a:tcPr>
                </a:tc>
                <a:tc>
                  <a:txBody>
                    <a:bodyPr wrap="square"/>
                    <a:lstStyle/>
                    <a:p>
                      <a:pPr algn="ctr"/>
                      <a:r>
                        <a:rPr sz="1100" b="1" i="0">
                          <a:solidFill>
                            <a:srgbClr val="1F1F1F"/>
                          </a:solidFill>
                          <a:latin typeface="Calibri"/>
                        </a:rPr>
                        <a:t>0.786</a:t>
                      </a:r>
                    </a:p>
                  </a:txBody>
                  <a:tcPr marL="54864" marR="54864" marT="27432" marB="27432" anchor="ctr">
                    <a:solidFill>
                      <a:srgbClr val="FFF4CC"/>
                    </a:solidFill>
                  </a:tcPr>
                </a:tc>
                <a:tc>
                  <a:txBody>
                    <a:bodyPr wrap="square"/>
                    <a:lstStyle/>
                    <a:p>
                      <a:pPr algn="ctr"/>
                      <a:r>
                        <a:rPr sz="1100" b="1" i="0">
                          <a:solidFill>
                            <a:srgbClr val="1F1F1F"/>
                          </a:solidFill>
                          <a:latin typeface="Calibri"/>
                        </a:rPr>
                        <a:t>0.614</a:t>
                      </a:r>
                    </a:p>
                  </a:txBody>
                  <a:tcPr marL="54864" marR="54864" marT="27432" marB="27432" anchor="ctr">
                    <a:solidFill>
                      <a:srgbClr val="FFF4CC"/>
                    </a:solidFill>
                  </a:tcPr>
                </a:tc>
                <a:tc>
                  <a:txBody>
                    <a:bodyPr wrap="square"/>
                    <a:lstStyle/>
                    <a:p>
                      <a:pPr algn="ctr"/>
                      <a:r>
                        <a:rPr sz="1100" b="1" i="0">
                          <a:solidFill>
                            <a:srgbClr val="1F1F1F"/>
                          </a:solidFill>
                          <a:latin typeface="Calibri"/>
                        </a:rPr>
                        <a:t>0.204</a:t>
                      </a:r>
                    </a:p>
                  </a:txBody>
                  <a:tcPr marL="54864" marR="54864" marT="27432" marB="27432" anchor="ctr">
                    <a:solidFill>
                      <a:srgbClr val="FFF4CC"/>
                    </a:solidFill>
                  </a:tcPr>
                </a:tc>
                <a:tc>
                  <a:txBody>
                    <a:bodyPr wrap="square"/>
                    <a:lstStyle/>
                    <a:p>
                      <a:pPr algn="ctr"/>
                      <a:r>
                        <a:rPr sz="1100" b="1" i="0">
                          <a:solidFill>
                            <a:srgbClr val="1F1F1F"/>
                          </a:solidFill>
                          <a:latin typeface="Calibri"/>
                        </a:rPr>
                        <a:t>0.120</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0.719</a:t>
                      </a:r>
                    </a:p>
                  </a:txBody>
                  <a:tcPr marL="54864" marR="54864" marT="27432" marB="27432" anchor="ctr">
                    <a:solidFill>
                      <a:srgbClr val="EEF2F8"/>
                    </a:solidFill>
                  </a:tcPr>
                </a:tc>
                <a:tc>
                  <a:txBody>
                    <a:bodyPr wrap="square"/>
                    <a:lstStyle/>
                    <a:p>
                      <a:pPr algn="ctr"/>
                      <a:r>
                        <a:rPr sz="1100" b="0" i="0">
                          <a:solidFill>
                            <a:srgbClr val="1F1F1F"/>
                          </a:solidFill>
                          <a:latin typeface="Calibri"/>
                        </a:rPr>
                        <a:t>0.674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0.404</a:t>
                      </a:r>
                    </a:p>
                  </a:txBody>
                  <a:tcPr marL="54864" marR="54864" marT="27432" marB="27432" anchor="ctr">
                    <a:solidFill>
                      <a:srgbClr val="EEF2F8"/>
                    </a:solidFill>
                  </a:tcPr>
                </a:tc>
                <a:tc>
                  <a:txBody>
                    <a:bodyPr wrap="square"/>
                    <a:lstStyle/>
                    <a:p>
                      <a:pPr algn="ctr"/>
                      <a:r>
                        <a:rPr sz="1100" b="0" i="0">
                          <a:solidFill>
                            <a:srgbClr val="1F1F1F"/>
                          </a:solidFill>
                          <a:latin typeface="Calibri"/>
                        </a:rPr>
                        <a:t>0.398</a:t>
                      </a:r>
                    </a:p>
                  </a:txBody>
                  <a:tcPr marL="54864" marR="54864" marT="27432" marB="27432" anchor="ctr">
                    <a:solidFill>
                      <a:srgbClr val="EEF2F8"/>
                    </a:solidFill>
                  </a:tcPr>
                </a:tc>
                <a:tc>
                  <a:txBody>
                    <a:bodyPr wrap="square"/>
                    <a:lstStyle/>
                    <a:p>
                      <a:pPr algn="ctr"/>
                      <a:r>
                        <a:rPr sz="1100" b="0" i="0">
                          <a:solidFill>
                            <a:srgbClr val="1F1F1F"/>
                          </a:solidFill>
                          <a:latin typeface="Calibri"/>
                        </a:rPr>
                        <a:t>0.809</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0.114</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798</a:t>
                      </a:r>
                    </a:p>
                  </a:txBody>
                  <a:tcPr marL="54864" marR="54864" marT="27432" marB="27432" anchor="ctr">
                    <a:solidFill>
                      <a:srgbClr val="FFF4CC"/>
                    </a:solidFill>
                  </a:tcPr>
                </a:tc>
                <a:tc>
                  <a:txBody>
                    <a:bodyPr wrap="square"/>
                    <a:lstStyle/>
                    <a:p>
                      <a:pPr algn="ctr"/>
                      <a:r>
                        <a:rPr sz="1200" b="1" i="0">
                          <a:solidFill>
                            <a:srgbClr val="1F1F1F"/>
                          </a:solidFill>
                          <a:latin typeface="Calibri"/>
                        </a:rPr>
                        <a:t>845</a:t>
                      </a:r>
                    </a:p>
                  </a:txBody>
                  <a:tcPr marL="54864" marR="54864" marT="27432" marB="27432" anchor="ctr">
                    <a:solidFill>
                      <a:srgbClr val="FFF4CC"/>
                    </a:solidFill>
                  </a:tcPr>
                </a:tc>
                <a:tc>
                  <a:txBody>
                    <a:bodyPr wrap="square"/>
                    <a:lstStyle/>
                    <a:p>
                      <a:pPr algn="ctr"/>
                      <a:r>
                        <a:rPr sz="1200" b="1" i="0">
                          <a:solidFill>
                            <a:srgbClr val="1F1F1F"/>
                          </a:solidFill>
                          <a:latin typeface="Calibri"/>
                        </a:rPr>
                        <a:t>315</a:t>
                      </a:r>
                    </a:p>
                  </a:txBody>
                  <a:tcPr marL="54864" marR="54864" marT="27432" marB="27432" anchor="ctr">
                    <a:solidFill>
                      <a:srgbClr val="FFF4CC"/>
                    </a:solidFill>
                  </a:tcPr>
                </a:tc>
                <a:tc>
                  <a:txBody>
                    <a:bodyPr wrap="square"/>
                    <a:lstStyle/>
                    <a:p>
                      <a:pPr algn="ctr"/>
                      <a:r>
                        <a:rPr sz="1200" b="1" i="0">
                          <a:solidFill>
                            <a:srgbClr val="1F1F1F"/>
                          </a:solidFill>
                          <a:latin typeface="Calibri"/>
                        </a:rPr>
                        <a:t>387</a:t>
                      </a:r>
                    </a:p>
                  </a:txBody>
                  <a:tcPr marL="54864" marR="54864" marT="27432" marB="27432" anchor="ctr">
                    <a:solidFill>
                      <a:srgbClr val="FFF4CC"/>
                    </a:solidFill>
                  </a:tcPr>
                </a:tc>
                <a:tc>
                  <a:txBody>
                    <a:bodyPr wrap="square"/>
                    <a:lstStyle/>
                    <a:p>
                      <a:pPr algn="ctr"/>
                      <a:r>
                        <a:rPr sz="1200" b="1" i="0">
                          <a:solidFill>
                            <a:srgbClr val="1F1F1F"/>
                          </a:solidFill>
                          <a:latin typeface="Calibri"/>
                        </a:rPr>
                        <a:t>0.711 – 0.810</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0.602</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0.047</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0.071</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0.835</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799</a:t>
                      </a:r>
                    </a:p>
                  </a:txBody>
                  <a:tcPr marL="54864" marR="54864" marT="27432" marB="27432" anchor="ctr">
                    <a:solidFill>
                      <a:srgbClr val="EEF2F8"/>
                    </a:solidFill>
                  </a:tcPr>
                </a:tc>
                <a:tc>
                  <a:txBody>
                    <a:bodyPr wrap="square"/>
                    <a:lstStyle/>
                    <a:p>
                      <a:pPr algn="ctr"/>
                      <a:r>
                        <a:rPr sz="1200" b="0" i="0">
                          <a:solidFill>
                            <a:srgbClr val="1F1F1F"/>
                          </a:solidFill>
                          <a:latin typeface="Calibri"/>
                        </a:rPr>
                        <a:t>840</a:t>
                      </a:r>
                    </a:p>
                  </a:txBody>
                  <a:tcPr marL="54864" marR="54864" marT="27432" marB="27432" anchor="ctr">
                    <a:solidFill>
                      <a:srgbClr val="EEF2F8"/>
                    </a:solidFill>
                  </a:tcPr>
                </a:tc>
                <a:tc>
                  <a:txBody>
                    <a:bodyPr wrap="square"/>
                    <a:lstStyle/>
                    <a:p>
                      <a:pPr algn="ctr"/>
                      <a:r>
                        <a:rPr sz="1200" b="0" i="0">
                          <a:solidFill>
                            <a:srgbClr val="1F1F1F"/>
                          </a:solidFill>
                          <a:latin typeface="Calibri"/>
                        </a:rPr>
                        <a:t>320</a:t>
                      </a:r>
                    </a:p>
                  </a:txBody>
                  <a:tcPr marL="54864" marR="54864" marT="27432" marB="27432" anchor="ctr">
                    <a:solidFill>
                      <a:srgbClr val="EEF2F8"/>
                    </a:solidFill>
                  </a:tcPr>
                </a:tc>
                <a:tc>
                  <a:txBody>
                    <a:bodyPr wrap="square"/>
                    <a:lstStyle/>
                    <a:p>
                      <a:pPr algn="ctr"/>
                      <a:r>
                        <a:rPr sz="1200" b="0" i="0">
                          <a:solidFill>
                            <a:srgbClr val="1F1F1F"/>
                          </a:solidFill>
                          <a:latin typeface="Calibri"/>
                        </a:rPr>
                        <a:t>386</a:t>
                      </a:r>
                    </a:p>
                  </a:txBody>
                  <a:tcPr marL="54864" marR="54864" marT="27432" marB="27432" anchor="ctr">
                    <a:solidFill>
                      <a:srgbClr val="EEF2F8"/>
                    </a:solidFill>
                  </a:tcPr>
                </a:tc>
                <a:tc>
                  <a:txBody>
                    <a:bodyPr wrap="square"/>
                    <a:lstStyle/>
                    <a:p>
                      <a:pPr algn="ctr"/>
                      <a:r>
                        <a:rPr sz="1200" b="0" i="0">
                          <a:solidFill>
                            <a:srgbClr val="1F1F1F"/>
                          </a:solidFill>
                          <a:latin typeface="Calibri"/>
                        </a:rPr>
                        <a:t>0.743 – 0.825</a:t>
                      </a:r>
                    </a:p>
                  </a:txBody>
                  <a:tcPr marL="54864" marR="54864" marT="27432" marB="27432" anchor="ctr">
                    <a:solidFill>
                      <a:srgbClr val="EEF2F8"/>
                    </a:solidFill>
                  </a:tcPr>
                </a:tc>
                <a:tc>
                  <a:txBody>
                    <a:bodyPr wrap="square"/>
                    <a:lstStyle/>
                    <a:p>
                      <a:pPr algn="ctr"/>
                      <a:r>
                        <a:rPr sz="1200" b="0" i="0">
                          <a:solidFill>
                            <a:srgbClr val="1F1F1F"/>
                          </a:solidFill>
                          <a:latin typeface="Calibri"/>
                        </a:rPr>
                        <a:t>0.311</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A-CPN</a:t>
                      </a:r>
                    </a:p>
                  </a:txBody>
                  <a:tcPr marL="54864" marR="54864" marT="27432" marB="27432" anchor="ctr">
                    <a:solidFill>
                      <a:srgbClr val="FFF4CC"/>
                    </a:solidFill>
                  </a:tcPr>
                </a:tc>
                <a:tc>
                  <a:txBody>
                    <a:bodyPr wrap="square"/>
                    <a:lstStyle/>
                    <a:p>
                      <a:pPr algn="ctr"/>
                      <a:r>
                        <a:rPr sz="1300" b="1" i="0">
                          <a:solidFill>
                            <a:srgbClr val="1F1F1F"/>
                          </a:solidFill>
                          <a:latin typeface="Calibri"/>
                        </a:rPr>
                        <a:t>0.760</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0.774</a:t>
                      </a:r>
                    </a:p>
                  </a:txBody>
                  <a:tcPr marL="54864" marR="54864" marT="27432" marB="27432" anchor="ctr">
                    <a:solidFill>
                      <a:srgbClr val="EEF2F8"/>
                    </a:solidFill>
                  </a:tcPr>
                </a:tc>
                <a:tc>
                  <a:txBody>
                    <a:bodyPr wrap="square"/>
                    <a:lstStyle/>
                    <a:p>
                      <a:pPr algn="ctr"/>
                      <a:r>
                        <a:rPr sz="1300" b="0" i="0">
                          <a:solidFill>
                            <a:srgbClr val="1F1F1F"/>
                          </a:solidFill>
                          <a:latin typeface="Calibri"/>
                        </a:rPr>
                        <a:t>+0.013</a:t>
                      </a:r>
                    </a:p>
                  </a:txBody>
                  <a:tcPr marL="54864" marR="54864" marT="27432" marB="27432" anchor="ctr">
                    <a:solidFill>
                      <a:srgbClr val="EEF2F8"/>
                    </a:solidFill>
                  </a:tcPr>
                </a:tc>
                <a:tc>
                  <a:txBody>
                    <a:bodyPr wrap="square"/>
                    <a:lstStyle/>
                    <a:p>
                      <a:pPr algn="ctr"/>
                      <a:r>
                        <a:rPr sz="1300" b="0" i="0">
                          <a:solidFill>
                            <a:srgbClr val="1F1F1F"/>
                          </a:solidFill>
                          <a:latin typeface="Calibri"/>
                        </a:rPr>
                        <a:t>0.698</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KAN layer (plain MLP)</a:t>
                      </a:r>
                    </a:p>
                  </a:txBody>
                  <a:tcPr marL="54864" marR="54864" marT="27432" marB="27432" anchor="ctr">
                    <a:solidFill>
                      <a:srgbClr val="FFFFFF"/>
                    </a:solidFill>
                  </a:tcPr>
                </a:tc>
                <a:tc>
                  <a:txBody>
                    <a:bodyPr wrap="square"/>
                    <a:lstStyle/>
                    <a:p>
                      <a:pPr algn="ctr"/>
                      <a:r>
                        <a:rPr sz="1300" b="0" i="0">
                          <a:solidFill>
                            <a:srgbClr val="1F1F1F"/>
                          </a:solidFill>
                          <a:latin typeface="Calibri"/>
                        </a:rPr>
                        <a:t>0.784</a:t>
                      </a:r>
                    </a:p>
                  </a:txBody>
                  <a:tcPr marL="54864" marR="54864" marT="27432" marB="27432" anchor="ctr">
                    <a:solidFill>
                      <a:srgbClr val="FFFFFF"/>
                    </a:solidFill>
                  </a:tcPr>
                </a:tc>
                <a:tc>
                  <a:txBody>
                    <a:bodyPr wrap="square"/>
                    <a:lstStyle/>
                    <a:p>
                      <a:pPr algn="ctr"/>
                      <a:r>
                        <a:rPr sz="1300" b="0" i="0">
                          <a:solidFill>
                            <a:srgbClr val="1F1F1F"/>
                          </a:solidFill>
                          <a:latin typeface="Calibri"/>
                        </a:rPr>
                        <a:t>+0.023</a:t>
                      </a:r>
                    </a:p>
                  </a:txBody>
                  <a:tcPr marL="54864" marR="54864" marT="27432" marB="27432" anchor="ctr">
                    <a:solidFill>
                      <a:srgbClr val="FFFFFF"/>
                    </a:solidFill>
                  </a:tcPr>
                </a:tc>
                <a:tc>
                  <a:txBody>
                    <a:bodyPr wrap="square"/>
                    <a:lstStyle/>
                    <a:p>
                      <a:pPr algn="ctr"/>
                      <a:r>
                        <a:rPr sz="1300" b="0" i="0">
                          <a:solidFill>
                            <a:srgbClr val="1F1F1F"/>
                          </a:solidFill>
                          <a:latin typeface="Calibri"/>
                        </a:rPr>
                        <a:t>0.529</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residual block</a:t>
                      </a:r>
                    </a:p>
                  </a:txBody>
                  <a:tcPr marL="54864" marR="54864" marT="27432" marB="27432" anchor="ctr">
                    <a:solidFill>
                      <a:srgbClr val="EEF2F8"/>
                    </a:solidFill>
                  </a:tcPr>
                </a:tc>
                <a:tc>
                  <a:txBody>
                    <a:bodyPr wrap="square"/>
                    <a:lstStyle/>
                    <a:p>
                      <a:pPr algn="ctr"/>
                      <a:r>
                        <a:rPr sz="1300" b="0" i="0">
                          <a:solidFill>
                            <a:srgbClr val="1F1F1F"/>
                          </a:solidFill>
                          <a:latin typeface="Calibri"/>
                        </a:rPr>
                        <a:t>0.756</a:t>
                      </a:r>
                    </a:p>
                  </a:txBody>
                  <a:tcPr marL="54864" marR="54864" marT="27432" marB="27432" anchor="ctr">
                    <a:solidFill>
                      <a:srgbClr val="EEF2F8"/>
                    </a:solidFill>
                  </a:tcPr>
                </a:tc>
                <a:tc>
                  <a:txBody>
                    <a:bodyPr wrap="square"/>
                    <a:lstStyle/>
                    <a:p>
                      <a:pPr algn="ctr"/>
                      <a:r>
                        <a:rPr sz="1300" b="0" i="0">
                          <a:solidFill>
                            <a:srgbClr val="1F1F1F"/>
                          </a:solidFill>
                          <a:latin typeface="Calibri"/>
                        </a:rPr>
                        <a:t>-0.005</a:t>
                      </a:r>
                    </a:p>
                  </a:txBody>
                  <a:tcPr marL="54864" marR="54864" marT="27432" marB="27432" anchor="ctr">
                    <a:solidFill>
                      <a:srgbClr val="EEF2F8"/>
                    </a:solidFill>
                  </a:tcPr>
                </a:tc>
                <a:tc>
                  <a:txBody>
                    <a:bodyPr wrap="square"/>
                    <a:lstStyle/>
                    <a:p>
                      <a:pPr algn="ctr"/>
                      <a:r>
                        <a:rPr sz="1300" b="0" i="0">
                          <a:solidFill>
                            <a:srgbClr val="1F1F1F"/>
                          </a:solidFill>
                          <a:latin typeface="Calibri"/>
                        </a:rPr>
                        <a:t>0.902</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Climate only (no development baseline)</a:t>
                      </a:r>
                    </a:p>
                  </a:txBody>
                  <a:tcPr marL="54864" marR="54864" marT="27432" marB="27432" anchor="ctr">
                    <a:solidFill>
                      <a:srgbClr val="FFFFFF"/>
                    </a:solidFill>
                  </a:tcPr>
                </a:tc>
                <a:tc>
                  <a:txBody>
                    <a:bodyPr wrap="square"/>
                    <a:lstStyle/>
                    <a:p>
                      <a:pPr algn="ctr"/>
                      <a:r>
                        <a:rPr sz="1300" b="0" i="0">
                          <a:solidFill>
                            <a:srgbClr val="1F1F1F"/>
                          </a:solidFill>
                          <a:latin typeface="Calibri"/>
                        </a:rPr>
                        <a:t>0.757</a:t>
                      </a:r>
                    </a:p>
                  </a:txBody>
                  <a:tcPr marL="54864" marR="54864" marT="27432" marB="27432" anchor="ctr">
                    <a:solidFill>
                      <a:srgbClr val="FFFFFF"/>
                    </a:solidFill>
                  </a:tcPr>
                </a:tc>
                <a:tc>
                  <a:txBody>
                    <a:bodyPr wrap="square"/>
                    <a:lstStyle/>
                    <a:p>
                      <a:pPr algn="ctr"/>
                      <a:r>
                        <a:rPr sz="1300" b="0" i="0">
                          <a:solidFill>
                            <a:srgbClr val="1F1F1F"/>
                          </a:solidFill>
                          <a:latin typeface="Calibri"/>
                        </a:rPr>
                        <a:t>-0.004</a:t>
                      </a:r>
                    </a:p>
                  </a:txBody>
                  <a:tcPr marL="54864" marR="54864" marT="27432" marB="27432" anchor="ctr">
                    <a:solidFill>
                      <a:srgbClr val="FFFFFF"/>
                    </a:solidFill>
                  </a:tcPr>
                </a:tc>
                <a:tc>
                  <a:txBody>
                    <a:bodyPr wrap="square"/>
                    <a:lstStyle/>
                    <a:p>
                      <a:pPr algn="ctr"/>
                      <a:r>
                        <a:rPr sz="1300" b="0" i="0">
                          <a:solidFill>
                            <a:srgbClr val="1F1F1F"/>
                          </a:solidFill>
                          <a:latin typeface="Calibri"/>
                        </a:rPr>
                        <a:t>0.910</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Development only (no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0.670</a:t>
                      </a:r>
                    </a:p>
                  </a:txBody>
                  <a:tcPr marL="54864" marR="54864" marT="27432" marB="27432" anchor="ctr">
                    <a:solidFill>
                      <a:srgbClr val="EEF2F8"/>
                    </a:solidFill>
                  </a:tcPr>
                </a:tc>
                <a:tc>
                  <a:txBody>
                    <a:bodyPr wrap="square"/>
                    <a:lstStyle/>
                    <a:p>
                      <a:pPr algn="ctr"/>
                      <a:r>
                        <a:rPr sz="1300" b="0" i="0">
                          <a:solidFill>
                            <a:srgbClr val="1F1F1F"/>
                          </a:solidFill>
                          <a:latin typeface="Calibri"/>
                        </a:rPr>
                        <a:t>-0.090</a:t>
                      </a:r>
                    </a:p>
                  </a:txBody>
                  <a:tcPr marL="54864" marR="54864" marT="27432" marB="27432" anchor="ctr">
                    <a:solidFill>
                      <a:srgbClr val="EEF2F8"/>
                    </a:solidFill>
                  </a:tcPr>
                </a:tc>
                <a:tc>
                  <a:txBody>
                    <a:bodyPr wrap="square"/>
                    <a:lstStyle/>
                    <a:p>
                      <a:pPr algn="ctr"/>
                      <a:r>
                        <a:rPr sz="1300" b="0" i="0">
                          <a:solidFill>
                            <a:srgbClr val="1F1F1F"/>
                          </a:solidFill>
                          <a:latin typeface="Calibri"/>
                        </a:rPr>
                        <a:t>0.068</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Linear climate part (no deep layers)</a:t>
                      </a:r>
                    </a:p>
                  </a:txBody>
                  <a:tcPr marL="54864" marR="54864" marT="27432" marB="27432" anchor="ctr">
                    <a:solidFill>
                      <a:srgbClr val="FFFFFF"/>
                    </a:solidFill>
                  </a:tcPr>
                </a:tc>
                <a:tc>
                  <a:txBody>
                    <a:bodyPr wrap="square"/>
                    <a:lstStyle/>
                    <a:p>
                      <a:pPr algn="ctr"/>
                      <a:r>
                        <a:rPr sz="1300" b="0" i="0">
                          <a:solidFill>
                            <a:srgbClr val="1F1F1F"/>
                          </a:solidFill>
                          <a:latin typeface="Calibri"/>
                        </a:rPr>
                        <a:t>0.733</a:t>
                      </a:r>
                    </a:p>
                  </a:txBody>
                  <a:tcPr marL="54864" marR="54864" marT="27432" marB="27432" anchor="ctr">
                    <a:solidFill>
                      <a:srgbClr val="FFFFFF"/>
                    </a:solidFill>
                  </a:tcPr>
                </a:tc>
                <a:tc>
                  <a:txBody>
                    <a:bodyPr wrap="square"/>
                    <a:lstStyle/>
                    <a:p>
                      <a:pPr algn="ctr"/>
                      <a:r>
                        <a:rPr sz="1300" b="0" i="0">
                          <a:solidFill>
                            <a:srgbClr val="1F1F1F"/>
                          </a:solidFill>
                          <a:latin typeface="Calibri"/>
                        </a:rPr>
                        <a:t>-0.028</a:t>
                      </a:r>
                    </a:p>
                  </a:txBody>
                  <a:tcPr marL="54864" marR="54864" marT="27432" marB="27432" anchor="ctr">
                    <a:solidFill>
                      <a:srgbClr val="FFFFFF"/>
                    </a:solidFill>
                  </a:tcPr>
                </a:tc>
                <a:tc>
                  <a:txBody>
                    <a:bodyPr wrap="square"/>
                    <a:lstStyle/>
                    <a:p>
                      <a:pPr algn="ctr"/>
                      <a:r>
                        <a:rPr sz="1300" b="0" i="0">
                          <a:solidFill>
                            <a:srgbClr val="1F1F1F"/>
                          </a:solidFill>
                          <a:latin typeface="Calibri"/>
                        </a:rPr>
                        <a:t>0.495</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Development only (no climate push)</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Without feature attention, Without KAN layer (plain MLP), Without residual block, Climate only (no development baseline), Linear climate part (no deep layers)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-0.53</a:t>
                      </a:r>
                    </a:p>
                  </a:txBody>
                  <a:tcPr marL="54864" marR="54864" marT="27432" marB="27432" anchor="ctr">
                    <a:solidFill>
                      <a:srgbClr val="FFFFFF"/>
                    </a:solidFill>
                  </a:tcPr>
                </a:tc>
                <a:tc>
                  <a:txBody>
                    <a:bodyPr wrap="square"/>
                    <a:lstStyle/>
                    <a:p>
                      <a:pPr algn="ctr"/>
                      <a:r>
                        <a:rPr sz="1200" b="0" i="0">
                          <a:solidFill>
                            <a:srgbClr val="1F1F1F"/>
                          </a:solidFill>
                          <a:latin typeface="Calibri"/>
                        </a:rPr>
                        <a:t>27%</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+0.81</a:t>
                      </a:r>
                    </a:p>
                  </a:txBody>
                  <a:tcPr marL="54864" marR="54864" marT="27432" marB="27432" anchor="ctr">
                    <a:solidFill>
                      <a:srgbClr val="EEF2F8"/>
                    </a:solidFill>
                  </a:tcPr>
                </a:tc>
                <a:tc>
                  <a:txBody>
                    <a:bodyPr wrap="square"/>
                    <a:lstStyle/>
                    <a:p>
                      <a:pPr algn="ctr"/>
                      <a:r>
                        <a:rPr sz="1200" b="0" i="0">
                          <a:solidFill>
                            <a:srgbClr val="1F1F1F"/>
                          </a:solidFill>
                          <a:latin typeface="Calibri"/>
                        </a:rPr>
                        <a:t>72%</a:t>
                      </a:r>
                    </a:p>
                  </a:txBody>
                  <a:tcPr marL="54864" marR="54864" marT="27432" marB="27432" anchor="ctr">
                    <a:solidFill>
                      <a:srgbClr val="EEF2F8"/>
                    </a:solidFill>
                  </a:tcPr>
                </a:tc>
                <a:tc>
                  <a:txBody>
                    <a:bodyPr wrap="square"/>
                    <a:lstStyle/>
                    <a:p>
                      <a:pPr algn="ctr"/>
                      <a:r>
                        <a:rPr sz="1200" b="0" i="0">
                          <a:solidFill>
                            <a:srgbClr val="1F1F1F"/>
                          </a:solidFill>
                          <a:latin typeface="Calibri"/>
                        </a:rPr>
                        <a:t>hot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+0.32</a:t>
                      </a:r>
                    </a:p>
                  </a:txBody>
                  <a:tcPr marL="54864" marR="54864" marT="27432" marB="27432" anchor="ctr">
                    <a:solidFill>
                      <a:srgbClr val="FFF4CC"/>
                    </a:solidFill>
                  </a:tcPr>
                </a:tc>
                <a:tc>
                  <a:txBody>
                    <a:bodyPr wrap="square"/>
                    <a:lstStyle/>
                    <a:p>
                      <a:pPr algn="ctr"/>
                      <a:r>
                        <a:rPr sz="1200" b="1" i="0">
                          <a:solidFill>
                            <a:srgbClr val="1F1F1F"/>
                          </a:solidFill>
                          <a:latin typeface="Calibri"/>
                        </a:rPr>
                        <a:t>54%</a:t>
                      </a:r>
                    </a:p>
                  </a:txBody>
                  <a:tcPr marL="54864" marR="54864" marT="27432" marB="27432" anchor="ctr">
                    <a:solidFill>
                      <a:srgbClr val="FFF4CC"/>
                    </a:solidFill>
                  </a:tcPr>
                </a:tc>
                <a:tc>
                  <a:txBody>
                    <a:bodyPr wrap="square"/>
                    <a:lstStyle/>
                    <a:p>
                      <a:pPr algn="ctr"/>
                      <a:r>
                        <a:rPr sz="1200" b="1" i="0">
                          <a:solidFill>
                            <a:srgbClr val="1F1F1F"/>
                          </a:solidFill>
                          <a:latin typeface="Calibri"/>
                        </a:rPr>
                        <a:t>max dry spell</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-0.99</a:t>
                      </a:r>
                    </a:p>
                  </a:txBody>
                  <a:tcPr marL="54864" marR="54864" marT="27432" marB="27432" anchor="ctr">
                    <a:solidFill>
                      <a:srgbClr val="FFF4CC"/>
                    </a:solidFill>
                  </a:tcPr>
                </a:tc>
                <a:tc>
                  <a:txBody>
                    <a:bodyPr wrap="square"/>
                    <a:lstStyle/>
                    <a:p>
                      <a:pPr algn="ctr"/>
                      <a:r>
                        <a:rPr sz="1200" b="1" i="0">
                          <a:solidFill>
                            <a:srgbClr val="1F1F1F"/>
                          </a:solidFill>
                          <a:latin typeface="Calibri"/>
                        </a:rPr>
                        <a:t>19%</a:t>
                      </a:r>
                    </a:p>
                  </a:txBody>
                  <a:tcPr marL="54864" marR="54864" marT="27432" marB="27432" anchor="ctr">
                    <a:solidFill>
                      <a:srgbClr val="FFF4CC"/>
                    </a:solidFill>
                  </a:tcPr>
                </a:tc>
                <a:tc>
                  <a:txBody>
                    <a:bodyPr wrap="square"/>
                    <a:lstStyle/>
                    <a:p>
                      <a:pPr algn="ctr"/>
                      <a:r>
                        <a:rPr sz="1200" b="1" i="0">
                          <a:solidFill>
                            <a:srgbClr val="1F1F1F"/>
                          </a:solidFill>
                          <a:latin typeface="Calibri"/>
                        </a:rPr>
                        <a:t>annual rain mm</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-0.99</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+0.20</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annual rain mm</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6.31e-07;  Anomaly B vs expected less-developed: p = 2.46e-18;  mean MC Dropout SD of push = 0.54</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Khagaria (Bihar) +3.34</a:t>
            </a:r>
          </a:p>
          <a:p>
            <a:pPr>
              <a:spcAft>
                <a:spcPts val="0"/>
              </a:spcAft>
            </a:pPr>
            <a:r>
              <a:rPr sz="1200" b="0" i="0">
                <a:solidFill>
                  <a:srgbClr val="0E6E6E"/>
                </a:solidFill>
                <a:latin typeface="Calibri"/>
              </a:rPr>
              <a:t>▪  </a:t>
            </a:r>
            <a:r>
              <a:rPr sz="1200" b="0" i="0">
                <a:solidFill>
                  <a:srgbClr val="1F1F1F"/>
                </a:solidFill>
                <a:latin typeface="Calibri"/>
              </a:rPr>
              <a:t>Madhepura (Bihar) +3.30</a:t>
            </a:r>
          </a:p>
          <a:p>
            <a:pPr>
              <a:spcAft>
                <a:spcPts val="0"/>
              </a:spcAft>
            </a:pPr>
            <a:r>
              <a:rPr sz="1200" b="0" i="0">
                <a:solidFill>
                  <a:srgbClr val="0E6E6E"/>
                </a:solidFill>
                <a:latin typeface="Calibri"/>
              </a:rPr>
              <a:t>▪  </a:t>
            </a:r>
            <a:r>
              <a:rPr sz="1200" b="0" i="0">
                <a:solidFill>
                  <a:srgbClr val="1F1F1F"/>
                </a:solidFill>
                <a:latin typeface="Calibri"/>
              </a:rPr>
              <a:t>Maldah (West Bengal) +3.18</a:t>
            </a:r>
          </a:p>
          <a:p>
            <a:pPr>
              <a:spcAft>
                <a:spcPts val="0"/>
              </a:spcAft>
            </a:pPr>
            <a:r>
              <a:rPr sz="1200" b="0" i="0">
                <a:solidFill>
                  <a:srgbClr val="0E6E6E"/>
                </a:solidFill>
                <a:latin typeface="Calibri"/>
              </a:rPr>
              <a:t>▪  </a:t>
            </a:r>
            <a:r>
              <a:rPr sz="1200" b="0" i="0">
                <a:solidFill>
                  <a:srgbClr val="1F1F1F"/>
                </a:solidFill>
                <a:latin typeface="Calibri"/>
              </a:rPr>
              <a:t>Sahebganj (Jharkhand) +3.12</a:t>
            </a:r>
          </a:p>
          <a:p>
            <a:pPr>
              <a:spcAft>
                <a:spcPts val="0"/>
              </a:spcAft>
            </a:pPr>
            <a:r>
              <a:rPr sz="1200" b="0" i="0">
                <a:solidFill>
                  <a:srgbClr val="0E6E6E"/>
                </a:solidFill>
                <a:latin typeface="Calibri"/>
              </a:rPr>
              <a:t>▪  </a:t>
            </a:r>
            <a:r>
              <a:rPr sz="1200" b="0" i="0">
                <a:solidFill>
                  <a:srgbClr val="1F1F1F"/>
                </a:solidFill>
                <a:latin typeface="Calibri"/>
              </a:rPr>
              <a:t>Saharsa (Bihar) +3.07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Mahoba (Uttar Pradesh) 2%</a:t>
            </a:r>
          </a:p>
          <a:p>
            <a:pPr>
              <a:spcAft>
                <a:spcPts val="0"/>
              </a:spcAft>
            </a:pPr>
            <a:r>
              <a:rPr sz="1200" b="0" i="0">
                <a:solidFill>
                  <a:srgbClr val="0E6E6E"/>
                </a:solidFill>
                <a:latin typeface="Calibri"/>
              </a:rPr>
              <a:t>▪  </a:t>
            </a:r>
            <a:r>
              <a:rPr sz="1200" b="0" i="0">
                <a:solidFill>
                  <a:srgbClr val="1F1F1F"/>
                </a:solidFill>
                <a:latin typeface="Calibri"/>
              </a:rPr>
              <a:t>Kannur (Kerala) 2%</a:t>
            </a:r>
          </a:p>
          <a:p>
            <a:pPr>
              <a:spcAft>
                <a:spcPts val="0"/>
              </a:spcAft>
            </a:pPr>
            <a:r>
              <a:rPr sz="1200" b="0" i="0">
                <a:solidFill>
                  <a:srgbClr val="0E6E6E"/>
                </a:solidFill>
                <a:latin typeface="Calibri"/>
              </a:rPr>
              <a:t>▪  </a:t>
            </a:r>
            <a:r>
              <a:rPr sz="1200" b="0" i="0">
                <a:solidFill>
                  <a:srgbClr val="1F1F1F"/>
                </a:solidFill>
                <a:latin typeface="Calibri"/>
              </a:rPr>
              <a:t>Deogarh (Odisha) 4%</a:t>
            </a:r>
          </a:p>
          <a:p>
            <a:pPr>
              <a:spcAft>
                <a:spcPts val="0"/>
              </a:spcAft>
            </a:pPr>
            <a:r>
              <a:rPr sz="1200" b="0" i="0">
                <a:solidFill>
                  <a:srgbClr val="0E6E6E"/>
                </a:solidFill>
                <a:latin typeface="Calibri"/>
              </a:rPr>
              <a:t>▪  </a:t>
            </a:r>
            <a:r>
              <a:rPr sz="1200" b="0" i="0">
                <a:solidFill>
                  <a:srgbClr val="1F1F1F"/>
                </a:solidFill>
                <a:latin typeface="Calibri"/>
              </a:rPr>
              <a:t>Kanpur Dehat (Uttar Pradesh) 4%</a:t>
            </a:r>
          </a:p>
          <a:p>
            <a:pPr>
              <a:spcAft>
                <a:spcPts val="0"/>
              </a:spcAft>
            </a:pPr>
            <a:r>
              <a:rPr sz="1200" b="0" i="0">
                <a:solidFill>
                  <a:srgbClr val="0E6E6E"/>
                </a:solidFill>
                <a:latin typeface="Calibri"/>
              </a:rPr>
              <a:t>▪  </a:t>
            </a:r>
            <a:r>
              <a:rPr sz="1200" b="0" i="0">
                <a:solidFill>
                  <a:srgbClr val="1F1F1F"/>
                </a:solidFill>
                <a:latin typeface="Calibri"/>
              </a:rPr>
              <a:t>Kandhamal (Odisha) 5%</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2026-10-22)</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cpn_training_curve.png"/>
          <p:cNvPicPr>
            <a:picLocks noChangeAspect="1"/>
          </p:cNvPicPr>
          <p:nvPr/>
        </p:nvPicPr>
        <p:blipFill>
          <a:blip r:embed="rId4"/>
          <a:stretch>
            <a:fillRect/>
          </a:stretch>
        </p:blipFill>
        <p:spPr>
          <a:xfrm>
            <a:off x="365760" y="2081698"/>
            <a:ext cx="4114800" cy="2877482"/>
          </a:xfrm>
          <a:prstGeom prst="rect">
            <a:avLst/>
          </a:prstGeom>
        </p:spPr>
      </p:pic>
      <p:pic>
        <p:nvPicPr>
          <p:cNvPr id="5" name="Picture 4" descr="attention_importance.png"/>
          <p:cNvPicPr>
            <a:picLocks noChangeAspect="1"/>
          </p:cNvPicPr>
          <p:nvPr/>
        </p:nvPicPr>
        <p:blipFill>
          <a:blip r:embed="rId5"/>
          <a:stretch>
            <a:fillRect/>
          </a:stretch>
        </p:blipFill>
        <p:spPr>
          <a:xfrm>
            <a:off x="4663440" y="2336758"/>
            <a:ext cx="4114800" cy="2367362"/>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A-CPN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778292"/>
            <a:ext cx="8412480" cy="3484294"/>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681213"/>
            <a:ext cx="4114800" cy="3678452"/>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365760" y="1471338"/>
            <a:ext cx="8412480" cy="4098203"/>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Model ROC-AUC before vs after preprocessing (label = gain)</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2026-10-22</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 (IMD re-run in Colab pending)</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Completed (fresh Colab run pending)</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A-CPN (attention, KAN layer, residual MLP, development baseline);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Completed</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Z. Liu et al., KAN: Kolmogorov–Arnold Networks, arXiv:2404.19756, 2024.</a:t>
            </a:r>
          </a:p>
          <a:p>
            <a:pPr>
              <a:spcAft>
                <a:spcPts val="400"/>
              </a:spcAft>
            </a:pPr>
            <a:r>
              <a:rPr sz="1300" b="1" i="0">
                <a:solidFill>
                  <a:srgbClr val="1B3A6B"/>
                </a:solidFill>
                <a:latin typeface="Calibri"/>
              </a:rPr>
              <a:t>[9]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[10]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[11]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[12]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[13]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[14]  </a:t>
            </a:r>
            <a:r>
              <a:rPr sz="1300" b="0" i="0">
                <a:solidFill>
                  <a:srgbClr val="1F1F1F"/>
                </a:solidFill>
                <a:latin typeface="Calibri"/>
              </a:rPr>
              <a:t>A. Thusoo et al., Hive, VLDB 2009.</a:t>
            </a:r>
          </a:p>
          <a:p>
            <a:pPr>
              <a:spcAft>
                <a:spcPts val="400"/>
              </a:spcAft>
            </a:pPr>
            <a:r>
              <a:rPr sz="1300" b="1" i="0">
                <a:solidFill>
                  <a:srgbClr val="1B3A6B"/>
                </a:solidFill>
                <a:latin typeface="Calibri"/>
              </a:rPr>
              <a:t>[15]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[16]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[17]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3–4 Hadoop + HDFS</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start, health report, HDFS load, Table 2</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5–7 MapReduce, Hive, Spark</a:t>
                      </a:r>
                    </a:p>
                  </a:txBody>
                  <a:tcPr marL="54864" marR="54864" marT="27432" marB="27432" anchor="ctr">
                    <a:solidFill>
                      <a:srgbClr val="FFFFFF"/>
                    </a:solidFill>
                  </a:tcPr>
                </a:tc>
                <a:tc>
                  <a:txBody>
                    <a:bodyPr wrap="square"/>
                    <a:lstStyle/>
                    <a:p>
                      <a:pPr algn="ctr"/>
                      <a:r>
                        <a:rPr sz="1200" b="0" i="0">
                          <a:solidFill>
                            <a:srgbClr val="1F1F1F"/>
                          </a:solidFill>
                          <a:latin typeface="Calibri"/>
                        </a:rPr>
                        <a:t>YARN job + timings, Hive check, k-means regimes, Table 3</a:t>
                      </a:r>
                    </a:p>
                  </a:txBody>
                  <a:tcPr marL="54864" marR="54864" marT="27432" marB="27432" anchor="ctr">
                    <a:solidFill>
                      <a:srgbClr val="FFFFFF"/>
                    </a:solidFill>
                  </a:tcPr>
                </a:tc>
                <a:tc>
                  <a:txBody>
                    <a:bodyPr wrap="square"/>
                    <a:lstStyle/>
                    <a:p>
                      <a:pPr algn="ctr"/>
                      <a:r>
                        <a:rPr sz="1200" b="0" i="0">
                          <a:solidFill>
                            <a:srgbClr val="1F1F1F"/>
                          </a:solidFill>
                          <a:latin typeface="Calibri"/>
                        </a:rPr>
                        <a:t>Tanmay</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8–10 A-CPN +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Model card, 5 baselines, Tables 4–6, ablation</a:t>
                      </a:r>
                    </a:p>
                  </a:txBody>
                  <a:tcPr marL="54864" marR="54864" marT="27432" marB="27432" anchor="ctr">
                    <a:solidFill>
                      <a:srgbClr val="EEF2F8"/>
                    </a:solidFill>
                  </a:tcPr>
                </a:tc>
                <a:tc>
                  <a:txBody>
                    <a:bodyPr wrap="square"/>
                    <a:lstStyle/>
                    <a:p>
                      <a:pPr algn="ctr"/>
                      <a:r>
                        <a:rPr sz="1200" b="0" i="0">
                          <a:solidFill>
                            <a:srgbClr val="1F1F1F"/>
                          </a:solidFill>
                          <a:latin typeface="Calibri"/>
                        </a:rPr>
                        <a:t>Devanshu</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