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C4CDFC-31C6-4A0C-83A8-5F3C04108DC2}" v="6" dt="2026-09-28T03:14:14.5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85359" autoAdjust="0"/>
  </p:normalViewPr>
  <p:slideViewPr>
    <p:cSldViewPr>
      <p:cViewPr varScale="1">
        <p:scale>
          <a:sx n="51" d="100"/>
          <a:sy n="51" d="100"/>
        </p:scale>
        <p:origin x="1584"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5/10/relationships/revisionInfo" Target="revisionInfo.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i="0">
                <a:solidFill>
                  <a:srgbClr val="1B3A6B"/>
                </a:solidFill>
                <a:latin typeface="Calibri"/>
              </a:rPr>
              <a:t>Variance in vulnerability explained (R²)</a:t>
            </a:r>
          </a:p>
        </c:rich>
      </c:tx>
      <c:layout/>
      <c:overlay val="0"/>
    </c:title>
    <c:autoTitleDeleted val="0"/>
    <c:plotArea>
      <c:barChart>
        <c:barDir val="col"/>
        <c:grouping val="clustered"/>
        <c:ser>
          <c:idx val="0"/>
          <c:order val="0"/>
          <c:tx>
            <c:strRef>
              <c:f>Sheet1!$B$1</c:f>
              <c:strCache>
                <c:ptCount val="1"/>
                <c:pt idx="0">
                  <c:v>R²</c:v>
                </c:pt>
              </c:strCache>
            </c:strRef>
          </c:tx>
          <c:spPr>
            <a:solidFill>
              <a:srgbClr val="0E6E6E"/>
            </a:solidFill>
          </c:spPr>
          <c:cat>
            <c:strRef>
              <c:f>Sheet1!$A$2:$A$4</c:f>
              <c:strCache>
                <c:ptCount val="3"/>
                <c:pt idx="0">
                  <c:v>Dev only</c:v>
                </c:pt>
                <c:pt idx="1">
                  <c:v>Dev + climate</c:v>
                </c:pt>
                <c:pt idx="2">
                  <c:v>State only</c:v>
                </c:pt>
              </c:strCache>
            </c:strRef>
          </c:cat>
          <c:val>
            <c:numRef>
              <c:f>Sheet1!$B$2:$B$4</c:f>
              <c:numCache>
                <c:formatCode>General</c:formatCode>
                <c:ptCount val="3"/>
                <c:pt idx="0">
                  <c:v>0.127</c:v>
                </c:pt>
                <c:pt idx="1">
                  <c:v>0.334</c:v>
                </c:pt>
                <c:pt idx="2">
                  <c:v>0.477</c:v>
                </c:pt>
              </c:numCache>
            </c:numRef>
          </c:val>
        </c:ser>
        <c:dLbls>
          <c:numFmt formatCode="0.0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0.6"/>
          <c:min val="0.0"/>
        </c:scaling>
        <c:delete val="0"/>
        <c:axPos val="l"/>
        <c:numFmt formatCode="0.0" sourceLinked="0"/>
        <c:majorTickMark val="out"/>
        <c:minorTickMark val="none"/>
        <c:tickLblPos val="nextTo"/>
        <c:txPr>
          <a:bodyPr/>
          <a:lstStyle/>
          <a:p>
            <a:pPr>
              <a:defRPr sz="1100"/>
            </a:pPr>
          </a:p>
        </c:txPr>
        <c:crossAx val="-2068027336"/>
        <c:crosses val="autoZero"/>
        <c:majorUnit val="0.1"/>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BE0B3843-71DB-4933-96B2-5A286420EAED}" type="datetimeFigureOut">
              <a:rPr lang="en-IN" smtClean="0"/>
              <a:pPr/>
              <a:t>28-09-2026</a:t>
            </a:fld>
            <a:endParaRPr lang="en-IN"/>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04051410-1A42-4CD9-9C94-19E4466B22C6}" type="slidenum">
              <a:rPr lang="en-IN" smtClean="0"/>
              <a:pPr/>
              <a:t>‹#›</a:t>
            </a:fld>
            <a:endParaRPr lang="en-IN"/>
          </a:p>
        </p:txBody>
      </p:sp>
    </p:spTree>
    <p:extLst>
      <p:ext uri="{BB962C8B-B14F-4D97-AF65-F5344CB8AC3E}">
        <p14:creationId xmlns:p14="http://schemas.microsoft.com/office/powerpoint/2010/main" val="1764658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asks why some developed Indian districts remain highly climate-vulnerable while some less-developed districts are resilient. We built a Big Data pipeline over 30 years of IMD climate data and a novel deep-learning model, A-CPN, to explain each district.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order we follow, as required for Review 2: dataset, model, architecture, preprocessing and its results, classification, comparison, team plan, references, photo and the Colab link.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alone should predict resilience, but it does not always. Splitting districts at the median of development and of vulnerability gives four groups; 181 of 469 districts break the expected pattern. Our objectives are the pipeline, the novel model, a fair comparison, and a per-district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combine five public sources. NDAP gives the outcome and two development variables, Census 2011 gives three more, and IMD gives 30 years of daily gridded rainfall and temperature, which is what makes this a Big Data problem. The vulnerability index is only ever the target, never an input.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A-CPN splits each district's risk into two parts. A linear development baseline says how vulnerable the district should be from development alone. A deep climate network learns a climate push that raises or lowers that risk. Attention shows which climate factor drives the push, and MC Dropout with conformal prediction says how certain we 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flows top-left to bottom-right. Raw sources land in the HDFS raw zone; Python converts the IMD grids to district-day rows in staging; MapReduce on YARN aggregates 7 million daily rows to yearly indices; Hive builds the 30-year baseline and joins development data; Spark finds climate regimes and trains the MLlib baselines; A-CPN is trained in PyTorch and compared.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installed Java 8, Hadoop with HDFS and YARN, Hive and Spark inside Colab. HDFS has three zones so the raw data is never modified. In total 1.08 GB is stored, mostly the 30 years of rainfall grids. These sizes were measured with hdfs dfs -du in the Colab run 2026-10-11.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MapReduce does the heaviest step, 7 million daily rows to 19,200 district-years, because the work splits by district and year. Hive does the averaging and the join in SQL, and its output matched pandas exactly. Spark is used for k-means climate regimes and the MLlib baselines because it works in memory.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preprocessing steps take the raw sources to a model-ready table. Matching is done inside states and two wrong fuzzy matches are blocked. We never impute: only 5 development variables are complete enough. Standardisation uses training-fold statistics only, so there is no leakage.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Districts are kept only when every variable is real, which takes us from 640 Census districts to 469 complete ones in 21 states. Census totals match the official figures. On the right, each feature's single-variable ROC-AUC shows how much signal it carries before any model is trained.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preprocessing step is checked against a reference. Census totals reproduce the official figures, grid weights sum to one within rounding, missing climate cells stay missing instead of becoming zero, and the final table has no missing, duplicate or out-of-range values. Two checks need the raw IMD grids and will be filled by the Colab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measure what preprocessing buys, every model is trained twice on the same districts and folds: once on the raw features exactly as they come, and once on the preprocessed features. The gain column is the improvement. The neural models gain the most. Random Forest and GBT do not depend on scale, and Spark's Logistic Regression and Linear SVM standardise features internally, so those four do not change.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4 lists the full A-CPN specification. The development part is deliberately linear so the baseline is readable; the climate part is a small deep network sized for 469 districts. Every model, including A-CPN, uses the same 25 folds plus leave-one-state-out.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5 compares A-CPN with five existing models on exactly the same 25 folds and the same leave-one-state-out split. Values are means over folds. We call a model best only if its lead is larger than one standard deviation, and we report a baseline that beats A-CPN as it 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accuracy we report precision, recall and specificity, two chance-corrected scores (MCC and kappa), PR-AUC, and three probability-quality scores: log loss, Brier score and expected calibration error, where lower is better. Linear SVM gives no probabilities, so those cells are n/a.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Confusion counts are summed over all 25 test folds. The 95% confidence interval shows how certain each ROC-AUC is, and the corrected paired test tells us whether a difference from A-CPN is real or could be noise from the folds; p below 0.05 means a real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removes one part of A-CPN and re-runs it on the same folds. If accuracy drops by more than one standard deviation, that part helps prediction; if not, the part is kept only for what it explains, and we say so.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climate push answers our research question. A positive push means climate makes a district more vulnerable than its development predicts. We compare Anomaly A with the expected developed districts, and Anomaly B with the expected less-developed districts.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the data-quality problems in the raw sources and after preprocessing; missing values, unmatched and wrongly matched districts all go to zero without imputation. Bottom: the raw features live on very different scales, and after standardisation they are comparable.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ROC-AUC of every model on raw versus preprocessed features, with the gain written above each pair. Bottom: how many districts survive each preprocessing stage when nothing is imputed.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HDFS storage by zone, dominated by the 30 years of rainfall grids. Bottom: MapReduce runtime against input size for 1, 10 and 30 years on a single node; both measured in the earlier Colab run.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ROC and precision-recall curves for A-CPN and the five baselines, pooled over the 25 folds. Bottom: mean and standard deviation of four metrics for every model.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A-CPN confusion matrix summed over all test folds. Right: the spread of ROC-AUC across the 25 folds for every model, which shows how stable each model 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climate push of every district by group, with the group mean. Right: an India map of the climate push, so the panel can see where climate drives vulnerability beyond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explains only 13% of the variation in vulnerability; adding climate raises that to 33%, and state alone explains 48%. Anomaly A districts have about twice as many tropical nights, and Anomaly B districts are drier. Limitations are listed honestly.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member owns one stage of the pipeline with no overlap: Sehjodh the data and preprocessing, Deepankar the Big Data platform, Tanmay the processing jobs, and Devanshu the models. Completion percentages are estimates at Review 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data sources, the papers behind each A-CPN component, and the Big Data tools we used.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adds the geotagged photo taken during the Review 2 presentation here.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Colab notebook runs the whole project in the Review 2 order, with every table printed before any figure. The model sections can also run on their own from the committed analysis 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3501D12-12CC-4599-B1A9-46B23EE40265}"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701A662-5DD3-4FFC-B0F1-2015CB0A0DAE}"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A98144-BEFF-4702-AC4D-6A16E0F7E443}"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E9FD06E-5333-4E53-AFAB-CB44FF27A57E}" type="datetime1">
              <a:rPr lang="en-US" smtClean="0"/>
              <a:t>9/28/2026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99A21B5-5FA1-433F-8BD7-148FD7224A0F}" type="datetime1">
              <a:rPr lang="en-US" smtClean="0"/>
              <a:t>9/28/2026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65D7CA1-D255-4502-AFA8-A5C13107334B}" type="datetime1">
              <a:rPr lang="en-US" smtClean="0"/>
              <a:t>9/28/2026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553D88-E4EA-480A-A4BB-689734D28FE4}" type="datetime1">
              <a:rPr lang="en-US" smtClean="0"/>
              <a:t>9/28/2026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F60DE4-0BF3-46B9-83A2-2AF36E731B12}" type="datetime1">
              <a:rPr lang="en-US" smtClean="0"/>
              <a:t>9/28/2026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D5D0A-779E-4A13-8C93-0EEB1D4607F5}" type="datetime1">
              <a:rPr lang="en-US" smtClean="0"/>
              <a:t>9/28/2026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A813685-E0B9-4B43-833E-F4F3DABCD097}"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1CE4E74-A84D-43FC-9765-A65DF08BB6C7}"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9455C-F1F3-4F5C-85DA-4378C108ECB7}" type="datetime1">
              <a:rPr lang="en-US" smtClean="0"/>
              <a:t>9/28/2026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9B245-E05F-45BE-B7A4-197150CC347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9.xml"/><Relationship Id="rId4" Type="http://schemas.openxmlformats.org/officeDocument/2006/relationships/image" Target="../media/image2.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0.xml"/><Relationship Id="rId4" Type="http://schemas.openxmlformats.org/officeDocument/2006/relationships/image" Target="../media/image4.png"/><Relationship Id="rId5"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1.xml"/><Relationship Id="rId4" Type="http://schemas.openxmlformats.org/officeDocument/2006/relationships/image" Target="../media/image6.png"/><Relationship Id="rId5"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2.xml"/><Relationship Id="rId4" Type="http://schemas.openxmlformats.org/officeDocument/2006/relationships/image" Target="../media/image8.pn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3.xml"/><Relationship Id="rId4" Type="http://schemas.openxmlformats.org/officeDocument/2006/relationships/image" Target="../media/image10.pn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4.xml"/><Relationship Id="rId4" Type="http://schemas.openxmlformats.org/officeDocument/2006/relationships/image" Target="../media/image12.png"/><Relationship Id="rId5"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5.xml"/><Relationship Id="rId4" Type="http://schemas.openxmlformats.org/officeDocument/2006/relationships/chart" Target="../charts/char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600200"/>
            <a:ext cx="8229600" cy="2011680"/>
          </a:xfrm>
        </p:spPr>
        <p:txBody>
          <a:bodyPr wrap="square">
            <a:normAutofit/>
          </a:bodyPr>
          <a:lstStyle/>
          <a:p>
            <a:pPr algn="ctr"/>
            <a:r>
              <a:rPr sz="3200" b="1" i="0">
                <a:solidFill>
                  <a:srgbClr val="1B3A6B"/>
                </a:solidFill>
                <a:latin typeface="Times New Roman"/>
              </a:rPr>
              <a:t>Beyond Development: Explaining Climate Resilience Across Indian Districts</a:t>
            </a:r>
            <a:endParaRPr lang="en-US" sz="3500" dirty="0">
              <a:latin typeface="Times New Roman" panose="02020603050405020304" pitchFamily="18" charset="0"/>
              <a:cs typeface="Times New Roman" panose="02020603050405020304" pitchFamily="18" charset="0"/>
            </a:endParaRPr>
          </a:p>
          <a:p>
            <a:pPr algn="ctr">
              <a:spcBef>
                <a:spcPts val="1000"/>
              </a:spcBef>
            </a:pPr>
            <a:r>
              <a:rPr sz="2600" b="1" i="0">
                <a:solidFill>
                  <a:srgbClr val="1F1F1F"/>
                </a:solidFill>
                <a:latin typeface="Times New Roman"/>
              </a:rPr>
              <a:t>Review 2</a:t>
            </a:r>
          </a:p>
        </p:txBody>
      </p:sp>
      <p:pic>
        <p:nvPicPr>
          <p:cNvPr id="3" name="Picture 2" descr="SRMlogo.jpg">
            <a:extLst>
              <a:ext uri="{FF2B5EF4-FFF2-40B4-BE49-F238E27FC236}">
                <a16:creationId xmlns:a16="http://schemas.microsoft.com/office/drawing/2014/main" id="{D3E774F7-54F1-6481-EAF3-59D820C21CBD}"/>
              </a:ext>
            </a:extLst>
          </p:cNvPr>
          <p:cNvPicPr>
            <a:picLocks noChangeAspect="1"/>
          </p:cNvPicPr>
          <p:nvPr/>
        </p:nvPicPr>
        <p:blipFill>
          <a:blip r:embed="rId2"/>
          <a:stretch>
            <a:fillRect/>
          </a:stretch>
        </p:blipFill>
        <p:spPr>
          <a:xfrm>
            <a:off x="6858000" y="228600"/>
            <a:ext cx="2066925" cy="857250"/>
          </a:xfrm>
          <a:prstGeom prst="rect">
            <a:avLst/>
          </a:prstGeom>
        </p:spPr>
      </p:pic>
      <p:sp>
        <p:nvSpPr>
          <p:cNvPr id="4" name="TextBox 3"/>
          <p:cNvSpPr txBox="1"/>
          <p:nvPr/>
        </p:nvSpPr>
        <p:spPr>
          <a:xfrm>
            <a:off x="4572000" y="4343400"/>
            <a:ext cx="4206240" cy="2103120"/>
          </a:xfrm>
          <a:prstGeom prst="rect">
            <a:avLst/>
          </a:prstGeom>
          <a:noFill/>
        </p:spPr>
        <p:txBody>
          <a:bodyPr wrap="square">
            <a:spAutoFit/>
          </a:bodyPr>
          <a:lstStyle/>
          <a:p>
            <a:pPr algn="ctr"/>
            <a:r>
              <a:rPr sz="1600" b="1" i="0">
                <a:solidFill>
                  <a:srgbClr val="1F1F1F"/>
                </a:solidFill>
                <a:latin typeface="Times New Roman"/>
              </a:rPr>
              <a:t>Faculty name - Dr Bhanu Priya</a:t>
            </a:r>
          </a:p>
          <a:p>
            <a:pPr algn="ctr"/>
            <a:r>
              <a:rPr sz="1600" b="1" i="0">
                <a:solidFill>
                  <a:srgbClr val="1F1F1F"/>
                </a:solidFill>
                <a:latin typeface="Times New Roman"/>
              </a:rPr>
              <a:t>Team Members info-</a:t>
            </a:r>
          </a:p>
          <a:p>
            <a:pPr algn="ctr"/>
            <a:r>
              <a:rPr sz="1600" b="0" i="0">
                <a:solidFill>
                  <a:srgbClr val="1F1F1F"/>
                </a:solidFill>
                <a:latin typeface="Times New Roman"/>
              </a:rPr>
              <a:t>Sehjodh Grewal (RA2411031010081)</a:t>
            </a:r>
          </a:p>
          <a:p>
            <a:pPr algn="ctr"/>
            <a:r>
              <a:rPr sz="1600" b="0" i="0">
                <a:solidFill>
                  <a:srgbClr val="1F1F1F"/>
                </a:solidFill>
                <a:latin typeface="Times New Roman"/>
              </a:rPr>
              <a:t>Devanshu Kumar (RA2411031010102)</a:t>
            </a:r>
          </a:p>
          <a:p>
            <a:pPr algn="ctr"/>
            <a:r>
              <a:rPr sz="1600" b="0" i="0">
                <a:solidFill>
                  <a:srgbClr val="1F1F1F"/>
                </a:solidFill>
                <a:latin typeface="Times New Roman"/>
              </a:rPr>
              <a:t>Deepankar (RA2411031010103)</a:t>
            </a:r>
          </a:p>
          <a:p>
            <a:pPr algn="ctr"/>
            <a:r>
              <a:rPr sz="1600" b="0" i="0">
                <a:solidFill>
                  <a:srgbClr val="1F1F1F"/>
                </a:solidFill>
                <a:latin typeface="Times New Roman"/>
              </a:rPr>
              <a:t>Tanmay Singh (RA2411031010118)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Contents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Oval 3"/>
          <p:cNvSpPr/>
          <p:nvPr/>
        </p:nvSpPr>
        <p:spPr>
          <a:xfrm>
            <a:off x="457200" y="1417320"/>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1</a:t>
            </a:r>
          </a:p>
        </p:txBody>
      </p:sp>
      <p:sp>
        <p:nvSpPr>
          <p:cNvPr id="5" name="TextBox 4"/>
          <p:cNvSpPr txBox="1"/>
          <p:nvPr/>
        </p:nvSpPr>
        <p:spPr>
          <a:xfrm>
            <a:off x="1005840" y="1371600"/>
            <a:ext cx="3520440" cy="594360"/>
          </a:xfrm>
          <a:prstGeom prst="rect">
            <a:avLst/>
          </a:prstGeom>
          <a:noFill/>
        </p:spPr>
        <p:txBody>
          <a:bodyPr wrap="square" anchor="ctr" lIns="45720" rIns="45720">
            <a:spAutoFit/>
          </a:bodyPr>
          <a:lstStyle/>
          <a:p>
            <a:pPr algn="l"/>
            <a:r>
              <a:rPr sz="1600" b="0" i="0">
                <a:solidFill>
                  <a:srgbClr val="1F1F1F"/>
                </a:solidFill>
                <a:latin typeface="Calibri"/>
              </a:rPr>
              <a:t>Dataset</a:t>
            </a:r>
          </a:p>
        </p:txBody>
      </p:sp>
      <p:sp>
        <p:nvSpPr>
          <p:cNvPr id="6" name="Oval 5"/>
          <p:cNvSpPr/>
          <p:nvPr/>
        </p:nvSpPr>
        <p:spPr>
          <a:xfrm>
            <a:off x="457200" y="2221992"/>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2</a:t>
            </a:r>
          </a:p>
        </p:txBody>
      </p:sp>
      <p:sp>
        <p:nvSpPr>
          <p:cNvPr id="7" name="TextBox 6"/>
          <p:cNvSpPr txBox="1"/>
          <p:nvPr/>
        </p:nvSpPr>
        <p:spPr>
          <a:xfrm>
            <a:off x="1005840" y="2176272"/>
            <a:ext cx="3520440" cy="594360"/>
          </a:xfrm>
          <a:prstGeom prst="rect">
            <a:avLst/>
          </a:prstGeom>
          <a:noFill/>
        </p:spPr>
        <p:txBody>
          <a:bodyPr wrap="square" anchor="ctr" lIns="45720" rIns="45720">
            <a:spAutoFit/>
          </a:bodyPr>
          <a:lstStyle/>
          <a:p>
            <a:pPr algn="l"/>
            <a:r>
              <a:rPr sz="1600" b="0" i="0">
                <a:solidFill>
                  <a:srgbClr val="1F1F1F"/>
                </a:solidFill>
                <a:latin typeface="Calibri"/>
              </a:rPr>
              <a:t>Proposed Model (A-CPN)</a:t>
            </a:r>
          </a:p>
        </p:txBody>
      </p:sp>
      <p:sp>
        <p:nvSpPr>
          <p:cNvPr id="8" name="Oval 7"/>
          <p:cNvSpPr/>
          <p:nvPr/>
        </p:nvSpPr>
        <p:spPr>
          <a:xfrm>
            <a:off x="457200" y="3026664"/>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3</a:t>
            </a:r>
          </a:p>
        </p:txBody>
      </p:sp>
      <p:sp>
        <p:nvSpPr>
          <p:cNvPr id="9" name="TextBox 8"/>
          <p:cNvSpPr txBox="1"/>
          <p:nvPr/>
        </p:nvSpPr>
        <p:spPr>
          <a:xfrm>
            <a:off x="1005840" y="2980944"/>
            <a:ext cx="3520440" cy="594360"/>
          </a:xfrm>
          <a:prstGeom prst="rect">
            <a:avLst/>
          </a:prstGeom>
          <a:noFill/>
        </p:spPr>
        <p:txBody>
          <a:bodyPr wrap="square" anchor="ctr" lIns="45720" rIns="45720">
            <a:spAutoFit/>
          </a:bodyPr>
          <a:lstStyle/>
          <a:p>
            <a:pPr algn="l"/>
            <a:r>
              <a:rPr sz="1600" b="0" i="0">
                <a:solidFill>
                  <a:srgbClr val="1F1F1F"/>
                </a:solidFill>
                <a:latin typeface="Calibri"/>
              </a:rPr>
              <a:t>Overall System Architecture Diagram</a:t>
            </a:r>
          </a:p>
        </p:txBody>
      </p:sp>
      <p:sp>
        <p:nvSpPr>
          <p:cNvPr id="10" name="Oval 9"/>
          <p:cNvSpPr/>
          <p:nvPr/>
        </p:nvSpPr>
        <p:spPr>
          <a:xfrm>
            <a:off x="457200" y="3831336"/>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4</a:t>
            </a:r>
          </a:p>
        </p:txBody>
      </p:sp>
      <p:sp>
        <p:nvSpPr>
          <p:cNvPr id="11" name="TextBox 10"/>
          <p:cNvSpPr txBox="1"/>
          <p:nvPr/>
        </p:nvSpPr>
        <p:spPr>
          <a:xfrm>
            <a:off x="1005840" y="3785616"/>
            <a:ext cx="3520440" cy="594360"/>
          </a:xfrm>
          <a:prstGeom prst="rect">
            <a:avLst/>
          </a:prstGeom>
          <a:noFill/>
        </p:spPr>
        <p:txBody>
          <a:bodyPr wrap="square" anchor="ctr" lIns="45720" rIns="45720">
            <a:spAutoFit/>
          </a:bodyPr>
          <a:lstStyle/>
          <a:p>
            <a:pPr algn="l"/>
            <a:r>
              <a:rPr sz="1600" b="0" i="0">
                <a:solidFill>
                  <a:srgbClr val="1F1F1F"/>
                </a:solidFill>
                <a:latin typeface="Calibri"/>
              </a:rPr>
              <a:t>Preprocessing (Big Data analysis and its steps)</a:t>
            </a:r>
          </a:p>
        </p:txBody>
      </p:sp>
      <p:sp>
        <p:nvSpPr>
          <p:cNvPr id="12" name="Oval 11"/>
          <p:cNvSpPr/>
          <p:nvPr/>
        </p:nvSpPr>
        <p:spPr>
          <a:xfrm>
            <a:off x="457200" y="4636008"/>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5</a:t>
            </a:r>
          </a:p>
        </p:txBody>
      </p:sp>
      <p:sp>
        <p:nvSpPr>
          <p:cNvPr id="13" name="TextBox 12"/>
          <p:cNvSpPr txBox="1"/>
          <p:nvPr/>
        </p:nvSpPr>
        <p:spPr>
          <a:xfrm>
            <a:off x="1005840" y="4590288"/>
            <a:ext cx="3520440" cy="594360"/>
          </a:xfrm>
          <a:prstGeom prst="rect">
            <a:avLst/>
          </a:prstGeom>
          <a:noFill/>
        </p:spPr>
        <p:txBody>
          <a:bodyPr wrap="square" anchor="ctr" lIns="45720" rIns="45720">
            <a:spAutoFit/>
          </a:bodyPr>
          <a:lstStyle/>
          <a:p>
            <a:pPr algn="l"/>
            <a:r>
              <a:rPr sz="1600" b="0" i="0">
                <a:solidFill>
                  <a:srgbClr val="1F1F1F"/>
                </a:solidFill>
                <a:latin typeface="Calibri"/>
              </a:rPr>
              <a:t>Results of Preprocessing</a:t>
            </a:r>
          </a:p>
        </p:txBody>
      </p:sp>
      <p:sp>
        <p:nvSpPr>
          <p:cNvPr id="14" name="Oval 13"/>
          <p:cNvSpPr/>
          <p:nvPr/>
        </p:nvSpPr>
        <p:spPr>
          <a:xfrm>
            <a:off x="457200" y="5440680"/>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6</a:t>
            </a:r>
          </a:p>
        </p:txBody>
      </p:sp>
      <p:sp>
        <p:nvSpPr>
          <p:cNvPr id="15" name="TextBox 14"/>
          <p:cNvSpPr txBox="1"/>
          <p:nvPr/>
        </p:nvSpPr>
        <p:spPr>
          <a:xfrm>
            <a:off x="1005840" y="5394960"/>
            <a:ext cx="3520440" cy="594360"/>
          </a:xfrm>
          <a:prstGeom prst="rect">
            <a:avLst/>
          </a:prstGeom>
          <a:noFill/>
        </p:spPr>
        <p:txBody>
          <a:bodyPr wrap="square" anchor="ctr" lIns="45720" rIns="45720">
            <a:spAutoFit/>
          </a:bodyPr>
          <a:lstStyle/>
          <a:p>
            <a:pPr algn="l"/>
            <a:r>
              <a:rPr sz="1600" b="0" i="0">
                <a:solidFill>
                  <a:srgbClr val="1F1F1F"/>
                </a:solidFill>
                <a:latin typeface="Calibri"/>
              </a:rPr>
              <a:t>Classification (proposed model)</a:t>
            </a:r>
          </a:p>
        </p:txBody>
      </p:sp>
      <p:sp>
        <p:nvSpPr>
          <p:cNvPr id="16" name="Oval 15"/>
          <p:cNvSpPr/>
          <p:nvPr/>
        </p:nvSpPr>
        <p:spPr>
          <a:xfrm>
            <a:off x="4663440" y="1417320"/>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7</a:t>
            </a:r>
          </a:p>
        </p:txBody>
      </p:sp>
      <p:sp>
        <p:nvSpPr>
          <p:cNvPr id="17" name="TextBox 16"/>
          <p:cNvSpPr txBox="1"/>
          <p:nvPr/>
        </p:nvSpPr>
        <p:spPr>
          <a:xfrm>
            <a:off x="5212079" y="1371600"/>
            <a:ext cx="3520440" cy="594360"/>
          </a:xfrm>
          <a:prstGeom prst="rect">
            <a:avLst/>
          </a:prstGeom>
          <a:noFill/>
        </p:spPr>
        <p:txBody>
          <a:bodyPr wrap="square" anchor="ctr" lIns="45720" rIns="45720">
            <a:spAutoFit/>
          </a:bodyPr>
          <a:lstStyle/>
          <a:p>
            <a:pPr algn="l"/>
            <a:r>
              <a:rPr sz="1600" b="0" i="0">
                <a:solidFill>
                  <a:srgbClr val="1F1F1F"/>
                </a:solidFill>
                <a:latin typeface="Calibri"/>
              </a:rPr>
              <a:t>Results of Classification using proposed model</a:t>
            </a:r>
          </a:p>
        </p:txBody>
      </p:sp>
      <p:sp>
        <p:nvSpPr>
          <p:cNvPr id="18" name="Oval 17"/>
          <p:cNvSpPr/>
          <p:nvPr/>
        </p:nvSpPr>
        <p:spPr>
          <a:xfrm>
            <a:off x="4663440" y="2221992"/>
            <a:ext cx="457200" cy="45720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8</a:t>
            </a:r>
          </a:p>
        </p:txBody>
      </p:sp>
      <p:sp>
        <p:nvSpPr>
          <p:cNvPr id="19" name="TextBox 18"/>
          <p:cNvSpPr txBox="1"/>
          <p:nvPr/>
        </p:nvSpPr>
        <p:spPr>
          <a:xfrm>
            <a:off x="5212079" y="2176272"/>
            <a:ext cx="3520440" cy="594360"/>
          </a:xfrm>
          <a:prstGeom prst="rect">
            <a:avLst/>
          </a:prstGeom>
          <a:noFill/>
        </p:spPr>
        <p:txBody>
          <a:bodyPr wrap="square" anchor="ctr" lIns="45720" rIns="45720">
            <a:spAutoFit/>
          </a:bodyPr>
          <a:lstStyle/>
          <a:p>
            <a:pPr algn="l"/>
            <a:r>
              <a:rPr sz="1600" b="0" i="0">
                <a:solidFill>
                  <a:srgbClr val="1F1F1F"/>
                </a:solidFill>
                <a:latin typeface="Calibri"/>
              </a:rPr>
              <a:t>Comparison with the existing classifier models</a:t>
            </a:r>
          </a:p>
        </p:txBody>
      </p:sp>
      <p:sp>
        <p:nvSpPr>
          <p:cNvPr id="20" name="Oval 19"/>
          <p:cNvSpPr/>
          <p:nvPr/>
        </p:nvSpPr>
        <p:spPr>
          <a:xfrm>
            <a:off x="4663440" y="3026664"/>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9</a:t>
            </a:r>
          </a:p>
        </p:txBody>
      </p:sp>
      <p:sp>
        <p:nvSpPr>
          <p:cNvPr id="21" name="TextBox 20"/>
          <p:cNvSpPr txBox="1"/>
          <p:nvPr/>
        </p:nvSpPr>
        <p:spPr>
          <a:xfrm>
            <a:off x="5212079" y="2980944"/>
            <a:ext cx="3520440" cy="594360"/>
          </a:xfrm>
          <a:prstGeom prst="rect">
            <a:avLst/>
          </a:prstGeom>
          <a:noFill/>
        </p:spPr>
        <p:txBody>
          <a:bodyPr wrap="square" anchor="ctr" lIns="45720" rIns="45720">
            <a:spAutoFit/>
          </a:bodyPr>
          <a:lstStyle/>
          <a:p>
            <a:pPr algn="l"/>
            <a:r>
              <a:rPr sz="1600" b="0" i="0">
                <a:solidFill>
                  <a:srgbClr val="1F1F1F"/>
                </a:solidFill>
                <a:latin typeface="Calibri"/>
              </a:rPr>
              <a:t>Plan of Action / Member Tasks</a:t>
            </a:r>
          </a:p>
        </p:txBody>
      </p:sp>
      <p:sp>
        <p:nvSpPr>
          <p:cNvPr id="22" name="Oval 21"/>
          <p:cNvSpPr/>
          <p:nvPr/>
        </p:nvSpPr>
        <p:spPr>
          <a:xfrm>
            <a:off x="4663440" y="3831336"/>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10</a:t>
            </a:r>
          </a:p>
        </p:txBody>
      </p:sp>
      <p:sp>
        <p:nvSpPr>
          <p:cNvPr id="23" name="TextBox 22"/>
          <p:cNvSpPr txBox="1"/>
          <p:nvPr/>
        </p:nvSpPr>
        <p:spPr>
          <a:xfrm>
            <a:off x="5212079" y="3785616"/>
            <a:ext cx="3520440" cy="594360"/>
          </a:xfrm>
          <a:prstGeom prst="rect">
            <a:avLst/>
          </a:prstGeom>
          <a:noFill/>
        </p:spPr>
        <p:txBody>
          <a:bodyPr wrap="square" anchor="ctr" lIns="45720" rIns="45720">
            <a:spAutoFit/>
          </a:bodyPr>
          <a:lstStyle/>
          <a:p>
            <a:pPr algn="l"/>
            <a:r>
              <a:rPr sz="1600" b="0" i="0">
                <a:solidFill>
                  <a:srgbClr val="1F1F1F"/>
                </a:solidFill>
                <a:latin typeface="Calibri"/>
              </a:rPr>
              <a:t>References</a:t>
            </a:r>
          </a:p>
        </p:txBody>
      </p:sp>
      <p:sp>
        <p:nvSpPr>
          <p:cNvPr id="24" name="Oval 23"/>
          <p:cNvSpPr/>
          <p:nvPr/>
        </p:nvSpPr>
        <p:spPr>
          <a:xfrm>
            <a:off x="4663440" y="4636008"/>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11</a:t>
            </a:r>
          </a:p>
        </p:txBody>
      </p:sp>
      <p:sp>
        <p:nvSpPr>
          <p:cNvPr id="25" name="TextBox 24"/>
          <p:cNvSpPr txBox="1"/>
          <p:nvPr/>
        </p:nvSpPr>
        <p:spPr>
          <a:xfrm>
            <a:off x="5212079" y="4590288"/>
            <a:ext cx="3520440" cy="594360"/>
          </a:xfrm>
          <a:prstGeom prst="rect">
            <a:avLst/>
          </a:prstGeom>
          <a:noFill/>
        </p:spPr>
        <p:txBody>
          <a:bodyPr wrap="square" anchor="ctr" lIns="45720" rIns="45720">
            <a:spAutoFit/>
          </a:bodyPr>
          <a:lstStyle/>
          <a:p>
            <a:pPr algn="l"/>
            <a:r>
              <a:rPr sz="1600" b="0" i="0">
                <a:solidFill>
                  <a:srgbClr val="1F1F1F"/>
                </a:solidFill>
                <a:latin typeface="Calibri"/>
              </a:rPr>
              <a:t>Geotagged photo taken during Review 2 presentation</a:t>
            </a:r>
          </a:p>
        </p:txBody>
      </p:sp>
      <p:sp>
        <p:nvSpPr>
          <p:cNvPr id="26" name="Oval 25"/>
          <p:cNvSpPr/>
          <p:nvPr/>
        </p:nvSpPr>
        <p:spPr>
          <a:xfrm>
            <a:off x="4663440" y="5440680"/>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FFFFFF"/>
                </a:solidFill>
                <a:latin typeface="Calibri"/>
              </a:rPr>
              <a:t>12</a:t>
            </a:r>
          </a:p>
        </p:txBody>
      </p:sp>
      <p:sp>
        <p:nvSpPr>
          <p:cNvPr id="27" name="TextBox 26"/>
          <p:cNvSpPr txBox="1"/>
          <p:nvPr/>
        </p:nvSpPr>
        <p:spPr>
          <a:xfrm>
            <a:off x="5212079" y="5394960"/>
            <a:ext cx="3520440" cy="594360"/>
          </a:xfrm>
          <a:prstGeom prst="rect">
            <a:avLst/>
          </a:prstGeom>
          <a:noFill/>
        </p:spPr>
        <p:txBody>
          <a:bodyPr wrap="square" anchor="ctr" lIns="45720" rIns="45720">
            <a:spAutoFit/>
          </a:bodyPr>
          <a:lstStyle/>
          <a:p>
            <a:pPr algn="l"/>
            <a:r>
              <a:rPr sz="1600" b="0" i="0">
                <a:solidFill>
                  <a:srgbClr val="1F1F1F"/>
                </a:solidFill>
                <a:latin typeface="Calibri"/>
              </a:rPr>
              <a:t>Google Colab Implementation link</a:t>
            </a:r>
          </a:p>
        </p:txBody>
      </p:sp>
      <p:sp>
        <p:nvSpPr>
          <p:cNvPr id="28" name="TextBox 27"/>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Problem Statement &amp; Objectives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Rounded Rectangle 3"/>
          <p:cNvSpPr/>
          <p:nvPr/>
        </p:nvSpPr>
        <p:spPr>
          <a:xfrm>
            <a:off x="365760" y="1234440"/>
            <a:ext cx="8412480" cy="86868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700" b="1" i="0">
                <a:solidFill>
                  <a:srgbClr val="1F1F1F"/>
                </a:solidFill>
                <a:latin typeface="Calibri"/>
              </a:rPr>
              <a:t>Why do some developed Indian districts remain highly climate-vulnerable, while some less-developed districts are resilient?</a:t>
            </a:r>
          </a:p>
        </p:txBody>
      </p:sp>
      <p:sp>
        <p:nvSpPr>
          <p:cNvPr id="5" name="TextBox 4"/>
          <p:cNvSpPr txBox="1"/>
          <p:nvPr/>
        </p:nvSpPr>
        <p:spPr>
          <a:xfrm>
            <a:off x="365760" y="2286000"/>
            <a:ext cx="4206240" cy="365760"/>
          </a:xfrm>
          <a:prstGeom prst="rect">
            <a:avLst/>
          </a:prstGeom>
          <a:noFill/>
        </p:spPr>
        <p:txBody>
          <a:bodyPr wrap="square" anchor="t" lIns="45720" rIns="45720">
            <a:spAutoFit/>
          </a:bodyPr>
          <a:lstStyle/>
          <a:p>
            <a:pPr algn="l"/>
            <a:r>
              <a:rPr sz="1800" b="1" i="0">
                <a:solidFill>
                  <a:srgbClr val="1B3A6B"/>
                </a:solidFill>
                <a:latin typeface="Calibri"/>
              </a:rPr>
              <a:t>Objectives</a:t>
            </a:r>
          </a:p>
        </p:txBody>
      </p:sp>
      <p:sp>
        <p:nvSpPr>
          <p:cNvPr id="6" name="TextBox 5"/>
          <p:cNvSpPr txBox="1"/>
          <p:nvPr/>
        </p:nvSpPr>
        <p:spPr>
          <a:xfrm>
            <a:off x="365760" y="2697480"/>
            <a:ext cx="4251960" cy="3566160"/>
          </a:xfrm>
          <a:prstGeom prst="rect">
            <a:avLst/>
          </a:prstGeom>
          <a:noFill/>
        </p:spPr>
        <p:txBody>
          <a:bodyPr wrap="square" lIns="45720" rIns="45720">
            <a:spAutoFit/>
          </a:bodyPr>
          <a:lstStyle/>
          <a:p>
            <a:pPr>
              <a:spcAft>
                <a:spcPts val="600"/>
              </a:spcAft>
            </a:pPr>
            <a:r>
              <a:rPr sz="1500" b="0" i="0">
                <a:solidFill>
                  <a:srgbClr val="0E6E6E"/>
                </a:solidFill>
                <a:latin typeface="Calibri"/>
              </a:rPr>
              <a:t>▪  </a:t>
            </a:r>
            <a:r>
              <a:rPr sz="1500" b="1" i="0">
                <a:solidFill>
                  <a:srgbClr val="1F1F1F"/>
                </a:solidFill>
                <a:latin typeface="Calibri"/>
              </a:rPr>
              <a:t>Big Data pipeline </a:t>
            </a:r>
            <a:r>
              <a:rPr sz="1500" b="0" i="0">
                <a:solidFill>
                  <a:srgbClr val="1F1F1F"/>
                </a:solidFill>
                <a:latin typeface="Calibri"/>
              </a:rPr>
              <a:t>over 30 years (1991–2020) of IMD daily climate data: HDFS, MapReduce, Hive, Spark</a:t>
            </a:r>
          </a:p>
          <a:p>
            <a:pPr>
              <a:spcAft>
                <a:spcPts val="600"/>
              </a:spcAft>
            </a:pPr>
            <a:r>
              <a:rPr sz="1500" b="0" i="0">
                <a:solidFill>
                  <a:srgbClr val="0E6E6E"/>
                </a:solidFill>
                <a:latin typeface="Calibri"/>
              </a:rPr>
              <a:t>▪  </a:t>
            </a:r>
            <a:r>
              <a:rPr sz="1500" b="1" i="0">
                <a:solidFill>
                  <a:srgbClr val="1F1F1F"/>
                </a:solidFill>
                <a:latin typeface="Calibri"/>
              </a:rPr>
              <a:t>Novel deep-learning model </a:t>
            </a:r>
            <a:r>
              <a:rPr sz="1500" b="0" i="0">
                <a:solidFill>
                  <a:srgbClr val="1F1F1F"/>
                </a:solidFill>
                <a:latin typeface="Calibri"/>
              </a:rPr>
              <a:t>A-CPN (Attentive Climate Push Network)</a:t>
            </a:r>
          </a:p>
          <a:p>
            <a:pPr>
              <a:spcAft>
                <a:spcPts val="600"/>
              </a:spcAft>
            </a:pPr>
            <a:r>
              <a:rPr sz="1500" b="0" i="0">
                <a:solidFill>
                  <a:srgbClr val="0E6E6E"/>
                </a:solidFill>
                <a:latin typeface="Calibri"/>
              </a:rPr>
              <a:t>▪  </a:t>
            </a:r>
            <a:r>
              <a:rPr sz="1500" b="1" i="0">
                <a:solidFill>
                  <a:srgbClr val="1F1F1F"/>
                </a:solidFill>
                <a:latin typeface="Calibri"/>
              </a:rPr>
              <a:t>Compare </a:t>
            </a:r>
            <a:r>
              <a:rPr sz="1500" b="0" i="0">
                <a:solidFill>
                  <a:srgbClr val="1F1F1F"/>
                </a:solidFill>
                <a:latin typeface="Calibri"/>
              </a:rPr>
              <a:t>with 5 existing ML models on identical folds</a:t>
            </a:r>
          </a:p>
          <a:p>
            <a:pPr>
              <a:spcAft>
                <a:spcPts val="600"/>
              </a:spcAft>
            </a:pPr>
            <a:r>
              <a:rPr sz="1500" b="0" i="0">
                <a:solidFill>
                  <a:srgbClr val="0E6E6E"/>
                </a:solidFill>
                <a:latin typeface="Calibri"/>
              </a:rPr>
              <a:t>▪  </a:t>
            </a:r>
            <a:r>
              <a:rPr sz="1500" b="1" i="0">
                <a:solidFill>
                  <a:srgbClr val="1F1F1F"/>
                </a:solidFill>
                <a:latin typeface="Calibri"/>
              </a:rPr>
              <a:t>Explain </a:t>
            </a:r>
            <a:r>
              <a:rPr sz="1500" b="0" i="0">
                <a:solidFill>
                  <a:srgbClr val="1F1F1F"/>
                </a:solidFill>
                <a:latin typeface="Calibri"/>
              </a:rPr>
              <a:t>each district as climate-driven or development-driven</a:t>
            </a:r>
          </a:p>
        </p:txBody>
      </p:sp>
      <p:sp>
        <p:nvSpPr>
          <p:cNvPr id="7" name="TextBox 6"/>
          <p:cNvSpPr txBox="1"/>
          <p:nvPr/>
        </p:nvSpPr>
        <p:spPr>
          <a:xfrm>
            <a:off x="4846320" y="2286000"/>
            <a:ext cx="3931920" cy="365760"/>
          </a:xfrm>
          <a:prstGeom prst="rect">
            <a:avLst/>
          </a:prstGeom>
          <a:noFill/>
        </p:spPr>
        <p:txBody>
          <a:bodyPr wrap="square" anchor="t" lIns="45720" rIns="45720">
            <a:spAutoFit/>
          </a:bodyPr>
          <a:lstStyle/>
          <a:p>
            <a:pPr algn="l"/>
            <a:r>
              <a:rPr sz="1800" b="1" i="0">
                <a:solidFill>
                  <a:srgbClr val="1B3A6B"/>
                </a:solidFill>
                <a:latin typeface="Calibri"/>
              </a:rPr>
              <a:t>469 districts, median splits</a:t>
            </a:r>
          </a:p>
        </p:txBody>
      </p:sp>
      <p:sp>
        <p:nvSpPr>
          <p:cNvPr id="8" name="TextBox 7"/>
          <p:cNvSpPr txBox="1"/>
          <p:nvPr/>
        </p:nvSpPr>
        <p:spPr>
          <a:xfrm>
            <a:off x="5989320" y="2633472"/>
            <a:ext cx="1371600" cy="365760"/>
          </a:xfrm>
          <a:prstGeom prst="rect">
            <a:avLst/>
          </a:prstGeom>
          <a:noFill/>
        </p:spPr>
        <p:txBody>
          <a:bodyPr wrap="square" anchor="t" lIns="45720" rIns="45720">
            <a:spAutoFit/>
          </a:bodyPr>
          <a:lstStyle/>
          <a:p>
            <a:pPr algn="ctr"/>
            <a:r>
              <a:rPr sz="1200" b="1" i="0">
                <a:solidFill>
                  <a:srgbClr val="595959"/>
                </a:solidFill>
                <a:latin typeface="Calibri"/>
              </a:rPr>
              <a:t>Low vulnerability</a:t>
            </a:r>
          </a:p>
        </p:txBody>
      </p:sp>
      <p:sp>
        <p:nvSpPr>
          <p:cNvPr id="9" name="TextBox 8"/>
          <p:cNvSpPr txBox="1"/>
          <p:nvPr/>
        </p:nvSpPr>
        <p:spPr>
          <a:xfrm>
            <a:off x="7406640" y="2633472"/>
            <a:ext cx="1371600" cy="365760"/>
          </a:xfrm>
          <a:prstGeom prst="rect">
            <a:avLst/>
          </a:prstGeom>
          <a:noFill/>
        </p:spPr>
        <p:txBody>
          <a:bodyPr wrap="square" anchor="t" lIns="45720" rIns="45720">
            <a:spAutoFit/>
          </a:bodyPr>
          <a:lstStyle/>
          <a:p>
            <a:pPr algn="ctr"/>
            <a:r>
              <a:rPr sz="1200" b="1" i="0">
                <a:solidFill>
                  <a:srgbClr val="595959"/>
                </a:solidFill>
                <a:latin typeface="Calibri"/>
              </a:rPr>
              <a:t>High vulnerability</a:t>
            </a:r>
          </a:p>
        </p:txBody>
      </p:sp>
      <p:sp>
        <p:nvSpPr>
          <p:cNvPr id="10" name="TextBox 9"/>
          <p:cNvSpPr txBox="1"/>
          <p:nvPr/>
        </p:nvSpPr>
        <p:spPr>
          <a:xfrm>
            <a:off x="4846320" y="3017520"/>
            <a:ext cx="1097280" cy="1143000"/>
          </a:xfrm>
          <a:prstGeom prst="rect">
            <a:avLst/>
          </a:prstGeom>
          <a:noFill/>
        </p:spPr>
        <p:txBody>
          <a:bodyPr wrap="square" anchor="ctr" lIns="45720" rIns="45720">
            <a:spAutoFit/>
          </a:bodyPr>
          <a:lstStyle/>
          <a:p>
            <a:pPr algn="r"/>
            <a:r>
              <a:rPr sz="1200" b="1" i="0">
                <a:solidFill>
                  <a:srgbClr val="595959"/>
                </a:solidFill>
                <a:latin typeface="Calibri"/>
              </a:rPr>
              <a:t>High development</a:t>
            </a:r>
          </a:p>
        </p:txBody>
      </p:sp>
      <p:sp>
        <p:nvSpPr>
          <p:cNvPr id="11" name="TextBox 10"/>
          <p:cNvSpPr txBox="1"/>
          <p:nvPr/>
        </p:nvSpPr>
        <p:spPr>
          <a:xfrm>
            <a:off x="4846320" y="4206240"/>
            <a:ext cx="1097280" cy="1143000"/>
          </a:xfrm>
          <a:prstGeom prst="rect">
            <a:avLst/>
          </a:prstGeom>
          <a:noFill/>
        </p:spPr>
        <p:txBody>
          <a:bodyPr wrap="square" anchor="ctr" lIns="45720" rIns="45720">
            <a:spAutoFit/>
          </a:bodyPr>
          <a:lstStyle/>
          <a:p>
            <a:pPr algn="r"/>
            <a:r>
              <a:rPr sz="1200" b="1" i="0">
                <a:solidFill>
                  <a:srgbClr val="595959"/>
                </a:solidFill>
                <a:latin typeface="Calibri"/>
              </a:rPr>
              <a:t>Low development</a:t>
            </a:r>
          </a:p>
        </p:txBody>
      </p:sp>
      <p:sp>
        <p:nvSpPr>
          <p:cNvPr id="12" name="Rounded Rectangle 11"/>
          <p:cNvSpPr/>
          <p:nvPr/>
        </p:nvSpPr>
        <p:spPr>
          <a:xfrm>
            <a:off x="5989320" y="3017520"/>
            <a:ext cx="1371600" cy="114300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2600" b="1" i="0">
                <a:solidFill>
                  <a:srgbClr val="1B3A6B"/>
                </a:solidFill>
                <a:latin typeface="Calibri"/>
              </a:rPr>
              <a:t>143</a:t>
            </a:r>
          </a:p>
          <a:p>
            <a:pPr algn="ctr"/>
            <a:r>
              <a:rPr sz="1300" b="0" i="0">
                <a:solidFill>
                  <a:srgbClr val="595959"/>
                </a:solidFill>
                <a:latin typeface="Calibri"/>
              </a:rPr>
              <a:t>Expected</a:t>
            </a:r>
          </a:p>
        </p:txBody>
      </p:sp>
      <p:sp>
        <p:nvSpPr>
          <p:cNvPr id="13" name="Rounded Rectangle 12"/>
          <p:cNvSpPr/>
          <p:nvPr/>
        </p:nvSpPr>
        <p:spPr>
          <a:xfrm>
            <a:off x="7406640" y="3017520"/>
            <a:ext cx="1371600" cy="1143000"/>
          </a:xfrm>
          <a:prstGeom prst="roundRect">
            <a:avLst>
              <a:gd name="adj" fmla="val 12000"/>
            </a:avLst>
          </a:prstGeom>
          <a:solidFill>
            <a:srgbClr val="FCEBDD"/>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2600" b="1" i="0">
                <a:solidFill>
                  <a:srgbClr val="C25B12"/>
                </a:solidFill>
                <a:latin typeface="Calibri"/>
              </a:rPr>
              <a:t>92</a:t>
            </a:r>
          </a:p>
          <a:p>
            <a:pPr algn="ctr"/>
            <a:r>
              <a:rPr sz="1300" b="0" i="0">
                <a:solidFill>
                  <a:srgbClr val="595959"/>
                </a:solidFill>
                <a:latin typeface="Calibri"/>
              </a:rPr>
              <a:t>Anomaly A</a:t>
            </a:r>
          </a:p>
        </p:txBody>
      </p:sp>
      <p:sp>
        <p:nvSpPr>
          <p:cNvPr id="14" name="Rounded Rectangle 13"/>
          <p:cNvSpPr/>
          <p:nvPr/>
        </p:nvSpPr>
        <p:spPr>
          <a:xfrm>
            <a:off x="5989320" y="4206240"/>
            <a:ext cx="1371600" cy="114300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2600" b="1" i="0">
                <a:solidFill>
                  <a:srgbClr val="0E6E6E"/>
                </a:solidFill>
                <a:latin typeface="Calibri"/>
              </a:rPr>
              <a:t>89</a:t>
            </a:r>
          </a:p>
          <a:p>
            <a:pPr algn="ctr"/>
            <a:r>
              <a:rPr sz="1300" b="0" i="0">
                <a:solidFill>
                  <a:srgbClr val="595959"/>
                </a:solidFill>
                <a:latin typeface="Calibri"/>
              </a:rPr>
              <a:t>Anomaly B</a:t>
            </a:r>
          </a:p>
        </p:txBody>
      </p:sp>
      <p:sp>
        <p:nvSpPr>
          <p:cNvPr id="15" name="Rounded Rectangle 14"/>
          <p:cNvSpPr/>
          <p:nvPr/>
        </p:nvSpPr>
        <p:spPr>
          <a:xfrm>
            <a:off x="7406640" y="4206240"/>
            <a:ext cx="1371600" cy="114300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2600" b="1" i="0">
                <a:solidFill>
                  <a:srgbClr val="1B3A6B"/>
                </a:solidFill>
                <a:latin typeface="Calibri"/>
              </a:rPr>
              <a:t>145</a:t>
            </a:r>
          </a:p>
          <a:p>
            <a:pPr algn="ctr"/>
            <a:r>
              <a:rPr sz="1300" b="0" i="0">
                <a:solidFill>
                  <a:srgbClr val="595959"/>
                </a:solidFill>
                <a:latin typeface="Calibri"/>
              </a:rPr>
              <a:t>Expected</a:t>
            </a:r>
          </a:p>
        </p:txBody>
      </p:sp>
      <p:sp>
        <p:nvSpPr>
          <p:cNvPr id="16" name="TextBox 15"/>
          <p:cNvSpPr txBox="1"/>
          <p:nvPr/>
        </p:nvSpPr>
        <p:spPr>
          <a:xfrm>
            <a:off x="4846320" y="5440680"/>
            <a:ext cx="3931920" cy="731520"/>
          </a:xfrm>
          <a:prstGeom prst="rect">
            <a:avLst/>
          </a:prstGeom>
          <a:noFill/>
        </p:spPr>
        <p:txBody>
          <a:bodyPr wrap="square" anchor="t" lIns="45720" rIns="45720">
            <a:spAutoFit/>
          </a:bodyPr>
          <a:lstStyle/>
          <a:p>
            <a:pPr algn="ctr"/>
            <a:r>
              <a:rPr sz="1400" b="1" i="0">
                <a:solidFill>
                  <a:srgbClr val="C25B12"/>
                </a:solidFill>
                <a:latin typeface="Calibri"/>
              </a:rPr>
              <a:t>181 districts (38.6%) break the expected pattern</a:t>
            </a:r>
          </a:p>
        </p:txBody>
      </p:sp>
      <p:sp>
        <p:nvSpPr>
          <p:cNvPr id="17" name="TextBox 16"/>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Dataset</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TextBox 3"/>
          <p:cNvSpPr txBox="1"/>
          <p:nvPr/>
        </p:nvSpPr>
        <p:spPr>
          <a:xfrm>
            <a:off x="365760" y="1188720"/>
            <a:ext cx="8412480" cy="1600200"/>
          </a:xfrm>
          <a:prstGeom prst="rect">
            <a:avLst/>
          </a:prstGeom>
          <a:noFill/>
        </p:spPr>
        <p:txBody>
          <a:bodyPr wrap="square" lIns="45720" rIns="45720">
            <a:spAutoFit/>
          </a:bodyPr>
          <a:lstStyle/>
          <a:p>
            <a:pPr>
              <a:spcAft>
                <a:spcPts val="300"/>
              </a:spcAft>
            </a:pPr>
            <a:r>
              <a:rPr sz="1500" b="0" i="0">
                <a:solidFill>
                  <a:srgbClr val="0E6E6E"/>
                </a:solidFill>
                <a:latin typeface="Calibri"/>
              </a:rPr>
              <a:t>▪  </a:t>
            </a:r>
            <a:r>
              <a:rPr sz="1500" b="1" i="0">
                <a:solidFill>
                  <a:srgbClr val="1F1F1F"/>
                </a:solidFill>
                <a:latin typeface="Calibri"/>
              </a:rPr>
              <a:t>5 development variables: </a:t>
            </a:r>
            <a:r>
              <a:rPr sz="1500" b="0" i="0">
                <a:solidFill>
                  <a:srgbClr val="1F1F1F"/>
                </a:solidFill>
                <a:latin typeface="Calibri"/>
              </a:rPr>
              <a:t>literacy, female literacy, agri-worker share (Census 2011); MGNREGA days, yield variability (NDAP 2021)</a:t>
            </a:r>
          </a:p>
          <a:p>
            <a:pPr>
              <a:spcAft>
                <a:spcPts val="300"/>
              </a:spcAft>
            </a:pPr>
            <a:r>
              <a:rPr sz="1500" b="0" i="0">
                <a:solidFill>
                  <a:srgbClr val="0E6E6E"/>
                </a:solidFill>
                <a:latin typeface="Calibri"/>
              </a:rPr>
              <a:t>▪  </a:t>
            </a:r>
            <a:r>
              <a:rPr sz="1500" b="1" i="0">
                <a:solidFill>
                  <a:srgbClr val="1F1F1F"/>
                </a:solidFill>
                <a:latin typeface="Calibri"/>
              </a:rPr>
              <a:t>8 hazard variables: </a:t>
            </a:r>
            <a:r>
              <a:rPr sz="1500" b="0" i="0">
                <a:solidFill>
                  <a:srgbClr val="1F1F1F"/>
                </a:solidFill>
                <a:latin typeface="Calibri"/>
              </a:rPr>
              <a:t>annual rain, rain variability, max 5-day rain, heavy-rain days, longest dry spell, mean Tmax, hot days, tropical nights</a:t>
            </a:r>
          </a:p>
          <a:p>
            <a:pPr>
              <a:spcAft>
                <a:spcPts val="300"/>
              </a:spcAft>
            </a:pPr>
            <a:r>
              <a:rPr sz="1500" b="0" i="0">
                <a:solidFill>
                  <a:srgbClr val="0E6E6E"/>
                </a:solidFill>
                <a:latin typeface="Calibri"/>
              </a:rPr>
              <a:t>▪  </a:t>
            </a:r>
            <a:r>
              <a:rPr sz="1500" b="1" i="0">
                <a:solidFill>
                  <a:srgbClr val="1F1F1F"/>
                </a:solidFill>
                <a:latin typeface="Calibri"/>
              </a:rPr>
              <a:t>Scale: </a:t>
            </a:r>
            <a:r>
              <a:rPr sz="1500" b="0" i="0">
                <a:solidFill>
                  <a:srgbClr val="1F1F1F"/>
                </a:solidFill>
                <a:latin typeface="Calibri"/>
              </a:rPr>
              <a:t>~212 million gridded climate values; 1.08 GB in HDFS (Colab run 2026-10-11)</a:t>
            </a:r>
          </a:p>
        </p:txBody>
      </p:sp>
      <p:graphicFrame>
        <p:nvGraphicFramePr>
          <p:cNvPr id="5" name="Table 4"/>
          <p:cNvGraphicFramePr>
            <a:graphicFrameLocks noGrp="1"/>
          </p:cNvGraphicFramePr>
          <p:nvPr/>
        </p:nvGraphicFramePr>
        <p:xfrm>
          <a:off x="365760" y="2926080"/>
          <a:ext cx="8412478" cy="3291840"/>
        </p:xfrm>
        <a:graphic>
          <a:graphicData uri="http://schemas.openxmlformats.org/drawingml/2006/table">
            <a:tbl>
              <a:tblPr firstRow="1" bandRow="1">
                <a:tableStyleId>{5C22544A-7EE6-4342-B048-85BDC9FD1C3A}</a:tableStyleId>
              </a:tblPr>
              <a:tblGrid>
                <a:gridCol w="2485505"/>
                <a:gridCol w="1625138"/>
                <a:gridCol w="860367"/>
                <a:gridCol w="955963"/>
                <a:gridCol w="1099358"/>
                <a:gridCol w="1386147"/>
              </a:tblGrid>
              <a:tr h="548640">
                <a:tc>
                  <a:txBody>
                    <a:bodyPr wrap="square"/>
                    <a:lstStyle/>
                    <a:p>
                      <a:pPr algn="l"/>
                      <a:r>
                        <a:rPr sz="1200" b="1" i="0">
                          <a:solidFill>
                            <a:srgbClr val="FFFFFF"/>
                          </a:solidFill>
                          <a:latin typeface="Calibri"/>
                        </a:rPr>
                        <a:t>Dataset</a:t>
                      </a:r>
                    </a:p>
                  </a:txBody>
                  <a:tcPr marL="54864" marR="54864" marT="27432" marB="27432" anchor="ctr">
                    <a:solidFill>
                      <a:srgbClr val="1B3A6B"/>
                    </a:solidFill>
                  </a:tcPr>
                </a:tc>
                <a:tc>
                  <a:txBody>
                    <a:bodyPr wrap="square"/>
                    <a:lstStyle/>
                    <a:p>
                      <a:pPr algn="ctr"/>
                      <a:r>
                        <a:rPr sz="1200" b="1" i="0">
                          <a:solidFill>
                            <a:srgbClr val="FFFFFF"/>
                          </a:solidFill>
                          <a:latin typeface="Calibri"/>
                        </a:rPr>
                        <a:t>Source</a:t>
                      </a:r>
                    </a:p>
                  </a:txBody>
                  <a:tcPr marL="54864" marR="54864" marT="27432" marB="27432" anchor="ctr">
                    <a:solidFill>
                      <a:srgbClr val="1B3A6B"/>
                    </a:solidFill>
                  </a:tcPr>
                </a:tc>
                <a:tc>
                  <a:txBody>
                    <a:bodyPr wrap="square"/>
                    <a:lstStyle/>
                    <a:p>
                      <a:pPr algn="ctr"/>
                      <a:r>
                        <a:rPr sz="1200" b="1" i="0">
                          <a:solidFill>
                            <a:srgbClr val="FFFFFF"/>
                          </a:solidFill>
                          <a:latin typeface="Calibri"/>
                        </a:rPr>
                        <a:t>Year</a:t>
                      </a:r>
                    </a:p>
                  </a:txBody>
                  <a:tcPr marL="54864" marR="54864" marT="27432" marB="27432" anchor="ctr">
                    <a:solidFill>
                      <a:srgbClr val="1B3A6B"/>
                    </a:solidFill>
                  </a:tcPr>
                </a:tc>
                <a:tc>
                  <a:txBody>
                    <a:bodyPr wrap="square"/>
                    <a:lstStyle/>
                    <a:p>
                      <a:pPr algn="ctr"/>
                      <a:r>
                        <a:rPr sz="1200" b="1" i="0">
                          <a:solidFill>
                            <a:srgbClr val="FFFFFF"/>
                          </a:solidFill>
                          <a:latin typeface="Calibri"/>
                        </a:rPr>
                        <a:t>Format</a:t>
                      </a:r>
                    </a:p>
                  </a:txBody>
                  <a:tcPr marL="54864" marR="54864" marT="27432" marB="27432" anchor="ctr">
                    <a:solidFill>
                      <a:srgbClr val="1B3A6B"/>
                    </a:solidFill>
                  </a:tcPr>
                </a:tc>
                <a:tc>
                  <a:txBody>
                    <a:bodyPr wrap="square"/>
                    <a:lstStyle/>
                    <a:p>
                      <a:pPr algn="ctr"/>
                      <a:r>
                        <a:rPr sz="1200" b="1" i="0">
                          <a:solidFill>
                            <a:srgbClr val="FFFFFF"/>
                          </a:solidFill>
                          <a:latin typeface="Calibri"/>
                        </a:rPr>
                        <a:t>Size</a:t>
                      </a:r>
                    </a:p>
                  </a:txBody>
                  <a:tcPr marL="54864" marR="54864" marT="27432" marB="27432" anchor="ctr">
                    <a:solidFill>
                      <a:srgbClr val="1B3A6B"/>
                    </a:solidFill>
                  </a:tcPr>
                </a:tc>
                <a:tc>
                  <a:txBody>
                    <a:bodyPr wrap="square"/>
                    <a:lstStyle/>
                    <a:p>
                      <a:pPr algn="ctr"/>
                      <a:r>
                        <a:rPr sz="1200" b="1" i="0">
                          <a:solidFill>
                            <a:srgbClr val="FFFFFF"/>
                          </a:solidFill>
                          <a:latin typeface="Calibri"/>
                        </a:rPr>
                        <a:t>Role</a:t>
                      </a:r>
                    </a:p>
                  </a:txBody>
                  <a:tcPr marL="54864" marR="54864" marT="27432" marB="27432" anchor="ctr">
                    <a:solidFill>
                      <a:srgbClr val="1B3A6B"/>
                    </a:solidFill>
                  </a:tcPr>
                </a:tc>
              </a:tr>
              <a:tr h="548640">
                <a:tc>
                  <a:txBody>
                    <a:bodyPr wrap="square"/>
                    <a:lstStyle/>
                    <a:p>
                      <a:pPr algn="l"/>
                      <a:r>
                        <a:rPr sz="1200" b="1" i="0">
                          <a:solidFill>
                            <a:srgbClr val="1F1F1F"/>
                          </a:solidFill>
                          <a:latin typeface="Calibri"/>
                        </a:rPr>
                        <a:t>Climate Vulnerability Index + indicators</a:t>
                      </a:r>
                    </a:p>
                  </a:txBody>
                  <a:tcPr marL="54864" marR="54864" marT="27432" marB="27432" anchor="ctr">
                    <a:solidFill>
                      <a:srgbClr val="FFFFFF"/>
                    </a:solidFill>
                  </a:tcPr>
                </a:tc>
                <a:tc>
                  <a:txBody>
                    <a:bodyPr wrap="square"/>
                    <a:lstStyle/>
                    <a:p>
                      <a:pPr algn="ctr"/>
                      <a:r>
                        <a:rPr sz="1200" b="0" i="0">
                          <a:solidFill>
                            <a:srgbClr val="1F1F1F"/>
                          </a:solidFill>
                          <a:latin typeface="Calibri"/>
                        </a:rPr>
                        <a:t>NITI Aayog NDAP 7160</a:t>
                      </a:r>
                    </a:p>
                  </a:txBody>
                  <a:tcPr marL="54864" marR="54864" marT="27432" marB="27432" anchor="ctr">
                    <a:solidFill>
                      <a:srgbClr val="FFFFFF"/>
                    </a:solidFill>
                  </a:tcPr>
                </a:tc>
                <a:tc>
                  <a:txBody>
                    <a:bodyPr wrap="square"/>
                    <a:lstStyle/>
                    <a:p>
                      <a:pPr algn="ctr"/>
                      <a:r>
                        <a:rPr sz="1200" b="0" i="0">
                          <a:solidFill>
                            <a:srgbClr val="1F1F1F"/>
                          </a:solidFill>
                          <a:latin typeface="Calibri"/>
                        </a:rPr>
                        <a:t>2021</a:t>
                      </a:r>
                    </a:p>
                  </a:txBody>
                  <a:tcPr marL="54864" marR="54864" marT="27432" marB="27432" anchor="ctr">
                    <a:solidFill>
                      <a:srgbClr val="FFFFFF"/>
                    </a:solidFill>
                  </a:tcPr>
                </a:tc>
                <a:tc>
                  <a:txBody>
                    <a:bodyPr wrap="square"/>
                    <a:lstStyle/>
                    <a:p>
                      <a:pPr algn="ctr"/>
                      <a:r>
                        <a:rPr sz="1200" b="0" i="0">
                          <a:solidFill>
                            <a:srgbClr val="1F1F1F"/>
                          </a:solidFill>
                          <a:latin typeface="Calibri"/>
                        </a:rPr>
                        <a:t>CSV</a:t>
                      </a:r>
                    </a:p>
                  </a:txBody>
                  <a:tcPr marL="54864" marR="54864" marT="27432" marB="27432" anchor="ctr">
                    <a:solidFill>
                      <a:srgbClr val="FFFFFF"/>
                    </a:solidFill>
                  </a:tcPr>
                </a:tc>
                <a:tc>
                  <a:txBody>
                    <a:bodyPr wrap="square"/>
                    <a:lstStyle/>
                    <a:p>
                      <a:pPr algn="ctr"/>
                      <a:r>
                        <a:rPr sz="1200" b="0" i="0">
                          <a:solidFill>
                            <a:srgbClr val="1F1F1F"/>
                          </a:solidFill>
                          <a:latin typeface="Calibri"/>
                        </a:rPr>
                        <a:t>699 × 79</a:t>
                      </a:r>
                    </a:p>
                  </a:txBody>
                  <a:tcPr marL="54864" marR="54864" marT="27432" marB="27432" anchor="ctr">
                    <a:solidFill>
                      <a:srgbClr val="FFFFFF"/>
                    </a:solidFill>
                  </a:tcPr>
                </a:tc>
                <a:tc>
                  <a:txBody>
                    <a:bodyPr wrap="square"/>
                    <a:lstStyle/>
                    <a:p>
                      <a:pPr algn="ctr"/>
                      <a:r>
                        <a:rPr sz="1200" b="0" i="0">
                          <a:solidFill>
                            <a:srgbClr val="1F1F1F"/>
                          </a:solidFill>
                          <a:latin typeface="Calibri"/>
                        </a:rPr>
                        <a:t>Outcome + 2 dev vars</a:t>
                      </a:r>
                    </a:p>
                  </a:txBody>
                  <a:tcPr marL="54864" marR="54864" marT="27432" marB="27432" anchor="ctr">
                    <a:solidFill>
                      <a:srgbClr val="FFFFFF"/>
                    </a:solidFill>
                  </a:tcPr>
                </a:tc>
              </a:tr>
              <a:tr h="548640">
                <a:tc>
                  <a:txBody>
                    <a:bodyPr wrap="square"/>
                    <a:lstStyle/>
                    <a:p>
                      <a:pPr algn="l"/>
                      <a:r>
                        <a:rPr sz="1200" b="1" i="0">
                          <a:solidFill>
                            <a:srgbClr val="1F1F1F"/>
                          </a:solidFill>
                          <a:latin typeface="Calibri"/>
                        </a:rPr>
                        <a:t>Primary Census Abstract</a:t>
                      </a:r>
                    </a:p>
                  </a:txBody>
                  <a:tcPr marL="54864" marR="54864" marT="27432" marB="27432" anchor="ctr">
                    <a:solidFill>
                      <a:srgbClr val="EEF2F8"/>
                    </a:solidFill>
                  </a:tcPr>
                </a:tc>
                <a:tc>
                  <a:txBody>
                    <a:bodyPr wrap="square"/>
                    <a:lstStyle/>
                    <a:p>
                      <a:pPr algn="ctr"/>
                      <a:r>
                        <a:rPr sz="1200" b="0" i="0">
                          <a:solidFill>
                            <a:srgbClr val="1F1F1F"/>
                          </a:solidFill>
                          <a:latin typeface="Calibri"/>
                        </a:rPr>
                        <a:t>Census of India</a:t>
                      </a:r>
                    </a:p>
                  </a:txBody>
                  <a:tcPr marL="54864" marR="54864" marT="27432" marB="27432" anchor="ctr">
                    <a:solidFill>
                      <a:srgbClr val="EEF2F8"/>
                    </a:solidFill>
                  </a:tcPr>
                </a:tc>
                <a:tc>
                  <a:txBody>
                    <a:bodyPr wrap="square"/>
                    <a:lstStyle/>
                    <a:p>
                      <a:pPr algn="ctr"/>
                      <a:r>
                        <a:rPr sz="1200" b="0" i="0">
                          <a:solidFill>
                            <a:srgbClr val="1F1F1F"/>
                          </a:solidFill>
                          <a:latin typeface="Calibri"/>
                        </a:rPr>
                        <a:t>2011</a:t>
                      </a:r>
                    </a:p>
                  </a:txBody>
                  <a:tcPr marL="54864" marR="54864" marT="27432" marB="27432" anchor="ctr">
                    <a:solidFill>
                      <a:srgbClr val="EEF2F8"/>
                    </a:solidFill>
                  </a:tcPr>
                </a:tc>
                <a:tc>
                  <a:txBody>
                    <a:bodyPr wrap="square"/>
                    <a:lstStyle/>
                    <a:p>
                      <a:pPr algn="ctr"/>
                      <a:r>
                        <a:rPr sz="1200" b="0" i="0">
                          <a:solidFill>
                            <a:srgbClr val="1F1F1F"/>
                          </a:solidFill>
                          <a:latin typeface="Calibri"/>
                        </a:rPr>
                        <a:t>CSV</a:t>
                      </a:r>
                    </a:p>
                  </a:txBody>
                  <a:tcPr marL="54864" marR="54864" marT="27432" marB="27432" anchor="ctr">
                    <a:solidFill>
                      <a:srgbClr val="EEF2F8"/>
                    </a:solidFill>
                  </a:tcPr>
                </a:tc>
                <a:tc>
                  <a:txBody>
                    <a:bodyPr wrap="square"/>
                    <a:lstStyle/>
                    <a:p>
                      <a:pPr algn="ctr"/>
                      <a:r>
                        <a:rPr sz="1200" b="0" i="0">
                          <a:solidFill>
                            <a:srgbClr val="1F1F1F"/>
                          </a:solidFill>
                          <a:latin typeface="Calibri"/>
                        </a:rPr>
                        <a:t>640 districts</a:t>
                      </a:r>
                    </a:p>
                  </a:txBody>
                  <a:tcPr marL="54864" marR="54864" marT="27432" marB="27432" anchor="ctr">
                    <a:solidFill>
                      <a:srgbClr val="EEF2F8"/>
                    </a:solidFill>
                  </a:tcPr>
                </a:tc>
                <a:tc>
                  <a:txBody>
                    <a:bodyPr wrap="square"/>
                    <a:lstStyle/>
                    <a:p>
                      <a:pPr algn="ctr"/>
                      <a:r>
                        <a:rPr sz="1200" b="0" i="0">
                          <a:solidFill>
                            <a:srgbClr val="1F1F1F"/>
                          </a:solidFill>
                          <a:latin typeface="Calibri"/>
                        </a:rPr>
                        <a:t>3 dev vars</a:t>
                      </a:r>
                    </a:p>
                  </a:txBody>
                  <a:tcPr marL="54864" marR="54864" marT="27432" marB="27432" anchor="ctr">
                    <a:solidFill>
                      <a:srgbClr val="EEF2F8"/>
                    </a:solidFill>
                  </a:tcPr>
                </a:tc>
              </a:tr>
              <a:tr h="548640">
                <a:tc>
                  <a:txBody>
                    <a:bodyPr wrap="square"/>
                    <a:lstStyle/>
                    <a:p>
                      <a:pPr algn="l"/>
                      <a:r>
                        <a:rPr sz="1200" b="1" i="0">
                          <a:solidFill>
                            <a:srgbClr val="1F1F1F"/>
                          </a:solidFill>
                          <a:latin typeface="Calibri"/>
                        </a:rPr>
                        <a:t>Daily gridded rainfall 0.25°</a:t>
                      </a:r>
                    </a:p>
                  </a:txBody>
                  <a:tcPr marL="54864" marR="54864" marT="27432" marB="27432" anchor="ctr">
                    <a:solidFill>
                      <a:srgbClr val="FFFFFF"/>
                    </a:solidFill>
                  </a:tcPr>
                </a:tc>
                <a:tc>
                  <a:txBody>
                    <a:bodyPr wrap="square"/>
                    <a:lstStyle/>
                    <a:p>
                      <a:pPr algn="ctr"/>
                      <a:r>
                        <a:rPr sz="1200" b="0" i="0">
                          <a:solidFill>
                            <a:srgbClr val="1F1F1F"/>
                          </a:solidFill>
                          <a:latin typeface="Calibri"/>
                        </a:rPr>
                        <a:t>IMD Pune</a:t>
                      </a:r>
                    </a:p>
                  </a:txBody>
                  <a:tcPr marL="54864" marR="54864" marT="27432" marB="27432" anchor="ctr">
                    <a:solidFill>
                      <a:srgbClr val="FFFFFF"/>
                    </a:solidFill>
                  </a:tcPr>
                </a:tc>
                <a:tc>
                  <a:txBody>
                    <a:bodyPr wrap="square"/>
                    <a:lstStyle/>
                    <a:p>
                      <a:pPr algn="ctr"/>
                      <a:r>
                        <a:rPr sz="1200" b="0" i="0">
                          <a:solidFill>
                            <a:srgbClr val="1F1F1F"/>
                          </a:solidFill>
                          <a:latin typeface="Calibri"/>
                        </a:rPr>
                        <a:t>1991–2020</a:t>
                      </a:r>
                    </a:p>
                  </a:txBody>
                  <a:tcPr marL="54864" marR="54864" marT="27432" marB="27432" anchor="ctr">
                    <a:solidFill>
                      <a:srgbClr val="FFFFFF"/>
                    </a:solidFill>
                  </a:tcPr>
                </a:tc>
                <a:tc>
                  <a:txBody>
                    <a:bodyPr wrap="square"/>
                    <a:lstStyle/>
                    <a:p>
                      <a:pPr algn="ctr"/>
                      <a:r>
                        <a:rPr sz="1200" b="0" i="0">
                          <a:solidFill>
                            <a:srgbClr val="1F1F1F"/>
                          </a:solidFill>
                          <a:latin typeface="Calibri"/>
                        </a:rPr>
                        <a:t>binary .grd</a:t>
                      </a:r>
                    </a:p>
                  </a:txBody>
                  <a:tcPr marL="54864" marR="54864" marT="27432" marB="27432" anchor="ctr">
                    <a:solidFill>
                      <a:srgbClr val="FFFFFF"/>
                    </a:solidFill>
                  </a:tcPr>
                </a:tc>
                <a:tc>
                  <a:txBody>
                    <a:bodyPr wrap="square"/>
                    <a:lstStyle/>
                    <a:p>
                      <a:pPr algn="ctr"/>
                      <a:r>
                        <a:rPr sz="1200" b="0" i="0">
                          <a:solidFill>
                            <a:srgbClr val="1F1F1F"/>
                          </a:solidFill>
                          <a:latin typeface="Calibri"/>
                        </a:rPr>
                        <a:t>135 × 129 grid</a:t>
                      </a:r>
                    </a:p>
                  </a:txBody>
                  <a:tcPr marL="54864" marR="54864" marT="27432" marB="27432" anchor="ctr">
                    <a:solidFill>
                      <a:srgbClr val="FFFFFF"/>
                    </a:solidFill>
                  </a:tcPr>
                </a:tc>
                <a:tc>
                  <a:txBody>
                    <a:bodyPr wrap="square"/>
                    <a:lstStyle/>
                    <a:p>
                      <a:pPr algn="ctr"/>
                      <a:r>
                        <a:rPr sz="1200" b="0" i="0">
                          <a:solidFill>
                            <a:srgbClr val="1F1F1F"/>
                          </a:solidFill>
                          <a:latin typeface="Calibri"/>
                        </a:rPr>
                        <a:t>Hazard</a:t>
                      </a:r>
                    </a:p>
                  </a:txBody>
                  <a:tcPr marL="54864" marR="54864" marT="27432" marB="27432" anchor="ctr">
                    <a:solidFill>
                      <a:srgbClr val="FFFFFF"/>
                    </a:solidFill>
                  </a:tcPr>
                </a:tc>
              </a:tr>
              <a:tr h="548640">
                <a:tc>
                  <a:txBody>
                    <a:bodyPr wrap="square"/>
                    <a:lstStyle/>
                    <a:p>
                      <a:pPr algn="l"/>
                      <a:r>
                        <a:rPr sz="1200" b="1" i="0">
                          <a:solidFill>
                            <a:srgbClr val="1F1F1F"/>
                          </a:solidFill>
                          <a:latin typeface="Calibri"/>
                        </a:rPr>
                        <a:t>Daily gridded Tmax / Tmin 1°</a:t>
                      </a:r>
                    </a:p>
                  </a:txBody>
                  <a:tcPr marL="54864" marR="54864" marT="27432" marB="27432" anchor="ctr">
                    <a:solidFill>
                      <a:srgbClr val="EEF2F8"/>
                    </a:solidFill>
                  </a:tcPr>
                </a:tc>
                <a:tc>
                  <a:txBody>
                    <a:bodyPr wrap="square"/>
                    <a:lstStyle/>
                    <a:p>
                      <a:pPr algn="ctr"/>
                      <a:r>
                        <a:rPr sz="1200" b="0" i="0">
                          <a:solidFill>
                            <a:srgbClr val="1F1F1F"/>
                          </a:solidFill>
                          <a:latin typeface="Calibri"/>
                        </a:rPr>
                        <a:t>IMD Pune</a:t>
                      </a:r>
                    </a:p>
                  </a:txBody>
                  <a:tcPr marL="54864" marR="54864" marT="27432" marB="27432" anchor="ctr">
                    <a:solidFill>
                      <a:srgbClr val="EEF2F8"/>
                    </a:solidFill>
                  </a:tcPr>
                </a:tc>
                <a:tc>
                  <a:txBody>
                    <a:bodyPr wrap="square"/>
                    <a:lstStyle/>
                    <a:p>
                      <a:pPr algn="ctr"/>
                      <a:r>
                        <a:rPr sz="1200" b="0" i="0">
                          <a:solidFill>
                            <a:srgbClr val="1F1F1F"/>
                          </a:solidFill>
                          <a:latin typeface="Calibri"/>
                        </a:rPr>
                        <a:t>1991–2020</a:t>
                      </a:r>
                    </a:p>
                  </a:txBody>
                  <a:tcPr marL="54864" marR="54864" marT="27432" marB="27432" anchor="ctr">
                    <a:solidFill>
                      <a:srgbClr val="EEF2F8"/>
                    </a:solidFill>
                  </a:tcPr>
                </a:tc>
                <a:tc>
                  <a:txBody>
                    <a:bodyPr wrap="square"/>
                    <a:lstStyle/>
                    <a:p>
                      <a:pPr algn="ctr"/>
                      <a:r>
                        <a:rPr sz="1200" b="0" i="0">
                          <a:solidFill>
                            <a:srgbClr val="1F1F1F"/>
                          </a:solidFill>
                          <a:latin typeface="Calibri"/>
                        </a:rPr>
                        <a:t>binary .grd</a:t>
                      </a:r>
                    </a:p>
                  </a:txBody>
                  <a:tcPr marL="54864" marR="54864" marT="27432" marB="27432" anchor="ctr">
                    <a:solidFill>
                      <a:srgbClr val="EEF2F8"/>
                    </a:solidFill>
                  </a:tcPr>
                </a:tc>
                <a:tc>
                  <a:txBody>
                    <a:bodyPr wrap="square"/>
                    <a:lstStyle/>
                    <a:p>
                      <a:pPr algn="ctr"/>
                      <a:r>
                        <a:rPr sz="1200" b="0" i="0">
                          <a:solidFill>
                            <a:srgbClr val="1F1F1F"/>
                          </a:solidFill>
                          <a:latin typeface="Calibri"/>
                        </a:rPr>
                        <a:t>31 × 31 grid</a:t>
                      </a:r>
                    </a:p>
                  </a:txBody>
                  <a:tcPr marL="54864" marR="54864" marT="27432" marB="27432" anchor="ctr">
                    <a:solidFill>
                      <a:srgbClr val="EEF2F8"/>
                    </a:solidFill>
                  </a:tcPr>
                </a:tc>
                <a:tc>
                  <a:txBody>
                    <a:bodyPr wrap="square"/>
                    <a:lstStyle/>
                    <a:p>
                      <a:pPr algn="ctr"/>
                      <a:r>
                        <a:rPr sz="1200" b="0" i="0">
                          <a:solidFill>
                            <a:srgbClr val="1F1F1F"/>
                          </a:solidFill>
                          <a:latin typeface="Calibri"/>
                        </a:rPr>
                        <a:t>Hazard</a:t>
                      </a:r>
                    </a:p>
                  </a:txBody>
                  <a:tcPr marL="54864" marR="54864" marT="27432" marB="27432" anchor="ctr">
                    <a:solidFill>
                      <a:srgbClr val="EEF2F8"/>
                    </a:solidFill>
                  </a:tcPr>
                </a:tc>
              </a:tr>
              <a:tr h="548640">
                <a:tc>
                  <a:txBody>
                    <a:bodyPr wrap="square"/>
                    <a:lstStyle/>
                    <a:p>
                      <a:pPr algn="l"/>
                      <a:r>
                        <a:rPr sz="1200" b="1" i="0">
                          <a:solidFill>
                            <a:srgbClr val="1F1F1F"/>
                          </a:solidFill>
                          <a:latin typeface="Calibri"/>
                        </a:rPr>
                        <a:t>District boundaries</a:t>
                      </a:r>
                    </a:p>
                  </a:txBody>
                  <a:tcPr marL="54864" marR="54864" marT="27432" marB="27432" anchor="ctr">
                    <a:solidFill>
                      <a:srgbClr val="FFFFFF"/>
                    </a:solidFill>
                  </a:tcPr>
                </a:tc>
                <a:tc>
                  <a:txBody>
                    <a:bodyPr wrap="square"/>
                    <a:lstStyle/>
                    <a:p>
                      <a:pPr algn="ctr"/>
                      <a:r>
                        <a:rPr sz="1200" b="0" i="0">
                          <a:solidFill>
                            <a:srgbClr val="1F1F1F"/>
                          </a:solidFill>
                          <a:latin typeface="Calibri"/>
                        </a:rPr>
                        <a:t>DataMeet</a:t>
                      </a:r>
                    </a:p>
                  </a:txBody>
                  <a:tcPr marL="54864" marR="54864" marT="27432" marB="27432" anchor="ctr">
                    <a:solidFill>
                      <a:srgbClr val="FFFFFF"/>
                    </a:solidFill>
                  </a:tcPr>
                </a:tc>
                <a:tc>
                  <a:txBody>
                    <a:bodyPr wrap="square"/>
                    <a:lstStyle/>
                    <a:p>
                      <a:pPr algn="ctr"/>
                      <a:r>
                        <a:rPr sz="1200" b="0" i="0">
                          <a:solidFill>
                            <a:srgbClr val="1F1F1F"/>
                          </a:solidFill>
                          <a:latin typeface="Calibri"/>
                        </a:rPr>
                        <a:t>2011</a:t>
                      </a:r>
                    </a:p>
                  </a:txBody>
                  <a:tcPr marL="54864" marR="54864" marT="27432" marB="27432" anchor="ctr">
                    <a:solidFill>
                      <a:srgbClr val="FFFFFF"/>
                    </a:solidFill>
                  </a:tcPr>
                </a:tc>
                <a:tc>
                  <a:txBody>
                    <a:bodyPr wrap="square"/>
                    <a:lstStyle/>
                    <a:p>
                      <a:pPr algn="ctr"/>
                      <a:r>
                        <a:rPr sz="1200" b="0" i="0">
                          <a:solidFill>
                            <a:srgbClr val="1F1F1F"/>
                          </a:solidFill>
                          <a:latin typeface="Calibri"/>
                        </a:rPr>
                        <a:t>Shapefile</a:t>
                      </a:r>
                    </a:p>
                  </a:txBody>
                  <a:tcPr marL="54864" marR="54864" marT="27432" marB="27432" anchor="ctr">
                    <a:solidFill>
                      <a:srgbClr val="FFFFFF"/>
                    </a:solidFill>
                  </a:tcPr>
                </a:tc>
                <a:tc>
                  <a:txBody>
                    <a:bodyPr wrap="square"/>
                    <a:lstStyle/>
                    <a:p>
                      <a:pPr algn="ctr"/>
                      <a:r>
                        <a:rPr sz="1200" b="0" i="0">
                          <a:solidFill>
                            <a:srgbClr val="1F1F1F"/>
                          </a:solidFill>
                          <a:latin typeface="Calibri"/>
                        </a:rPr>
                        <a:t>641 polygons</a:t>
                      </a:r>
                    </a:p>
                  </a:txBody>
                  <a:tcPr marL="54864" marR="54864" marT="27432" marB="27432" anchor="ctr">
                    <a:solidFill>
                      <a:srgbClr val="FFFFFF"/>
                    </a:solidFill>
                  </a:tcPr>
                </a:tc>
                <a:tc>
                  <a:txBody>
                    <a:bodyPr wrap="square"/>
                    <a:lstStyle/>
                    <a:p>
                      <a:pPr algn="ctr"/>
                      <a:r>
                        <a:rPr sz="1200" b="0" i="0">
                          <a:solidFill>
                            <a:srgbClr val="1F1F1F"/>
                          </a:solidFill>
                          <a:latin typeface="Calibri"/>
                        </a:rPr>
                        <a:t>Grid → district</a:t>
                      </a:r>
                    </a:p>
                  </a:txBody>
                  <a:tcPr marL="54864" marR="54864" marT="27432" marB="27432" anchor="ctr">
                    <a:solidFill>
                      <a:srgbClr val="FFFFFF"/>
                    </a:solidFill>
                  </a:tcPr>
                </a:tc>
              </a:tr>
            </a:tbl>
          </a:graphicData>
        </a:graphic>
      </p:graphicFrame>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Proposed Model: A-CPN</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TextBox 3"/>
          <p:cNvSpPr txBox="1"/>
          <p:nvPr/>
        </p:nvSpPr>
        <p:spPr>
          <a:xfrm>
            <a:off x="365760" y="1188720"/>
            <a:ext cx="8412480" cy="2011680"/>
          </a:xfrm>
          <a:prstGeom prst="rect">
            <a:avLst/>
          </a:prstGeom>
          <a:noFill/>
        </p:spPr>
        <p:txBody>
          <a:bodyPr wrap="square" lIns="45720" rIns="45720">
            <a:spAutoFit/>
          </a:bodyPr>
          <a:lstStyle/>
          <a:p>
            <a:pPr>
              <a:spcAft>
                <a:spcPts val="300"/>
              </a:spcAft>
            </a:pPr>
            <a:r>
              <a:rPr sz="1500" b="0" i="0">
                <a:solidFill>
                  <a:srgbClr val="0E6E6E"/>
                </a:solidFill>
                <a:latin typeface="Calibri"/>
              </a:rPr>
              <a:t>▪  </a:t>
            </a:r>
            <a:r>
              <a:rPr sz="1500" b="1" i="0">
                <a:solidFill>
                  <a:srgbClr val="1F1F1F"/>
                </a:solidFill>
                <a:latin typeface="Calibri"/>
              </a:rPr>
              <a:t>Attentive Climate Push Network: </a:t>
            </a:r>
            <a:r>
              <a:rPr sz="1500" b="0" i="0">
                <a:solidFill>
                  <a:srgbClr val="1F1F1F"/>
                </a:solidFill>
                <a:latin typeface="Calibri"/>
              </a:rPr>
              <a:t>a novel deep-learning model combining recent techniques</a:t>
            </a:r>
          </a:p>
          <a:p>
            <a:pPr>
              <a:spcAft>
                <a:spcPts val="300"/>
              </a:spcAft>
            </a:pPr>
            <a:r>
              <a:rPr sz="1500" b="0" i="0">
                <a:solidFill>
                  <a:srgbClr val="0E6E6E"/>
                </a:solidFill>
                <a:latin typeface="Calibri"/>
              </a:rPr>
              <a:t>▪  </a:t>
            </a:r>
            <a:r>
              <a:rPr sz="1500" b="1" i="0">
                <a:solidFill>
                  <a:srgbClr val="1F1F1F"/>
                </a:solidFill>
                <a:latin typeface="Calibri"/>
              </a:rPr>
              <a:t>Development baseline: </a:t>
            </a:r>
            <a:r>
              <a:rPr sz="1500" b="0" i="0">
                <a:solidFill>
                  <a:srgbClr val="1F1F1F"/>
                </a:solidFill>
                <a:latin typeface="Calibri"/>
              </a:rPr>
              <a:t>linear layer on the 5 development features (interpretable)</a:t>
            </a:r>
          </a:p>
          <a:p>
            <a:pPr>
              <a:spcAft>
                <a:spcPts val="300"/>
              </a:spcAft>
            </a:pPr>
            <a:r>
              <a:rPr sz="1500" b="0" i="0">
                <a:solidFill>
                  <a:srgbClr val="0E6E6E"/>
                </a:solidFill>
                <a:latin typeface="Calibri"/>
              </a:rPr>
              <a:t>▪  </a:t>
            </a:r>
            <a:r>
              <a:rPr sz="1500" b="1" i="0">
                <a:solidFill>
                  <a:srgbClr val="1F1F1F"/>
                </a:solidFill>
                <a:latin typeface="Calibri"/>
              </a:rPr>
              <a:t>Climate push: </a:t>
            </a:r>
            <a:r>
              <a:rPr sz="1500" b="0" i="0">
                <a:solidFill>
                  <a:srgbClr val="1F1F1F"/>
                </a:solidFill>
                <a:latin typeface="Calibri"/>
              </a:rPr>
              <a:t>feature attention → KAN layer → residual MLP on the 8 IMD hazard features</a:t>
            </a:r>
          </a:p>
          <a:p>
            <a:pPr>
              <a:spcAft>
                <a:spcPts val="300"/>
              </a:spcAft>
            </a:pPr>
            <a:r>
              <a:rPr sz="1500" b="0" i="0">
                <a:solidFill>
                  <a:srgbClr val="0E6E6E"/>
                </a:solidFill>
                <a:latin typeface="Calibri"/>
              </a:rPr>
              <a:t>▪  </a:t>
            </a:r>
            <a:r>
              <a:rPr sz="1500" b="1" i="0">
                <a:solidFill>
                  <a:srgbClr val="1F1F1F"/>
                </a:solidFill>
                <a:latin typeface="Calibri"/>
              </a:rPr>
              <a:t>Output: </a:t>
            </a:r>
            <a:r>
              <a:rPr sz="1500" b="0" i="0">
                <a:solidFill>
                  <a:srgbClr val="1F1F1F"/>
                </a:solidFill>
                <a:latin typeface="Calibri"/>
              </a:rPr>
              <a:t>p = σ(baseline + climate push); push &gt; 0 means climate adds risk beyond development</a:t>
            </a:r>
          </a:p>
          <a:p>
            <a:pPr>
              <a:spcAft>
                <a:spcPts val="300"/>
              </a:spcAft>
            </a:pPr>
            <a:r>
              <a:rPr sz="1500" b="0" i="0">
                <a:solidFill>
                  <a:srgbClr val="0E6E6E"/>
                </a:solidFill>
                <a:latin typeface="Calibri"/>
              </a:rPr>
              <a:t>▪  </a:t>
            </a:r>
            <a:r>
              <a:rPr sz="1500" b="1" i="0">
                <a:solidFill>
                  <a:srgbClr val="1F1F1F"/>
                </a:solidFill>
                <a:latin typeface="Calibri"/>
              </a:rPr>
              <a:t>Uncertainty: </a:t>
            </a:r>
            <a:r>
              <a:rPr sz="1500" b="0" i="0">
                <a:solidFill>
                  <a:srgbClr val="1F1F1F"/>
                </a:solidFill>
                <a:latin typeface="Calibri"/>
              </a:rPr>
              <a:t>MC Dropout + conformal prediction; index never used as input (no circularity)</a:t>
            </a:r>
          </a:p>
        </p:txBody>
      </p:sp>
      <p:sp>
        <p:nvSpPr>
          <p:cNvPr id="5" name="Rounded Rectangle 4"/>
          <p:cNvSpPr/>
          <p:nvPr/>
        </p:nvSpPr>
        <p:spPr>
          <a:xfrm>
            <a:off x="365760" y="3657600"/>
            <a:ext cx="1600200" cy="73152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1F1F1F"/>
                </a:solidFill>
                <a:latin typeface="Calibri"/>
              </a:rPr>
              <a:t>Development</a:t>
            </a:r>
          </a:p>
          <a:p>
            <a:pPr algn="ctr"/>
            <a:r>
              <a:rPr sz="1100" b="0" i="0">
                <a:solidFill>
                  <a:srgbClr val="595959"/>
                </a:solidFill>
                <a:latin typeface="Calibri"/>
              </a:rPr>
              <a:t>5 features</a:t>
            </a:r>
          </a:p>
        </p:txBody>
      </p:sp>
      <p:sp>
        <p:nvSpPr>
          <p:cNvPr id="6" name="Rounded Rectangle 5"/>
          <p:cNvSpPr/>
          <p:nvPr/>
        </p:nvSpPr>
        <p:spPr>
          <a:xfrm>
            <a:off x="365760" y="5074920"/>
            <a:ext cx="1600200" cy="73152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1F1F1F"/>
                </a:solidFill>
                <a:latin typeface="Calibri"/>
              </a:rPr>
              <a:t>Climate (IMD)</a:t>
            </a:r>
          </a:p>
          <a:p>
            <a:pPr algn="ctr"/>
            <a:r>
              <a:rPr sz="1100" b="0" i="0">
                <a:solidFill>
                  <a:srgbClr val="595959"/>
                </a:solidFill>
                <a:latin typeface="Calibri"/>
              </a:rPr>
              <a:t>8 features</a:t>
            </a:r>
          </a:p>
        </p:txBody>
      </p:sp>
      <p:sp>
        <p:nvSpPr>
          <p:cNvPr id="7" name="Rounded Rectangle 6"/>
          <p:cNvSpPr/>
          <p:nvPr/>
        </p:nvSpPr>
        <p:spPr>
          <a:xfrm>
            <a:off x="2331720" y="3657600"/>
            <a:ext cx="2011680" cy="73152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1F1F1F"/>
                </a:solidFill>
                <a:latin typeface="Calibri"/>
              </a:rPr>
              <a:t>Linear baseline</a:t>
            </a:r>
          </a:p>
          <a:p>
            <a:pPr algn="ctr"/>
            <a:r>
              <a:rPr sz="1100" b="0" i="0">
                <a:solidFill>
                  <a:srgbClr val="595959"/>
                </a:solidFill>
                <a:latin typeface="Calibri"/>
              </a:rPr>
              <a:t>interpretable</a:t>
            </a:r>
          </a:p>
        </p:txBody>
      </p:sp>
      <p:sp>
        <p:nvSpPr>
          <p:cNvPr id="8" name="Rounded Rectangle 7"/>
          <p:cNvSpPr/>
          <p:nvPr/>
        </p:nvSpPr>
        <p:spPr>
          <a:xfrm>
            <a:off x="2331720" y="5074920"/>
            <a:ext cx="2011680" cy="73152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200" b="1" i="0">
                <a:solidFill>
                  <a:srgbClr val="1F1F1F"/>
                </a:solidFill>
                <a:latin typeface="Calibri"/>
              </a:rPr>
              <a:t>Attention → KAN → Residual MLP</a:t>
            </a:r>
          </a:p>
        </p:txBody>
      </p:sp>
      <p:sp>
        <p:nvSpPr>
          <p:cNvPr id="9" name="Rounded Rectangle 8"/>
          <p:cNvSpPr/>
          <p:nvPr/>
        </p:nvSpPr>
        <p:spPr>
          <a:xfrm>
            <a:off x="4709160" y="3657600"/>
            <a:ext cx="1188720" cy="73152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1F1F1F"/>
                </a:solidFill>
                <a:latin typeface="Calibri"/>
              </a:rPr>
              <a:t>Baseline</a:t>
            </a:r>
          </a:p>
          <a:p>
            <a:pPr algn="ctr"/>
            <a:r>
              <a:rPr sz="1100" b="0" i="0">
                <a:solidFill>
                  <a:srgbClr val="595959"/>
                </a:solidFill>
                <a:latin typeface="Calibri"/>
              </a:rPr>
              <a:t>b</a:t>
            </a:r>
          </a:p>
        </p:txBody>
      </p:sp>
      <p:sp>
        <p:nvSpPr>
          <p:cNvPr id="10" name="Rounded Rectangle 9"/>
          <p:cNvSpPr/>
          <p:nvPr/>
        </p:nvSpPr>
        <p:spPr>
          <a:xfrm>
            <a:off x="4709160" y="5074920"/>
            <a:ext cx="1188720" cy="73152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1F1F1F"/>
                </a:solidFill>
                <a:latin typeface="Calibri"/>
              </a:rPr>
              <a:t>Climate push</a:t>
            </a:r>
          </a:p>
          <a:p>
            <a:pPr algn="ctr"/>
            <a:r>
              <a:rPr sz="1100" b="0" i="0">
                <a:solidFill>
                  <a:srgbClr val="595959"/>
                </a:solidFill>
                <a:latin typeface="Calibri"/>
              </a:rPr>
              <a:t>c (+/−)</a:t>
            </a:r>
          </a:p>
        </p:txBody>
      </p:sp>
      <p:sp>
        <p:nvSpPr>
          <p:cNvPr id="11" name="Oval 10"/>
          <p:cNvSpPr/>
          <p:nvPr/>
        </p:nvSpPr>
        <p:spPr>
          <a:xfrm>
            <a:off x="6263640" y="4343400"/>
            <a:ext cx="731520" cy="731520"/>
          </a:xfrm>
          <a:prstGeom prst="ellipse">
            <a:avLst/>
          </a:prstGeom>
          <a:solidFill>
            <a:srgbClr val="FFFFFF"/>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2400" b="1" i="0">
                <a:solidFill>
                  <a:srgbClr val="1F1F1F"/>
                </a:solidFill>
                <a:latin typeface="Calibri"/>
              </a:rPr>
              <a:t>+</a:t>
            </a:r>
          </a:p>
        </p:txBody>
      </p:sp>
      <p:sp>
        <p:nvSpPr>
          <p:cNvPr id="12" name="Rounded Rectangle 11"/>
          <p:cNvSpPr/>
          <p:nvPr/>
        </p:nvSpPr>
        <p:spPr>
          <a:xfrm>
            <a:off x="7315200" y="3657600"/>
            <a:ext cx="1463040" cy="731520"/>
          </a:xfrm>
          <a:prstGeom prst="roundRect">
            <a:avLst>
              <a:gd name="adj" fmla="val 12000"/>
            </a:avLst>
          </a:prstGeom>
          <a:solidFill>
            <a:srgbClr val="FFF4CC"/>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σ(b + c)</a:t>
            </a:r>
          </a:p>
          <a:p>
            <a:pPr algn="ctr"/>
            <a:r>
              <a:rPr sz="1100" b="0" i="0">
                <a:solidFill>
                  <a:srgbClr val="595959"/>
                </a:solidFill>
                <a:latin typeface="Calibri"/>
              </a:rPr>
              <a:t>High / Low</a:t>
            </a:r>
          </a:p>
        </p:txBody>
      </p:sp>
      <p:sp>
        <p:nvSpPr>
          <p:cNvPr id="13" name="Rounded Rectangle 12"/>
          <p:cNvSpPr/>
          <p:nvPr/>
        </p:nvSpPr>
        <p:spPr>
          <a:xfrm>
            <a:off x="7315200" y="5074920"/>
            <a:ext cx="1463040" cy="731520"/>
          </a:xfrm>
          <a:prstGeom prst="roundRect">
            <a:avLst>
              <a:gd name="adj" fmla="val 12000"/>
            </a:avLst>
          </a:prstGeom>
          <a:solidFill>
            <a:srgbClr val="FCEBDD"/>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200" b="1" i="0">
                <a:solidFill>
                  <a:srgbClr val="1F1F1F"/>
                </a:solidFill>
                <a:latin typeface="Calibri"/>
              </a:rPr>
              <a:t>Uncertainty</a:t>
            </a:r>
          </a:p>
          <a:p>
            <a:pPr algn="ctr"/>
            <a:r>
              <a:rPr sz="1000" b="0" i="0">
                <a:solidFill>
                  <a:srgbClr val="595959"/>
                </a:solidFill>
                <a:latin typeface="Calibri"/>
              </a:rPr>
              <a:t>MC Dropout + conformal</a:t>
            </a:r>
          </a:p>
        </p:txBody>
      </p:sp>
      <p:cxnSp>
        <p:nvCxnSpPr>
          <p:cNvPr id="14" name="Connector 13"/>
          <p:cNvCxnSpPr/>
          <p:nvPr/>
        </p:nvCxnSpPr>
        <p:spPr>
          <a:xfrm>
            <a:off x="1965960" y="4023360"/>
            <a:ext cx="36576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43400" y="4023360"/>
            <a:ext cx="36576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965960" y="5440680"/>
            <a:ext cx="36576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343400" y="5440680"/>
            <a:ext cx="36576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97880" y="4023360"/>
            <a:ext cx="411480" cy="50292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897880" y="4892040"/>
            <a:ext cx="411480" cy="54864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995160" y="4114800"/>
            <a:ext cx="320040" cy="59436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046720" y="4389120"/>
            <a:ext cx="0" cy="68580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65760" y="5989320"/>
            <a:ext cx="8412480" cy="411480"/>
          </a:xfrm>
          <a:prstGeom prst="roundRect">
            <a:avLst>
              <a:gd name="adj" fmla="val 12000"/>
            </a:avLst>
          </a:prstGeom>
          <a:solidFill>
            <a:srgbClr val="FFFFFF"/>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200" b="0" i="0">
                <a:solidFill>
                  <a:srgbClr val="0E6E6E"/>
                </a:solidFill>
                <a:latin typeface="Calibri"/>
              </a:rPr>
              <a:t>Novelty: recent techniques (attention, KAN, residual blocks, conformal prediction) combined into a development-anchored network for district climate vulnerability</a:t>
            </a:r>
          </a:p>
        </p:txBody>
      </p:sp>
      <p:sp>
        <p:nvSpPr>
          <p:cNvPr id="23" name="TextBox 22"/>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Overall System Architecture Diagram</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Rounded Rectangle 3"/>
          <p:cNvSpPr/>
          <p:nvPr/>
        </p:nvSpPr>
        <p:spPr>
          <a:xfrm>
            <a:off x="365760" y="1325880"/>
            <a:ext cx="1783080" cy="91440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Sources</a:t>
            </a:r>
          </a:p>
          <a:p>
            <a:pPr algn="ctr"/>
            <a:r>
              <a:rPr sz="1100" b="0" i="0">
                <a:solidFill>
                  <a:srgbClr val="595959"/>
                </a:solidFill>
                <a:latin typeface="Calibri"/>
              </a:rPr>
              <a:t>NDAP · Census · IMD · DataMeet</a:t>
            </a:r>
          </a:p>
        </p:txBody>
      </p:sp>
      <p:cxnSp>
        <p:nvCxnSpPr>
          <p:cNvPr id="5" name="Connector 4"/>
          <p:cNvCxnSpPr/>
          <p:nvPr/>
        </p:nvCxnSpPr>
        <p:spPr>
          <a:xfrm>
            <a:off x="2148840" y="1783080"/>
            <a:ext cx="41148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560320" y="1325880"/>
            <a:ext cx="1783080" cy="91440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HDFS raw zone</a:t>
            </a:r>
          </a:p>
          <a:p>
            <a:pPr algn="ctr"/>
            <a:r>
              <a:rPr sz="1100" b="0" i="0">
                <a:solidFill>
                  <a:srgbClr val="595959"/>
                </a:solidFill>
                <a:latin typeface="Calibri"/>
              </a:rPr>
              <a:t>/project/raw</a:t>
            </a:r>
          </a:p>
        </p:txBody>
      </p:sp>
      <p:cxnSp>
        <p:nvCxnSpPr>
          <p:cNvPr id="7" name="Connector 6"/>
          <p:cNvCxnSpPr/>
          <p:nvPr/>
        </p:nvCxnSpPr>
        <p:spPr>
          <a:xfrm>
            <a:off x="4343400" y="1783080"/>
            <a:ext cx="41148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754880" y="1325880"/>
            <a:ext cx="1783080" cy="91440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Grid → district</a:t>
            </a:r>
          </a:p>
          <a:p>
            <a:pPr algn="ctr"/>
            <a:r>
              <a:rPr sz="1100" b="0" i="0">
                <a:solidFill>
                  <a:srgbClr val="595959"/>
                </a:solidFill>
                <a:latin typeface="Calibri"/>
              </a:rPr>
              <a:t>Python (NumPy, shapely)</a:t>
            </a:r>
          </a:p>
        </p:txBody>
      </p:sp>
      <p:cxnSp>
        <p:nvCxnSpPr>
          <p:cNvPr id="9" name="Connector 8"/>
          <p:cNvCxnSpPr/>
          <p:nvPr/>
        </p:nvCxnSpPr>
        <p:spPr>
          <a:xfrm>
            <a:off x="6537960" y="1783080"/>
            <a:ext cx="41148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49440" y="1325880"/>
            <a:ext cx="1783080" cy="91440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HDFS staging</a:t>
            </a:r>
          </a:p>
          <a:p>
            <a:pPr algn="ctr"/>
            <a:r>
              <a:rPr sz="1100" b="0" i="0">
                <a:solidFill>
                  <a:srgbClr val="595959"/>
                </a:solidFill>
                <a:latin typeface="Calibri"/>
              </a:rPr>
              <a:t>7.0 M district-day rows</a:t>
            </a:r>
          </a:p>
        </p:txBody>
      </p:sp>
      <p:cxnSp>
        <p:nvCxnSpPr>
          <p:cNvPr id="11" name="Connector 10"/>
          <p:cNvCxnSpPr/>
          <p:nvPr/>
        </p:nvCxnSpPr>
        <p:spPr>
          <a:xfrm>
            <a:off x="7863840" y="2240280"/>
            <a:ext cx="0" cy="36576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949440" y="2606040"/>
            <a:ext cx="1920240" cy="914400"/>
          </a:xfrm>
          <a:prstGeom prst="roundRect">
            <a:avLst>
              <a:gd name="adj" fmla="val 12000"/>
            </a:avLst>
          </a:prstGeom>
          <a:solidFill>
            <a:srgbClr val="FCEBDD"/>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MapReduce on YARN</a:t>
            </a:r>
          </a:p>
          <a:p>
            <a:pPr algn="ctr"/>
            <a:r>
              <a:rPr sz="1100" b="0" i="0">
                <a:solidFill>
                  <a:srgbClr val="595959"/>
                </a:solidFill>
                <a:latin typeface="Calibri"/>
              </a:rPr>
              <a:t>→ 19,200 district-years</a:t>
            </a:r>
          </a:p>
        </p:txBody>
      </p:sp>
      <p:cxnSp>
        <p:nvCxnSpPr>
          <p:cNvPr id="13" name="Connector 12"/>
          <p:cNvCxnSpPr/>
          <p:nvPr/>
        </p:nvCxnSpPr>
        <p:spPr>
          <a:xfrm flipH="1">
            <a:off x="6172200" y="3063240"/>
            <a:ext cx="77724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51959" y="2606040"/>
            <a:ext cx="1920240" cy="914400"/>
          </a:xfrm>
          <a:prstGeom prst="roundRect">
            <a:avLst>
              <a:gd name="adj" fmla="val 12000"/>
            </a:avLst>
          </a:prstGeom>
          <a:solidFill>
            <a:srgbClr val="FCEBDD"/>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Hive</a:t>
            </a:r>
          </a:p>
          <a:p>
            <a:pPr algn="ctr"/>
            <a:r>
              <a:rPr sz="1100" b="0" i="0">
                <a:solidFill>
                  <a:srgbClr val="595959"/>
                </a:solidFill>
                <a:latin typeface="Calibri"/>
              </a:rPr>
              <a:t>30-yr baseline + join</a:t>
            </a:r>
          </a:p>
        </p:txBody>
      </p:sp>
      <p:cxnSp>
        <p:nvCxnSpPr>
          <p:cNvPr id="15" name="Connector 14"/>
          <p:cNvCxnSpPr/>
          <p:nvPr/>
        </p:nvCxnSpPr>
        <p:spPr>
          <a:xfrm flipH="1">
            <a:off x="3474719" y="3063240"/>
            <a:ext cx="77724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554479" y="2606040"/>
            <a:ext cx="1920240" cy="914400"/>
          </a:xfrm>
          <a:prstGeom prst="roundRect">
            <a:avLst>
              <a:gd name="adj" fmla="val 12000"/>
            </a:avLst>
          </a:prstGeom>
          <a:solidFill>
            <a:srgbClr val="FCEBDD"/>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Spark</a:t>
            </a:r>
          </a:p>
          <a:p>
            <a:pPr algn="ctr"/>
            <a:r>
              <a:rPr sz="1100" b="0" i="0">
                <a:solidFill>
                  <a:srgbClr val="595959"/>
                </a:solidFill>
                <a:latin typeface="Calibri"/>
              </a:rPr>
              <a:t>k-means + MLlib</a:t>
            </a:r>
          </a:p>
        </p:txBody>
      </p:sp>
      <p:cxnSp>
        <p:nvCxnSpPr>
          <p:cNvPr id="17" name="Connector 16"/>
          <p:cNvCxnSpPr/>
          <p:nvPr/>
        </p:nvCxnSpPr>
        <p:spPr>
          <a:xfrm>
            <a:off x="2103120" y="3520440"/>
            <a:ext cx="0" cy="36576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65760" y="3886200"/>
            <a:ext cx="2286000" cy="914400"/>
          </a:xfrm>
          <a:prstGeom prst="roundRect">
            <a:avLst>
              <a:gd name="adj" fmla="val 12000"/>
            </a:avLst>
          </a:prstGeom>
          <a:solidFill>
            <a:srgbClr val="FFF4CC"/>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A-CPN</a:t>
            </a:r>
          </a:p>
          <a:p>
            <a:pPr algn="ctr"/>
            <a:r>
              <a:rPr sz="1100" b="0" i="0">
                <a:solidFill>
                  <a:srgbClr val="595959"/>
                </a:solidFill>
                <a:latin typeface="Calibri"/>
              </a:rPr>
              <a:t>PyTorch</a:t>
            </a:r>
          </a:p>
        </p:txBody>
      </p:sp>
      <p:cxnSp>
        <p:nvCxnSpPr>
          <p:cNvPr id="19" name="Connector 18"/>
          <p:cNvCxnSpPr/>
          <p:nvPr/>
        </p:nvCxnSpPr>
        <p:spPr>
          <a:xfrm>
            <a:off x="2651760" y="4343400"/>
            <a:ext cx="54864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200400" y="3886200"/>
            <a:ext cx="2286000" cy="91440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Comparison tables</a:t>
            </a:r>
          </a:p>
          <a:p>
            <a:pPr algn="ctr"/>
            <a:r>
              <a:rPr sz="1100" b="0" i="0">
                <a:solidFill>
                  <a:srgbClr val="595959"/>
                </a:solidFill>
                <a:latin typeface="Calibri"/>
              </a:rPr>
              <a:t>Tables 1–6</a:t>
            </a:r>
          </a:p>
        </p:txBody>
      </p:sp>
      <p:cxnSp>
        <p:nvCxnSpPr>
          <p:cNvPr id="21" name="Connector 20"/>
          <p:cNvCxnSpPr/>
          <p:nvPr/>
        </p:nvCxnSpPr>
        <p:spPr>
          <a:xfrm>
            <a:off x="5486400" y="4343400"/>
            <a:ext cx="548640" cy="0"/>
          </a:xfrm>
          <a:prstGeom prst="line">
            <a:avLst/>
          </a:prstGeom>
          <a:ln w="22225">
            <a:solidFill>
              <a:srgbClr val="1B3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035040" y="3886200"/>
            <a:ext cx="2286000" cy="91440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1F1F1F"/>
                </a:solidFill>
                <a:latin typeface="Calibri"/>
              </a:rPr>
              <a:t>Report / slides</a:t>
            </a:r>
          </a:p>
          <a:p>
            <a:pPr algn="ctr"/>
            <a:r>
              <a:rPr sz="1100" b="0" i="0">
                <a:solidFill>
                  <a:srgbClr val="595959"/>
                </a:solidFill>
                <a:latin typeface="Calibri"/>
              </a:rPr>
              <a:t>results/ · figures/</a:t>
            </a:r>
          </a:p>
        </p:txBody>
      </p:sp>
      <p:sp>
        <p:nvSpPr>
          <p:cNvPr id="23" name="TextBox 22"/>
          <p:cNvSpPr txBox="1"/>
          <p:nvPr/>
        </p:nvSpPr>
        <p:spPr>
          <a:xfrm>
            <a:off x="365760" y="5074920"/>
            <a:ext cx="8412480" cy="365760"/>
          </a:xfrm>
          <a:prstGeom prst="rect">
            <a:avLst/>
          </a:prstGeom>
          <a:noFill/>
        </p:spPr>
        <p:txBody>
          <a:bodyPr wrap="square" anchor="t" lIns="45720" rIns="45720">
            <a:spAutoFit/>
          </a:bodyPr>
          <a:lstStyle/>
          <a:p>
            <a:pPr algn="l"/>
            <a:r>
              <a:rPr sz="1200" b="1" i="0">
                <a:solidFill>
                  <a:srgbClr val="595959"/>
                </a:solidFill>
                <a:latin typeface="Calibri"/>
              </a:rPr>
              <a:t>Legend:</a:t>
            </a:r>
          </a:p>
        </p:txBody>
      </p:sp>
      <p:sp>
        <p:nvSpPr>
          <p:cNvPr id="24" name="Rounded Rectangle 23"/>
          <p:cNvSpPr/>
          <p:nvPr/>
        </p:nvSpPr>
        <p:spPr>
          <a:xfrm>
            <a:off x="1097280" y="5074920"/>
            <a:ext cx="1737360" cy="365760"/>
          </a:xfrm>
          <a:prstGeom prst="roundRect">
            <a:avLst>
              <a:gd name="adj" fmla="val 12000"/>
            </a:avLst>
          </a:prstGeom>
          <a:solidFill>
            <a:srgbClr val="E3F1F0"/>
          </a:solidFill>
          <a:ln w="15875">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0" i="0">
                <a:solidFill>
                  <a:srgbClr val="1F1F1F"/>
                </a:solidFill>
                <a:latin typeface="Calibri"/>
              </a:rPr>
              <a:t>Storage (HDFS)</a:t>
            </a:r>
          </a:p>
        </p:txBody>
      </p:sp>
      <p:sp>
        <p:nvSpPr>
          <p:cNvPr id="25" name="Rounded Rectangle 24"/>
          <p:cNvSpPr/>
          <p:nvPr/>
        </p:nvSpPr>
        <p:spPr>
          <a:xfrm>
            <a:off x="3017520" y="5074920"/>
            <a:ext cx="1737360" cy="365760"/>
          </a:xfrm>
          <a:prstGeom prst="roundRect">
            <a:avLst>
              <a:gd name="adj" fmla="val 12000"/>
            </a:avLst>
          </a:prstGeom>
          <a:solidFill>
            <a:srgbClr val="FCEBDD"/>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0" i="0">
                <a:solidFill>
                  <a:srgbClr val="1F1F1F"/>
                </a:solidFill>
                <a:latin typeface="Calibri"/>
              </a:rPr>
              <a:t>Big Data processing</a:t>
            </a:r>
          </a:p>
        </p:txBody>
      </p:sp>
      <p:sp>
        <p:nvSpPr>
          <p:cNvPr id="26" name="Rounded Rectangle 25"/>
          <p:cNvSpPr/>
          <p:nvPr/>
        </p:nvSpPr>
        <p:spPr>
          <a:xfrm>
            <a:off x="4937760" y="5074920"/>
            <a:ext cx="1737360" cy="365760"/>
          </a:xfrm>
          <a:prstGeom prst="roundRect">
            <a:avLst>
              <a:gd name="adj" fmla="val 12000"/>
            </a:avLst>
          </a:prstGeom>
          <a:solidFill>
            <a:srgbClr val="EEF2F8"/>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0" i="0">
                <a:solidFill>
                  <a:srgbClr val="1F1F1F"/>
                </a:solidFill>
                <a:latin typeface="Calibri"/>
              </a:rPr>
              <a:t>Python / outputs</a:t>
            </a:r>
          </a:p>
        </p:txBody>
      </p:sp>
      <p:sp>
        <p:nvSpPr>
          <p:cNvPr id="27" name="Rounded Rectangle 26"/>
          <p:cNvSpPr/>
          <p:nvPr/>
        </p:nvSpPr>
        <p:spPr>
          <a:xfrm>
            <a:off x="6858000" y="5074920"/>
            <a:ext cx="1737360" cy="365760"/>
          </a:xfrm>
          <a:prstGeom prst="roundRect">
            <a:avLst>
              <a:gd name="adj" fmla="val 12000"/>
            </a:avLst>
          </a:prstGeom>
          <a:solidFill>
            <a:srgbClr val="FFF4CC"/>
          </a:solidFill>
          <a:ln w="15875">
            <a:solidFill>
              <a:srgbClr val="C25B1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0" i="0">
                <a:solidFill>
                  <a:srgbClr val="1F1F1F"/>
                </a:solidFill>
                <a:latin typeface="Calibri"/>
              </a:rPr>
              <a:t>Novel model</a:t>
            </a:r>
          </a:p>
        </p:txBody>
      </p:sp>
      <p:sp>
        <p:nvSpPr>
          <p:cNvPr id="28" name="Rounded Rectangle 27"/>
          <p:cNvSpPr/>
          <p:nvPr/>
        </p:nvSpPr>
        <p:spPr>
          <a:xfrm>
            <a:off x="365760" y="5669280"/>
            <a:ext cx="8412480" cy="548640"/>
          </a:xfrm>
          <a:prstGeom prst="roundRect">
            <a:avLst>
              <a:gd name="adj" fmla="val 12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200" b="0" i="0">
                <a:solidFill>
                  <a:srgbClr val="595959"/>
                </a:solidFill>
                <a:latin typeface="Calibri"/>
              </a:rPr>
              <a:t>Single-node pseudo-distributed Hadoop 3.3.6, HDFS replication 1, 2 vCPU, 12.7 GB RAM (Colab run 2026-10-11); no multi-machine speed-up is claimed</a:t>
            </a:r>
          </a:p>
        </p:txBody>
      </p:sp>
      <p:sp>
        <p:nvSpPr>
          <p:cNvPr id="29" name="TextBox 28"/>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Deepankar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Big Data Platform &amp; HDFS Storage</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79" cy="2560320"/>
        </p:xfrm>
        <a:graphic>
          <a:graphicData uri="http://schemas.openxmlformats.org/drawingml/2006/table">
            <a:tbl>
              <a:tblPr firstRow="1" bandRow="1">
                <a:tableStyleId>{5C22544A-7EE6-4342-B048-85BDC9FD1C3A}</a:tableStyleId>
              </a:tblPr>
              <a:tblGrid>
                <a:gridCol w="2704011"/>
                <a:gridCol w="4306388"/>
                <a:gridCol w="1402080"/>
              </a:tblGrid>
              <a:tr h="365760">
                <a:tc>
                  <a:txBody>
                    <a:bodyPr wrap="square"/>
                    <a:lstStyle/>
                    <a:p>
                      <a:pPr algn="l"/>
                      <a:r>
                        <a:rPr sz="1300" b="1" i="0">
                          <a:solidFill>
                            <a:srgbClr val="FFFFFF"/>
                          </a:solidFill>
                          <a:latin typeface="Calibri"/>
                        </a:rPr>
                        <a:t>HDFS zone</a:t>
                      </a:r>
                    </a:p>
                  </a:txBody>
                  <a:tcPr marL="54864" marR="54864" marT="27432" marB="27432" anchor="ctr">
                    <a:solidFill>
                      <a:srgbClr val="1B3A6B"/>
                    </a:solidFill>
                  </a:tcPr>
                </a:tc>
                <a:tc>
                  <a:txBody>
                    <a:bodyPr wrap="square"/>
                    <a:lstStyle/>
                    <a:p>
                      <a:pPr algn="ctr"/>
                      <a:r>
                        <a:rPr sz="1300" b="1" i="0">
                          <a:solidFill>
                            <a:srgbClr val="FFFFFF"/>
                          </a:solidFill>
                          <a:latin typeface="Calibri"/>
                        </a:rPr>
                        <a:t>Contents</a:t>
                      </a:r>
                    </a:p>
                  </a:txBody>
                  <a:tcPr marL="54864" marR="54864" marT="27432" marB="27432" anchor="ctr">
                    <a:solidFill>
                      <a:srgbClr val="1B3A6B"/>
                    </a:solidFill>
                  </a:tcPr>
                </a:tc>
                <a:tc>
                  <a:txBody>
                    <a:bodyPr wrap="square"/>
                    <a:lstStyle/>
                    <a:p>
                      <a:pPr algn="ctr"/>
                      <a:r>
                        <a:rPr sz="1300" b="1" i="0">
                          <a:solidFill>
                            <a:srgbClr val="FFFFFF"/>
                          </a:solidFill>
                          <a:latin typeface="Calibri"/>
                        </a:rPr>
                        <a:t>Size</a:t>
                      </a:r>
                    </a:p>
                  </a:txBody>
                  <a:tcPr marL="54864" marR="54864" marT="27432" marB="27432" anchor="ctr">
                    <a:solidFill>
                      <a:srgbClr val="1B3A6B"/>
                    </a:solidFill>
                  </a:tcPr>
                </a:tc>
              </a:tr>
              <a:tr h="365760">
                <a:tc>
                  <a:txBody>
                    <a:bodyPr wrap="square"/>
                    <a:lstStyle/>
                    <a:p>
                      <a:pPr algn="l"/>
                      <a:r>
                        <a:rPr sz="1300" b="1" i="0">
                          <a:solidFill>
                            <a:srgbClr val="1F1F1F"/>
                          </a:solidFill>
                          <a:latin typeface="Calibri"/>
                        </a:rPr>
                        <a:t>/project/raw/imd/rain</a:t>
                      </a:r>
                    </a:p>
                  </a:txBody>
                  <a:tcPr marL="54864" marR="54864" marT="27432" marB="27432" anchor="ctr">
                    <a:solidFill>
                      <a:srgbClr val="FFFFFF"/>
                    </a:solidFill>
                  </a:tcPr>
                </a:tc>
                <a:tc>
                  <a:txBody>
                    <a:bodyPr wrap="square"/>
                    <a:lstStyle/>
                    <a:p>
                      <a:pPr algn="ctr"/>
                      <a:r>
                        <a:rPr sz="1300" b="0" i="0">
                          <a:solidFill>
                            <a:srgbClr val="1F1F1F"/>
                          </a:solidFill>
                          <a:latin typeface="Calibri"/>
                        </a:rPr>
                        <a:t>30 yearly rainfall files (0.25° grid)</a:t>
                      </a:r>
                    </a:p>
                  </a:txBody>
                  <a:tcPr marL="54864" marR="54864" marT="27432" marB="27432" anchor="ctr">
                    <a:solidFill>
                      <a:srgbClr val="FFFFFF"/>
                    </a:solidFill>
                  </a:tcPr>
                </a:tc>
                <a:tc>
                  <a:txBody>
                    <a:bodyPr wrap="square"/>
                    <a:lstStyle/>
                    <a:p>
                      <a:pPr algn="ctr"/>
                      <a:r>
                        <a:rPr sz="1300" b="0" i="0">
                          <a:solidFill>
                            <a:srgbClr val="1F1F1F"/>
                          </a:solidFill>
                          <a:latin typeface="Calibri"/>
                        </a:rPr>
                        <a:t>763.3 MB</a:t>
                      </a:r>
                    </a:p>
                  </a:txBody>
                  <a:tcPr marL="54864" marR="54864" marT="27432" marB="27432" anchor="ctr">
                    <a:solidFill>
                      <a:srgbClr val="FFFFFF"/>
                    </a:solidFill>
                  </a:tcPr>
                </a:tc>
              </a:tr>
              <a:tr h="365760">
                <a:tc>
                  <a:txBody>
                    <a:bodyPr wrap="square"/>
                    <a:lstStyle/>
                    <a:p>
                      <a:pPr algn="l"/>
                      <a:r>
                        <a:rPr sz="1300" b="1" i="0">
                          <a:solidFill>
                            <a:srgbClr val="1F1F1F"/>
                          </a:solidFill>
                          <a:latin typeface="Calibri"/>
                        </a:rPr>
                        <a:t>/project/raw/imd/tmax, tmin</a:t>
                      </a:r>
                    </a:p>
                  </a:txBody>
                  <a:tcPr marL="54864" marR="54864" marT="27432" marB="27432" anchor="ctr">
                    <a:solidFill>
                      <a:srgbClr val="EEF2F8"/>
                    </a:solidFill>
                  </a:tcPr>
                </a:tc>
                <a:tc>
                  <a:txBody>
                    <a:bodyPr wrap="square"/>
                    <a:lstStyle/>
                    <a:p>
                      <a:pPr algn="ctr"/>
                      <a:r>
                        <a:rPr sz="1300" b="0" i="0">
                          <a:solidFill>
                            <a:srgbClr val="1F1F1F"/>
                          </a:solidFill>
                          <a:latin typeface="Calibri"/>
                        </a:rPr>
                        <a:t>60 temperature files (1° grid)</a:t>
                      </a:r>
                    </a:p>
                  </a:txBody>
                  <a:tcPr marL="54864" marR="54864" marT="27432" marB="27432" anchor="ctr">
                    <a:solidFill>
                      <a:srgbClr val="EEF2F8"/>
                    </a:solidFill>
                  </a:tcPr>
                </a:tc>
                <a:tc>
                  <a:txBody>
                    <a:bodyPr wrap="square"/>
                    <a:lstStyle/>
                    <a:p>
                      <a:pPr algn="ctr"/>
                      <a:r>
                        <a:rPr sz="1300" b="0" i="0">
                          <a:solidFill>
                            <a:srgbClr val="1F1F1F"/>
                          </a:solidFill>
                          <a:latin typeface="Calibri"/>
                        </a:rPr>
                        <a:t>84.2 MB</a:t>
                      </a:r>
                    </a:p>
                  </a:txBody>
                  <a:tcPr marL="54864" marR="54864" marT="27432" marB="27432" anchor="ctr">
                    <a:solidFill>
                      <a:srgbClr val="EEF2F8"/>
                    </a:solidFill>
                  </a:tcPr>
                </a:tc>
              </a:tr>
              <a:tr h="365760">
                <a:tc>
                  <a:txBody>
                    <a:bodyPr wrap="square"/>
                    <a:lstStyle/>
                    <a:p>
                      <a:pPr algn="l"/>
                      <a:r>
                        <a:rPr sz="1300" b="1" i="0">
                          <a:solidFill>
                            <a:srgbClr val="1F1F1F"/>
                          </a:solidFill>
                          <a:latin typeface="Calibri"/>
                        </a:rPr>
                        <a:t>/project/raw/sources</a:t>
                      </a:r>
                    </a:p>
                  </a:txBody>
                  <a:tcPr marL="54864" marR="54864" marT="27432" marB="27432" anchor="ctr">
                    <a:solidFill>
                      <a:srgbClr val="FFFFFF"/>
                    </a:solidFill>
                  </a:tcPr>
                </a:tc>
                <a:tc>
                  <a:txBody>
                    <a:bodyPr wrap="square"/>
                    <a:lstStyle/>
                    <a:p>
                      <a:pPr algn="ctr"/>
                      <a:r>
                        <a:rPr sz="1300" b="0" i="0">
                          <a:solidFill>
                            <a:srgbClr val="1F1F1F"/>
                          </a:solidFill>
                          <a:latin typeface="Calibri"/>
                        </a:rPr>
                        <a:t>NDAP, Census, boundaries</a:t>
                      </a:r>
                    </a:p>
                  </a:txBody>
                  <a:tcPr marL="54864" marR="54864" marT="27432" marB="27432" anchor="ctr">
                    <a:solidFill>
                      <a:srgbClr val="FFFFFF"/>
                    </a:solidFill>
                  </a:tcPr>
                </a:tc>
                <a:tc>
                  <a:txBody>
                    <a:bodyPr wrap="square"/>
                    <a:lstStyle/>
                    <a:p>
                      <a:pPr algn="ctr"/>
                      <a:r>
                        <a:rPr sz="1300" b="0" i="0">
                          <a:solidFill>
                            <a:srgbClr val="1F1F1F"/>
                          </a:solidFill>
                          <a:latin typeface="Calibri"/>
                        </a:rPr>
                        <a:t>11.5 MB</a:t>
                      </a:r>
                    </a:p>
                  </a:txBody>
                  <a:tcPr marL="54864" marR="54864" marT="27432" marB="27432" anchor="ctr">
                    <a:solidFill>
                      <a:srgbClr val="FFFFFF"/>
                    </a:solidFill>
                  </a:tcPr>
                </a:tc>
              </a:tr>
              <a:tr h="365760">
                <a:tc>
                  <a:txBody>
                    <a:bodyPr wrap="square"/>
                    <a:lstStyle/>
                    <a:p>
                      <a:pPr algn="l"/>
                      <a:r>
                        <a:rPr sz="1300" b="1" i="0">
                          <a:solidFill>
                            <a:srgbClr val="1F1F1F"/>
                          </a:solidFill>
                          <a:latin typeface="Calibri"/>
                        </a:rPr>
                        <a:t>/project/staging/district_day</a:t>
                      </a:r>
                    </a:p>
                  </a:txBody>
                  <a:tcPr marL="54864" marR="54864" marT="27432" marB="27432" anchor="ctr">
                    <a:solidFill>
                      <a:srgbClr val="EEF2F8"/>
                    </a:solidFill>
                  </a:tcPr>
                </a:tc>
                <a:tc>
                  <a:txBody>
                    <a:bodyPr wrap="square"/>
                    <a:lstStyle/>
                    <a:p>
                      <a:pPr algn="ctr"/>
                      <a:r>
                        <a:rPr sz="1300" b="0" i="0">
                          <a:solidFill>
                            <a:srgbClr val="1F1F1F"/>
                          </a:solidFill>
                          <a:latin typeface="Calibri"/>
                        </a:rPr>
                        <a:t>7,013,120 district-day rows</a:t>
                      </a:r>
                    </a:p>
                  </a:txBody>
                  <a:tcPr marL="54864" marR="54864" marT="27432" marB="27432" anchor="ctr">
                    <a:solidFill>
                      <a:srgbClr val="EEF2F8"/>
                    </a:solidFill>
                  </a:tcPr>
                </a:tc>
                <a:tc>
                  <a:txBody>
                    <a:bodyPr wrap="square"/>
                    <a:lstStyle/>
                    <a:p>
                      <a:pPr algn="ctr"/>
                      <a:r>
                        <a:rPr sz="1300" b="0" i="0">
                          <a:solidFill>
                            <a:srgbClr val="1F1F1F"/>
                          </a:solidFill>
                          <a:latin typeface="Calibri"/>
                        </a:rPr>
                        <a:t>222.8 MB</a:t>
                      </a:r>
                    </a:p>
                  </a:txBody>
                  <a:tcPr marL="54864" marR="54864" marT="27432" marB="27432" anchor="ctr">
                    <a:solidFill>
                      <a:srgbClr val="EEF2F8"/>
                    </a:solidFill>
                  </a:tcPr>
                </a:tc>
              </a:tr>
              <a:tr h="365760">
                <a:tc>
                  <a:txBody>
                    <a:bodyPr wrap="square"/>
                    <a:lstStyle/>
                    <a:p>
                      <a:pPr algn="l"/>
                      <a:r>
                        <a:rPr sz="1300" b="1" i="0">
                          <a:solidFill>
                            <a:srgbClr val="1F1F1F"/>
                          </a:solidFill>
                          <a:latin typeface="Calibri"/>
                        </a:rPr>
                        <a:t>/project/processed</a:t>
                      </a:r>
                    </a:p>
                  </a:txBody>
                  <a:tcPr marL="54864" marR="54864" marT="27432" marB="27432" anchor="ctr">
                    <a:solidFill>
                      <a:srgbClr val="FFFFFF"/>
                    </a:solidFill>
                  </a:tcPr>
                </a:tc>
                <a:tc>
                  <a:txBody>
                    <a:bodyPr wrap="square"/>
                    <a:lstStyle/>
                    <a:p>
                      <a:pPr algn="ctr"/>
                      <a:r>
                        <a:rPr sz="1300" b="0" i="0">
                          <a:solidFill>
                            <a:srgbClr val="1F1F1F"/>
                          </a:solidFill>
                          <a:latin typeface="Calibri"/>
                        </a:rPr>
                        <a:t>MapReduce, Hive, Spark outputs</a:t>
                      </a:r>
                    </a:p>
                  </a:txBody>
                  <a:tcPr marL="54864" marR="54864" marT="27432" marB="27432" anchor="ctr">
                    <a:solidFill>
                      <a:srgbClr val="FFFFFF"/>
                    </a:solidFill>
                  </a:tcPr>
                </a:tc>
                <a:tc>
                  <a:txBody>
                    <a:bodyPr wrap="square"/>
                    <a:lstStyle/>
                    <a:p>
                      <a:pPr algn="ctr"/>
                      <a:r>
                        <a:rPr sz="1300" b="0" i="0">
                          <a:solidFill>
                            <a:srgbClr val="1F1F1F"/>
                          </a:solidFill>
                          <a:latin typeface="Calibri"/>
                        </a:rPr>
                        <a:t>1.2 MB</a:t>
                      </a:r>
                    </a:p>
                  </a:txBody>
                  <a:tcPr marL="54864" marR="54864" marT="27432" marB="27432" anchor="ctr">
                    <a:solidFill>
                      <a:srgbClr val="FFFFFF"/>
                    </a:solidFill>
                  </a:tcPr>
                </a:tc>
              </a:tr>
              <a:tr h="365760">
                <a:tc>
                  <a:txBody>
                    <a:bodyPr wrap="square"/>
                    <a:lstStyle/>
                    <a:p>
                      <a:pPr algn="l"/>
                      <a:r>
                        <a:rPr sz="1300" b="1" i="0">
                          <a:solidFill>
                            <a:srgbClr val="1F1F1F"/>
                          </a:solidFill>
                          <a:latin typeface="Calibri"/>
                        </a:rPr>
                        <a:t>Total</a:t>
                      </a:r>
                    </a:p>
                  </a:txBody>
                  <a:tcPr marL="54864" marR="54864" marT="27432" marB="27432" anchor="ctr">
                    <a:solidFill>
                      <a:srgbClr val="FFF4CC"/>
                    </a:solidFill>
                  </a:tcPr>
                </a:tc>
                <a:tc>
                  <a:txBody>
                    <a:bodyPr wrap="square"/>
                    <a:lstStyle/>
                    <a:p>
                      <a:pPr algn="ctr"/>
                      <a:r>
                        <a:rPr sz="1300" b="1" i="0">
                          <a:solidFill>
                            <a:srgbClr val="1F1F1F"/>
                          </a:solidFill>
                          <a:latin typeface="Calibri"/>
                        </a:rPr>
                        <a:t>measured with hdfs dfs -du (Colab run 2026-10-11)</a:t>
                      </a:r>
                    </a:p>
                  </a:txBody>
                  <a:tcPr marL="54864" marR="54864" marT="27432" marB="27432" anchor="ctr">
                    <a:solidFill>
                      <a:srgbClr val="FFF4CC"/>
                    </a:solidFill>
                  </a:tcPr>
                </a:tc>
                <a:tc>
                  <a:txBody>
                    <a:bodyPr wrap="square"/>
                    <a:lstStyle/>
                    <a:p>
                      <a:pPr algn="ctr"/>
                      <a:r>
                        <a:rPr sz="1300" b="1" i="0">
                          <a:solidFill>
                            <a:srgbClr val="1F1F1F"/>
                          </a:solidFill>
                          <a:latin typeface="Calibri"/>
                        </a:rPr>
                        <a:t>1.08 GB</a:t>
                      </a:r>
                    </a:p>
                  </a:txBody>
                  <a:tcPr marL="54864" marR="54864" marT="27432" marB="27432" anchor="ctr">
                    <a:solidFill>
                      <a:srgbClr val="FFF4CC"/>
                    </a:solidFill>
                  </a:tcPr>
                </a:tc>
              </a:tr>
            </a:tbl>
          </a:graphicData>
        </a:graphic>
      </p:graphicFrame>
      <p:graphicFrame>
        <p:nvGraphicFramePr>
          <p:cNvPr id="5" name="Table 4"/>
          <p:cNvGraphicFramePr>
            <a:graphicFrameLocks noGrp="1"/>
          </p:cNvGraphicFramePr>
          <p:nvPr/>
        </p:nvGraphicFramePr>
        <p:xfrm>
          <a:off x="365760" y="3977639"/>
          <a:ext cx="8412477" cy="1234440"/>
        </p:xfrm>
        <a:graphic>
          <a:graphicData uri="http://schemas.openxmlformats.org/drawingml/2006/table">
            <a:tbl>
              <a:tblPr firstRow="1" bandRow="1">
                <a:tableStyleId>{5C22544A-7EE6-4342-B048-85BDC9FD1C3A}</a:tableStyleId>
              </a:tblPr>
              <a:tblGrid>
                <a:gridCol w="822959"/>
                <a:gridCol w="3291839"/>
                <a:gridCol w="4297679"/>
              </a:tblGrid>
              <a:tr h="411480">
                <a:tc>
                  <a:txBody>
                    <a:bodyPr wrap="square"/>
                    <a:lstStyle/>
                    <a:p>
                      <a:pPr algn="l"/>
                      <a:r>
                        <a:rPr sz="1200" b="1" i="0">
                          <a:solidFill>
                            <a:srgbClr val="FFFFFF"/>
                          </a:solidFill>
                          <a:latin typeface="Calibri"/>
                        </a:rPr>
                        <a:t>Tool</a:t>
                      </a:r>
                    </a:p>
                  </a:txBody>
                  <a:tcPr marL="54864" marR="54864" marT="27432" marB="27432" anchor="ctr">
                    <a:solidFill>
                      <a:srgbClr val="1B3A6B"/>
                    </a:solidFill>
                  </a:tcPr>
                </a:tc>
                <a:tc>
                  <a:txBody>
                    <a:bodyPr wrap="square"/>
                    <a:lstStyle/>
                    <a:p>
                      <a:pPr algn="ctr"/>
                      <a:r>
                        <a:rPr sz="1200" b="1" i="0">
                          <a:solidFill>
                            <a:srgbClr val="FFFFFF"/>
                          </a:solidFill>
                          <a:latin typeface="Calibri"/>
                        </a:rPr>
                        <a:t>What it does / purpose</a:t>
                      </a:r>
                    </a:p>
                  </a:txBody>
                  <a:tcPr marL="54864" marR="54864" marT="27432" marB="27432" anchor="ctr">
                    <a:solidFill>
                      <a:srgbClr val="1B3A6B"/>
                    </a:solidFill>
                  </a:tcPr>
                </a:tc>
                <a:tc>
                  <a:txBody>
                    <a:bodyPr wrap="square"/>
                    <a:lstStyle/>
                    <a:p>
                      <a:pPr algn="ctr"/>
                      <a:r>
                        <a:rPr sz="1200" b="1" i="0">
                          <a:solidFill>
                            <a:srgbClr val="FFFFFF"/>
                          </a:solidFill>
                          <a:latin typeface="Calibri"/>
                        </a:rPr>
                        <a:t>Why chosen</a:t>
                      </a:r>
                    </a:p>
                  </a:txBody>
                  <a:tcPr marL="54864" marR="54864" marT="27432" marB="27432" anchor="ctr">
                    <a:solidFill>
                      <a:srgbClr val="1B3A6B"/>
                    </a:solidFill>
                  </a:tcPr>
                </a:tc>
              </a:tr>
              <a:tr h="411480">
                <a:tc>
                  <a:txBody>
                    <a:bodyPr wrap="square"/>
                    <a:lstStyle/>
                    <a:p>
                      <a:pPr algn="l"/>
                      <a:r>
                        <a:rPr sz="1200" b="1" i="0">
                          <a:solidFill>
                            <a:srgbClr val="1F1F1F"/>
                          </a:solidFill>
                          <a:latin typeface="Calibri"/>
                        </a:rPr>
                        <a:t>HDFS</a:t>
                      </a:r>
                    </a:p>
                  </a:txBody>
                  <a:tcPr marL="54864" marR="54864" marT="27432" marB="27432" anchor="ctr">
                    <a:solidFill>
                      <a:srgbClr val="FFFFFF"/>
                    </a:solidFill>
                  </a:tcPr>
                </a:tc>
                <a:tc>
                  <a:txBody>
                    <a:bodyPr wrap="square"/>
                    <a:lstStyle/>
                    <a:p>
                      <a:pPr algn="ctr"/>
                      <a:r>
                        <a:rPr sz="1200" b="0" i="0">
                          <a:solidFill>
                            <a:srgbClr val="1F1F1F"/>
                          </a:solidFill>
                          <a:latin typeface="Calibri"/>
                        </a:rPr>
                        <a:t>Central store for raw, staging and processed zones</a:t>
                      </a:r>
                    </a:p>
                  </a:txBody>
                  <a:tcPr marL="54864" marR="54864" marT="27432" marB="27432" anchor="ctr">
                    <a:solidFill>
                      <a:srgbClr val="FFFFFF"/>
                    </a:solidFill>
                  </a:tcPr>
                </a:tc>
                <a:tc>
                  <a:txBody>
                    <a:bodyPr wrap="square"/>
                    <a:lstStyle/>
                    <a:p>
                      <a:pPr algn="ctr"/>
                      <a:r>
                        <a:rPr sz="1200" b="0" i="0">
                          <a:solidFill>
                            <a:srgbClr val="1F1F1F"/>
                          </a:solidFill>
                          <a:latin typeface="Calibri"/>
                        </a:rPr>
                        <a:t>128 MB blocks for parallel jobs; read directly by MapReduce, Hive, Spark</a:t>
                      </a:r>
                    </a:p>
                  </a:txBody>
                  <a:tcPr marL="54864" marR="54864" marT="27432" marB="27432" anchor="ctr">
                    <a:solidFill>
                      <a:srgbClr val="FFFFFF"/>
                    </a:solidFill>
                  </a:tcPr>
                </a:tc>
              </a:tr>
              <a:tr h="411480">
                <a:tc>
                  <a:txBody>
                    <a:bodyPr wrap="square"/>
                    <a:lstStyle/>
                    <a:p>
                      <a:pPr algn="l"/>
                      <a:r>
                        <a:rPr sz="1200" b="1" i="0">
                          <a:solidFill>
                            <a:srgbClr val="1F1F1F"/>
                          </a:solidFill>
                          <a:latin typeface="Calibri"/>
                        </a:rPr>
                        <a:t>YARN</a:t>
                      </a:r>
                    </a:p>
                  </a:txBody>
                  <a:tcPr marL="54864" marR="54864" marT="27432" marB="27432" anchor="ctr">
                    <a:solidFill>
                      <a:srgbClr val="EEF2F8"/>
                    </a:solidFill>
                  </a:tcPr>
                </a:tc>
                <a:tc>
                  <a:txBody>
                    <a:bodyPr wrap="square"/>
                    <a:lstStyle/>
                    <a:p>
                      <a:pPr algn="ctr"/>
                      <a:r>
                        <a:rPr sz="1200" b="0" i="0">
                          <a:solidFill>
                            <a:srgbClr val="1F1F1F"/>
                          </a:solidFill>
                          <a:latin typeface="Calibri"/>
                        </a:rPr>
                        <a:t>Allocates CPU / memory and runs MapReduce tasks</a:t>
                      </a:r>
                    </a:p>
                  </a:txBody>
                  <a:tcPr marL="54864" marR="54864" marT="27432" marB="27432" anchor="ctr">
                    <a:solidFill>
                      <a:srgbClr val="EEF2F8"/>
                    </a:solidFill>
                  </a:tcPr>
                </a:tc>
                <a:tc>
                  <a:txBody>
                    <a:bodyPr wrap="square"/>
                    <a:lstStyle/>
                    <a:p>
                      <a:pPr algn="ctr"/>
                      <a:r>
                        <a:rPr sz="1200" b="0" i="0">
                          <a:solidFill>
                            <a:srgbClr val="1F1F1F"/>
                          </a:solidFill>
                          <a:latin typeface="Calibri"/>
                        </a:rPr>
                        <a:t>Hadoop's standard scheduler for MapReduce</a:t>
                      </a:r>
                    </a:p>
                  </a:txBody>
                  <a:tcPr marL="54864" marR="54864" marT="27432" marB="27432" anchor="ctr">
                    <a:solidFill>
                      <a:srgbClr val="EEF2F8"/>
                    </a:solidFill>
                  </a:tcPr>
                </a:tc>
              </a:tr>
            </a:tbl>
          </a:graphicData>
        </a:graphic>
      </p:graphicFrame>
      <p:sp>
        <p:nvSpPr>
          <p:cNvPr id="6" name="TextBox 5"/>
          <p:cNvSpPr txBox="1"/>
          <p:nvPr/>
        </p:nvSpPr>
        <p:spPr>
          <a:xfrm>
            <a:off x="365760" y="5349240"/>
            <a:ext cx="8412480" cy="1005840"/>
          </a:xfrm>
          <a:prstGeom prst="rect">
            <a:avLst/>
          </a:prstGeom>
          <a:noFill/>
        </p:spPr>
        <p:txBody>
          <a:bodyPr wrap="square" lIns="45720" rIns="45720">
            <a:spAutoFit/>
          </a:bodyPr>
          <a:lstStyle/>
          <a:p>
            <a:pPr>
              <a:spcAft>
                <a:spcPts val="200"/>
              </a:spcAft>
            </a:pPr>
            <a:r>
              <a:rPr sz="1500" b="0" i="0">
                <a:solidFill>
                  <a:srgbClr val="0E6E6E"/>
                </a:solidFill>
                <a:latin typeface="Calibri"/>
              </a:rPr>
              <a:t>▪  </a:t>
            </a:r>
            <a:r>
              <a:rPr sz="1500" b="0" i="0">
                <a:solidFill>
                  <a:srgbClr val="1F1F1F"/>
                </a:solidFill>
                <a:latin typeface="Calibri"/>
              </a:rPr>
              <a:t>Hadoop 3.3.6 + YARN, Hive 3.1.3, Spark (pyspark), Java 8 (Hive 3.1.3 fails on Java 11)</a:t>
            </a:r>
          </a:p>
          <a:p>
            <a:pPr>
              <a:spcAft>
                <a:spcPts val="200"/>
              </a:spcAft>
            </a:pPr>
            <a:r>
              <a:rPr sz="1500" b="0" i="0">
                <a:solidFill>
                  <a:srgbClr val="0E6E6E"/>
                </a:solidFill>
                <a:latin typeface="Calibri"/>
              </a:rPr>
              <a:t>▪  </a:t>
            </a:r>
            <a:r>
              <a:rPr sz="1500" b="0" i="0">
                <a:solidFill>
                  <a:srgbClr val="1F1F1F"/>
                </a:solidFill>
                <a:latin typeface="Calibri"/>
              </a:rPr>
              <a:t>Daemons started directly (Colab has no SSH); replication 1, block size 128 MB</a:t>
            </a:r>
          </a:p>
        </p:txBody>
      </p:sp>
      <p:sp>
        <p:nvSpPr>
          <p:cNvPr id="7" name="TextBox 6"/>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Deepankar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400" b="1" i="0">
                <a:solidFill>
                  <a:srgbClr val="1B3A6B"/>
                </a:solidFill>
                <a:latin typeface="Times New Roman"/>
              </a:rPr>
              <a:t>Big Data Processing: MapReduce, Hive, Spark</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80" cy="3950208"/>
        </p:xfrm>
        <a:graphic>
          <a:graphicData uri="http://schemas.openxmlformats.org/drawingml/2006/table">
            <a:tbl>
              <a:tblPr firstRow="1" bandRow="1">
                <a:tableStyleId>{5C22544A-7EE6-4342-B048-85BDC9FD1C3A}</a:tableStyleId>
              </a:tblPr>
              <a:tblGrid>
                <a:gridCol w="1600200"/>
                <a:gridCol w="1600200"/>
                <a:gridCol w="1828800"/>
                <a:gridCol w="1600200"/>
                <a:gridCol w="1783080"/>
              </a:tblGrid>
              <a:tr h="658368">
                <a:tc>
                  <a:txBody>
                    <a:bodyPr wrap="square"/>
                    <a:lstStyle/>
                    <a:p>
                      <a:pPr algn="l"/>
                      <a:r>
                        <a:rPr sz="1200" b="1" i="0">
                          <a:solidFill>
                            <a:srgbClr val="FFFFFF"/>
                          </a:solidFill>
                          <a:latin typeface="Calibri"/>
                        </a:rPr>
                        <a:t>Job</a:t>
                      </a:r>
                    </a:p>
                  </a:txBody>
                  <a:tcPr marL="54864" marR="54864" marT="27432" marB="27432" anchor="ctr">
                    <a:solidFill>
                      <a:srgbClr val="1B3A6B"/>
                    </a:solidFill>
                  </a:tcPr>
                </a:tc>
                <a:tc>
                  <a:txBody>
                    <a:bodyPr wrap="square"/>
                    <a:lstStyle/>
                    <a:p>
                      <a:pPr algn="ctr"/>
                      <a:r>
                        <a:rPr sz="1200" b="1" i="0">
                          <a:solidFill>
                            <a:srgbClr val="FFFFFF"/>
                          </a:solidFill>
                          <a:latin typeface="Calibri"/>
                        </a:rPr>
                        <a:t>Input</a:t>
                      </a:r>
                    </a:p>
                  </a:txBody>
                  <a:tcPr marL="54864" marR="54864" marT="27432" marB="27432" anchor="ctr">
                    <a:solidFill>
                      <a:srgbClr val="1B3A6B"/>
                    </a:solidFill>
                  </a:tcPr>
                </a:tc>
                <a:tc>
                  <a:txBody>
                    <a:bodyPr wrap="square"/>
                    <a:lstStyle/>
                    <a:p>
                      <a:pPr algn="ctr"/>
                      <a:r>
                        <a:rPr sz="1200" b="1" i="0">
                          <a:solidFill>
                            <a:srgbClr val="FFFFFF"/>
                          </a:solidFill>
                          <a:latin typeface="Calibri"/>
                        </a:rPr>
                        <a:t>Output</a:t>
                      </a:r>
                    </a:p>
                  </a:txBody>
                  <a:tcPr marL="54864" marR="54864" marT="27432" marB="27432" anchor="ctr">
                    <a:solidFill>
                      <a:srgbClr val="1B3A6B"/>
                    </a:solidFill>
                  </a:tcPr>
                </a:tc>
                <a:tc>
                  <a:txBody>
                    <a:bodyPr wrap="square"/>
                    <a:lstStyle/>
                    <a:p>
                      <a:pPr algn="ctr"/>
                      <a:r>
                        <a:rPr sz="1200" b="1" i="0">
                          <a:solidFill>
                            <a:srgbClr val="FFFFFF"/>
                          </a:solidFill>
                          <a:latin typeface="Calibri"/>
                        </a:rPr>
                        <a:t>Result</a:t>
                      </a:r>
                    </a:p>
                  </a:txBody>
                  <a:tcPr marL="54864" marR="54864" marT="27432" marB="27432" anchor="ctr">
                    <a:solidFill>
                      <a:srgbClr val="1B3A6B"/>
                    </a:solidFill>
                  </a:tcPr>
                </a:tc>
                <a:tc>
                  <a:txBody>
                    <a:bodyPr wrap="square"/>
                    <a:lstStyle/>
                    <a:p>
                      <a:pPr algn="ctr"/>
                      <a:r>
                        <a:rPr sz="1200" b="1" i="0">
                          <a:solidFill>
                            <a:srgbClr val="FFFFFF"/>
                          </a:solidFill>
                          <a:latin typeface="Calibri"/>
                        </a:rPr>
                        <a:t>Why this tool</a:t>
                      </a:r>
                    </a:p>
                  </a:txBody>
                  <a:tcPr marL="54864" marR="54864" marT="27432" marB="27432" anchor="ctr">
                    <a:solidFill>
                      <a:srgbClr val="1B3A6B"/>
                    </a:solidFill>
                  </a:tcPr>
                </a:tc>
              </a:tr>
              <a:tr h="658368">
                <a:tc>
                  <a:txBody>
                    <a:bodyPr wrap="square"/>
                    <a:lstStyle/>
                    <a:p>
                      <a:pPr algn="l"/>
                      <a:r>
                        <a:rPr sz="1200" b="1" i="0">
                          <a:solidFill>
                            <a:srgbClr val="1F1F1F"/>
                          </a:solidFill>
                          <a:latin typeface="Calibri"/>
                        </a:rPr>
                        <a:t>MapReduce (Hadoop Streaming)</a:t>
                      </a:r>
                    </a:p>
                  </a:txBody>
                  <a:tcPr marL="54864" marR="54864" marT="27432" marB="27432" anchor="ctr">
                    <a:solidFill>
                      <a:srgbClr val="FFFFFF"/>
                    </a:solidFill>
                  </a:tcPr>
                </a:tc>
                <a:tc>
                  <a:txBody>
                    <a:bodyPr wrap="square"/>
                    <a:lstStyle/>
                    <a:p>
                      <a:pPr algn="ctr"/>
                      <a:r>
                        <a:rPr sz="1200" b="0" i="0">
                          <a:solidFill>
                            <a:srgbClr val="1F1F1F"/>
                          </a:solidFill>
                          <a:latin typeface="Calibri"/>
                        </a:rPr>
                        <a:t>7,013,120 district-day rows</a:t>
                      </a:r>
                    </a:p>
                  </a:txBody>
                  <a:tcPr marL="54864" marR="54864" marT="27432" marB="27432" anchor="ctr">
                    <a:solidFill>
                      <a:srgbClr val="FFFFFF"/>
                    </a:solidFill>
                  </a:tcPr>
                </a:tc>
                <a:tc>
                  <a:txBody>
                    <a:bodyPr wrap="square"/>
                    <a:lstStyle/>
                    <a:p>
                      <a:pPr algn="ctr"/>
                      <a:r>
                        <a:rPr sz="1200" b="0" i="0">
                          <a:solidFill>
                            <a:srgbClr val="1F1F1F"/>
                          </a:solidFill>
                          <a:latin typeface="Calibri"/>
                        </a:rPr>
                        <a:t>19,200 district-year rows, 7 indices</a:t>
                      </a:r>
                    </a:p>
                  </a:txBody>
                  <a:tcPr marL="54864" marR="54864" marT="27432" marB="27432" anchor="ctr">
                    <a:solidFill>
                      <a:srgbClr val="FFFFFF"/>
                    </a:solidFill>
                  </a:tcPr>
                </a:tc>
                <a:tc>
                  <a:txBody>
                    <a:bodyPr wrap="square"/>
                    <a:lstStyle/>
                    <a:p>
                      <a:pPr algn="ctr"/>
                      <a:r>
                        <a:rPr sz="1200" b="0" i="0">
                          <a:solidFill>
                            <a:srgbClr val="1F1F1F"/>
                          </a:solidFill>
                          <a:latin typeface="Calibri"/>
                        </a:rPr>
                        <a:t>306 s (30 years)</a:t>
                      </a:r>
                    </a:p>
                  </a:txBody>
                  <a:tcPr marL="54864" marR="54864" marT="27432" marB="27432" anchor="ctr">
                    <a:solidFill>
                      <a:srgbClr val="FFFFFF"/>
                    </a:solidFill>
                  </a:tcPr>
                </a:tc>
                <a:tc>
                  <a:txBody>
                    <a:bodyPr wrap="square"/>
                    <a:lstStyle/>
                    <a:p>
                      <a:pPr algn="ctr"/>
                      <a:r>
                        <a:rPr sz="1200" b="0" i="0">
                          <a:solidFill>
                            <a:srgbClr val="1F1F1F"/>
                          </a:solidFill>
                          <a:latin typeface="Calibri"/>
                        </a:rPr>
                        <a:t>Work splits by (district, year)</a:t>
                      </a:r>
                    </a:p>
                  </a:txBody>
                  <a:tcPr marL="54864" marR="54864" marT="27432" marB="27432" anchor="ctr">
                    <a:solidFill>
                      <a:srgbClr val="FFFFFF"/>
                    </a:solidFill>
                  </a:tcPr>
                </a:tc>
              </a:tr>
              <a:tr h="658368">
                <a:tc>
                  <a:txBody>
                    <a:bodyPr wrap="square"/>
                    <a:lstStyle/>
                    <a:p>
                      <a:pPr algn="l"/>
                      <a:r>
                        <a:rPr sz="1200" b="1" i="0">
                          <a:solidFill>
                            <a:srgbClr val="1F1F1F"/>
                          </a:solidFill>
                          <a:latin typeface="Calibri"/>
                        </a:rPr>
                        <a:t>MapReduce scalability</a:t>
                      </a:r>
                    </a:p>
                  </a:txBody>
                  <a:tcPr marL="54864" marR="54864" marT="27432" marB="27432" anchor="ctr">
                    <a:solidFill>
                      <a:srgbClr val="EEF2F8"/>
                    </a:solidFill>
                  </a:tcPr>
                </a:tc>
                <a:tc>
                  <a:txBody>
                    <a:bodyPr wrap="square"/>
                    <a:lstStyle/>
                    <a:p>
                      <a:pPr algn="ctr"/>
                      <a:r>
                        <a:rPr sz="1200" b="0" i="0">
                          <a:solidFill>
                            <a:srgbClr val="1F1F1F"/>
                          </a:solidFill>
                          <a:latin typeface="Calibri"/>
                        </a:rPr>
                        <a:t>1 / 10 / 30 years</a:t>
                      </a:r>
                    </a:p>
                  </a:txBody>
                  <a:tcPr marL="54864" marR="54864" marT="27432" marB="27432" anchor="ctr">
                    <a:solidFill>
                      <a:srgbClr val="EEF2F8"/>
                    </a:solidFill>
                  </a:tcPr>
                </a:tc>
                <a:tc>
                  <a:txBody>
                    <a:bodyPr wrap="square"/>
                    <a:lstStyle/>
                    <a:p>
                      <a:pPr algn="ctr"/>
                      <a:r>
                        <a:rPr sz="1200" b="0" i="0">
                          <a:solidFill>
                            <a:srgbClr val="1F1F1F"/>
                          </a:solidFill>
                          <a:latin typeface="Calibri"/>
                        </a:rPr>
                        <a:t>640 / 6,400 / 19,200 rows</a:t>
                      </a:r>
                    </a:p>
                  </a:txBody>
                  <a:tcPr marL="54864" marR="54864" marT="27432" marB="27432" anchor="ctr">
                    <a:solidFill>
                      <a:srgbClr val="EEF2F8"/>
                    </a:solidFill>
                  </a:tcPr>
                </a:tc>
                <a:tc>
                  <a:txBody>
                    <a:bodyPr wrap="square"/>
                    <a:lstStyle/>
                    <a:p>
                      <a:pPr algn="ctr"/>
                      <a:r>
                        <a:rPr sz="1200" b="0" i="0">
                          <a:solidFill>
                            <a:srgbClr val="1F1F1F"/>
                          </a:solidFill>
                          <a:latin typeface="Calibri"/>
                        </a:rPr>
                        <a:t>53 s / 132 s / 306 s</a:t>
                      </a:r>
                    </a:p>
                  </a:txBody>
                  <a:tcPr marL="54864" marR="54864" marT="27432" marB="27432" anchor="ctr">
                    <a:solidFill>
                      <a:srgbClr val="EEF2F8"/>
                    </a:solidFill>
                  </a:tcPr>
                </a:tc>
                <a:tc>
                  <a:txBody>
                    <a:bodyPr wrap="square"/>
                    <a:lstStyle/>
                    <a:p>
                      <a:pPr algn="ctr"/>
                      <a:r>
                        <a:rPr sz="1200" b="0" i="0">
                          <a:solidFill>
                            <a:srgbClr val="1F1F1F"/>
                          </a:solidFill>
                          <a:latin typeface="Calibri"/>
                        </a:rPr>
                        <a:t>Measures throughput, 2 repeats</a:t>
                      </a:r>
                    </a:p>
                  </a:txBody>
                  <a:tcPr marL="54864" marR="54864" marT="27432" marB="27432" anchor="ctr">
                    <a:solidFill>
                      <a:srgbClr val="EEF2F8"/>
                    </a:solidFill>
                  </a:tcPr>
                </a:tc>
              </a:tr>
              <a:tr h="658368">
                <a:tc>
                  <a:txBody>
                    <a:bodyPr wrap="square"/>
                    <a:lstStyle/>
                    <a:p>
                      <a:pPr algn="l"/>
                      <a:r>
                        <a:rPr sz="1200" b="1" i="0">
                          <a:solidFill>
                            <a:srgbClr val="1F1F1F"/>
                          </a:solidFill>
                          <a:latin typeface="Calibri"/>
                        </a:rPr>
                        <a:t>Hive baseline + join</a:t>
                      </a:r>
                    </a:p>
                  </a:txBody>
                  <a:tcPr marL="54864" marR="54864" marT="27432" marB="27432" anchor="ctr">
                    <a:solidFill>
                      <a:srgbClr val="FFFFFF"/>
                    </a:solidFill>
                  </a:tcPr>
                </a:tc>
                <a:tc>
                  <a:txBody>
                    <a:bodyPr wrap="square"/>
                    <a:lstStyle/>
                    <a:p>
                      <a:pPr algn="ctr"/>
                      <a:r>
                        <a:rPr sz="1200" b="0" i="0">
                          <a:solidFill>
                            <a:srgbClr val="1F1F1F"/>
                          </a:solidFill>
                          <a:latin typeface="Calibri"/>
                        </a:rPr>
                        <a:t>19,200 rows + dev table</a:t>
                      </a:r>
                    </a:p>
                  </a:txBody>
                  <a:tcPr marL="54864" marR="54864" marT="27432" marB="27432" anchor="ctr">
                    <a:solidFill>
                      <a:srgbClr val="FFFFFF"/>
                    </a:solidFill>
                  </a:tcPr>
                </a:tc>
                <a:tc>
                  <a:txBody>
                    <a:bodyPr wrap="square"/>
                    <a:lstStyle/>
                    <a:p>
                      <a:pPr algn="ctr"/>
                      <a:r>
                        <a:rPr sz="1200" b="0" i="0">
                          <a:solidFill>
                            <a:srgbClr val="1F1F1F"/>
                          </a:solidFill>
                          <a:latin typeface="Calibri"/>
                        </a:rPr>
                        <a:t>469-district table, 8 hazard vars</a:t>
                      </a:r>
                    </a:p>
                  </a:txBody>
                  <a:tcPr marL="54864" marR="54864" marT="27432" marB="27432" anchor="ctr">
                    <a:solidFill>
                      <a:srgbClr val="FFFFFF"/>
                    </a:solidFill>
                  </a:tcPr>
                </a:tc>
                <a:tc>
                  <a:txBody>
                    <a:bodyPr wrap="square"/>
                    <a:lstStyle/>
                    <a:p>
                      <a:pPr algn="ctr"/>
                      <a:r>
                        <a:rPr sz="1200" b="0" i="0">
                          <a:solidFill>
                            <a:srgbClr val="1F1F1F"/>
                          </a:solidFill>
                          <a:latin typeface="Calibri"/>
                        </a:rPr>
                        <a:t>identical to pandas (max diff 0.0)</a:t>
                      </a:r>
                    </a:p>
                  </a:txBody>
                  <a:tcPr marL="54864" marR="54864" marT="27432" marB="27432" anchor="ctr">
                    <a:solidFill>
                      <a:srgbClr val="FFFFFF"/>
                    </a:solidFill>
                  </a:tcPr>
                </a:tc>
                <a:tc>
                  <a:txBody>
                    <a:bodyPr wrap="square"/>
                    <a:lstStyle/>
                    <a:p>
                      <a:pPr algn="ctr"/>
                      <a:r>
                        <a:rPr sz="1200" b="0" i="0">
                          <a:solidFill>
                            <a:srgbClr val="1F1F1F"/>
                          </a:solidFill>
                          <a:latin typeface="Calibri"/>
                        </a:rPr>
                        <a:t>Averages + joins are SQL</a:t>
                      </a:r>
                    </a:p>
                  </a:txBody>
                  <a:tcPr marL="54864" marR="54864" marT="27432" marB="27432" anchor="ctr">
                    <a:solidFill>
                      <a:srgbClr val="FFFFFF"/>
                    </a:solidFill>
                  </a:tcPr>
                </a:tc>
              </a:tr>
              <a:tr h="658368">
                <a:tc>
                  <a:txBody>
                    <a:bodyPr wrap="square"/>
                    <a:lstStyle/>
                    <a:p>
                      <a:pPr algn="l"/>
                      <a:r>
                        <a:rPr sz="1200" b="1" i="0">
                          <a:solidFill>
                            <a:srgbClr val="1F1F1F"/>
                          </a:solidFill>
                          <a:latin typeface="Calibri"/>
                        </a:rPr>
                        <a:t>Spark k-means</a:t>
                      </a:r>
                    </a:p>
                  </a:txBody>
                  <a:tcPr marL="54864" marR="54864" marT="27432" marB="27432" anchor="ctr">
                    <a:solidFill>
                      <a:srgbClr val="EEF2F8"/>
                    </a:solidFill>
                  </a:tcPr>
                </a:tc>
                <a:tc>
                  <a:txBody>
                    <a:bodyPr wrap="square"/>
                    <a:lstStyle/>
                    <a:p>
                      <a:pPr algn="ctr"/>
                      <a:r>
                        <a:rPr sz="1200" b="0" i="0">
                          <a:solidFill>
                            <a:srgbClr val="1F1F1F"/>
                          </a:solidFill>
                          <a:latin typeface="Calibri"/>
                        </a:rPr>
                        <a:t>8 hazard vars</a:t>
                      </a:r>
                    </a:p>
                  </a:txBody>
                  <a:tcPr marL="54864" marR="54864" marT="27432" marB="27432" anchor="ctr">
                    <a:solidFill>
                      <a:srgbClr val="EEF2F8"/>
                    </a:solidFill>
                  </a:tcPr>
                </a:tc>
                <a:tc>
                  <a:txBody>
                    <a:bodyPr wrap="square"/>
                    <a:lstStyle/>
                    <a:p>
                      <a:pPr algn="ctr"/>
                      <a:r>
                        <a:rPr sz="1200" b="0" i="0">
                          <a:solidFill>
                            <a:srgbClr val="1F1F1F"/>
                          </a:solidFill>
                          <a:latin typeface="Calibri"/>
                        </a:rPr>
                        <a:t>climate regimes (k by silhouette)</a:t>
                      </a:r>
                    </a:p>
                  </a:txBody>
                  <a:tcPr marL="54864" marR="54864" marT="27432" marB="27432" anchor="ctr">
                    <a:solidFill>
                      <a:srgbClr val="EEF2F8"/>
                    </a:solidFill>
                  </a:tcPr>
                </a:tc>
                <a:tc>
                  <a:txBody>
                    <a:bodyPr wrap="square"/>
                    <a:lstStyle/>
                    <a:p>
                      <a:pPr algn="ctr"/>
                      <a:r>
                        <a:rPr sz="1200" b="0" i="0">
                          <a:solidFill>
                            <a:srgbClr val="1F1F1F"/>
                          </a:solidFill>
                          <a:latin typeface="Calibri"/>
                        </a:rPr>
                        <a:t>k = 2, silhouette 0.651</a:t>
                      </a:r>
                    </a:p>
                  </a:txBody>
                  <a:tcPr marL="54864" marR="54864" marT="27432" marB="27432" anchor="ctr">
                    <a:solidFill>
                      <a:srgbClr val="EEF2F8"/>
                    </a:solidFill>
                  </a:tcPr>
                </a:tc>
                <a:tc>
                  <a:txBody>
                    <a:bodyPr wrap="square"/>
                    <a:lstStyle/>
                    <a:p>
                      <a:pPr algn="ctr"/>
                      <a:r>
                        <a:rPr sz="1200" b="0" i="0">
                          <a:solidFill>
                            <a:srgbClr val="1F1F1F"/>
                          </a:solidFill>
                          <a:latin typeface="Calibri"/>
                        </a:rPr>
                        <a:t>In-memory iterative algorithm</a:t>
                      </a:r>
                    </a:p>
                  </a:txBody>
                  <a:tcPr marL="54864" marR="54864" marT="27432" marB="27432" anchor="ctr">
                    <a:solidFill>
                      <a:srgbClr val="EEF2F8"/>
                    </a:solidFill>
                  </a:tcPr>
                </a:tc>
              </a:tr>
              <a:tr h="658368">
                <a:tc>
                  <a:txBody>
                    <a:bodyPr wrap="square"/>
                    <a:lstStyle/>
                    <a:p>
                      <a:pPr algn="l"/>
                      <a:r>
                        <a:rPr sz="1200" b="1" i="0">
                          <a:solidFill>
                            <a:srgbClr val="1F1F1F"/>
                          </a:solidFill>
                          <a:latin typeface="Calibri"/>
                        </a:rPr>
                        <a:t>Spark MLlib</a:t>
                      </a:r>
                    </a:p>
                  </a:txBody>
                  <a:tcPr marL="54864" marR="54864" marT="27432" marB="27432" anchor="ctr">
                    <a:solidFill>
                      <a:srgbClr val="FFFFFF"/>
                    </a:solidFill>
                  </a:tcPr>
                </a:tc>
                <a:tc>
                  <a:txBody>
                    <a:bodyPr wrap="square"/>
                    <a:lstStyle/>
                    <a:p>
                      <a:pPr algn="ctr"/>
                      <a:r>
                        <a:rPr sz="1200" b="0" i="0">
                          <a:solidFill>
                            <a:srgbClr val="1F1F1F"/>
                          </a:solidFill>
                          <a:latin typeface="Calibri"/>
                        </a:rPr>
                        <a:t>469 districts × 13 features</a:t>
                      </a:r>
                    </a:p>
                  </a:txBody>
                  <a:tcPr marL="54864" marR="54864" marT="27432" marB="27432" anchor="ctr">
                    <a:solidFill>
                      <a:srgbClr val="FFFFFF"/>
                    </a:solidFill>
                  </a:tcPr>
                </a:tc>
                <a:tc>
                  <a:txBody>
                    <a:bodyPr wrap="square"/>
                    <a:lstStyle/>
                    <a:p>
                      <a:pPr algn="ctr"/>
                      <a:r>
                        <a:rPr sz="1200" b="0" i="0">
                          <a:solidFill>
                            <a:srgbClr val="1F1F1F"/>
                          </a:solidFill>
                          <a:latin typeface="Calibri"/>
                        </a:rPr>
                        <a:t>4 baseline models</a:t>
                      </a:r>
                    </a:p>
                  </a:txBody>
                  <a:tcPr marL="54864" marR="54864" marT="27432" marB="27432" anchor="ctr">
                    <a:solidFill>
                      <a:srgbClr val="FFFFFF"/>
                    </a:solidFill>
                  </a:tcPr>
                </a:tc>
                <a:tc>
                  <a:txBody>
                    <a:bodyPr wrap="square"/>
                    <a:lstStyle/>
                    <a:p>
                      <a:pPr algn="ctr"/>
                      <a:r>
                        <a:rPr sz="1200" b="0" i="0">
                          <a:solidFill>
                            <a:srgbClr val="1F1F1F"/>
                          </a:solidFill>
                          <a:latin typeface="Calibri"/>
                        </a:rPr>
                        <a:t>see Table 5</a:t>
                      </a:r>
                    </a:p>
                  </a:txBody>
                  <a:tcPr marL="54864" marR="54864" marT="27432" marB="27432" anchor="ctr">
                    <a:solidFill>
                      <a:srgbClr val="FFFFFF"/>
                    </a:solidFill>
                  </a:tcPr>
                </a:tc>
                <a:tc>
                  <a:txBody>
                    <a:bodyPr wrap="square"/>
                    <a:lstStyle/>
                    <a:p>
                      <a:pPr algn="ctr"/>
                      <a:r>
                        <a:rPr sz="1200" b="0" i="0">
                          <a:solidFill>
                            <a:srgbClr val="1F1F1F"/>
                          </a:solidFill>
                          <a:latin typeface="Calibri"/>
                        </a:rPr>
                        <a:t>Distributed standard models</a:t>
                      </a:r>
                    </a:p>
                  </a:txBody>
                  <a:tcPr marL="54864" marR="54864" marT="27432" marB="27432" anchor="ctr">
                    <a:solidFill>
                      <a:srgbClr val="FFFFFF"/>
                    </a:solidFill>
                  </a:tcPr>
                </a:tc>
              </a:tr>
            </a:tbl>
          </a:graphicData>
        </a:graphic>
      </p:graphicFrame>
      <p:sp>
        <p:nvSpPr>
          <p:cNvPr id="5" name="TextBox 4"/>
          <p:cNvSpPr txBox="1"/>
          <p:nvPr/>
        </p:nvSpPr>
        <p:spPr>
          <a:xfrm>
            <a:off x="365760" y="5349240"/>
            <a:ext cx="8412480" cy="822960"/>
          </a:xfrm>
          <a:prstGeom prst="rect">
            <a:avLst/>
          </a:prstGeom>
          <a:noFill/>
        </p:spPr>
        <p:txBody>
          <a:bodyPr wrap="square" anchor="t" lIns="45720" rIns="45720">
            <a:spAutoFit/>
          </a:bodyPr>
          <a:lstStyle/>
          <a:p>
            <a:pPr algn="l"/>
            <a:r>
              <a:rPr sz="1300" b="0" i="0">
                <a:solidFill>
                  <a:srgbClr val="595959"/>
                </a:solidFill>
                <a:latin typeface="Calibri"/>
              </a:rPr>
              <a:t>MapReduce and Hive values: Colab run 2026-10-11 (2 vCPU, 12.7 GB RAM). Single node: throughput rises with input size, but no multi-machine speed-up is claimed.</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Tanmay Singh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Preprocessing: Big Data Analysis Steps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80" cy="4828032"/>
        </p:xfrm>
        <a:graphic>
          <a:graphicData uri="http://schemas.openxmlformats.org/drawingml/2006/table">
            <a:tbl>
              <a:tblPr firstRow="1" bandRow="1">
                <a:tableStyleId>{5C22544A-7EE6-4342-B048-85BDC9FD1C3A}</a:tableStyleId>
              </a:tblPr>
              <a:tblGrid>
                <a:gridCol w="1737360"/>
                <a:gridCol w="2514600"/>
                <a:gridCol w="1234440"/>
                <a:gridCol w="2926080"/>
              </a:tblGrid>
              <a:tr h="603504">
                <a:tc>
                  <a:txBody>
                    <a:bodyPr wrap="square"/>
                    <a:lstStyle/>
                    <a:p>
                      <a:pPr algn="l"/>
                      <a:r>
                        <a:rPr sz="1200" b="1" i="0">
                          <a:solidFill>
                            <a:srgbClr val="FFFFFF"/>
                          </a:solidFill>
                          <a:latin typeface="Calibri"/>
                        </a:rPr>
                        <a:t>Step</a:t>
                      </a:r>
                    </a:p>
                  </a:txBody>
                  <a:tcPr marL="54864" marR="54864" marT="27432" marB="27432" anchor="ctr">
                    <a:solidFill>
                      <a:srgbClr val="1B3A6B"/>
                    </a:solidFill>
                  </a:tcPr>
                </a:tc>
                <a:tc>
                  <a:txBody>
                    <a:bodyPr wrap="square"/>
                    <a:lstStyle/>
                    <a:p>
                      <a:pPr algn="ctr"/>
                      <a:r>
                        <a:rPr sz="1200" b="1" i="0">
                          <a:solidFill>
                            <a:srgbClr val="FFFFFF"/>
                          </a:solidFill>
                          <a:latin typeface="Calibri"/>
                        </a:rPr>
                        <a:t>Operation</a:t>
                      </a:r>
                    </a:p>
                  </a:txBody>
                  <a:tcPr marL="54864" marR="54864" marT="27432" marB="27432" anchor="ctr">
                    <a:solidFill>
                      <a:srgbClr val="1B3A6B"/>
                    </a:solidFill>
                  </a:tcPr>
                </a:tc>
                <a:tc>
                  <a:txBody>
                    <a:bodyPr wrap="square"/>
                    <a:lstStyle/>
                    <a:p>
                      <a:pPr algn="ctr"/>
                      <a:r>
                        <a:rPr sz="1200" b="1" i="0">
                          <a:solidFill>
                            <a:srgbClr val="FFFFFF"/>
                          </a:solidFill>
                          <a:latin typeface="Calibri"/>
                        </a:rPr>
                        <a:t>Tool</a:t>
                      </a:r>
                    </a:p>
                  </a:txBody>
                  <a:tcPr marL="54864" marR="54864" marT="27432" marB="27432" anchor="ctr">
                    <a:solidFill>
                      <a:srgbClr val="1B3A6B"/>
                    </a:solidFill>
                  </a:tcPr>
                </a:tc>
                <a:tc>
                  <a:txBody>
                    <a:bodyPr wrap="square"/>
                    <a:lstStyle/>
                    <a:p>
                      <a:pPr algn="ctr"/>
                      <a:r>
                        <a:rPr sz="1200" b="1" i="0">
                          <a:solidFill>
                            <a:srgbClr val="FFFFFF"/>
                          </a:solidFill>
                          <a:latin typeface="Calibri"/>
                        </a:rPr>
                        <a:t>Result</a:t>
                      </a:r>
                    </a:p>
                  </a:txBody>
                  <a:tcPr marL="54864" marR="54864" marT="27432" marB="27432" anchor="ctr">
                    <a:solidFill>
                      <a:srgbClr val="1B3A6B"/>
                    </a:solidFill>
                  </a:tcPr>
                </a:tc>
              </a:tr>
              <a:tr h="603504">
                <a:tc>
                  <a:txBody>
                    <a:bodyPr wrap="square"/>
                    <a:lstStyle/>
                    <a:p>
                      <a:pPr algn="l"/>
                      <a:r>
                        <a:rPr sz="1200" b="1" i="0">
                          <a:solidFill>
                            <a:srgbClr val="1F1F1F"/>
                          </a:solidFill>
                          <a:latin typeface="Calibri"/>
                        </a:rPr>
                        <a:t>1 Census rates</a:t>
                      </a:r>
                    </a:p>
                  </a:txBody>
                  <a:tcPr marL="54864" marR="54864" marT="27432" marB="27432" anchor="ctr">
                    <a:solidFill>
                      <a:srgbClr val="FFFFFF"/>
                    </a:solidFill>
                  </a:tcPr>
                </a:tc>
                <a:tc>
                  <a:txBody>
                    <a:bodyPr wrap="square"/>
                    <a:lstStyle/>
                    <a:p>
                      <a:pPr algn="ctr"/>
                      <a:r>
                        <a:rPr sz="1200" b="0" i="0">
                          <a:solidFill>
                            <a:srgbClr val="1F1F1F"/>
                          </a:solidFill>
                          <a:latin typeface="Calibri"/>
                        </a:rPr>
                        <a:t>literacy, female literacy, agri share</a:t>
                      </a:r>
                    </a:p>
                  </a:txBody>
                  <a:tcPr marL="54864" marR="54864" marT="27432" marB="27432" anchor="ctr">
                    <a:solidFill>
                      <a:srgbClr val="FFFFFF"/>
                    </a:solidFill>
                  </a:tcPr>
                </a:tc>
                <a:tc>
                  <a:txBody>
                    <a:bodyPr wrap="square"/>
                    <a:lstStyle/>
                    <a:p>
                      <a:pPr algn="ctr"/>
                      <a:r>
                        <a:rPr sz="1200" b="0" i="0">
                          <a:solidFill>
                            <a:srgbClr val="1F1F1F"/>
                          </a:solidFill>
                          <a:latin typeface="Calibri"/>
                        </a:rPr>
                        <a:t>pandas</a:t>
                      </a:r>
                    </a:p>
                  </a:txBody>
                  <a:tcPr marL="54864" marR="54864" marT="27432" marB="27432" anchor="ctr">
                    <a:solidFill>
                      <a:srgbClr val="FFFFFF"/>
                    </a:solidFill>
                  </a:tcPr>
                </a:tc>
                <a:tc>
                  <a:txBody>
                    <a:bodyPr wrap="square"/>
                    <a:lstStyle/>
                    <a:p>
                      <a:pPr algn="ctr"/>
                      <a:r>
                        <a:rPr sz="1200" b="0" i="0">
                          <a:solidFill>
                            <a:srgbClr val="1F1F1F"/>
                          </a:solidFill>
                          <a:latin typeface="Calibri"/>
                        </a:rPr>
                        <a:t>640 districts; totals validated</a:t>
                      </a:r>
                    </a:p>
                  </a:txBody>
                  <a:tcPr marL="54864" marR="54864" marT="27432" marB="27432" anchor="ctr">
                    <a:solidFill>
                      <a:srgbClr val="FFFFFF"/>
                    </a:solidFill>
                  </a:tcPr>
                </a:tc>
              </a:tr>
              <a:tr h="603504">
                <a:tc>
                  <a:txBody>
                    <a:bodyPr wrap="square"/>
                    <a:lstStyle/>
                    <a:p>
                      <a:pPr algn="l"/>
                      <a:r>
                        <a:rPr sz="1200" b="1" i="0">
                          <a:solidFill>
                            <a:srgbClr val="1F1F1F"/>
                          </a:solidFill>
                          <a:latin typeface="Calibri"/>
                        </a:rPr>
                        <a:t>2 District matching</a:t>
                      </a:r>
                    </a:p>
                  </a:txBody>
                  <a:tcPr marL="54864" marR="54864" marT="27432" marB="27432" anchor="ctr">
                    <a:solidFill>
                      <a:srgbClr val="EEF2F8"/>
                    </a:solidFill>
                  </a:tcPr>
                </a:tc>
                <a:tc>
                  <a:txBody>
                    <a:bodyPr wrap="square"/>
                    <a:lstStyle/>
                    <a:p>
                      <a:pPr algn="ctr"/>
                      <a:r>
                        <a:rPr sz="1200" b="0" i="0">
                          <a:solidFill>
                            <a:srgbClr val="1F1F1F"/>
                          </a:solidFill>
                          <a:latin typeface="Calibri"/>
                        </a:rPr>
                        <a:t>NDAP ↔ Census by state + name</a:t>
                      </a:r>
                    </a:p>
                  </a:txBody>
                  <a:tcPr marL="54864" marR="54864" marT="27432" marB="27432" anchor="ctr">
                    <a:solidFill>
                      <a:srgbClr val="EEF2F8"/>
                    </a:solidFill>
                  </a:tcPr>
                </a:tc>
                <a:tc>
                  <a:txBody>
                    <a:bodyPr wrap="square"/>
                    <a:lstStyle/>
                    <a:p>
                      <a:pPr algn="ctr"/>
                      <a:r>
                        <a:rPr sz="1200" b="0" i="0">
                          <a:solidFill>
                            <a:srgbClr val="1F1F1F"/>
                          </a:solidFill>
                          <a:latin typeface="Calibri"/>
                        </a:rPr>
                        <a:t>Python</a:t>
                      </a:r>
                    </a:p>
                  </a:txBody>
                  <a:tcPr marL="54864" marR="54864" marT="27432" marB="27432" anchor="ctr">
                    <a:solidFill>
                      <a:srgbClr val="EEF2F8"/>
                    </a:solidFill>
                  </a:tcPr>
                </a:tc>
                <a:tc>
                  <a:txBody>
                    <a:bodyPr wrap="square"/>
                    <a:lstStyle/>
                    <a:p>
                      <a:pPr algn="ctr"/>
                      <a:r>
                        <a:rPr sz="1200" b="0" i="0">
                          <a:solidFill>
                            <a:srgbClr val="1F1F1F"/>
                          </a:solidFill>
                          <a:latin typeface="Calibri"/>
                        </a:rPr>
                        <a:t>602/699 matched; 2 wrong fuzzy matches blocked</a:t>
                      </a:r>
                    </a:p>
                  </a:txBody>
                  <a:tcPr marL="54864" marR="54864" marT="27432" marB="27432" anchor="ctr">
                    <a:solidFill>
                      <a:srgbClr val="EEF2F8"/>
                    </a:solidFill>
                  </a:tcPr>
                </a:tc>
              </a:tr>
              <a:tr h="603504">
                <a:tc>
                  <a:txBody>
                    <a:bodyPr wrap="square"/>
                    <a:lstStyle/>
                    <a:p>
                      <a:pPr algn="l"/>
                      <a:r>
                        <a:rPr sz="1200" b="1" i="0">
                          <a:solidFill>
                            <a:srgbClr val="1F1F1F"/>
                          </a:solidFill>
                          <a:latin typeface="Calibri"/>
                        </a:rPr>
                        <a:t>3 Variable selection</a:t>
                      </a:r>
                    </a:p>
                  </a:txBody>
                  <a:tcPr marL="54864" marR="54864" marT="27432" marB="27432" anchor="ctr">
                    <a:solidFill>
                      <a:srgbClr val="FFFFFF"/>
                    </a:solidFill>
                  </a:tcPr>
                </a:tc>
                <a:tc>
                  <a:txBody>
                    <a:bodyPr wrap="square"/>
                    <a:lstStyle/>
                    <a:p>
                      <a:pPr algn="ctr"/>
                      <a:r>
                        <a:rPr sz="1200" b="0" i="0">
                          <a:solidFill>
                            <a:srgbClr val="1F1F1F"/>
                          </a:solidFill>
                          <a:latin typeface="Calibri"/>
                        </a:rPr>
                        <a:t>NDAP sparsity analysis</a:t>
                      </a:r>
                    </a:p>
                  </a:txBody>
                  <a:tcPr marL="54864" marR="54864" marT="27432" marB="27432" anchor="ctr">
                    <a:solidFill>
                      <a:srgbClr val="FFFFFF"/>
                    </a:solidFill>
                  </a:tcPr>
                </a:tc>
                <a:tc>
                  <a:txBody>
                    <a:bodyPr wrap="square"/>
                    <a:lstStyle/>
                    <a:p>
                      <a:pPr algn="ctr"/>
                      <a:r>
                        <a:rPr sz="1200" b="0" i="0">
                          <a:solidFill>
                            <a:srgbClr val="1F1F1F"/>
                          </a:solidFill>
                          <a:latin typeface="Calibri"/>
                        </a:rPr>
                        <a:t>pandas</a:t>
                      </a:r>
                    </a:p>
                  </a:txBody>
                  <a:tcPr marL="54864" marR="54864" marT="27432" marB="27432" anchor="ctr">
                    <a:solidFill>
                      <a:srgbClr val="FFFFFF"/>
                    </a:solidFill>
                  </a:tcPr>
                </a:tc>
                <a:tc>
                  <a:txBody>
                    <a:bodyPr wrap="square"/>
                    <a:lstStyle/>
                    <a:p>
                      <a:pPr algn="ctr"/>
                      <a:r>
                        <a:rPr sz="1200" b="0" i="0">
                          <a:solidFill>
                            <a:srgbClr val="1F1F1F"/>
                          </a:solidFill>
                          <a:latin typeface="Calibri"/>
                        </a:rPr>
                        <a:t>64/79 columns &gt;50% empty → 5 dev vars, no imputation</a:t>
                      </a:r>
                    </a:p>
                  </a:txBody>
                  <a:tcPr marL="54864" marR="54864" marT="27432" marB="27432" anchor="ctr">
                    <a:solidFill>
                      <a:srgbClr val="FFFFFF"/>
                    </a:solidFill>
                  </a:tcPr>
                </a:tc>
              </a:tr>
              <a:tr h="603504">
                <a:tc>
                  <a:txBody>
                    <a:bodyPr wrap="square"/>
                    <a:lstStyle/>
                    <a:p>
                      <a:pPr algn="l"/>
                      <a:r>
                        <a:rPr sz="1200" b="1" i="0">
                          <a:solidFill>
                            <a:srgbClr val="1F1F1F"/>
                          </a:solidFill>
                          <a:latin typeface="Calibri"/>
                        </a:rPr>
                        <a:t>4 Grid weights</a:t>
                      </a:r>
                    </a:p>
                  </a:txBody>
                  <a:tcPr marL="54864" marR="54864" marT="27432" marB="27432" anchor="ctr">
                    <a:solidFill>
                      <a:srgbClr val="EEF2F8"/>
                    </a:solidFill>
                  </a:tcPr>
                </a:tc>
                <a:tc>
                  <a:txBody>
                    <a:bodyPr wrap="square"/>
                    <a:lstStyle/>
                    <a:p>
                      <a:pPr algn="ctr"/>
                      <a:r>
                        <a:rPr sz="1200" b="0" i="0">
                          <a:solidFill>
                            <a:srgbClr val="1F1F1F"/>
                          </a:solidFill>
                          <a:latin typeface="Calibri"/>
                        </a:rPr>
                        <a:t>cell overlap × cos(lat), normalised</a:t>
                      </a:r>
                    </a:p>
                  </a:txBody>
                  <a:tcPr marL="54864" marR="54864" marT="27432" marB="27432" anchor="ctr">
                    <a:solidFill>
                      <a:srgbClr val="EEF2F8"/>
                    </a:solidFill>
                  </a:tcPr>
                </a:tc>
                <a:tc>
                  <a:txBody>
                    <a:bodyPr wrap="square"/>
                    <a:lstStyle/>
                    <a:p>
                      <a:pPr algn="ctr"/>
                      <a:r>
                        <a:rPr sz="1200" b="0" i="0">
                          <a:solidFill>
                            <a:srgbClr val="1F1F1F"/>
                          </a:solidFill>
                          <a:latin typeface="Calibri"/>
                        </a:rPr>
                        <a:t>shapely, imdlib</a:t>
                      </a:r>
                    </a:p>
                  </a:txBody>
                  <a:tcPr marL="54864" marR="54864" marT="27432" marB="27432" anchor="ctr">
                    <a:solidFill>
                      <a:srgbClr val="EEF2F8"/>
                    </a:solidFill>
                  </a:tcPr>
                </a:tc>
                <a:tc>
                  <a:txBody>
                    <a:bodyPr wrap="square"/>
                    <a:lstStyle/>
                    <a:p>
                      <a:pPr algn="ctr"/>
                      <a:r>
                        <a:rPr sz="1200" b="0" i="0">
                          <a:solidFill>
                            <a:srgbClr val="1F1F1F"/>
                          </a:solidFill>
                          <a:latin typeface="Calibri"/>
                        </a:rPr>
                        <a:t>10,291 rain + 2,074 temp pairs, 640/640</a:t>
                      </a:r>
                    </a:p>
                  </a:txBody>
                  <a:tcPr marL="54864" marR="54864" marT="27432" marB="27432" anchor="ctr">
                    <a:solidFill>
                      <a:srgbClr val="EEF2F8"/>
                    </a:solidFill>
                  </a:tcPr>
                </a:tc>
              </a:tr>
              <a:tr h="603504">
                <a:tc>
                  <a:txBody>
                    <a:bodyPr wrap="square"/>
                    <a:lstStyle/>
                    <a:p>
                      <a:pPr algn="l"/>
                      <a:r>
                        <a:rPr sz="1200" b="1" i="0">
                          <a:solidFill>
                            <a:srgbClr val="1F1F1F"/>
                          </a:solidFill>
                          <a:latin typeface="Calibri"/>
                        </a:rPr>
                        <a:t>5 Grid → district-day</a:t>
                      </a:r>
                    </a:p>
                  </a:txBody>
                  <a:tcPr marL="54864" marR="54864" marT="27432" marB="27432" anchor="ctr">
                    <a:solidFill>
                      <a:srgbClr val="FFFFFF"/>
                    </a:solidFill>
                  </a:tcPr>
                </a:tc>
                <a:tc>
                  <a:txBody>
                    <a:bodyPr wrap="square"/>
                    <a:lstStyle/>
                    <a:p>
                      <a:pPr algn="ctr"/>
                      <a:r>
                        <a:rPr sz="1200" b="0" i="0">
                          <a:solidFill>
                            <a:srgbClr val="1F1F1F"/>
                          </a:solidFill>
                          <a:latin typeface="Calibri"/>
                        </a:rPr>
                        <a:t>weighted mean over non-NaN cells</a:t>
                      </a:r>
                    </a:p>
                  </a:txBody>
                  <a:tcPr marL="54864" marR="54864" marT="27432" marB="27432" anchor="ctr">
                    <a:solidFill>
                      <a:srgbClr val="FFFFFF"/>
                    </a:solidFill>
                  </a:tcPr>
                </a:tc>
                <a:tc>
                  <a:txBody>
                    <a:bodyPr wrap="square"/>
                    <a:lstStyle/>
                    <a:p>
                      <a:pPr algn="ctr"/>
                      <a:r>
                        <a:rPr sz="1200" b="0" i="0">
                          <a:solidFill>
                            <a:srgbClr val="1F1F1F"/>
                          </a:solidFill>
                          <a:latin typeface="Calibri"/>
                        </a:rPr>
                        <a:t>NumPy sparse</a:t>
                      </a:r>
                    </a:p>
                  </a:txBody>
                  <a:tcPr marL="54864" marR="54864" marT="27432" marB="27432" anchor="ctr">
                    <a:solidFill>
                      <a:srgbClr val="FFFFFF"/>
                    </a:solidFill>
                  </a:tcPr>
                </a:tc>
                <a:tc>
                  <a:txBody>
                    <a:bodyPr wrap="square"/>
                    <a:lstStyle/>
                    <a:p>
                      <a:pPr algn="ctr"/>
                      <a:r>
                        <a:rPr sz="1200" b="0" i="0">
                          <a:solidFill>
                            <a:srgbClr val="1F1F1F"/>
                          </a:solidFill>
                          <a:latin typeface="Calibri"/>
                        </a:rPr>
                        <a:t>7,013,120 rows</a:t>
                      </a:r>
                    </a:p>
                  </a:txBody>
                  <a:tcPr marL="54864" marR="54864" marT="27432" marB="27432" anchor="ctr">
                    <a:solidFill>
                      <a:srgbClr val="FFFFFF"/>
                    </a:solidFill>
                  </a:tcPr>
                </a:tc>
              </a:tr>
              <a:tr h="603504">
                <a:tc>
                  <a:txBody>
                    <a:bodyPr wrap="square"/>
                    <a:lstStyle/>
                    <a:p>
                      <a:pPr algn="l"/>
                      <a:r>
                        <a:rPr sz="1200" b="1" i="0">
                          <a:solidFill>
                            <a:srgbClr val="1F1F1F"/>
                          </a:solidFill>
                          <a:latin typeface="Calibri"/>
                        </a:rPr>
                        <a:t>6 Orientation check</a:t>
                      </a:r>
                    </a:p>
                  </a:txBody>
                  <a:tcPr marL="54864" marR="54864" marT="27432" marB="27432" anchor="ctr">
                    <a:solidFill>
                      <a:srgbClr val="EEF2F8"/>
                    </a:solidFill>
                  </a:tcPr>
                </a:tc>
                <a:tc>
                  <a:txBody>
                    <a:bodyPr wrap="square"/>
                    <a:lstStyle/>
                    <a:p>
                      <a:pPr algn="ctr"/>
                      <a:r>
                        <a:rPr sz="1200" b="0" i="0">
                          <a:solidFill>
                            <a:srgbClr val="1F1F1F"/>
                          </a:solidFill>
                          <a:latin typeface="Calibri"/>
                        </a:rPr>
                        <a:t>Chennai rain must peak Oct–Dec</a:t>
                      </a:r>
                    </a:p>
                  </a:txBody>
                  <a:tcPr marL="54864" marR="54864" marT="27432" marB="27432" anchor="ctr">
                    <a:solidFill>
                      <a:srgbClr val="EEF2F8"/>
                    </a:solidFill>
                  </a:tcPr>
                </a:tc>
                <a:tc>
                  <a:txBody>
                    <a:bodyPr wrap="square"/>
                    <a:lstStyle/>
                    <a:p>
                      <a:pPr algn="ctr"/>
                      <a:r>
                        <a:rPr sz="1200" b="0" i="0">
                          <a:solidFill>
                            <a:srgbClr val="1F1F1F"/>
                          </a:solidFill>
                          <a:latin typeface="Calibri"/>
                        </a:rPr>
                        <a:t>Python</a:t>
                      </a:r>
                    </a:p>
                  </a:txBody>
                  <a:tcPr marL="54864" marR="54864" marT="27432" marB="27432" anchor="ctr">
                    <a:solidFill>
                      <a:srgbClr val="EEF2F8"/>
                    </a:solidFill>
                  </a:tcPr>
                </a:tc>
                <a:tc>
                  <a:txBody>
                    <a:bodyPr wrap="square"/>
                    <a:lstStyle/>
                    <a:p>
                      <a:pPr algn="ctr"/>
                      <a:r>
                        <a:rPr sz="1200" b="0" i="0">
                          <a:solidFill>
                            <a:srgbClr val="1F1F1F"/>
                          </a:solidFill>
                          <a:latin typeface="Calibri"/>
                        </a:rPr>
                        <a:t>passed</a:t>
                      </a:r>
                    </a:p>
                  </a:txBody>
                  <a:tcPr marL="54864" marR="54864" marT="27432" marB="27432" anchor="ctr">
                    <a:solidFill>
                      <a:srgbClr val="EEF2F8"/>
                    </a:solidFill>
                  </a:tcPr>
                </a:tc>
              </a:tr>
              <a:tr h="603504">
                <a:tc>
                  <a:txBody>
                    <a:bodyPr wrap="square"/>
                    <a:lstStyle/>
                    <a:p>
                      <a:pPr algn="l"/>
                      <a:r>
                        <a:rPr sz="1200" b="1" i="0">
                          <a:solidFill>
                            <a:srgbClr val="1F1F1F"/>
                          </a:solidFill>
                          <a:latin typeface="Calibri"/>
                        </a:rPr>
                        <a:t>7 Standardisation</a:t>
                      </a:r>
                    </a:p>
                  </a:txBody>
                  <a:tcPr marL="54864" marR="54864" marT="27432" marB="27432" anchor="ctr">
                    <a:solidFill>
                      <a:srgbClr val="FFFFFF"/>
                    </a:solidFill>
                  </a:tcPr>
                </a:tc>
                <a:tc>
                  <a:txBody>
                    <a:bodyPr wrap="square"/>
                    <a:lstStyle/>
                    <a:p>
                      <a:pPr algn="ctr"/>
                      <a:r>
                        <a:rPr sz="1200" b="0" i="0">
                          <a:solidFill>
                            <a:srgbClr val="1F1F1F"/>
                          </a:solidFill>
                          <a:latin typeface="Calibri"/>
                        </a:rPr>
                        <a:t>z-scores on training folds only</a:t>
                      </a:r>
                    </a:p>
                  </a:txBody>
                  <a:tcPr marL="54864" marR="54864" marT="27432" marB="27432" anchor="ctr">
                    <a:solidFill>
                      <a:srgbClr val="FFFFFF"/>
                    </a:solidFill>
                  </a:tcPr>
                </a:tc>
                <a:tc>
                  <a:txBody>
                    <a:bodyPr wrap="square"/>
                    <a:lstStyle/>
                    <a:p>
                      <a:pPr algn="ctr"/>
                      <a:r>
                        <a:rPr sz="1200" b="0" i="0">
                          <a:solidFill>
                            <a:srgbClr val="1F1F1F"/>
                          </a:solidFill>
                          <a:latin typeface="Calibri"/>
                        </a:rPr>
                        <a:t>scikit-learn</a:t>
                      </a:r>
                    </a:p>
                  </a:txBody>
                  <a:tcPr marL="54864" marR="54864" marT="27432" marB="27432" anchor="ctr">
                    <a:solidFill>
                      <a:srgbClr val="FFFFFF"/>
                    </a:solidFill>
                  </a:tcPr>
                </a:tc>
                <a:tc>
                  <a:txBody>
                    <a:bodyPr wrap="square"/>
                    <a:lstStyle/>
                    <a:p>
                      <a:pPr algn="ctr"/>
                      <a:r>
                        <a:rPr sz="1200" b="0" i="0">
                          <a:solidFill>
                            <a:srgbClr val="1F1F1F"/>
                          </a:solidFill>
                          <a:latin typeface="Calibri"/>
                        </a:rPr>
                        <a:t>no leakage</a:t>
                      </a:r>
                    </a:p>
                  </a:txBody>
                  <a:tcPr marL="54864" marR="54864" marT="27432" marB="27432" anchor="ctr">
                    <a:solidFill>
                      <a:srgbClr val="FFFFFF"/>
                    </a:solidFill>
                  </a:tcPr>
                </a:tc>
              </a:tr>
            </a:tbl>
          </a:graphicData>
        </a:graphic>
      </p:graphicFrame>
      <p:sp>
        <p:nvSpPr>
          <p:cNvPr id="5" name="TextBox 4"/>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Results of Preprocessing</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TextBox 3"/>
          <p:cNvSpPr txBox="1"/>
          <p:nvPr/>
        </p:nvSpPr>
        <p:spPr>
          <a:xfrm>
            <a:off x="365760" y="1143000"/>
            <a:ext cx="4480560" cy="365760"/>
          </a:xfrm>
          <a:prstGeom prst="rect">
            <a:avLst/>
          </a:prstGeom>
          <a:noFill/>
        </p:spPr>
        <p:txBody>
          <a:bodyPr wrap="square" anchor="t" lIns="45720" rIns="45720">
            <a:spAutoFit/>
          </a:bodyPr>
          <a:lstStyle/>
          <a:p>
            <a:pPr algn="l"/>
            <a:r>
              <a:rPr sz="1500" b="1" i="0">
                <a:solidFill>
                  <a:srgbClr val="1B3A6B"/>
                </a:solidFill>
                <a:latin typeface="Calibri"/>
              </a:rPr>
              <a:t>Table 1: retention and validation</a:t>
            </a:r>
          </a:p>
        </p:txBody>
      </p:sp>
      <p:graphicFrame>
        <p:nvGraphicFramePr>
          <p:cNvPr id="5" name="Table 4"/>
          <p:cNvGraphicFramePr>
            <a:graphicFrameLocks noGrp="1"/>
          </p:cNvGraphicFramePr>
          <p:nvPr/>
        </p:nvGraphicFramePr>
        <p:xfrm>
          <a:off x="365760" y="1554480"/>
          <a:ext cx="4480560" cy="4297680"/>
        </p:xfrm>
        <a:graphic>
          <a:graphicData uri="http://schemas.openxmlformats.org/drawingml/2006/table">
            <a:tbl>
              <a:tblPr firstRow="1" bandRow="1">
                <a:tableStyleId>{5C22544A-7EE6-4342-B048-85BDC9FD1C3A}</a:tableStyleId>
              </a:tblPr>
              <a:tblGrid>
                <a:gridCol w="2377440"/>
                <a:gridCol w="2103120"/>
              </a:tblGrid>
              <a:tr h="429768">
                <a:tc>
                  <a:txBody>
                    <a:bodyPr wrap="square"/>
                    <a:lstStyle/>
                    <a:p>
                      <a:pPr algn="l"/>
                      <a:r>
                        <a:rPr sz="1200" b="1" i="0">
                          <a:solidFill>
                            <a:srgbClr val="FFFFFF"/>
                          </a:solidFill>
                          <a:latin typeface="Calibri"/>
                        </a:rPr>
                        <a:t>Stage / check</a:t>
                      </a:r>
                    </a:p>
                  </a:txBody>
                  <a:tcPr marL="54864" marR="54864" marT="27432" marB="27432" anchor="ctr">
                    <a:solidFill>
                      <a:srgbClr val="1B3A6B"/>
                    </a:solidFill>
                  </a:tcPr>
                </a:tc>
                <a:tc>
                  <a:txBody>
                    <a:bodyPr wrap="square"/>
                    <a:lstStyle/>
                    <a:p>
                      <a:pPr algn="ctr"/>
                      <a:r>
                        <a:rPr sz="1200" b="1" i="0">
                          <a:solidFill>
                            <a:srgbClr val="FFFFFF"/>
                          </a:solidFill>
                          <a:latin typeface="Calibri"/>
                        </a:rPr>
                        <a:t>Value</a:t>
                      </a:r>
                    </a:p>
                  </a:txBody>
                  <a:tcPr marL="54864" marR="54864" marT="27432" marB="27432" anchor="ctr">
                    <a:solidFill>
                      <a:srgbClr val="1B3A6B"/>
                    </a:solidFill>
                  </a:tcPr>
                </a:tc>
              </a:tr>
              <a:tr h="429768">
                <a:tc>
                  <a:txBody>
                    <a:bodyPr wrap="square"/>
                    <a:lstStyle/>
                    <a:p>
                      <a:pPr algn="l"/>
                      <a:r>
                        <a:rPr sz="1200" b="1" i="0">
                          <a:solidFill>
                            <a:srgbClr val="1F1F1F"/>
                          </a:solidFill>
                          <a:latin typeface="Calibri"/>
                        </a:rPr>
                        <a:t>Census 2011 districts</a:t>
                      </a:r>
                    </a:p>
                  </a:txBody>
                  <a:tcPr marL="54864" marR="54864" marT="27432" marB="27432" anchor="ctr">
                    <a:solidFill>
                      <a:srgbClr val="FFFFFF"/>
                    </a:solidFill>
                  </a:tcPr>
                </a:tc>
                <a:tc>
                  <a:txBody>
                    <a:bodyPr wrap="square"/>
                    <a:lstStyle/>
                    <a:p>
                      <a:pPr algn="ctr"/>
                      <a:r>
                        <a:rPr sz="1200" b="0" i="0">
                          <a:solidFill>
                            <a:srgbClr val="1F1F1F"/>
                          </a:solidFill>
                          <a:latin typeface="Calibri"/>
                        </a:rPr>
                        <a:t>640</a:t>
                      </a:r>
                    </a:p>
                  </a:txBody>
                  <a:tcPr marL="54864" marR="54864" marT="27432" marB="27432" anchor="ctr">
                    <a:solidFill>
                      <a:srgbClr val="FFFFFF"/>
                    </a:solidFill>
                  </a:tcPr>
                </a:tc>
              </a:tr>
              <a:tr h="429768">
                <a:tc>
                  <a:txBody>
                    <a:bodyPr wrap="square"/>
                    <a:lstStyle/>
                    <a:p>
                      <a:pPr algn="l"/>
                      <a:r>
                        <a:rPr sz="1200" b="1" i="0">
                          <a:solidFill>
                            <a:srgbClr val="1F1F1F"/>
                          </a:solidFill>
                          <a:latin typeface="Calibri"/>
                        </a:rPr>
                        <a:t>Matched to NDAP</a:t>
                      </a:r>
                    </a:p>
                  </a:txBody>
                  <a:tcPr marL="54864" marR="54864" marT="27432" marB="27432" anchor="ctr">
                    <a:solidFill>
                      <a:srgbClr val="EEF2F8"/>
                    </a:solidFill>
                  </a:tcPr>
                </a:tc>
                <a:tc>
                  <a:txBody>
                    <a:bodyPr wrap="square"/>
                    <a:lstStyle/>
                    <a:p>
                      <a:pPr algn="ctr"/>
                      <a:r>
                        <a:rPr sz="1200" b="0" i="0">
                          <a:solidFill>
                            <a:srgbClr val="1F1F1F"/>
                          </a:solidFill>
                          <a:latin typeface="Calibri"/>
                        </a:rPr>
                        <a:t>602</a:t>
                      </a:r>
                    </a:p>
                  </a:txBody>
                  <a:tcPr marL="54864" marR="54864" marT="27432" marB="27432" anchor="ctr">
                    <a:solidFill>
                      <a:srgbClr val="EEF2F8"/>
                    </a:solidFill>
                  </a:tcPr>
                </a:tc>
              </a:tr>
              <a:tr h="429768">
                <a:tc>
                  <a:txBody>
                    <a:bodyPr wrap="square"/>
                    <a:lstStyle/>
                    <a:p>
                      <a:pPr algn="l"/>
                      <a:r>
                        <a:rPr sz="1200" b="1" i="0">
                          <a:solidFill>
                            <a:srgbClr val="1F1F1F"/>
                          </a:solidFill>
                          <a:latin typeface="Calibri"/>
                        </a:rPr>
                        <a:t>With vulnerability index</a:t>
                      </a:r>
                    </a:p>
                  </a:txBody>
                  <a:tcPr marL="54864" marR="54864" marT="27432" marB="27432" anchor="ctr">
                    <a:solidFill>
                      <a:srgbClr val="FFFFFF"/>
                    </a:solidFill>
                  </a:tcPr>
                </a:tc>
                <a:tc>
                  <a:txBody>
                    <a:bodyPr wrap="square"/>
                    <a:lstStyle/>
                    <a:p>
                      <a:pPr algn="ctr"/>
                      <a:r>
                        <a:rPr sz="1200" b="0" i="0">
                          <a:solidFill>
                            <a:srgbClr val="1F1F1F"/>
                          </a:solidFill>
                          <a:latin typeface="Calibri"/>
                        </a:rPr>
                        <a:t>589</a:t>
                      </a:r>
                    </a:p>
                  </a:txBody>
                  <a:tcPr marL="54864" marR="54864" marT="27432" marB="27432" anchor="ctr">
                    <a:solidFill>
                      <a:srgbClr val="FFFFFF"/>
                    </a:solidFill>
                  </a:tcPr>
                </a:tc>
              </a:tr>
              <a:tr h="429768">
                <a:tc>
                  <a:txBody>
                    <a:bodyPr wrap="square"/>
                    <a:lstStyle/>
                    <a:p>
                      <a:pPr algn="l"/>
                      <a:r>
                        <a:rPr sz="1200" b="1" i="0">
                          <a:solidFill>
                            <a:srgbClr val="1F1F1F"/>
                          </a:solidFill>
                          <a:latin typeface="Calibri"/>
                        </a:rPr>
                        <a:t>Complete (all 13 features)</a:t>
                      </a:r>
                    </a:p>
                  </a:txBody>
                  <a:tcPr marL="54864" marR="54864" marT="27432" marB="27432" anchor="ctr">
                    <a:solidFill>
                      <a:srgbClr val="FFF4CC"/>
                    </a:solidFill>
                  </a:tcPr>
                </a:tc>
                <a:tc>
                  <a:txBody>
                    <a:bodyPr wrap="square"/>
                    <a:lstStyle/>
                    <a:p>
                      <a:pPr algn="ctr"/>
                      <a:r>
                        <a:rPr sz="1200" b="1" i="0">
                          <a:solidFill>
                            <a:srgbClr val="1F1F1F"/>
                          </a:solidFill>
                          <a:latin typeface="Calibri"/>
                        </a:rPr>
                        <a:t>469 (21 states)</a:t>
                      </a:r>
                    </a:p>
                  </a:txBody>
                  <a:tcPr marL="54864" marR="54864" marT="27432" marB="27432" anchor="ctr">
                    <a:solidFill>
                      <a:srgbClr val="FFF4CC"/>
                    </a:solidFill>
                  </a:tcPr>
                </a:tc>
              </a:tr>
              <a:tr h="429768">
                <a:tc>
                  <a:txBody>
                    <a:bodyPr wrap="square"/>
                    <a:lstStyle/>
                    <a:p>
                      <a:pPr algn="l"/>
                      <a:r>
                        <a:rPr sz="1200" b="1" i="0">
                          <a:solidFill>
                            <a:srgbClr val="1F1F1F"/>
                          </a:solidFill>
                          <a:latin typeface="Calibri"/>
                        </a:rPr>
                        <a:t>Census population</a:t>
                      </a:r>
                    </a:p>
                  </a:txBody>
                  <a:tcPr marL="54864" marR="54864" marT="27432" marB="27432" anchor="ctr">
                    <a:solidFill>
                      <a:srgbClr val="FFFFFF"/>
                    </a:solidFill>
                  </a:tcPr>
                </a:tc>
                <a:tc>
                  <a:txBody>
                    <a:bodyPr wrap="square"/>
                    <a:lstStyle/>
                    <a:p>
                      <a:pPr algn="ctr"/>
                      <a:r>
                        <a:rPr sz="1200" b="0" i="0">
                          <a:solidFill>
                            <a:srgbClr val="1F1F1F"/>
                          </a:solidFill>
                          <a:latin typeface="Calibri"/>
                        </a:rPr>
                        <a:t>1,210,854,977</a:t>
                      </a:r>
                    </a:p>
                  </a:txBody>
                  <a:tcPr marL="54864" marR="54864" marT="27432" marB="27432" anchor="ctr">
                    <a:solidFill>
                      <a:srgbClr val="FFFFFF"/>
                    </a:solidFill>
                  </a:tcPr>
                </a:tc>
              </a:tr>
              <a:tr h="429768">
                <a:tc>
                  <a:txBody>
                    <a:bodyPr wrap="square"/>
                    <a:lstStyle/>
                    <a:p>
                      <a:pPr algn="l"/>
                      <a:r>
                        <a:rPr sz="1200" b="1" i="0">
                          <a:solidFill>
                            <a:srgbClr val="1F1F1F"/>
                          </a:solidFill>
                          <a:latin typeface="Calibri"/>
                        </a:rPr>
                        <a:t>National literacy</a:t>
                      </a:r>
                    </a:p>
                  </a:txBody>
                  <a:tcPr marL="54864" marR="54864" marT="27432" marB="27432" anchor="ctr">
                    <a:solidFill>
                      <a:srgbClr val="EEF2F8"/>
                    </a:solidFill>
                  </a:tcPr>
                </a:tc>
                <a:tc>
                  <a:txBody>
                    <a:bodyPr wrap="square"/>
                    <a:lstStyle/>
                    <a:p>
                      <a:pPr algn="ctr"/>
                      <a:r>
                        <a:rPr sz="1200" b="0" i="0">
                          <a:solidFill>
                            <a:srgbClr val="1F1F1F"/>
                          </a:solidFill>
                          <a:latin typeface="Calibri"/>
                        </a:rPr>
                        <a:t>72.98%</a:t>
                      </a:r>
                    </a:p>
                  </a:txBody>
                  <a:tcPr marL="54864" marR="54864" marT="27432" marB="27432" anchor="ctr">
                    <a:solidFill>
                      <a:srgbClr val="EEF2F8"/>
                    </a:solidFill>
                  </a:tcPr>
                </a:tc>
              </a:tr>
              <a:tr h="429768">
                <a:tc>
                  <a:txBody>
                    <a:bodyPr wrap="square"/>
                    <a:lstStyle/>
                    <a:p>
                      <a:pPr algn="l"/>
                      <a:r>
                        <a:rPr sz="1200" b="1" i="0">
                          <a:solidFill>
                            <a:srgbClr val="1F1F1F"/>
                          </a:solidFill>
                          <a:latin typeface="Calibri"/>
                        </a:rPr>
                        <a:t>Class balance High / Low</a:t>
                      </a:r>
                    </a:p>
                  </a:txBody>
                  <a:tcPr marL="54864" marR="54864" marT="27432" marB="27432" anchor="ctr">
                    <a:solidFill>
                      <a:srgbClr val="FFFFFF"/>
                    </a:solidFill>
                  </a:tcPr>
                </a:tc>
                <a:tc>
                  <a:txBody>
                    <a:bodyPr wrap="square"/>
                    <a:lstStyle/>
                    <a:p>
                      <a:pPr algn="ctr"/>
                      <a:r>
                        <a:rPr sz="1200" b="0" i="0">
                          <a:solidFill>
                            <a:srgbClr val="1F1F1F"/>
                          </a:solidFill>
                          <a:latin typeface="Calibri"/>
                        </a:rPr>
                        <a:t>237 / 232</a:t>
                      </a:r>
                    </a:p>
                  </a:txBody>
                  <a:tcPr marL="54864" marR="54864" marT="27432" marB="27432" anchor="ctr">
                    <a:solidFill>
                      <a:srgbClr val="FFFFFF"/>
                    </a:solidFill>
                  </a:tcPr>
                </a:tc>
              </a:tr>
              <a:tr h="429768">
                <a:tc>
                  <a:txBody>
                    <a:bodyPr wrap="square"/>
                    <a:lstStyle/>
                    <a:p>
                      <a:pPr algn="l"/>
                      <a:r>
                        <a:rPr sz="1200" b="1" i="0">
                          <a:solidFill>
                            <a:srgbClr val="1F1F1F"/>
                          </a:solidFill>
                          <a:latin typeface="Calibri"/>
                        </a:rPr>
                        <a:t>NDAP columns &gt;50% empty</a:t>
                      </a:r>
                    </a:p>
                  </a:txBody>
                  <a:tcPr marL="54864" marR="54864" marT="27432" marB="27432" anchor="ctr">
                    <a:solidFill>
                      <a:srgbClr val="EEF2F8"/>
                    </a:solidFill>
                  </a:tcPr>
                </a:tc>
                <a:tc>
                  <a:txBody>
                    <a:bodyPr wrap="square"/>
                    <a:lstStyle/>
                    <a:p>
                      <a:pPr algn="ctr"/>
                      <a:r>
                        <a:rPr sz="1200" b="0" i="0">
                          <a:solidFill>
                            <a:srgbClr val="1F1F1F"/>
                          </a:solidFill>
                          <a:latin typeface="Calibri"/>
                        </a:rPr>
                        <a:t>64 of 79</a:t>
                      </a:r>
                    </a:p>
                  </a:txBody>
                  <a:tcPr marL="54864" marR="54864" marT="27432" marB="27432" anchor="ctr">
                    <a:solidFill>
                      <a:srgbClr val="EEF2F8"/>
                    </a:solidFill>
                  </a:tcPr>
                </a:tc>
              </a:tr>
              <a:tr h="429768">
                <a:tc>
                  <a:txBody>
                    <a:bodyPr wrap="square"/>
                    <a:lstStyle/>
                    <a:p>
                      <a:pPr algn="l"/>
                      <a:r>
                        <a:rPr sz="1200" b="1" i="0">
                          <a:solidFill>
                            <a:srgbClr val="1F1F1F"/>
                          </a:solidFill>
                          <a:latin typeface="Calibri"/>
                        </a:rPr>
                        <a:t>Sample skew</a:t>
                      </a:r>
                    </a:p>
                  </a:txBody>
                  <a:tcPr marL="54864" marR="54864" marT="27432" marB="27432" anchor="ctr">
                    <a:solidFill>
                      <a:srgbClr val="FFFFFF"/>
                    </a:solidFill>
                  </a:tcPr>
                </a:tc>
                <a:tc>
                  <a:txBody>
                    <a:bodyPr wrap="square"/>
                    <a:lstStyle/>
                    <a:p>
                      <a:pPr algn="ctr"/>
                      <a:r>
                        <a:rPr sz="1200" b="0" i="0">
                          <a:solidFill>
                            <a:srgbClr val="1F1F1F"/>
                          </a:solidFill>
                          <a:latin typeface="Calibri"/>
                        </a:rPr>
                        <a:t>UP 70, MP 49, Bihar 38, Rajasthan 33</a:t>
                      </a:r>
                    </a:p>
                  </a:txBody>
                  <a:tcPr marL="54864" marR="54864" marT="27432" marB="27432" anchor="ctr">
                    <a:solidFill>
                      <a:srgbClr val="FFFFFF"/>
                    </a:solidFill>
                  </a:tcPr>
                </a:tc>
              </a:tr>
            </a:tbl>
          </a:graphicData>
        </a:graphic>
      </p:graphicFrame>
      <p:sp>
        <p:nvSpPr>
          <p:cNvPr id="6" name="TextBox 5"/>
          <p:cNvSpPr txBox="1"/>
          <p:nvPr/>
        </p:nvSpPr>
        <p:spPr>
          <a:xfrm>
            <a:off x="5074920" y="1143000"/>
            <a:ext cx="3703320" cy="365760"/>
          </a:xfrm>
          <a:prstGeom prst="rect">
            <a:avLst/>
          </a:prstGeom>
          <a:noFill/>
        </p:spPr>
        <p:txBody>
          <a:bodyPr wrap="square" anchor="t" lIns="45720" rIns="45720">
            <a:spAutoFit/>
          </a:bodyPr>
          <a:lstStyle/>
          <a:p>
            <a:pPr algn="l"/>
            <a:r>
              <a:rPr sz="1500" b="1" i="0">
                <a:solidFill>
                  <a:srgbClr val="1B3A6B"/>
                </a:solidFill>
                <a:latin typeface="Calibri"/>
              </a:rPr>
              <a:t>Feature signal (single-feature ROC-AUC)</a:t>
            </a:r>
          </a:p>
        </p:txBody>
      </p:sp>
      <p:graphicFrame>
        <p:nvGraphicFramePr>
          <p:cNvPr id="7" name="Table 6"/>
          <p:cNvGraphicFramePr>
            <a:graphicFrameLocks noGrp="1"/>
          </p:cNvGraphicFramePr>
          <p:nvPr/>
        </p:nvGraphicFramePr>
        <p:xfrm>
          <a:off x="5074920" y="1554480"/>
          <a:ext cx="3703319" cy="4608576"/>
        </p:xfrm>
        <a:graphic>
          <a:graphicData uri="http://schemas.openxmlformats.org/drawingml/2006/table">
            <a:tbl>
              <a:tblPr firstRow="1" bandRow="1">
                <a:tableStyleId>{5C22544A-7EE6-4342-B048-85BDC9FD1C3A}</a:tableStyleId>
              </a:tblPr>
              <a:tblGrid>
                <a:gridCol w="2753750"/>
                <a:gridCol w="949569"/>
              </a:tblGrid>
              <a:tr h="329184">
                <a:tc>
                  <a:txBody>
                    <a:bodyPr wrap="square"/>
                    <a:lstStyle/>
                    <a:p>
                      <a:pPr algn="l"/>
                      <a:r>
                        <a:rPr sz="1100" b="1" i="0">
                          <a:solidFill>
                            <a:srgbClr val="FFFFFF"/>
                          </a:solidFill>
                          <a:latin typeface="Calibri"/>
                        </a:rPr>
                        <a:t>Feature</a:t>
                      </a:r>
                    </a:p>
                  </a:txBody>
                  <a:tcPr marL="54864" marR="54864" marT="27432" marB="27432" anchor="ctr">
                    <a:solidFill>
                      <a:srgbClr val="1B3A6B"/>
                    </a:solidFill>
                  </a:tcPr>
                </a:tc>
                <a:tc>
                  <a:txBody>
                    <a:bodyPr wrap="square"/>
                    <a:lstStyle/>
                    <a:p>
                      <a:pPr algn="ctr"/>
                      <a:r>
                        <a:rPr sz="1100" b="1" i="0">
                          <a:solidFill>
                            <a:srgbClr val="FFFFFF"/>
                          </a:solidFill>
                          <a:latin typeface="Calibri"/>
                        </a:rPr>
                        <a:t>AUC</a:t>
                      </a:r>
                    </a:p>
                  </a:txBody>
                  <a:tcPr marL="54864" marR="54864" marT="27432" marB="27432" anchor="ctr">
                    <a:solidFill>
                      <a:srgbClr val="1B3A6B"/>
                    </a:solidFill>
                  </a:tcPr>
                </a:tc>
              </a:tr>
              <a:tr h="329184">
                <a:tc>
                  <a:txBody>
                    <a:bodyPr wrap="square"/>
                    <a:lstStyle/>
                    <a:p>
                      <a:pPr algn="l"/>
                      <a:r>
                        <a:rPr sz="1100" b="0" i="0">
                          <a:solidFill>
                            <a:srgbClr val="1F1F1F"/>
                          </a:solidFill>
                          <a:latin typeface="Calibri"/>
                        </a:rPr>
                        <a:t>agri worker share</a:t>
                      </a:r>
                    </a:p>
                  </a:txBody>
                  <a:tcPr marL="54864" marR="54864" marT="27432" marB="27432" anchor="ctr">
                    <a:solidFill>
                      <a:srgbClr val="FFFFFF"/>
                    </a:solidFill>
                  </a:tcPr>
                </a:tc>
                <a:tc>
                  <a:txBody>
                    <a:bodyPr wrap="square"/>
                    <a:lstStyle/>
                    <a:p>
                      <a:pPr algn="ctr"/>
                      <a:r>
                        <a:rPr sz="1100" b="0" i="0">
                          <a:solidFill>
                            <a:srgbClr val="1F1F1F"/>
                          </a:solidFill>
                          <a:latin typeface="Calibri"/>
                        </a:rPr>
                        <a:t>0.674</a:t>
                      </a:r>
                    </a:p>
                  </a:txBody>
                  <a:tcPr marL="54864" marR="54864" marT="27432" marB="27432" anchor="ctr">
                    <a:solidFill>
                      <a:srgbClr val="FFFFFF"/>
                    </a:solidFill>
                  </a:tcPr>
                </a:tc>
              </a:tr>
              <a:tr h="329184">
                <a:tc>
                  <a:txBody>
                    <a:bodyPr wrap="square"/>
                    <a:lstStyle/>
                    <a:p>
                      <a:pPr algn="l"/>
                      <a:r>
                        <a:rPr sz="1100" b="0" i="0">
                          <a:solidFill>
                            <a:srgbClr val="1F1F1F"/>
                          </a:solidFill>
                          <a:latin typeface="Calibri"/>
                        </a:rPr>
                        <a:t>female literacy rate</a:t>
                      </a:r>
                    </a:p>
                  </a:txBody>
                  <a:tcPr marL="54864" marR="54864" marT="27432" marB="27432" anchor="ctr">
                    <a:solidFill>
                      <a:srgbClr val="EEF2F8"/>
                    </a:solidFill>
                  </a:tcPr>
                </a:tc>
                <a:tc>
                  <a:txBody>
                    <a:bodyPr wrap="square"/>
                    <a:lstStyle/>
                    <a:p>
                      <a:pPr algn="ctr"/>
                      <a:r>
                        <a:rPr sz="1100" b="0" i="0">
                          <a:solidFill>
                            <a:srgbClr val="1F1F1F"/>
                          </a:solidFill>
                          <a:latin typeface="Calibri"/>
                        </a:rPr>
                        <a:t>0.661</a:t>
                      </a:r>
                    </a:p>
                  </a:txBody>
                  <a:tcPr marL="54864" marR="54864" marT="27432" marB="27432" anchor="ctr">
                    <a:solidFill>
                      <a:srgbClr val="EEF2F8"/>
                    </a:solidFill>
                  </a:tcPr>
                </a:tc>
              </a:tr>
              <a:tr h="329184">
                <a:tc>
                  <a:txBody>
                    <a:bodyPr wrap="square"/>
                    <a:lstStyle/>
                    <a:p>
                      <a:pPr algn="l"/>
                      <a:r>
                        <a:rPr sz="1100" b="0" i="0">
                          <a:solidFill>
                            <a:srgbClr val="1F1F1F"/>
                          </a:solidFill>
                          <a:latin typeface="Calibri"/>
                        </a:rPr>
                        <a:t>literacy rate</a:t>
                      </a:r>
                    </a:p>
                  </a:txBody>
                  <a:tcPr marL="54864" marR="54864" marT="27432" marB="27432" anchor="ctr">
                    <a:solidFill>
                      <a:srgbClr val="FFFFFF"/>
                    </a:solidFill>
                  </a:tcPr>
                </a:tc>
                <a:tc>
                  <a:txBody>
                    <a:bodyPr wrap="square"/>
                    <a:lstStyle/>
                    <a:p>
                      <a:pPr algn="ctr"/>
                      <a:r>
                        <a:rPr sz="1100" b="0" i="0">
                          <a:solidFill>
                            <a:srgbClr val="1F1F1F"/>
                          </a:solidFill>
                          <a:latin typeface="Calibri"/>
                        </a:rPr>
                        <a:t>0.660</a:t>
                      </a:r>
                    </a:p>
                  </a:txBody>
                  <a:tcPr marL="54864" marR="54864" marT="27432" marB="27432" anchor="ctr">
                    <a:solidFill>
                      <a:srgbClr val="FFFFFF"/>
                    </a:solidFill>
                  </a:tcPr>
                </a:tc>
              </a:tr>
              <a:tr h="329184">
                <a:tc>
                  <a:txBody>
                    <a:bodyPr wrap="square"/>
                    <a:lstStyle/>
                    <a:p>
                      <a:pPr algn="l"/>
                      <a:r>
                        <a:rPr sz="1100" b="0" i="0">
                          <a:solidFill>
                            <a:srgbClr val="1F1F1F"/>
                          </a:solidFill>
                          <a:latin typeface="Calibri"/>
                        </a:rPr>
                        <a:t>tropical nights</a:t>
                      </a:r>
                    </a:p>
                  </a:txBody>
                  <a:tcPr marL="54864" marR="54864" marT="27432" marB="27432" anchor="ctr">
                    <a:solidFill>
                      <a:srgbClr val="EEF2F8"/>
                    </a:solidFill>
                  </a:tcPr>
                </a:tc>
                <a:tc>
                  <a:txBody>
                    <a:bodyPr wrap="square"/>
                    <a:lstStyle/>
                    <a:p>
                      <a:pPr algn="ctr"/>
                      <a:r>
                        <a:rPr sz="1100" b="0" i="0">
                          <a:solidFill>
                            <a:srgbClr val="1F1F1F"/>
                          </a:solidFill>
                          <a:latin typeface="Calibri"/>
                        </a:rPr>
                        <a:t>0.631</a:t>
                      </a:r>
                    </a:p>
                  </a:txBody>
                  <a:tcPr marL="54864" marR="54864" marT="27432" marB="27432" anchor="ctr">
                    <a:solidFill>
                      <a:srgbClr val="EEF2F8"/>
                    </a:solidFill>
                  </a:tcPr>
                </a:tc>
              </a:tr>
              <a:tr h="329184">
                <a:tc>
                  <a:txBody>
                    <a:bodyPr wrap="square"/>
                    <a:lstStyle/>
                    <a:p>
                      <a:pPr algn="l"/>
                      <a:r>
                        <a:rPr sz="1100" b="0" i="0">
                          <a:solidFill>
                            <a:srgbClr val="1F1F1F"/>
                          </a:solidFill>
                          <a:latin typeface="Calibri"/>
                        </a:rPr>
                        <a:t>rx5day mm</a:t>
                      </a:r>
                    </a:p>
                  </a:txBody>
                  <a:tcPr marL="54864" marR="54864" marT="27432" marB="27432" anchor="ctr">
                    <a:solidFill>
                      <a:srgbClr val="FFFFFF"/>
                    </a:solidFill>
                  </a:tcPr>
                </a:tc>
                <a:tc>
                  <a:txBody>
                    <a:bodyPr wrap="square"/>
                    <a:lstStyle/>
                    <a:p>
                      <a:pPr algn="ctr"/>
                      <a:r>
                        <a:rPr sz="1100" b="0" i="0">
                          <a:solidFill>
                            <a:srgbClr val="1F1F1F"/>
                          </a:solidFill>
                          <a:latin typeface="Calibri"/>
                        </a:rPr>
                        <a:t>0.591</a:t>
                      </a:r>
                    </a:p>
                  </a:txBody>
                  <a:tcPr marL="54864" marR="54864" marT="27432" marB="27432" anchor="ctr">
                    <a:solidFill>
                      <a:srgbClr val="FFFFFF"/>
                    </a:solidFill>
                  </a:tcPr>
                </a:tc>
              </a:tr>
              <a:tr h="329184">
                <a:tc>
                  <a:txBody>
                    <a:bodyPr wrap="square"/>
                    <a:lstStyle/>
                    <a:p>
                      <a:pPr algn="l"/>
                      <a:r>
                        <a:rPr sz="1100" b="0" i="0">
                          <a:solidFill>
                            <a:srgbClr val="1F1F1F"/>
                          </a:solidFill>
                          <a:latin typeface="Calibri"/>
                        </a:rPr>
                        <a:t>annual rain mm</a:t>
                      </a:r>
                    </a:p>
                  </a:txBody>
                  <a:tcPr marL="54864" marR="54864" marT="27432" marB="27432" anchor="ctr">
                    <a:solidFill>
                      <a:srgbClr val="EEF2F8"/>
                    </a:solidFill>
                  </a:tcPr>
                </a:tc>
                <a:tc>
                  <a:txBody>
                    <a:bodyPr wrap="square"/>
                    <a:lstStyle/>
                    <a:p>
                      <a:pPr algn="ctr"/>
                      <a:r>
                        <a:rPr sz="1100" b="0" i="0">
                          <a:solidFill>
                            <a:srgbClr val="1F1F1F"/>
                          </a:solidFill>
                          <a:latin typeface="Calibri"/>
                        </a:rPr>
                        <a:t>0.583</a:t>
                      </a:r>
                    </a:p>
                  </a:txBody>
                  <a:tcPr marL="54864" marR="54864" marT="27432" marB="27432" anchor="ctr">
                    <a:solidFill>
                      <a:srgbClr val="EEF2F8"/>
                    </a:solidFill>
                  </a:tcPr>
                </a:tc>
              </a:tr>
              <a:tr h="329184">
                <a:tc>
                  <a:txBody>
                    <a:bodyPr wrap="square"/>
                    <a:lstStyle/>
                    <a:p>
                      <a:pPr algn="l"/>
                      <a:r>
                        <a:rPr sz="1100" b="0" i="0">
                          <a:solidFill>
                            <a:srgbClr val="1F1F1F"/>
                          </a:solidFill>
                          <a:latin typeface="Calibri"/>
                        </a:rPr>
                        <a:t>heavy rain days</a:t>
                      </a:r>
                    </a:p>
                  </a:txBody>
                  <a:tcPr marL="54864" marR="54864" marT="27432" marB="27432" anchor="ctr">
                    <a:solidFill>
                      <a:srgbClr val="FFFFFF"/>
                    </a:solidFill>
                  </a:tcPr>
                </a:tc>
                <a:tc>
                  <a:txBody>
                    <a:bodyPr wrap="square"/>
                    <a:lstStyle/>
                    <a:p>
                      <a:pPr algn="ctr"/>
                      <a:r>
                        <a:rPr sz="1100" b="0" i="0">
                          <a:solidFill>
                            <a:srgbClr val="1F1F1F"/>
                          </a:solidFill>
                          <a:latin typeface="Calibri"/>
                        </a:rPr>
                        <a:t>0.575</a:t>
                      </a:r>
                    </a:p>
                  </a:txBody>
                  <a:tcPr marL="54864" marR="54864" marT="27432" marB="27432" anchor="ctr">
                    <a:solidFill>
                      <a:srgbClr val="FFFFFF"/>
                    </a:solidFill>
                  </a:tcPr>
                </a:tc>
              </a:tr>
              <a:tr h="329184">
                <a:tc>
                  <a:txBody>
                    <a:bodyPr wrap="square"/>
                    <a:lstStyle/>
                    <a:p>
                      <a:pPr algn="l"/>
                      <a:r>
                        <a:rPr sz="1100" b="0" i="0">
                          <a:solidFill>
                            <a:srgbClr val="1F1F1F"/>
                          </a:solidFill>
                          <a:latin typeface="Calibri"/>
                        </a:rPr>
                        <a:t>yield variability</a:t>
                      </a:r>
                    </a:p>
                  </a:txBody>
                  <a:tcPr marL="54864" marR="54864" marT="27432" marB="27432" anchor="ctr">
                    <a:solidFill>
                      <a:srgbClr val="EEF2F8"/>
                    </a:solidFill>
                  </a:tcPr>
                </a:tc>
                <a:tc>
                  <a:txBody>
                    <a:bodyPr wrap="square"/>
                    <a:lstStyle/>
                    <a:p>
                      <a:pPr algn="ctr"/>
                      <a:r>
                        <a:rPr sz="1100" b="0" i="0">
                          <a:solidFill>
                            <a:srgbClr val="1F1F1F"/>
                          </a:solidFill>
                          <a:latin typeface="Calibri"/>
                        </a:rPr>
                        <a:t>0.549</a:t>
                      </a:r>
                    </a:p>
                  </a:txBody>
                  <a:tcPr marL="54864" marR="54864" marT="27432" marB="27432" anchor="ctr">
                    <a:solidFill>
                      <a:srgbClr val="EEF2F8"/>
                    </a:solidFill>
                  </a:tcPr>
                </a:tc>
              </a:tr>
              <a:tr h="329184">
                <a:tc>
                  <a:txBody>
                    <a:bodyPr wrap="square"/>
                    <a:lstStyle/>
                    <a:p>
                      <a:pPr algn="l"/>
                      <a:r>
                        <a:rPr sz="1100" b="0" i="0">
                          <a:solidFill>
                            <a:srgbClr val="1F1F1F"/>
                          </a:solidFill>
                          <a:latin typeface="Calibri"/>
                        </a:rPr>
                        <a:t>mgnrega days</a:t>
                      </a:r>
                    </a:p>
                  </a:txBody>
                  <a:tcPr marL="54864" marR="54864" marT="27432" marB="27432" anchor="ctr">
                    <a:solidFill>
                      <a:srgbClr val="FFFFFF"/>
                    </a:solidFill>
                  </a:tcPr>
                </a:tc>
                <a:tc>
                  <a:txBody>
                    <a:bodyPr wrap="square"/>
                    <a:lstStyle/>
                    <a:p>
                      <a:pPr algn="ctr"/>
                      <a:r>
                        <a:rPr sz="1100" b="0" i="0">
                          <a:solidFill>
                            <a:srgbClr val="1F1F1F"/>
                          </a:solidFill>
                          <a:latin typeface="Calibri"/>
                        </a:rPr>
                        <a:t>0.540</a:t>
                      </a:r>
                    </a:p>
                  </a:txBody>
                  <a:tcPr marL="54864" marR="54864" marT="27432" marB="27432" anchor="ctr">
                    <a:solidFill>
                      <a:srgbClr val="FFFFFF"/>
                    </a:solidFill>
                  </a:tcPr>
                </a:tc>
              </a:tr>
              <a:tr h="329184">
                <a:tc>
                  <a:txBody>
                    <a:bodyPr wrap="square"/>
                    <a:lstStyle/>
                    <a:p>
                      <a:pPr algn="l"/>
                      <a:r>
                        <a:rPr sz="1100" b="0" i="0">
                          <a:solidFill>
                            <a:srgbClr val="1F1F1F"/>
                          </a:solidFill>
                          <a:latin typeface="Calibri"/>
                        </a:rPr>
                        <a:t>rain variability</a:t>
                      </a:r>
                    </a:p>
                  </a:txBody>
                  <a:tcPr marL="54864" marR="54864" marT="27432" marB="27432" anchor="ctr">
                    <a:solidFill>
                      <a:srgbClr val="EEF2F8"/>
                    </a:solidFill>
                  </a:tcPr>
                </a:tc>
                <a:tc>
                  <a:txBody>
                    <a:bodyPr wrap="square"/>
                    <a:lstStyle/>
                    <a:p>
                      <a:pPr algn="ctr"/>
                      <a:r>
                        <a:rPr sz="1100" b="0" i="0">
                          <a:solidFill>
                            <a:srgbClr val="1F1F1F"/>
                          </a:solidFill>
                          <a:latin typeface="Calibri"/>
                        </a:rPr>
                        <a:t>0.539</a:t>
                      </a:r>
                    </a:p>
                  </a:txBody>
                  <a:tcPr marL="54864" marR="54864" marT="27432" marB="27432" anchor="ctr">
                    <a:solidFill>
                      <a:srgbClr val="EEF2F8"/>
                    </a:solidFill>
                  </a:tcPr>
                </a:tc>
              </a:tr>
              <a:tr h="329184">
                <a:tc>
                  <a:txBody>
                    <a:bodyPr wrap="square"/>
                    <a:lstStyle/>
                    <a:p>
                      <a:pPr algn="l"/>
                      <a:r>
                        <a:rPr sz="1100" b="0" i="0">
                          <a:solidFill>
                            <a:srgbClr val="1F1F1F"/>
                          </a:solidFill>
                          <a:latin typeface="Calibri"/>
                        </a:rPr>
                        <a:t>hot days</a:t>
                      </a:r>
                    </a:p>
                  </a:txBody>
                  <a:tcPr marL="54864" marR="54864" marT="27432" marB="27432" anchor="ctr">
                    <a:solidFill>
                      <a:srgbClr val="FFFFFF"/>
                    </a:solidFill>
                  </a:tcPr>
                </a:tc>
                <a:tc>
                  <a:txBody>
                    <a:bodyPr wrap="square"/>
                    <a:lstStyle/>
                    <a:p>
                      <a:pPr algn="ctr"/>
                      <a:r>
                        <a:rPr sz="1100" b="0" i="0">
                          <a:solidFill>
                            <a:srgbClr val="1F1F1F"/>
                          </a:solidFill>
                          <a:latin typeface="Calibri"/>
                        </a:rPr>
                        <a:t>0.524</a:t>
                      </a:r>
                    </a:p>
                  </a:txBody>
                  <a:tcPr marL="54864" marR="54864" marT="27432" marB="27432" anchor="ctr">
                    <a:solidFill>
                      <a:srgbClr val="FFFFFF"/>
                    </a:solidFill>
                  </a:tcPr>
                </a:tc>
              </a:tr>
              <a:tr h="329184">
                <a:tc>
                  <a:txBody>
                    <a:bodyPr wrap="square"/>
                    <a:lstStyle/>
                    <a:p>
                      <a:pPr algn="l"/>
                      <a:r>
                        <a:rPr sz="1100" b="0" i="0">
                          <a:solidFill>
                            <a:srgbClr val="1F1F1F"/>
                          </a:solidFill>
                          <a:latin typeface="Calibri"/>
                        </a:rPr>
                        <a:t>mean tmax</a:t>
                      </a:r>
                    </a:p>
                  </a:txBody>
                  <a:tcPr marL="54864" marR="54864" marT="27432" marB="27432" anchor="ctr">
                    <a:solidFill>
                      <a:srgbClr val="EEF2F8"/>
                    </a:solidFill>
                  </a:tcPr>
                </a:tc>
                <a:tc>
                  <a:txBody>
                    <a:bodyPr wrap="square"/>
                    <a:lstStyle/>
                    <a:p>
                      <a:pPr algn="ctr"/>
                      <a:r>
                        <a:rPr sz="1100" b="0" i="0">
                          <a:solidFill>
                            <a:srgbClr val="1F1F1F"/>
                          </a:solidFill>
                          <a:latin typeface="Calibri"/>
                        </a:rPr>
                        <a:t>0.522</a:t>
                      </a:r>
                    </a:p>
                  </a:txBody>
                  <a:tcPr marL="54864" marR="54864" marT="27432" marB="27432" anchor="ctr">
                    <a:solidFill>
                      <a:srgbClr val="EEF2F8"/>
                    </a:solidFill>
                  </a:tcPr>
                </a:tc>
              </a:tr>
              <a:tr h="329184">
                <a:tc>
                  <a:txBody>
                    <a:bodyPr wrap="square"/>
                    <a:lstStyle/>
                    <a:p>
                      <a:pPr algn="l"/>
                      <a:r>
                        <a:rPr sz="1100" b="0" i="0">
                          <a:solidFill>
                            <a:srgbClr val="1F1F1F"/>
                          </a:solidFill>
                          <a:latin typeface="Calibri"/>
                        </a:rPr>
                        <a:t>max dry spell</a:t>
                      </a:r>
                    </a:p>
                  </a:txBody>
                  <a:tcPr marL="54864" marR="54864" marT="27432" marB="27432" anchor="ctr">
                    <a:solidFill>
                      <a:srgbClr val="FFFFFF"/>
                    </a:solidFill>
                  </a:tcPr>
                </a:tc>
                <a:tc>
                  <a:txBody>
                    <a:bodyPr wrap="square"/>
                    <a:lstStyle/>
                    <a:p>
                      <a:pPr algn="ctr"/>
                      <a:r>
                        <a:rPr sz="1100" b="0" i="0">
                          <a:solidFill>
                            <a:srgbClr val="1F1F1F"/>
                          </a:solidFill>
                          <a:latin typeface="Calibri"/>
                        </a:rPr>
                        <a:t>0.512</a:t>
                      </a:r>
                    </a:p>
                  </a:txBody>
                  <a:tcPr marL="54864" marR="54864" marT="27432" marB="27432" anchor="ctr">
                    <a:solidFill>
                      <a:srgbClr val="FFFFFF"/>
                    </a:solidFill>
                  </a:tcPr>
                </a:tc>
              </a:tr>
            </a:tbl>
          </a:graphicData>
        </a:graphic>
      </p:graphicFrame>
      <p:sp>
        <p:nvSpPr>
          <p:cNvPr id="8" name="TextBox 7"/>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400" b="1" i="0">
                <a:solidFill>
                  <a:srgbClr val="1B3A6B"/>
                </a:solidFill>
                <a:latin typeface="Times New Roman"/>
              </a:rPr>
              <a:t>Preprocessing Error Metrics: Before vs After</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43000"/>
          <a:ext cx="8412480" cy="4727448"/>
        </p:xfrm>
        <a:graphic>
          <a:graphicData uri="http://schemas.openxmlformats.org/drawingml/2006/table">
            <a:tbl>
              <a:tblPr firstRow="1" bandRow="1">
                <a:tableStyleId>{5C22544A-7EE6-4342-B048-85BDC9FD1C3A}</a:tableStyleId>
              </a:tblPr>
              <a:tblGrid>
                <a:gridCol w="1965960"/>
                <a:gridCol w="2331720"/>
                <a:gridCol w="2286000"/>
                <a:gridCol w="1828800"/>
              </a:tblGrid>
              <a:tr h="429768">
                <a:tc>
                  <a:txBody>
                    <a:bodyPr wrap="square"/>
                    <a:lstStyle/>
                    <a:p>
                      <a:pPr algn="l"/>
                      <a:r>
                        <a:rPr sz="1100" b="1" i="0">
                          <a:solidFill>
                            <a:srgbClr val="FFFFFF"/>
                          </a:solidFill>
                          <a:latin typeface="Calibri"/>
                        </a:rPr>
                        <a:t>Check</a:t>
                      </a:r>
                    </a:p>
                  </a:txBody>
                  <a:tcPr marL="54864" marR="54864" marT="27432" marB="27432" anchor="ctr">
                    <a:solidFill>
                      <a:srgbClr val="1B3A6B"/>
                    </a:solidFill>
                  </a:tcPr>
                </a:tc>
                <a:tc>
                  <a:txBody>
                    <a:bodyPr wrap="square"/>
                    <a:lstStyle/>
                    <a:p>
                      <a:pPr algn="ctr"/>
                      <a:r>
                        <a:rPr sz="1100" b="1" i="0">
                          <a:solidFill>
                            <a:srgbClr val="FFFFFF"/>
                          </a:solidFill>
                          <a:latin typeface="Calibri"/>
                        </a:rPr>
                        <a:t>Before / reference</a:t>
                      </a:r>
                    </a:p>
                  </a:txBody>
                  <a:tcPr marL="54864" marR="54864" marT="27432" marB="27432" anchor="ctr">
                    <a:solidFill>
                      <a:srgbClr val="1B3A6B"/>
                    </a:solidFill>
                  </a:tcPr>
                </a:tc>
                <a:tc>
                  <a:txBody>
                    <a:bodyPr wrap="square"/>
                    <a:lstStyle/>
                    <a:p>
                      <a:pPr algn="ctr"/>
                      <a:r>
                        <a:rPr sz="1100" b="1" i="0">
                          <a:solidFill>
                            <a:srgbClr val="FFFFFF"/>
                          </a:solidFill>
                          <a:latin typeface="Calibri"/>
                        </a:rPr>
                        <a:t>After / measured</a:t>
                      </a:r>
                    </a:p>
                  </a:txBody>
                  <a:tcPr marL="54864" marR="54864" marT="27432" marB="27432" anchor="ctr">
                    <a:solidFill>
                      <a:srgbClr val="1B3A6B"/>
                    </a:solidFill>
                  </a:tcPr>
                </a:tc>
                <a:tc>
                  <a:txBody>
                    <a:bodyPr wrap="square"/>
                    <a:lstStyle/>
                    <a:p>
                      <a:pPr algn="ctr"/>
                      <a:r>
                        <a:rPr sz="1100" b="1" i="0">
                          <a:solidFill>
                            <a:srgbClr val="FFFFFF"/>
                          </a:solidFill>
                          <a:latin typeface="Calibri"/>
                        </a:rPr>
                        <a:t>Error</a:t>
                      </a:r>
                    </a:p>
                  </a:txBody>
                  <a:tcPr marL="54864" marR="54864" marT="27432" marB="27432" anchor="ctr">
                    <a:solidFill>
                      <a:srgbClr val="1B3A6B"/>
                    </a:solidFill>
                  </a:tcPr>
                </a:tc>
              </a:tr>
              <a:tr h="429768">
                <a:tc>
                  <a:txBody>
                    <a:bodyPr wrap="square"/>
                    <a:lstStyle/>
                    <a:p>
                      <a:pPr algn="l"/>
                      <a:r>
                        <a:rPr sz="1100" b="1" i="0">
                          <a:solidFill>
                            <a:srgbClr val="1F1F1F"/>
                          </a:solidFill>
                          <a:latin typeface="Calibri"/>
                        </a:rPr>
                        <a:t>Census population</a:t>
                      </a:r>
                    </a:p>
                  </a:txBody>
                  <a:tcPr marL="54864" marR="54864" marT="27432" marB="27432" anchor="ctr">
                    <a:solidFill>
                      <a:srgbClr val="FFFFFF"/>
                    </a:solidFill>
                  </a:tcPr>
                </a:tc>
                <a:tc>
                  <a:txBody>
                    <a:bodyPr wrap="square"/>
                    <a:lstStyle/>
                    <a:p>
                      <a:pPr algn="ctr"/>
                      <a:r>
                        <a:rPr sz="1100" b="0" i="0">
                          <a:solidFill>
                            <a:srgbClr val="1F1F1F"/>
                          </a:solidFill>
                          <a:latin typeface="Calibri"/>
                        </a:rPr>
                        <a:t>official 1,210,854,977</a:t>
                      </a:r>
                    </a:p>
                  </a:txBody>
                  <a:tcPr marL="54864" marR="54864" marT="27432" marB="27432" anchor="ctr">
                    <a:solidFill>
                      <a:srgbClr val="FFFFFF"/>
                    </a:solidFill>
                  </a:tcPr>
                </a:tc>
                <a:tc>
                  <a:txBody>
                    <a:bodyPr wrap="square"/>
                    <a:lstStyle/>
                    <a:p>
                      <a:pPr algn="ctr"/>
                      <a:r>
                        <a:rPr sz="1100" b="0" i="0">
                          <a:solidFill>
                            <a:srgbClr val="1F1F1F"/>
                          </a:solidFill>
                          <a:latin typeface="Calibri"/>
                        </a:rPr>
                        <a:t>1,210,854,977</a:t>
                      </a:r>
                    </a:p>
                  </a:txBody>
                  <a:tcPr marL="54864" marR="54864" marT="27432" marB="27432" anchor="ctr">
                    <a:solidFill>
                      <a:srgbClr val="FFFFFF"/>
                    </a:solidFill>
                  </a:tcPr>
                </a:tc>
                <a:tc>
                  <a:txBody>
                    <a:bodyPr wrap="square"/>
                    <a:lstStyle/>
                    <a:p>
                      <a:pPr algn="ctr"/>
                      <a:r>
                        <a:rPr sz="1100" b="0" i="0">
                          <a:solidFill>
                            <a:srgbClr val="1F1F1F"/>
                          </a:solidFill>
                          <a:latin typeface="Calibri"/>
                        </a:rPr>
                        <a:t>0 (0.000%)</a:t>
                      </a:r>
                    </a:p>
                  </a:txBody>
                  <a:tcPr marL="54864" marR="54864" marT="27432" marB="27432" anchor="ctr">
                    <a:solidFill>
                      <a:srgbClr val="FFFFFF"/>
                    </a:solidFill>
                  </a:tcPr>
                </a:tc>
              </a:tr>
              <a:tr h="429768">
                <a:tc>
                  <a:txBody>
                    <a:bodyPr wrap="square"/>
                    <a:lstStyle/>
                    <a:p>
                      <a:pPr algn="l"/>
                      <a:r>
                        <a:rPr sz="1100" b="1" i="0">
                          <a:solidFill>
                            <a:srgbClr val="1F1F1F"/>
                          </a:solidFill>
                          <a:latin typeface="Calibri"/>
                        </a:rPr>
                        <a:t>National literacy</a:t>
                      </a:r>
                    </a:p>
                  </a:txBody>
                  <a:tcPr marL="54864" marR="54864" marT="27432" marB="27432" anchor="ctr">
                    <a:solidFill>
                      <a:srgbClr val="EEF2F8"/>
                    </a:solidFill>
                  </a:tcPr>
                </a:tc>
                <a:tc>
                  <a:txBody>
                    <a:bodyPr wrap="square"/>
                    <a:lstStyle/>
                    <a:p>
                      <a:pPr algn="ctr"/>
                      <a:r>
                        <a:rPr sz="1100" b="0" i="0">
                          <a:solidFill>
                            <a:srgbClr val="1F1F1F"/>
                          </a:solidFill>
                          <a:latin typeface="Calibri"/>
                        </a:rPr>
                        <a:t>official 72.98%</a:t>
                      </a:r>
                    </a:p>
                  </a:txBody>
                  <a:tcPr marL="54864" marR="54864" marT="27432" marB="27432" anchor="ctr">
                    <a:solidFill>
                      <a:srgbClr val="EEF2F8"/>
                    </a:solidFill>
                  </a:tcPr>
                </a:tc>
                <a:tc>
                  <a:txBody>
                    <a:bodyPr wrap="square"/>
                    <a:lstStyle/>
                    <a:p>
                      <a:pPr algn="ctr"/>
                      <a:r>
                        <a:rPr sz="1100" b="0" i="0">
                          <a:solidFill>
                            <a:srgbClr val="1F1F1F"/>
                          </a:solidFill>
                          <a:latin typeface="Calibri"/>
                        </a:rPr>
                        <a:t>72.9819%</a:t>
                      </a:r>
                    </a:p>
                  </a:txBody>
                  <a:tcPr marL="54864" marR="54864" marT="27432" marB="27432" anchor="ctr">
                    <a:solidFill>
                      <a:srgbClr val="EEF2F8"/>
                    </a:solidFill>
                  </a:tcPr>
                </a:tc>
                <a:tc>
                  <a:txBody>
                    <a:bodyPr wrap="square"/>
                    <a:lstStyle/>
                    <a:p>
                      <a:pPr algn="ctr"/>
                      <a:r>
                        <a:rPr sz="1100" b="0" i="0">
                          <a:solidFill>
                            <a:srgbClr val="1F1F1F"/>
                          </a:solidFill>
                          <a:latin typeface="Calibri"/>
                        </a:rPr>
                        <a:t>0.0019 pp</a:t>
                      </a:r>
                    </a:p>
                  </a:txBody>
                  <a:tcPr marL="54864" marR="54864" marT="27432" marB="27432" anchor="ctr">
                    <a:solidFill>
                      <a:srgbClr val="EEF2F8"/>
                    </a:solidFill>
                  </a:tcPr>
                </a:tc>
              </a:tr>
              <a:tr h="429768">
                <a:tc>
                  <a:txBody>
                    <a:bodyPr wrap="square"/>
                    <a:lstStyle/>
                    <a:p>
                      <a:pPr algn="l"/>
                      <a:r>
                        <a:rPr sz="1100" b="1" i="0">
                          <a:solidFill>
                            <a:srgbClr val="1F1F1F"/>
                          </a:solidFill>
                          <a:latin typeface="Calibri"/>
                        </a:rPr>
                        <a:t>NDAP missing cells</a:t>
                      </a:r>
                    </a:p>
                  </a:txBody>
                  <a:tcPr marL="54864" marR="54864" marT="27432" marB="27432" anchor="ctr">
                    <a:solidFill>
                      <a:srgbClr val="FFFFFF"/>
                    </a:solidFill>
                  </a:tcPr>
                </a:tc>
                <a:tc>
                  <a:txBody>
                    <a:bodyPr wrap="square"/>
                    <a:lstStyle/>
                    <a:p>
                      <a:pPr algn="ctr"/>
                      <a:r>
                        <a:rPr sz="1100" b="0" i="0">
                          <a:solidFill>
                            <a:srgbClr val="1F1F1F"/>
                          </a:solidFill>
                          <a:latin typeface="Calibri"/>
                        </a:rPr>
                        <a:t>75.0% of all cells</a:t>
                      </a:r>
                    </a:p>
                  </a:txBody>
                  <a:tcPr marL="54864" marR="54864" marT="27432" marB="27432" anchor="ctr">
                    <a:solidFill>
                      <a:srgbClr val="FFFFFF"/>
                    </a:solidFill>
                  </a:tcPr>
                </a:tc>
                <a:tc>
                  <a:txBody>
                    <a:bodyPr wrap="square"/>
                    <a:lstStyle/>
                    <a:p>
                      <a:pPr algn="ctr"/>
                      <a:r>
                        <a:rPr sz="1100" b="0" i="0">
                          <a:solidFill>
                            <a:srgbClr val="1F1F1F"/>
                          </a:solidFill>
                          <a:latin typeface="Calibri"/>
                        </a:rPr>
                        <a:t>0 missing in 13 features</a:t>
                      </a:r>
                    </a:p>
                  </a:txBody>
                  <a:tcPr marL="54864" marR="54864" marT="27432" marB="27432" anchor="ctr">
                    <a:solidFill>
                      <a:srgbClr val="FFFFFF"/>
                    </a:solidFill>
                  </a:tcPr>
                </a:tc>
                <a:tc>
                  <a:txBody>
                    <a:bodyPr wrap="square"/>
                    <a:lstStyle/>
                    <a:p>
                      <a:pPr algn="ctr"/>
                      <a:r>
                        <a:rPr sz="1100" b="0" i="0">
                          <a:solidFill>
                            <a:srgbClr val="1F1F1F"/>
                          </a:solidFill>
                          <a:latin typeface="Calibri"/>
                        </a:rPr>
                        <a:t>no imputation</a:t>
                      </a:r>
                    </a:p>
                  </a:txBody>
                  <a:tcPr marL="54864" marR="54864" marT="27432" marB="27432" anchor="ctr">
                    <a:solidFill>
                      <a:srgbClr val="FFFFFF"/>
                    </a:solidFill>
                  </a:tcPr>
                </a:tc>
              </a:tr>
              <a:tr h="429768">
                <a:tc>
                  <a:txBody>
                    <a:bodyPr wrap="square"/>
                    <a:lstStyle/>
                    <a:p>
                      <a:pPr algn="l"/>
                      <a:r>
                        <a:rPr sz="1100" b="1" i="0">
                          <a:solidFill>
                            <a:srgbClr val="1F1F1F"/>
                          </a:solidFill>
                          <a:latin typeface="Calibri"/>
                        </a:rPr>
                        <a:t>District matching</a:t>
                      </a:r>
                    </a:p>
                  </a:txBody>
                  <a:tcPr marL="54864" marR="54864" marT="27432" marB="27432" anchor="ctr">
                    <a:solidFill>
                      <a:srgbClr val="EEF2F8"/>
                    </a:solidFill>
                  </a:tcPr>
                </a:tc>
                <a:tc>
                  <a:txBody>
                    <a:bodyPr wrap="square"/>
                    <a:lstStyle/>
                    <a:p>
                      <a:pPr algn="ctr"/>
                      <a:r>
                        <a:rPr sz="1100" b="0" i="0">
                          <a:solidFill>
                            <a:srgbClr val="1F1F1F"/>
                          </a:solidFill>
                          <a:latin typeface="Calibri"/>
                        </a:rPr>
                        <a:t>699 names; 97 post-2011; 2 wrong fuzzy</a:t>
                      </a:r>
                    </a:p>
                  </a:txBody>
                  <a:tcPr marL="54864" marR="54864" marT="27432" marB="27432" anchor="ctr">
                    <a:solidFill>
                      <a:srgbClr val="EEF2F8"/>
                    </a:solidFill>
                  </a:tcPr>
                </a:tc>
                <a:tc>
                  <a:txBody>
                    <a:bodyPr wrap="square"/>
                    <a:lstStyle/>
                    <a:p>
                      <a:pPr algn="ctr"/>
                      <a:r>
                        <a:rPr sz="1100" b="0" i="0">
                          <a:solidFill>
                            <a:srgbClr val="1F1F1F"/>
                          </a:solidFill>
                          <a:latin typeface="Calibri"/>
                        </a:rPr>
                        <a:t>602 matched, 0 duplicate codes</a:t>
                      </a:r>
                    </a:p>
                  </a:txBody>
                  <a:tcPr marL="54864" marR="54864" marT="27432" marB="27432" anchor="ctr">
                    <a:solidFill>
                      <a:srgbClr val="EEF2F8"/>
                    </a:solidFill>
                  </a:tcPr>
                </a:tc>
                <a:tc>
                  <a:txBody>
                    <a:bodyPr wrap="square"/>
                    <a:lstStyle/>
                    <a:p>
                      <a:pPr algn="ctr"/>
                      <a:r>
                        <a:rPr sz="1100" b="0" i="0">
                          <a:solidFill>
                            <a:srgbClr val="1F1F1F"/>
                          </a:solidFill>
                          <a:latin typeface="Calibri"/>
                        </a:rPr>
                        <a:t>2 errors blocked</a:t>
                      </a:r>
                    </a:p>
                  </a:txBody>
                  <a:tcPr marL="54864" marR="54864" marT="27432" marB="27432" anchor="ctr">
                    <a:solidFill>
                      <a:srgbClr val="EEF2F8"/>
                    </a:solidFill>
                  </a:tcPr>
                </a:tc>
              </a:tr>
              <a:tr h="429768">
                <a:tc>
                  <a:txBody>
                    <a:bodyPr wrap="square"/>
                    <a:lstStyle/>
                    <a:p>
                      <a:pPr algn="l"/>
                      <a:r>
                        <a:rPr sz="1100" b="1" i="0">
                          <a:solidFill>
                            <a:srgbClr val="1F1F1F"/>
                          </a:solidFill>
                          <a:latin typeface="Calibri"/>
                        </a:rPr>
                        <a:t>Grid weights Σw = 1</a:t>
                      </a:r>
                    </a:p>
                  </a:txBody>
                  <a:tcPr marL="54864" marR="54864" marT="27432" marB="27432" anchor="ctr">
                    <a:solidFill>
                      <a:srgbClr val="FFFFFF"/>
                    </a:solidFill>
                  </a:tcPr>
                </a:tc>
                <a:tc>
                  <a:txBody>
                    <a:bodyPr wrap="square"/>
                    <a:lstStyle/>
                    <a:p>
                      <a:pPr algn="ctr"/>
                      <a:r>
                        <a:rPr sz="1100" b="0" i="0">
                          <a:solidFill>
                            <a:srgbClr val="1F1F1F"/>
                          </a:solidFill>
                          <a:latin typeface="Calibri"/>
                        </a:rPr>
                        <a:t>10,291 rain / 2,074 temp pairs</a:t>
                      </a:r>
                    </a:p>
                  </a:txBody>
                  <a:tcPr marL="54864" marR="54864" marT="27432" marB="27432" anchor="ctr">
                    <a:solidFill>
                      <a:srgbClr val="FFFFFF"/>
                    </a:solidFill>
                  </a:tcPr>
                </a:tc>
                <a:tc>
                  <a:txBody>
                    <a:bodyPr wrap="square"/>
                    <a:lstStyle/>
                    <a:p>
                      <a:pPr algn="ctr"/>
                      <a:r>
                        <a:rPr sz="1100" b="0" i="0">
                          <a:solidFill>
                            <a:srgbClr val="1F1F1F"/>
                          </a:solidFill>
                          <a:latin typeface="Calibri"/>
                        </a:rPr>
                        <a:t>max |Σw−1| 7e-08 / 2e-08</a:t>
                      </a:r>
                    </a:p>
                  </a:txBody>
                  <a:tcPr marL="54864" marR="54864" marT="27432" marB="27432" anchor="ctr">
                    <a:solidFill>
                      <a:srgbClr val="FFFFFF"/>
                    </a:solidFill>
                  </a:tcPr>
                </a:tc>
                <a:tc>
                  <a:txBody>
                    <a:bodyPr wrap="square"/>
                    <a:lstStyle/>
                    <a:p>
                      <a:pPr algn="ctr"/>
                      <a:r>
                        <a:rPr sz="1100" b="0" i="0">
                          <a:solidFill>
                            <a:srgbClr val="1F1F1F"/>
                          </a:solidFill>
                          <a:latin typeface="Calibri"/>
                        </a:rPr>
                        <a:t>RMSE 1.2e-08</a:t>
                      </a:r>
                    </a:p>
                  </a:txBody>
                  <a:tcPr marL="54864" marR="54864" marT="27432" marB="27432" anchor="ctr">
                    <a:solidFill>
                      <a:srgbClr val="FFFFFF"/>
                    </a:solidFill>
                  </a:tcPr>
                </a:tc>
              </a:tr>
              <a:tr h="429768">
                <a:tc>
                  <a:txBody>
                    <a:bodyPr wrap="square"/>
                    <a:lstStyle/>
                    <a:p>
                      <a:pPr algn="l"/>
                      <a:r>
                        <a:rPr sz="1100" b="1" i="0">
                          <a:solidFill>
                            <a:srgbClr val="1F1F1F"/>
                          </a:solidFill>
                          <a:latin typeface="Calibri"/>
                        </a:rPr>
                        <a:t>District-day missing cells</a:t>
                      </a:r>
                    </a:p>
                  </a:txBody>
                  <a:tcPr marL="54864" marR="54864" marT="27432" marB="27432" anchor="ctr">
                    <a:solidFill>
                      <a:srgbClr val="EEF2F8"/>
                    </a:solidFill>
                  </a:tcPr>
                </a:tc>
                <a:tc>
                  <a:txBody>
                    <a:bodyPr wrap="square"/>
                    <a:lstStyle/>
                    <a:p>
                      <a:pPr algn="ctr"/>
                      <a:r>
                        <a:rPr sz="1100" b="0" i="0">
                          <a:solidFill>
                            <a:srgbClr val="1F1F1F"/>
                          </a:solidFill>
                          <a:latin typeface="Calibri"/>
                        </a:rPr>
                        <a:t>rain 0.62%, Tmax 0.37%</a:t>
                      </a:r>
                    </a:p>
                  </a:txBody>
                  <a:tcPr marL="54864" marR="54864" marT="27432" marB="27432" anchor="ctr">
                    <a:solidFill>
                      <a:srgbClr val="EEF2F8"/>
                    </a:solidFill>
                  </a:tcPr>
                </a:tc>
                <a:tc>
                  <a:txBody>
                    <a:bodyPr wrap="square"/>
                    <a:lstStyle/>
                    <a:p>
                      <a:pPr algn="ctr"/>
                      <a:r>
                        <a:rPr sz="1100" b="0" i="0">
                          <a:solidFill>
                            <a:srgbClr val="1F1F1F"/>
                          </a:solidFill>
                          <a:latin typeface="Calibri"/>
                        </a:rPr>
                        <a:t>kept as NaN, weights renormalised</a:t>
                      </a:r>
                    </a:p>
                  </a:txBody>
                  <a:tcPr marL="54864" marR="54864" marT="27432" marB="27432" anchor="ctr">
                    <a:solidFill>
                      <a:srgbClr val="EEF2F8"/>
                    </a:solidFill>
                  </a:tcPr>
                </a:tc>
                <a:tc>
                  <a:txBody>
                    <a:bodyPr wrap="square"/>
                    <a:lstStyle/>
                    <a:p>
                      <a:pPr algn="ctr"/>
                      <a:r>
                        <a:rPr sz="1100" b="0" i="0">
                          <a:solidFill>
                            <a:srgbClr val="1F1F1F"/>
                          </a:solidFill>
                          <a:latin typeface="Calibri"/>
                        </a:rPr>
                        <a:t>0 zero-filled</a:t>
                      </a:r>
                    </a:p>
                  </a:txBody>
                  <a:tcPr marL="54864" marR="54864" marT="27432" marB="27432" anchor="ctr">
                    <a:solidFill>
                      <a:srgbClr val="EEF2F8"/>
                    </a:solidFill>
                  </a:tcPr>
                </a:tc>
              </a:tr>
              <a:tr h="429768">
                <a:tc>
                  <a:txBody>
                    <a:bodyPr wrap="square"/>
                    <a:lstStyle/>
                    <a:p>
                      <a:pPr algn="l"/>
                      <a:r>
                        <a:rPr sz="1100" b="1" i="0">
                          <a:solidFill>
                            <a:srgbClr val="1F1F1F"/>
                          </a:solidFill>
                          <a:latin typeface="Calibri"/>
                        </a:rPr>
                        <a:t>Final table quality</a:t>
                      </a:r>
                    </a:p>
                  </a:txBody>
                  <a:tcPr marL="54864" marR="54864" marT="27432" marB="27432" anchor="ctr">
                    <a:solidFill>
                      <a:srgbClr val="FFFFFF"/>
                    </a:solidFill>
                  </a:tcPr>
                </a:tc>
                <a:tc>
                  <a:txBody>
                    <a:bodyPr wrap="square"/>
                    <a:lstStyle/>
                    <a:p>
                      <a:pPr algn="ctr"/>
                      <a:r>
                        <a:rPr sz="1100" b="0" i="0">
                          <a:solidFill>
                            <a:srgbClr val="1F1F1F"/>
                          </a:solidFill>
                          <a:latin typeface="Calibri"/>
                        </a:rPr>
                        <a:t>—</a:t>
                      </a:r>
                    </a:p>
                  </a:txBody>
                  <a:tcPr marL="54864" marR="54864" marT="27432" marB="27432" anchor="ctr">
                    <a:solidFill>
                      <a:srgbClr val="FFFFFF"/>
                    </a:solidFill>
                  </a:tcPr>
                </a:tc>
                <a:tc>
                  <a:txBody>
                    <a:bodyPr wrap="square"/>
                    <a:lstStyle/>
                    <a:p>
                      <a:pPr algn="ctr"/>
                      <a:r>
                        <a:rPr sz="1100" b="0" i="0">
                          <a:solidFill>
                            <a:srgbClr val="1F1F1F"/>
                          </a:solidFill>
                          <a:latin typeface="Calibri"/>
                        </a:rPr>
                        <a:t>0 duplicates, 0 out of range</a:t>
                      </a:r>
                    </a:p>
                  </a:txBody>
                  <a:tcPr marL="54864" marR="54864" marT="27432" marB="27432" anchor="ctr">
                    <a:solidFill>
                      <a:srgbClr val="FFFFFF"/>
                    </a:solidFill>
                  </a:tcPr>
                </a:tc>
                <a:tc>
                  <a:txBody>
                    <a:bodyPr wrap="square"/>
                    <a:lstStyle/>
                    <a:p>
                      <a:pPr algn="ctr"/>
                      <a:r>
                        <a:rPr sz="1100" b="0" i="0">
                          <a:solidFill>
                            <a:srgbClr val="1F1F1F"/>
                          </a:solidFill>
                          <a:latin typeface="Calibri"/>
                        </a:rPr>
                        <a:t>66 outlier cells flagged, kept</a:t>
                      </a:r>
                    </a:p>
                  </a:txBody>
                  <a:tcPr marL="54864" marR="54864" marT="27432" marB="27432" anchor="ctr">
                    <a:solidFill>
                      <a:srgbClr val="FFFFFF"/>
                    </a:solidFill>
                  </a:tcPr>
                </a:tc>
              </a:tr>
              <a:tr h="429768">
                <a:tc>
                  <a:txBody>
                    <a:bodyPr wrap="square"/>
                    <a:lstStyle/>
                    <a:p>
                      <a:pPr algn="l"/>
                      <a:r>
                        <a:rPr sz="1100" b="1" i="0">
                          <a:solidFill>
                            <a:srgbClr val="1F1F1F"/>
                          </a:solidFill>
                          <a:latin typeface="Calibri"/>
                        </a:rPr>
                        <a:t>Hive vs pandas</a:t>
                      </a:r>
                    </a:p>
                  </a:txBody>
                  <a:tcPr marL="54864" marR="54864" marT="27432" marB="27432" anchor="ctr">
                    <a:solidFill>
                      <a:srgbClr val="EEF2F8"/>
                    </a:solidFill>
                  </a:tcPr>
                </a:tc>
                <a:tc>
                  <a:txBody>
                    <a:bodyPr wrap="square"/>
                    <a:lstStyle/>
                    <a:p>
                      <a:pPr algn="ctr"/>
                      <a:r>
                        <a:rPr sz="1100" b="0" i="0">
                          <a:solidFill>
                            <a:srgbClr val="1F1F1F"/>
                          </a:solidFill>
                          <a:latin typeface="Calibri"/>
                        </a:rPr>
                        <a:t>469 rows</a:t>
                      </a:r>
                    </a:p>
                  </a:txBody>
                  <a:tcPr marL="54864" marR="54864" marT="27432" marB="27432" anchor="ctr">
                    <a:solidFill>
                      <a:srgbClr val="EEF2F8"/>
                    </a:solidFill>
                  </a:tcPr>
                </a:tc>
                <a:tc>
                  <a:txBody>
                    <a:bodyPr wrap="square"/>
                    <a:lstStyle/>
                    <a:p>
                      <a:pPr algn="ctr"/>
                      <a:r>
                        <a:rPr sz="1100" b="0" i="0">
                          <a:solidFill>
                            <a:srgbClr val="1F1F1F"/>
                          </a:solidFill>
                          <a:latin typeface="Calibri"/>
                        </a:rPr>
                        <a:t>469 rows</a:t>
                      </a:r>
                    </a:p>
                  </a:txBody>
                  <a:tcPr marL="54864" marR="54864" marT="27432" marB="27432" anchor="ctr">
                    <a:solidFill>
                      <a:srgbClr val="EEF2F8"/>
                    </a:solidFill>
                  </a:tcPr>
                </a:tc>
                <a:tc>
                  <a:txBody>
                    <a:bodyPr wrap="square"/>
                    <a:lstStyle/>
                    <a:p>
                      <a:pPr algn="ctr"/>
                      <a:r>
                        <a:rPr sz="1100" b="0" i="0">
                          <a:solidFill>
                            <a:srgbClr val="1F1F1F"/>
                          </a:solidFill>
                          <a:latin typeface="Calibri"/>
                        </a:rPr>
                        <a:t>max diff 0.0</a:t>
                      </a:r>
                    </a:p>
                  </a:txBody>
                  <a:tcPr marL="54864" marR="54864" marT="27432" marB="27432" anchor="ctr">
                    <a:solidFill>
                      <a:srgbClr val="EEF2F8"/>
                    </a:solidFill>
                  </a:tcPr>
                </a:tc>
              </a:tr>
              <a:tr h="429768">
                <a:tc>
                  <a:txBody>
                    <a:bodyPr wrap="square"/>
                    <a:lstStyle/>
                    <a:p>
                      <a:pPr algn="l"/>
                      <a:r>
                        <a:rPr sz="1100" b="1" i="0">
                          <a:solidFill>
                            <a:srgbClr val="1F1F1F"/>
                          </a:solidFill>
                          <a:latin typeface="Calibri"/>
                        </a:rPr>
                        <a:t>MapReduce vs pandas</a:t>
                      </a:r>
                    </a:p>
                  </a:txBody>
                  <a:tcPr marL="54864" marR="54864" marT="27432" marB="27432" anchor="ctr">
                    <a:solidFill>
                      <a:srgbClr val="FFFFFF"/>
                    </a:solidFill>
                  </a:tcPr>
                </a:tc>
                <a:tc>
                  <a:txBody>
                    <a:bodyPr wrap="square"/>
                    <a:lstStyle/>
                    <a:p>
                      <a:pPr algn="ctr"/>
                      <a:r>
                        <a:rPr sz="1100" b="0" i="0">
                          <a:solidFill>
                            <a:srgbClr val="1F1F1F"/>
                          </a:solidFill>
                          <a:latin typeface="Calibri"/>
                        </a:rPr>
                        <a:t>same district-days</a:t>
                      </a:r>
                    </a:p>
                  </a:txBody>
                  <a:tcPr marL="54864" marR="54864" marT="27432" marB="27432" anchor="ctr">
                    <a:solidFill>
                      <a:srgbClr val="FFFFFF"/>
                    </a:solidFill>
                  </a:tcPr>
                </a:tc>
                <a:tc>
                  <a:txBody>
                    <a:bodyPr wrap="square"/>
                    <a:lstStyle/>
                    <a:p>
                      <a:pPr algn="ctr"/>
                      <a:r>
                        <a:rPr sz="1100" b="0" i="1">
                          <a:solidFill>
                            <a:srgbClr val="C0392B"/>
                          </a:solidFill>
                          <a:latin typeface="Calibri"/>
                        </a:rPr>
                        <a:t>PENDING</a:t>
                      </a:r>
                    </a:p>
                  </a:txBody>
                  <a:tcPr marL="54864" marR="54864" marT="27432" marB="27432" anchor="ctr">
                    <a:solidFill>
                      <a:srgbClr val="FFFFFF"/>
                    </a:solidFill>
                  </a:tcPr>
                </a:tc>
                <a:tc>
                  <a:txBody>
                    <a:bodyPr wrap="square"/>
                    <a:lstStyle/>
                    <a:p>
                      <a:pPr algn="ctr"/>
                      <a:r>
                        <a:rPr sz="1100" b="0" i="0">
                          <a:solidFill>
                            <a:srgbClr val="1F1F1F"/>
                          </a:solidFill>
                          <a:latin typeface="Calibri"/>
                        </a:rPr>
                        <a:t>RMSE / MAE: PENDING</a:t>
                      </a:r>
                    </a:p>
                  </a:txBody>
                  <a:tcPr marL="54864" marR="54864" marT="27432" marB="27432" anchor="ctr">
                    <a:solidFill>
                      <a:srgbClr val="FFFFFF"/>
                    </a:solidFill>
                  </a:tcPr>
                </a:tc>
              </a:tr>
              <a:tr h="429768">
                <a:tc>
                  <a:txBody>
                    <a:bodyPr wrap="square"/>
                    <a:lstStyle/>
                    <a:p>
                      <a:pPr algn="l"/>
                      <a:r>
                        <a:rPr sz="1100" b="1" i="0">
                          <a:solidFill>
                            <a:srgbClr val="1F1F1F"/>
                          </a:solidFill>
                          <a:latin typeface="Calibri"/>
                        </a:rPr>
                        <a:t>Area-weighted vs nearest-cell</a:t>
                      </a:r>
                    </a:p>
                  </a:txBody>
                  <a:tcPr marL="54864" marR="54864" marT="27432" marB="27432" anchor="ctr">
                    <a:solidFill>
                      <a:srgbClr val="EEF2F8"/>
                    </a:solidFill>
                  </a:tcPr>
                </a:tc>
                <a:tc>
                  <a:txBody>
                    <a:bodyPr wrap="square"/>
                    <a:lstStyle/>
                    <a:p>
                      <a:pPr algn="ctr"/>
                      <a:r>
                        <a:rPr sz="1100" b="0" i="0">
                          <a:solidFill>
                            <a:srgbClr val="1F1F1F"/>
                          </a:solidFill>
                          <a:latin typeface="Calibri"/>
                        </a:rPr>
                        <a:t>naive method</a:t>
                      </a:r>
                    </a:p>
                  </a:txBody>
                  <a:tcPr marL="54864" marR="54864" marT="27432" marB="27432" anchor="ctr">
                    <a:solidFill>
                      <a:srgbClr val="EEF2F8"/>
                    </a:solidFill>
                  </a:tcPr>
                </a:tc>
                <a:tc>
                  <a:txBody>
                    <a:bodyPr wrap="square"/>
                    <a:lstStyle/>
                    <a:p>
                      <a:pPr algn="ctr"/>
                      <a:r>
                        <a:rPr sz="1100" b="0" i="1">
                          <a:solidFill>
                            <a:srgbClr val="C0392B"/>
                          </a:solidFill>
                          <a:latin typeface="Calibri"/>
                        </a:rPr>
                        <a:t>PENDING</a:t>
                      </a:r>
                    </a:p>
                  </a:txBody>
                  <a:tcPr marL="54864" marR="54864" marT="27432" marB="27432" anchor="ctr">
                    <a:solidFill>
                      <a:srgbClr val="EEF2F8"/>
                    </a:solidFill>
                  </a:tcPr>
                </a:tc>
                <a:tc>
                  <a:txBody>
                    <a:bodyPr wrap="square"/>
                    <a:lstStyle/>
                    <a:p>
                      <a:pPr algn="ctr"/>
                      <a:r>
                        <a:rPr sz="1100" b="0" i="0">
                          <a:solidFill>
                            <a:srgbClr val="1F1F1F"/>
                          </a:solidFill>
                          <a:latin typeface="Calibri"/>
                        </a:rPr>
                        <a:t>RMSE: PENDING</a:t>
                      </a:r>
                    </a:p>
                  </a:txBody>
                  <a:tcPr marL="54864" marR="54864" marT="27432" marB="27432" anchor="ctr">
                    <a:solidFill>
                      <a:srgbClr val="EEF2F8"/>
                    </a:solidFill>
                  </a:tcPr>
                </a:tc>
              </a:tr>
            </a:tbl>
          </a:graphicData>
        </a:graphic>
      </p:graphicFrame>
      <p:sp>
        <p:nvSpPr>
          <p:cNvPr id="5" name="TextBox 4"/>
          <p:cNvSpPr txBox="1"/>
          <p:nvPr/>
        </p:nvSpPr>
        <p:spPr>
          <a:xfrm>
            <a:off x="365760" y="5943600"/>
            <a:ext cx="8412480" cy="411480"/>
          </a:xfrm>
          <a:prstGeom prst="rect">
            <a:avLst/>
          </a:prstGeom>
          <a:noFill/>
        </p:spPr>
        <p:txBody>
          <a:bodyPr wrap="square" anchor="t" lIns="45720" rIns="45720">
            <a:spAutoFit/>
          </a:bodyPr>
          <a:lstStyle/>
          <a:p>
            <a:pPr algn="l"/>
            <a:r>
              <a:rPr sz="1100" b="0" i="0">
                <a:solidFill>
                  <a:srgbClr val="595959"/>
                </a:solidFill>
                <a:latin typeface="Calibri"/>
              </a:rPr>
              <a:t>Computed 2026-10-21 from project data; district-day and Hive values from the Colab run 2026-10-11. PENDING rows need the raw IMD grids (Colab).</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400" b="1" i="0">
                <a:solidFill>
                  <a:srgbClr val="1B3A6B"/>
                </a:solidFill>
                <a:latin typeface="Times New Roman"/>
              </a:rPr>
              <a:t>Preprocessing Improvement: Before vs After</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80" cy="3712464"/>
        </p:xfrm>
        <a:graphic>
          <a:graphicData uri="http://schemas.openxmlformats.org/drawingml/2006/table">
            <a:tbl>
              <a:tblPr firstRow="1" bandRow="1">
                <a:tableStyleId>{5C22544A-7EE6-4342-B048-85BDC9FD1C3A}</a:tableStyleId>
              </a:tblPr>
              <a:tblGrid>
                <a:gridCol w="2103120"/>
                <a:gridCol w="1051560"/>
                <a:gridCol w="1051560"/>
                <a:gridCol w="1051560"/>
                <a:gridCol w="1051560"/>
                <a:gridCol w="1051560"/>
                <a:gridCol w="1051560"/>
              </a:tblGrid>
              <a:tr h="530352">
                <a:tc>
                  <a:txBody>
                    <a:bodyPr wrap="square"/>
                    <a:lstStyle/>
                    <a:p>
                      <a:pPr algn="l"/>
                      <a:r>
                        <a:rPr sz="1200" b="1" i="0">
                          <a:solidFill>
                            <a:srgbClr val="FFFFFF"/>
                          </a:solidFill>
                          <a:latin typeface="Calibri"/>
                        </a:rPr>
                        <a:t>Model</a:t>
                      </a:r>
                    </a:p>
                  </a:txBody>
                  <a:tcPr marL="54864" marR="54864" marT="27432" marB="27432" anchor="ctr">
                    <a:solidFill>
                      <a:srgbClr val="1B3A6B"/>
                    </a:solidFill>
                  </a:tcPr>
                </a:tc>
                <a:tc>
                  <a:txBody>
                    <a:bodyPr wrap="square"/>
                    <a:lstStyle/>
                    <a:p>
                      <a:pPr algn="ctr"/>
                      <a:r>
                        <a:rPr sz="1200" b="1" i="0">
                          <a:solidFill>
                            <a:srgbClr val="FFFFFF"/>
                          </a:solidFill>
                          <a:latin typeface="Calibri"/>
                        </a:rPr>
                        <a:t>AUC before</a:t>
                      </a:r>
                    </a:p>
                  </a:txBody>
                  <a:tcPr marL="54864" marR="54864" marT="27432" marB="27432" anchor="ctr">
                    <a:solidFill>
                      <a:srgbClr val="1B3A6B"/>
                    </a:solidFill>
                  </a:tcPr>
                </a:tc>
                <a:tc>
                  <a:txBody>
                    <a:bodyPr wrap="square"/>
                    <a:lstStyle/>
                    <a:p>
                      <a:pPr algn="ctr"/>
                      <a:r>
                        <a:rPr sz="1200" b="1" i="0">
                          <a:solidFill>
                            <a:srgbClr val="FFFFFF"/>
                          </a:solidFill>
                          <a:latin typeface="Calibri"/>
                        </a:rPr>
                        <a:t>AUC after</a:t>
                      </a:r>
                    </a:p>
                  </a:txBody>
                  <a:tcPr marL="54864" marR="54864" marT="27432" marB="27432" anchor="ctr">
                    <a:solidFill>
                      <a:srgbClr val="1B3A6B"/>
                    </a:solidFill>
                  </a:tcPr>
                </a:tc>
                <a:tc>
                  <a:txBody>
                    <a:bodyPr wrap="square"/>
                    <a:lstStyle/>
                    <a:p>
                      <a:pPr algn="ctr"/>
                      <a:r>
                        <a:rPr sz="1200" b="1" i="0">
                          <a:solidFill>
                            <a:srgbClr val="FFFFFF"/>
                          </a:solidFill>
                          <a:latin typeface="Calibri"/>
                        </a:rPr>
                        <a:t>AUC gain</a:t>
                      </a:r>
                    </a:p>
                  </a:txBody>
                  <a:tcPr marL="54864" marR="54864" marT="27432" marB="27432" anchor="ctr">
                    <a:solidFill>
                      <a:srgbClr val="1B3A6B"/>
                    </a:solidFill>
                  </a:tcPr>
                </a:tc>
                <a:tc>
                  <a:txBody>
                    <a:bodyPr wrap="square"/>
                    <a:lstStyle/>
                    <a:p>
                      <a:pPr algn="ctr"/>
                      <a:r>
                        <a:rPr sz="1200" b="1" i="0">
                          <a:solidFill>
                            <a:srgbClr val="FFFFFF"/>
                          </a:solidFill>
                          <a:latin typeface="Calibri"/>
                        </a:rPr>
                        <a:t>F1 before</a:t>
                      </a:r>
                    </a:p>
                  </a:txBody>
                  <a:tcPr marL="54864" marR="54864" marT="27432" marB="27432" anchor="ctr">
                    <a:solidFill>
                      <a:srgbClr val="1B3A6B"/>
                    </a:solidFill>
                  </a:tcPr>
                </a:tc>
                <a:tc>
                  <a:txBody>
                    <a:bodyPr wrap="square"/>
                    <a:lstStyle/>
                    <a:p>
                      <a:pPr algn="ctr"/>
                      <a:r>
                        <a:rPr sz="1200" b="1" i="0">
                          <a:solidFill>
                            <a:srgbClr val="FFFFFF"/>
                          </a:solidFill>
                          <a:latin typeface="Calibri"/>
                        </a:rPr>
                        <a:t>F1 after</a:t>
                      </a:r>
                    </a:p>
                  </a:txBody>
                  <a:tcPr marL="54864" marR="54864" marT="27432" marB="27432" anchor="ctr">
                    <a:solidFill>
                      <a:srgbClr val="1B3A6B"/>
                    </a:solidFill>
                  </a:tcPr>
                </a:tc>
                <a:tc>
                  <a:txBody>
                    <a:bodyPr wrap="square"/>
                    <a:lstStyle/>
                    <a:p>
                      <a:pPr algn="ctr"/>
                      <a:r>
                        <a:rPr sz="1200" b="1" i="0">
                          <a:solidFill>
                            <a:srgbClr val="FFFFFF"/>
                          </a:solidFill>
                          <a:latin typeface="Calibri"/>
                        </a:rPr>
                        <a:t>F1 gain</a:t>
                      </a:r>
                    </a:p>
                  </a:txBody>
                  <a:tcPr marL="54864" marR="54864" marT="27432" marB="27432" anchor="ctr">
                    <a:solidFill>
                      <a:srgbClr val="1B3A6B"/>
                    </a:solidFill>
                  </a:tcPr>
                </a:tc>
              </a:tr>
              <a:tr h="530352">
                <a:tc>
                  <a:txBody>
                    <a:bodyPr wrap="square"/>
                    <a:lstStyle/>
                    <a:p>
                      <a:pPr algn="l"/>
                      <a:r>
                        <a:rPr sz="1200" b="1" i="0">
                          <a:solidFill>
                            <a:srgbClr val="1F1F1F"/>
                          </a:solidFill>
                          <a:latin typeface="Calibri"/>
                        </a:rPr>
                        <a:t>A-CPN (proposed)</a:t>
                      </a:r>
                    </a:p>
                  </a:txBody>
                  <a:tcPr marL="54864" marR="54864" marT="27432" marB="27432" anchor="ctr">
                    <a:solidFill>
                      <a:srgbClr val="FFF4CC"/>
                    </a:solidFill>
                  </a:tcPr>
                </a:tc>
                <a:tc>
                  <a:txBody>
                    <a:bodyPr wrap="square"/>
                    <a:lstStyle/>
                    <a:p>
                      <a:pPr algn="ctr"/>
                      <a:r>
                        <a:rPr sz="1200" b="1" i="0">
                          <a:solidFill>
                            <a:srgbClr val="1F1F1F"/>
                          </a:solidFill>
                          <a:latin typeface="Calibri"/>
                        </a:rPr>
                        <a:t>0.740</a:t>
                      </a:r>
                    </a:p>
                  </a:txBody>
                  <a:tcPr marL="54864" marR="54864" marT="27432" marB="27432" anchor="ctr">
                    <a:solidFill>
                      <a:srgbClr val="FFF4CC"/>
                    </a:solidFill>
                  </a:tcPr>
                </a:tc>
                <a:tc>
                  <a:txBody>
                    <a:bodyPr wrap="square"/>
                    <a:lstStyle/>
                    <a:p>
                      <a:pPr algn="ctr"/>
                      <a:r>
                        <a:rPr sz="1200" b="1" i="0">
                          <a:solidFill>
                            <a:srgbClr val="1F1F1F"/>
                          </a:solidFill>
                          <a:latin typeface="Calibri"/>
                        </a:rPr>
                        <a:t>0.761</a:t>
                      </a:r>
                    </a:p>
                  </a:txBody>
                  <a:tcPr marL="54864" marR="54864" marT="27432" marB="27432" anchor="ctr">
                    <a:solidFill>
                      <a:srgbClr val="FFF4CC"/>
                    </a:solidFill>
                  </a:tcPr>
                </a:tc>
                <a:tc>
                  <a:txBody>
                    <a:bodyPr wrap="square"/>
                    <a:lstStyle/>
                    <a:p>
                      <a:pPr algn="ctr"/>
                      <a:r>
                        <a:rPr sz="1200" b="1" i="0">
                          <a:solidFill>
                            <a:srgbClr val="1F1F1F"/>
                          </a:solidFill>
                          <a:latin typeface="Calibri"/>
                        </a:rPr>
                        <a:t>+0.021</a:t>
                      </a:r>
                    </a:p>
                  </a:txBody>
                  <a:tcPr marL="54864" marR="54864" marT="27432" marB="27432" anchor="ctr">
                    <a:solidFill>
                      <a:srgbClr val="FFF4CC"/>
                    </a:solidFill>
                  </a:tcPr>
                </a:tc>
                <a:tc>
                  <a:txBody>
                    <a:bodyPr wrap="square"/>
                    <a:lstStyle/>
                    <a:p>
                      <a:pPr algn="ctr"/>
                      <a:r>
                        <a:rPr sz="1200" b="1" i="0">
                          <a:solidFill>
                            <a:srgbClr val="1F1F1F"/>
                          </a:solidFill>
                          <a:latin typeface="Calibri"/>
                        </a:rPr>
                        <a:t>0.679</a:t>
                      </a:r>
                    </a:p>
                  </a:txBody>
                  <a:tcPr marL="54864" marR="54864" marT="27432" marB="27432" anchor="ctr">
                    <a:solidFill>
                      <a:srgbClr val="FFF4CC"/>
                    </a:solidFill>
                  </a:tcPr>
                </a:tc>
                <a:tc>
                  <a:txBody>
                    <a:bodyPr wrap="square"/>
                    <a:lstStyle/>
                    <a:p>
                      <a:pPr algn="ctr"/>
                      <a:r>
                        <a:rPr sz="1200" b="1" i="0">
                          <a:solidFill>
                            <a:srgbClr val="1F1F1F"/>
                          </a:solidFill>
                          <a:latin typeface="Calibri"/>
                        </a:rPr>
                        <a:t>0.693</a:t>
                      </a:r>
                    </a:p>
                  </a:txBody>
                  <a:tcPr marL="54864" marR="54864" marT="27432" marB="27432" anchor="ctr">
                    <a:solidFill>
                      <a:srgbClr val="FFF4CC"/>
                    </a:solidFill>
                  </a:tcPr>
                </a:tc>
                <a:tc>
                  <a:txBody>
                    <a:bodyPr wrap="square"/>
                    <a:lstStyle/>
                    <a:p>
                      <a:pPr algn="ctr"/>
                      <a:r>
                        <a:rPr sz="1200" b="1" i="0">
                          <a:solidFill>
                            <a:srgbClr val="1F1F1F"/>
                          </a:solidFill>
                          <a:latin typeface="Calibri"/>
                        </a:rPr>
                        <a:t>+0.014</a:t>
                      </a:r>
                    </a:p>
                  </a:txBody>
                  <a:tcPr marL="54864" marR="54864" marT="27432" marB="27432" anchor="ctr">
                    <a:solidFill>
                      <a:srgbClr val="FFF4CC"/>
                    </a:solidFill>
                  </a:tcPr>
                </a:tc>
              </a:tr>
              <a:tr h="530352">
                <a:tc>
                  <a:txBody>
                    <a:bodyPr wrap="square"/>
                    <a:lstStyle/>
                    <a:p>
                      <a:pPr algn="l"/>
                      <a:r>
                        <a:rPr sz="1200" b="1" i="0">
                          <a:solidFill>
                            <a:srgbClr val="1F1F1F"/>
                          </a:solidFill>
                          <a:latin typeface="Calibri"/>
                        </a:rPr>
                        <a:t>Logistic Regression</a:t>
                      </a:r>
                    </a:p>
                  </a:txBody>
                  <a:tcPr marL="54864" marR="54864" marT="27432" marB="27432" anchor="ctr">
                    <a:solidFill>
                      <a:srgbClr val="EEF2F8"/>
                    </a:solidFill>
                  </a:tcPr>
                </a:tc>
                <a:tc>
                  <a:txBody>
                    <a:bodyPr wrap="square"/>
                    <a:lstStyle/>
                    <a:p>
                      <a:pPr algn="ctr"/>
                      <a:r>
                        <a:rPr sz="1200" b="0" i="0">
                          <a:solidFill>
                            <a:srgbClr val="1F1F1F"/>
                          </a:solidFill>
                          <a:latin typeface="Calibri"/>
                        </a:rPr>
                        <a:t>0.747</a:t>
                      </a:r>
                    </a:p>
                  </a:txBody>
                  <a:tcPr marL="54864" marR="54864" marT="27432" marB="27432" anchor="ctr">
                    <a:solidFill>
                      <a:srgbClr val="EEF2F8"/>
                    </a:solidFill>
                  </a:tcPr>
                </a:tc>
                <a:tc>
                  <a:txBody>
                    <a:bodyPr wrap="square"/>
                    <a:lstStyle/>
                    <a:p>
                      <a:pPr algn="ctr"/>
                      <a:r>
                        <a:rPr sz="1200" b="0" i="0">
                          <a:solidFill>
                            <a:srgbClr val="1F1F1F"/>
                          </a:solidFill>
                          <a:latin typeface="Calibri"/>
                        </a:rPr>
                        <a:t>0.747</a:t>
                      </a:r>
                    </a:p>
                  </a:txBody>
                  <a:tcPr marL="54864" marR="54864" marT="27432" marB="27432" anchor="ctr">
                    <a:solidFill>
                      <a:srgbClr val="EEF2F8"/>
                    </a:solidFill>
                  </a:tcPr>
                </a:tc>
                <a:tc>
                  <a:txBody>
                    <a:bodyPr wrap="square"/>
                    <a:lstStyle/>
                    <a:p>
                      <a:pPr algn="ctr"/>
                      <a:r>
                        <a:rPr sz="1200" b="0" i="0">
                          <a:solidFill>
                            <a:srgbClr val="1F1F1F"/>
                          </a:solidFill>
                          <a:latin typeface="Calibri"/>
                        </a:rPr>
                        <a:t>+0.000</a:t>
                      </a:r>
                    </a:p>
                  </a:txBody>
                  <a:tcPr marL="54864" marR="54864" marT="27432" marB="27432" anchor="ctr">
                    <a:solidFill>
                      <a:srgbClr val="EEF2F8"/>
                    </a:solidFill>
                  </a:tcPr>
                </a:tc>
                <a:tc>
                  <a:txBody>
                    <a:bodyPr wrap="square"/>
                    <a:lstStyle/>
                    <a:p>
                      <a:pPr algn="ctr"/>
                      <a:r>
                        <a:rPr sz="1200" b="0" i="0">
                          <a:solidFill>
                            <a:srgbClr val="1F1F1F"/>
                          </a:solidFill>
                          <a:latin typeface="Calibri"/>
                        </a:rPr>
                        <a:t>0.701</a:t>
                      </a:r>
                    </a:p>
                  </a:txBody>
                  <a:tcPr marL="54864" marR="54864" marT="27432" marB="27432" anchor="ctr">
                    <a:solidFill>
                      <a:srgbClr val="EEF2F8"/>
                    </a:solidFill>
                  </a:tcPr>
                </a:tc>
                <a:tc>
                  <a:txBody>
                    <a:bodyPr wrap="square"/>
                    <a:lstStyle/>
                    <a:p>
                      <a:pPr algn="ctr"/>
                      <a:r>
                        <a:rPr sz="1200" b="0" i="0">
                          <a:solidFill>
                            <a:srgbClr val="1F1F1F"/>
                          </a:solidFill>
                          <a:latin typeface="Calibri"/>
                        </a:rPr>
                        <a:t>0.701</a:t>
                      </a:r>
                    </a:p>
                  </a:txBody>
                  <a:tcPr marL="54864" marR="54864" marT="27432" marB="27432" anchor="ctr">
                    <a:solidFill>
                      <a:srgbClr val="EEF2F8"/>
                    </a:solidFill>
                  </a:tcPr>
                </a:tc>
                <a:tc>
                  <a:txBody>
                    <a:bodyPr wrap="square"/>
                    <a:lstStyle/>
                    <a:p>
                      <a:pPr algn="ctr"/>
                      <a:r>
                        <a:rPr sz="1200" b="0" i="0">
                          <a:solidFill>
                            <a:srgbClr val="1F1F1F"/>
                          </a:solidFill>
                          <a:latin typeface="Calibri"/>
                        </a:rPr>
                        <a:t>+0.000</a:t>
                      </a:r>
                    </a:p>
                  </a:txBody>
                  <a:tcPr marL="54864" marR="54864" marT="27432" marB="27432" anchor="ctr">
                    <a:solidFill>
                      <a:srgbClr val="EEF2F8"/>
                    </a:solidFill>
                  </a:tcPr>
                </a:tc>
              </a:tr>
              <a:tr h="530352">
                <a:tc>
                  <a:txBody>
                    <a:bodyPr wrap="square"/>
                    <a:lstStyle/>
                    <a:p>
                      <a:pPr algn="l"/>
                      <a:r>
                        <a:rPr sz="1200" b="1" i="0">
                          <a:solidFill>
                            <a:srgbClr val="1F1F1F"/>
                          </a:solidFill>
                          <a:latin typeface="Calibri"/>
                        </a:rPr>
                        <a:t>Random Forest</a:t>
                      </a:r>
                    </a:p>
                  </a:txBody>
                  <a:tcPr marL="54864" marR="54864" marT="27432" marB="27432" anchor="ctr">
                    <a:solidFill>
                      <a:srgbClr val="FFFFFF"/>
                    </a:solidFill>
                  </a:tcPr>
                </a:tc>
                <a:tc>
                  <a:txBody>
                    <a:bodyPr wrap="square"/>
                    <a:lstStyle/>
                    <a:p>
                      <a:pPr algn="ctr"/>
                      <a:r>
                        <a:rPr sz="1200" b="0" i="0">
                          <a:solidFill>
                            <a:srgbClr val="1F1F1F"/>
                          </a:solidFill>
                          <a:latin typeface="Calibri"/>
                        </a:rPr>
                        <a:t>0.805</a:t>
                      </a:r>
                    </a:p>
                  </a:txBody>
                  <a:tcPr marL="54864" marR="54864" marT="27432" marB="27432" anchor="ctr">
                    <a:solidFill>
                      <a:srgbClr val="FFFFFF"/>
                    </a:solidFill>
                  </a:tcPr>
                </a:tc>
                <a:tc>
                  <a:txBody>
                    <a:bodyPr wrap="square"/>
                    <a:lstStyle/>
                    <a:p>
                      <a:pPr algn="ctr"/>
                      <a:r>
                        <a:rPr sz="1200" b="0" i="0">
                          <a:solidFill>
                            <a:srgbClr val="1F1F1F"/>
                          </a:solidFill>
                          <a:latin typeface="Calibri"/>
                        </a:rPr>
                        <a:t>0.804</a:t>
                      </a:r>
                    </a:p>
                  </a:txBody>
                  <a:tcPr marL="54864" marR="54864" marT="27432" marB="27432" anchor="ctr">
                    <a:solidFill>
                      <a:srgbClr val="FFFFFF"/>
                    </a:solidFill>
                  </a:tcPr>
                </a:tc>
                <a:tc>
                  <a:txBody>
                    <a:bodyPr wrap="square"/>
                    <a:lstStyle/>
                    <a:p>
                      <a:pPr algn="ctr"/>
                      <a:r>
                        <a:rPr sz="1200" b="0" i="0">
                          <a:solidFill>
                            <a:srgbClr val="1F1F1F"/>
                          </a:solidFill>
                          <a:latin typeface="Calibri"/>
                        </a:rPr>
                        <a:t>+0.000</a:t>
                      </a:r>
                    </a:p>
                  </a:txBody>
                  <a:tcPr marL="54864" marR="54864" marT="27432" marB="27432" anchor="ctr">
                    <a:solidFill>
                      <a:srgbClr val="FFFFFF"/>
                    </a:solidFill>
                  </a:tcPr>
                </a:tc>
                <a:tc>
                  <a:txBody>
                    <a:bodyPr wrap="square"/>
                    <a:lstStyle/>
                    <a:p>
                      <a:pPr algn="ctr"/>
                      <a:r>
                        <a:rPr sz="1200" b="0" i="0">
                          <a:solidFill>
                            <a:srgbClr val="1F1F1F"/>
                          </a:solidFill>
                          <a:latin typeface="Calibri"/>
                        </a:rPr>
                        <a:t>0.708</a:t>
                      </a:r>
                    </a:p>
                  </a:txBody>
                  <a:tcPr marL="54864" marR="54864" marT="27432" marB="27432" anchor="ctr">
                    <a:solidFill>
                      <a:srgbClr val="FFFFFF"/>
                    </a:solidFill>
                  </a:tcPr>
                </a:tc>
                <a:tc>
                  <a:txBody>
                    <a:bodyPr wrap="square"/>
                    <a:lstStyle/>
                    <a:p>
                      <a:pPr algn="ctr"/>
                      <a:r>
                        <a:rPr sz="1200" b="0" i="0">
                          <a:solidFill>
                            <a:srgbClr val="1F1F1F"/>
                          </a:solidFill>
                          <a:latin typeface="Calibri"/>
                        </a:rPr>
                        <a:t>0.708</a:t>
                      </a:r>
                    </a:p>
                  </a:txBody>
                  <a:tcPr marL="54864" marR="54864" marT="27432" marB="27432" anchor="ctr">
                    <a:solidFill>
                      <a:srgbClr val="FFFFFF"/>
                    </a:solidFill>
                  </a:tcPr>
                </a:tc>
                <a:tc>
                  <a:txBody>
                    <a:bodyPr wrap="square"/>
                    <a:lstStyle/>
                    <a:p>
                      <a:pPr algn="ctr"/>
                      <a:r>
                        <a:rPr sz="1200" b="0" i="0">
                          <a:solidFill>
                            <a:srgbClr val="1F1F1F"/>
                          </a:solidFill>
                          <a:latin typeface="Calibri"/>
                        </a:rPr>
                        <a:t>+0.000</a:t>
                      </a:r>
                    </a:p>
                  </a:txBody>
                  <a:tcPr marL="54864" marR="54864" marT="27432" marB="27432" anchor="ctr">
                    <a:solidFill>
                      <a:srgbClr val="FFFFFF"/>
                    </a:solidFill>
                  </a:tcPr>
                </a:tc>
              </a:tr>
              <a:tr h="530352">
                <a:tc>
                  <a:txBody>
                    <a:bodyPr wrap="square"/>
                    <a:lstStyle/>
                    <a:p>
                      <a:pPr algn="l"/>
                      <a:r>
                        <a:rPr sz="1200" b="1" i="0">
                          <a:solidFill>
                            <a:srgbClr val="1F1F1F"/>
                          </a:solidFill>
                          <a:latin typeface="Calibri"/>
                        </a:rPr>
                        <a:t>Gradient-Boosted Trees</a:t>
                      </a:r>
                    </a:p>
                  </a:txBody>
                  <a:tcPr marL="54864" marR="54864" marT="27432" marB="27432" anchor="ctr">
                    <a:solidFill>
                      <a:srgbClr val="EEF2F8"/>
                    </a:solidFill>
                  </a:tcPr>
                </a:tc>
                <a:tc>
                  <a:txBody>
                    <a:bodyPr wrap="square"/>
                    <a:lstStyle/>
                    <a:p>
                      <a:pPr algn="ctr"/>
                      <a:r>
                        <a:rPr sz="1200" b="0" i="0">
                          <a:solidFill>
                            <a:srgbClr val="1F1F1F"/>
                          </a:solidFill>
                          <a:latin typeface="Calibri"/>
                        </a:rPr>
                        <a:t>0.811</a:t>
                      </a:r>
                    </a:p>
                  </a:txBody>
                  <a:tcPr marL="54864" marR="54864" marT="27432" marB="27432" anchor="ctr">
                    <a:solidFill>
                      <a:srgbClr val="EEF2F8"/>
                    </a:solidFill>
                  </a:tcPr>
                </a:tc>
                <a:tc>
                  <a:txBody>
                    <a:bodyPr wrap="square"/>
                    <a:lstStyle/>
                    <a:p>
                      <a:pPr algn="ctr"/>
                      <a:r>
                        <a:rPr sz="1200" b="0" i="0">
                          <a:solidFill>
                            <a:srgbClr val="1F1F1F"/>
                          </a:solidFill>
                          <a:latin typeface="Calibri"/>
                        </a:rPr>
                        <a:t>0.811</a:t>
                      </a:r>
                    </a:p>
                  </a:txBody>
                  <a:tcPr marL="54864" marR="54864" marT="27432" marB="27432" anchor="ctr">
                    <a:solidFill>
                      <a:srgbClr val="EEF2F8"/>
                    </a:solidFill>
                  </a:tcPr>
                </a:tc>
                <a:tc>
                  <a:txBody>
                    <a:bodyPr wrap="square"/>
                    <a:lstStyle/>
                    <a:p>
                      <a:pPr algn="ctr"/>
                      <a:r>
                        <a:rPr sz="1200" b="0" i="0">
                          <a:solidFill>
                            <a:srgbClr val="1F1F1F"/>
                          </a:solidFill>
                          <a:latin typeface="Calibri"/>
                        </a:rPr>
                        <a:t>+0.000</a:t>
                      </a:r>
                    </a:p>
                  </a:txBody>
                  <a:tcPr marL="54864" marR="54864" marT="27432" marB="27432" anchor="ctr">
                    <a:solidFill>
                      <a:srgbClr val="EEF2F8"/>
                    </a:solidFill>
                  </a:tcPr>
                </a:tc>
                <a:tc>
                  <a:txBody>
                    <a:bodyPr wrap="square"/>
                    <a:lstStyle/>
                    <a:p>
                      <a:pPr algn="ctr"/>
                      <a:r>
                        <a:rPr sz="1200" b="0" i="0">
                          <a:solidFill>
                            <a:srgbClr val="1F1F1F"/>
                          </a:solidFill>
                          <a:latin typeface="Calibri"/>
                        </a:rPr>
                        <a:t>0.724</a:t>
                      </a:r>
                    </a:p>
                  </a:txBody>
                  <a:tcPr marL="54864" marR="54864" marT="27432" marB="27432" anchor="ctr">
                    <a:solidFill>
                      <a:srgbClr val="EEF2F8"/>
                    </a:solidFill>
                  </a:tcPr>
                </a:tc>
                <a:tc>
                  <a:txBody>
                    <a:bodyPr wrap="square"/>
                    <a:lstStyle/>
                    <a:p>
                      <a:pPr algn="ctr"/>
                      <a:r>
                        <a:rPr sz="1200" b="0" i="0">
                          <a:solidFill>
                            <a:srgbClr val="1F1F1F"/>
                          </a:solidFill>
                          <a:latin typeface="Calibri"/>
                        </a:rPr>
                        <a:t>0.724</a:t>
                      </a:r>
                    </a:p>
                  </a:txBody>
                  <a:tcPr marL="54864" marR="54864" marT="27432" marB="27432" anchor="ctr">
                    <a:solidFill>
                      <a:srgbClr val="EEF2F8"/>
                    </a:solidFill>
                  </a:tcPr>
                </a:tc>
                <a:tc>
                  <a:txBody>
                    <a:bodyPr wrap="square"/>
                    <a:lstStyle/>
                    <a:p>
                      <a:pPr algn="ctr"/>
                      <a:r>
                        <a:rPr sz="1200" b="0" i="0">
                          <a:solidFill>
                            <a:srgbClr val="1F1F1F"/>
                          </a:solidFill>
                          <a:latin typeface="Calibri"/>
                        </a:rPr>
                        <a:t>+0.000</a:t>
                      </a:r>
                    </a:p>
                  </a:txBody>
                  <a:tcPr marL="54864" marR="54864" marT="27432" marB="27432" anchor="ctr">
                    <a:solidFill>
                      <a:srgbClr val="EEF2F8"/>
                    </a:solidFill>
                  </a:tcPr>
                </a:tc>
              </a:tr>
              <a:tr h="530352">
                <a:tc>
                  <a:txBody>
                    <a:bodyPr wrap="square"/>
                    <a:lstStyle/>
                    <a:p>
                      <a:pPr algn="l"/>
                      <a:r>
                        <a:rPr sz="1200" b="1" i="0">
                          <a:solidFill>
                            <a:srgbClr val="1F1F1F"/>
                          </a:solidFill>
                          <a:latin typeface="Calibri"/>
                        </a:rPr>
                        <a:t>Linear SVM</a:t>
                      </a:r>
                    </a:p>
                  </a:txBody>
                  <a:tcPr marL="54864" marR="54864" marT="27432" marB="27432" anchor="ctr">
                    <a:solidFill>
                      <a:srgbClr val="FFFFFF"/>
                    </a:solidFill>
                  </a:tcPr>
                </a:tc>
                <a:tc>
                  <a:txBody>
                    <a:bodyPr wrap="square"/>
                    <a:lstStyle/>
                    <a:p>
                      <a:pPr algn="ctr"/>
                      <a:r>
                        <a:rPr sz="1200" b="0" i="0">
                          <a:solidFill>
                            <a:srgbClr val="1F1F1F"/>
                          </a:solidFill>
                          <a:latin typeface="Calibri"/>
                        </a:rPr>
                        <a:t>0.755</a:t>
                      </a:r>
                    </a:p>
                  </a:txBody>
                  <a:tcPr marL="54864" marR="54864" marT="27432" marB="27432" anchor="ctr">
                    <a:solidFill>
                      <a:srgbClr val="FFFFFF"/>
                    </a:solidFill>
                  </a:tcPr>
                </a:tc>
                <a:tc>
                  <a:txBody>
                    <a:bodyPr wrap="square"/>
                    <a:lstStyle/>
                    <a:p>
                      <a:pPr algn="ctr"/>
                      <a:r>
                        <a:rPr sz="1200" b="0" i="0">
                          <a:solidFill>
                            <a:srgbClr val="1F1F1F"/>
                          </a:solidFill>
                          <a:latin typeface="Calibri"/>
                        </a:rPr>
                        <a:t>0.755</a:t>
                      </a:r>
                    </a:p>
                  </a:txBody>
                  <a:tcPr marL="54864" marR="54864" marT="27432" marB="27432" anchor="ctr">
                    <a:solidFill>
                      <a:srgbClr val="FFFFFF"/>
                    </a:solidFill>
                  </a:tcPr>
                </a:tc>
                <a:tc>
                  <a:txBody>
                    <a:bodyPr wrap="square"/>
                    <a:lstStyle/>
                    <a:p>
                      <a:pPr algn="ctr"/>
                      <a:r>
                        <a:rPr sz="1200" b="0" i="0">
                          <a:solidFill>
                            <a:srgbClr val="1F1F1F"/>
                          </a:solidFill>
                          <a:latin typeface="Calibri"/>
                        </a:rPr>
                        <a:t>+0.000</a:t>
                      </a:r>
                    </a:p>
                  </a:txBody>
                  <a:tcPr marL="54864" marR="54864" marT="27432" marB="27432" anchor="ctr">
                    <a:solidFill>
                      <a:srgbClr val="FFFFFF"/>
                    </a:solidFill>
                  </a:tcPr>
                </a:tc>
                <a:tc>
                  <a:txBody>
                    <a:bodyPr wrap="square"/>
                    <a:lstStyle/>
                    <a:p>
                      <a:pPr algn="ctr"/>
                      <a:r>
                        <a:rPr sz="1200" b="0" i="0">
                          <a:solidFill>
                            <a:srgbClr val="1F1F1F"/>
                          </a:solidFill>
                          <a:latin typeface="Calibri"/>
                        </a:rPr>
                        <a:t>0.708</a:t>
                      </a:r>
                    </a:p>
                  </a:txBody>
                  <a:tcPr marL="54864" marR="54864" marT="27432" marB="27432" anchor="ctr">
                    <a:solidFill>
                      <a:srgbClr val="FFFFFF"/>
                    </a:solidFill>
                  </a:tcPr>
                </a:tc>
                <a:tc>
                  <a:txBody>
                    <a:bodyPr wrap="square"/>
                    <a:lstStyle/>
                    <a:p>
                      <a:pPr algn="ctr"/>
                      <a:r>
                        <a:rPr sz="1200" b="0" i="0">
                          <a:solidFill>
                            <a:srgbClr val="1F1F1F"/>
                          </a:solidFill>
                          <a:latin typeface="Calibri"/>
                        </a:rPr>
                        <a:t>0.708</a:t>
                      </a:r>
                    </a:p>
                  </a:txBody>
                  <a:tcPr marL="54864" marR="54864" marT="27432" marB="27432" anchor="ctr">
                    <a:solidFill>
                      <a:srgbClr val="FFFFFF"/>
                    </a:solidFill>
                  </a:tcPr>
                </a:tc>
                <a:tc>
                  <a:txBody>
                    <a:bodyPr wrap="square"/>
                    <a:lstStyle/>
                    <a:p>
                      <a:pPr algn="ctr"/>
                      <a:r>
                        <a:rPr sz="1200" b="0" i="0">
                          <a:solidFill>
                            <a:srgbClr val="1F1F1F"/>
                          </a:solidFill>
                          <a:latin typeface="Calibri"/>
                        </a:rPr>
                        <a:t>+0.000</a:t>
                      </a:r>
                    </a:p>
                  </a:txBody>
                  <a:tcPr marL="54864" marR="54864" marT="27432" marB="27432" anchor="ctr">
                    <a:solidFill>
                      <a:srgbClr val="FFFFFF"/>
                    </a:solidFill>
                  </a:tcPr>
                </a:tc>
              </a:tr>
              <a:tr h="530352">
                <a:tc>
                  <a:txBody>
                    <a:bodyPr wrap="square"/>
                    <a:lstStyle/>
                    <a:p>
                      <a:pPr algn="l"/>
                      <a:r>
                        <a:rPr sz="1200" b="1" i="0">
                          <a:solidFill>
                            <a:srgbClr val="1F1F1F"/>
                          </a:solidFill>
                          <a:latin typeface="Calibri"/>
                        </a:rPr>
                        <a:t>Standard MLP</a:t>
                      </a:r>
                    </a:p>
                  </a:txBody>
                  <a:tcPr marL="54864" marR="54864" marT="27432" marB="27432" anchor="ctr">
                    <a:solidFill>
                      <a:srgbClr val="EEF2F8"/>
                    </a:solidFill>
                  </a:tcPr>
                </a:tc>
                <a:tc>
                  <a:txBody>
                    <a:bodyPr wrap="square"/>
                    <a:lstStyle/>
                    <a:p>
                      <a:pPr algn="ctr"/>
                      <a:r>
                        <a:rPr sz="1200" b="0" i="0">
                          <a:solidFill>
                            <a:srgbClr val="1F1F1F"/>
                          </a:solidFill>
                          <a:latin typeface="Calibri"/>
                        </a:rPr>
                        <a:t>0.758</a:t>
                      </a:r>
                    </a:p>
                  </a:txBody>
                  <a:tcPr marL="54864" marR="54864" marT="27432" marB="27432" anchor="ctr">
                    <a:solidFill>
                      <a:srgbClr val="EEF2F8"/>
                    </a:solidFill>
                  </a:tcPr>
                </a:tc>
                <a:tc>
                  <a:txBody>
                    <a:bodyPr wrap="square"/>
                    <a:lstStyle/>
                    <a:p>
                      <a:pPr algn="ctr"/>
                      <a:r>
                        <a:rPr sz="1200" b="0" i="0">
                          <a:solidFill>
                            <a:srgbClr val="1F1F1F"/>
                          </a:solidFill>
                          <a:latin typeface="Calibri"/>
                        </a:rPr>
                        <a:t>0.784</a:t>
                      </a:r>
                    </a:p>
                  </a:txBody>
                  <a:tcPr marL="54864" marR="54864" marT="27432" marB="27432" anchor="ctr">
                    <a:solidFill>
                      <a:srgbClr val="EEF2F8"/>
                    </a:solidFill>
                  </a:tcPr>
                </a:tc>
                <a:tc>
                  <a:txBody>
                    <a:bodyPr wrap="square"/>
                    <a:lstStyle/>
                    <a:p>
                      <a:pPr algn="ctr"/>
                      <a:r>
                        <a:rPr sz="1200" b="0" i="0">
                          <a:solidFill>
                            <a:srgbClr val="1F1F1F"/>
                          </a:solidFill>
                          <a:latin typeface="Calibri"/>
                        </a:rPr>
                        <a:t>+0.026</a:t>
                      </a:r>
                    </a:p>
                  </a:txBody>
                  <a:tcPr marL="54864" marR="54864" marT="27432" marB="27432" anchor="ctr">
                    <a:solidFill>
                      <a:srgbClr val="EEF2F8"/>
                    </a:solidFill>
                  </a:tcPr>
                </a:tc>
                <a:tc>
                  <a:txBody>
                    <a:bodyPr wrap="square"/>
                    <a:lstStyle/>
                    <a:p>
                      <a:pPr algn="ctr"/>
                      <a:r>
                        <a:rPr sz="1200" b="0" i="0">
                          <a:solidFill>
                            <a:srgbClr val="1F1F1F"/>
                          </a:solidFill>
                          <a:latin typeface="Calibri"/>
                        </a:rPr>
                        <a:t>0.677</a:t>
                      </a:r>
                    </a:p>
                  </a:txBody>
                  <a:tcPr marL="54864" marR="54864" marT="27432" marB="27432" anchor="ctr">
                    <a:solidFill>
                      <a:srgbClr val="EEF2F8"/>
                    </a:solidFill>
                  </a:tcPr>
                </a:tc>
                <a:tc>
                  <a:txBody>
                    <a:bodyPr wrap="square"/>
                    <a:lstStyle/>
                    <a:p>
                      <a:pPr algn="ctr"/>
                      <a:r>
                        <a:rPr sz="1200" b="0" i="0">
                          <a:solidFill>
                            <a:srgbClr val="1F1F1F"/>
                          </a:solidFill>
                          <a:latin typeface="Calibri"/>
                        </a:rPr>
                        <a:t>0.696</a:t>
                      </a:r>
                    </a:p>
                  </a:txBody>
                  <a:tcPr marL="54864" marR="54864" marT="27432" marB="27432" anchor="ctr">
                    <a:solidFill>
                      <a:srgbClr val="EEF2F8"/>
                    </a:solidFill>
                  </a:tcPr>
                </a:tc>
                <a:tc>
                  <a:txBody>
                    <a:bodyPr wrap="square"/>
                    <a:lstStyle/>
                    <a:p>
                      <a:pPr algn="ctr"/>
                      <a:r>
                        <a:rPr sz="1200" b="0" i="0">
                          <a:solidFill>
                            <a:srgbClr val="1F1F1F"/>
                          </a:solidFill>
                          <a:latin typeface="Calibri"/>
                        </a:rPr>
                        <a:t>+0.018</a:t>
                      </a:r>
                    </a:p>
                  </a:txBody>
                  <a:tcPr marL="54864" marR="54864" marT="27432" marB="27432" anchor="ctr">
                    <a:solidFill>
                      <a:srgbClr val="EEF2F8"/>
                    </a:solidFill>
                  </a:tcPr>
                </a:tc>
              </a:tr>
            </a:tbl>
          </a:graphicData>
        </a:graphic>
      </p:graphicFrame>
      <p:sp>
        <p:nvSpPr>
          <p:cNvPr id="5" name="TextBox 4"/>
          <p:cNvSpPr txBox="1"/>
          <p:nvPr/>
        </p:nvSpPr>
        <p:spPr>
          <a:xfrm>
            <a:off x="365760" y="5074920"/>
            <a:ext cx="8412480" cy="1280160"/>
          </a:xfrm>
          <a:prstGeom prst="rect">
            <a:avLst/>
          </a:prstGeom>
          <a:noFill/>
        </p:spPr>
        <p:txBody>
          <a:bodyPr wrap="square" lIns="45720" rIns="45720">
            <a:spAutoFit/>
          </a:bodyPr>
          <a:lstStyle/>
          <a:p>
            <a:pPr>
              <a:spcAft>
                <a:spcPts val="400"/>
              </a:spcAft>
            </a:pPr>
            <a:r>
              <a:rPr sz="1500" b="0" i="0">
                <a:solidFill>
                  <a:srgbClr val="0E6E6E"/>
                </a:solidFill>
                <a:latin typeface="Calibri"/>
              </a:rPr>
              <a:t>▪  </a:t>
            </a:r>
            <a:r>
              <a:rPr sz="1500" b="1" i="0">
                <a:solidFill>
                  <a:srgbClr val="1F1F1F"/>
                </a:solidFill>
                <a:latin typeface="Calibri"/>
              </a:rPr>
              <a:t>Before: </a:t>
            </a:r>
            <a:r>
              <a:rPr sz="1500" b="0" i="0">
                <a:solidFill>
                  <a:srgbClr val="1F1F1F"/>
                </a:solidFill>
                <a:latin typeface="Calibri"/>
              </a:rPr>
              <a:t>raw features (rain in mm, days, %, °C on very different scales); After: preprocessed, same 25 folds</a:t>
            </a:r>
          </a:p>
          <a:p>
            <a:pPr>
              <a:spcAft>
                <a:spcPts val="400"/>
              </a:spcAft>
            </a:pPr>
            <a:r>
              <a:rPr sz="1500" b="0" i="0">
                <a:solidFill>
                  <a:srgbClr val="0E6E6E"/>
                </a:solidFill>
                <a:latin typeface="Calibri"/>
              </a:rPr>
              <a:t>▪  </a:t>
            </a:r>
            <a:r>
              <a:rPr sz="1500" b="1" i="0">
                <a:solidFill>
                  <a:srgbClr val="1F1F1F"/>
                </a:solidFill>
                <a:latin typeface="Calibri"/>
              </a:rPr>
              <a:t>Result: </a:t>
            </a:r>
            <a:r>
              <a:rPr sz="1500" b="0" i="0">
                <a:solidFill>
                  <a:srgbClr val="1F1F1F"/>
                </a:solidFill>
                <a:latin typeface="Calibri"/>
              </a:rPr>
              <a:t>largest gain MLP +0.026 ROC-AUC, A-CPN +0.021. RF and GBT ignore feature scale, and Spark's LR and Linear SVM standardise internally, so their before/after runs are equal.</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Classification: A-CPN Model Card</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43000"/>
          <a:ext cx="8412480" cy="5230368"/>
        </p:xfrm>
        <a:graphic>
          <a:graphicData uri="http://schemas.openxmlformats.org/drawingml/2006/table">
            <a:tbl>
              <a:tblPr firstRow="1" bandRow="1">
                <a:tableStyleId>{5C22544A-7EE6-4342-B048-85BDC9FD1C3A}</a:tableStyleId>
              </a:tblPr>
              <a:tblGrid>
                <a:gridCol w="2103120"/>
                <a:gridCol w="6309360"/>
              </a:tblGrid>
              <a:tr h="475488">
                <a:tc>
                  <a:txBody>
                    <a:bodyPr wrap="square"/>
                    <a:lstStyle/>
                    <a:p>
                      <a:pPr algn="l"/>
                      <a:r>
                        <a:rPr sz="1200" b="1" i="0">
                          <a:solidFill>
                            <a:srgbClr val="FFFFFF"/>
                          </a:solidFill>
                          <a:latin typeface="Calibri"/>
                        </a:rPr>
                        <a:t>Component</a:t>
                      </a:r>
                    </a:p>
                  </a:txBody>
                  <a:tcPr marL="54864" marR="54864" marT="27432" marB="27432" anchor="ctr">
                    <a:solidFill>
                      <a:srgbClr val="1B3A6B"/>
                    </a:solidFill>
                  </a:tcPr>
                </a:tc>
                <a:tc>
                  <a:txBody>
                    <a:bodyPr wrap="square"/>
                    <a:lstStyle/>
                    <a:p>
                      <a:pPr algn="ctr"/>
                      <a:r>
                        <a:rPr sz="1200" b="1" i="0">
                          <a:solidFill>
                            <a:srgbClr val="FFFFFF"/>
                          </a:solidFill>
                          <a:latin typeface="Calibri"/>
                        </a:rPr>
                        <a:t>Specification</a:t>
                      </a:r>
                    </a:p>
                  </a:txBody>
                  <a:tcPr marL="54864" marR="54864" marT="27432" marB="27432" anchor="ctr">
                    <a:solidFill>
                      <a:srgbClr val="1B3A6B"/>
                    </a:solidFill>
                  </a:tcPr>
                </a:tc>
              </a:tr>
              <a:tr h="475488">
                <a:tc>
                  <a:txBody>
                    <a:bodyPr wrap="square"/>
                    <a:lstStyle/>
                    <a:p>
                      <a:pPr algn="l"/>
                      <a:r>
                        <a:rPr sz="1200" b="1" i="0">
                          <a:solidFill>
                            <a:srgbClr val="1F1F1F"/>
                          </a:solidFill>
                          <a:latin typeface="Calibri"/>
                        </a:rPr>
                        <a:t>Development baseline</a:t>
                      </a:r>
                    </a:p>
                  </a:txBody>
                  <a:tcPr marL="54864" marR="54864" marT="27432" marB="27432" anchor="ctr">
                    <a:solidFill>
                      <a:srgbClr val="FFFFFF"/>
                    </a:solidFill>
                  </a:tcPr>
                </a:tc>
                <a:tc>
                  <a:txBody>
                    <a:bodyPr wrap="square"/>
                    <a:lstStyle/>
                    <a:p>
                      <a:pPr algn="ctr"/>
                      <a:r>
                        <a:rPr sz="1200" b="0" i="0">
                          <a:solidFill>
                            <a:srgbClr val="1F1F1F"/>
                          </a:solidFill>
                          <a:latin typeface="Calibri"/>
                        </a:rPr>
                        <a:t>Linear(5 → 1) on the 5 development features</a:t>
                      </a:r>
                    </a:p>
                  </a:txBody>
                  <a:tcPr marL="54864" marR="54864" marT="27432" marB="27432" anchor="ctr">
                    <a:solidFill>
                      <a:srgbClr val="FFFFFF"/>
                    </a:solidFill>
                  </a:tcPr>
                </a:tc>
              </a:tr>
              <a:tr h="475488">
                <a:tc>
                  <a:txBody>
                    <a:bodyPr wrap="square"/>
                    <a:lstStyle/>
                    <a:p>
                      <a:pPr algn="l"/>
                      <a:r>
                        <a:rPr sz="1200" b="1" i="0">
                          <a:solidFill>
                            <a:srgbClr val="1F1F1F"/>
                          </a:solidFill>
                          <a:latin typeface="Calibri"/>
                        </a:rPr>
                        <a:t>Feature attention</a:t>
                      </a:r>
                    </a:p>
                  </a:txBody>
                  <a:tcPr marL="54864" marR="54864" marT="27432" marB="27432" anchor="ctr">
                    <a:solidFill>
                      <a:srgbClr val="EEF2F8"/>
                    </a:solidFill>
                  </a:tcPr>
                </a:tc>
                <a:tc>
                  <a:txBody>
                    <a:bodyPr wrap="square"/>
                    <a:lstStyle/>
                    <a:p>
                      <a:pPr algn="ctr"/>
                      <a:r>
                        <a:rPr sz="1200" b="0" i="0">
                          <a:solidFill>
                            <a:srgbClr val="1F1F1F"/>
                          </a:solidFill>
                          <a:latin typeface="Calibri"/>
                        </a:rPr>
                        <a:t>8 climate features → softmax attention weights (which factor matters)</a:t>
                      </a:r>
                    </a:p>
                  </a:txBody>
                  <a:tcPr marL="54864" marR="54864" marT="27432" marB="27432" anchor="ctr">
                    <a:solidFill>
                      <a:srgbClr val="EEF2F8"/>
                    </a:solidFill>
                  </a:tcPr>
                </a:tc>
              </a:tr>
              <a:tr h="475488">
                <a:tc>
                  <a:txBody>
                    <a:bodyPr wrap="square"/>
                    <a:lstStyle/>
                    <a:p>
                      <a:pPr algn="l"/>
                      <a:r>
                        <a:rPr sz="1200" b="1" i="0">
                          <a:solidFill>
                            <a:srgbClr val="1F1F1F"/>
                          </a:solidFill>
                          <a:latin typeface="Calibri"/>
                        </a:rPr>
                        <a:t>KAN layer</a:t>
                      </a:r>
                    </a:p>
                  </a:txBody>
                  <a:tcPr marL="54864" marR="54864" marT="27432" marB="27432" anchor="ctr">
                    <a:solidFill>
                      <a:srgbClr val="FFFFFF"/>
                    </a:solidFill>
                  </a:tcPr>
                </a:tc>
                <a:tc>
                  <a:txBody>
                    <a:bodyPr wrap="square"/>
                    <a:lstStyle/>
                    <a:p>
                      <a:pPr algn="ctr"/>
                      <a:r>
                        <a:rPr sz="1200" b="0" i="0">
                          <a:solidFill>
                            <a:srgbClr val="1F1F1F"/>
                          </a:solidFill>
                          <a:latin typeface="Calibri"/>
                        </a:rPr>
                        <a:t>Kolmogorov–Arnold layer (8 → 16), learnable cubic B-spline per edge</a:t>
                      </a:r>
                    </a:p>
                  </a:txBody>
                  <a:tcPr marL="54864" marR="54864" marT="27432" marB="27432" anchor="ctr">
                    <a:solidFill>
                      <a:srgbClr val="FFFFFF"/>
                    </a:solidFill>
                  </a:tcPr>
                </a:tc>
              </a:tr>
              <a:tr h="475488">
                <a:tc>
                  <a:txBody>
                    <a:bodyPr wrap="square"/>
                    <a:lstStyle/>
                    <a:p>
                      <a:pPr algn="l"/>
                      <a:r>
                        <a:rPr sz="1200" b="1" i="0">
                          <a:solidFill>
                            <a:srgbClr val="1F1F1F"/>
                          </a:solidFill>
                          <a:latin typeface="Calibri"/>
                        </a:rPr>
                        <a:t>Residual MLP</a:t>
                      </a:r>
                    </a:p>
                  </a:txBody>
                  <a:tcPr marL="54864" marR="54864" marT="27432" marB="27432" anchor="ctr">
                    <a:solidFill>
                      <a:srgbClr val="EEF2F8"/>
                    </a:solidFill>
                  </a:tcPr>
                </a:tc>
                <a:tc>
                  <a:txBody>
                    <a:bodyPr wrap="square"/>
                    <a:lstStyle/>
                    <a:p>
                      <a:pPr algn="ctr"/>
                      <a:r>
                        <a:rPr sz="1200" b="0" i="0">
                          <a:solidFill>
                            <a:srgbClr val="1F1F1F"/>
                          </a:solidFill>
                          <a:latin typeface="Calibri"/>
                        </a:rPr>
                        <a:t>Linear(16→16) → BatchNorm → ReLU → Dropout 0.3, skip connection → Linear(16→1)</a:t>
                      </a:r>
                    </a:p>
                  </a:txBody>
                  <a:tcPr marL="54864" marR="54864" marT="27432" marB="27432" anchor="ctr">
                    <a:solidFill>
                      <a:srgbClr val="EEF2F8"/>
                    </a:solidFill>
                  </a:tcPr>
                </a:tc>
              </a:tr>
              <a:tr h="475488">
                <a:tc>
                  <a:txBody>
                    <a:bodyPr wrap="square"/>
                    <a:lstStyle/>
                    <a:p>
                      <a:pPr algn="l"/>
                      <a:r>
                        <a:rPr sz="1200" b="1" i="0">
                          <a:solidFill>
                            <a:srgbClr val="1F1F1F"/>
                          </a:solidFill>
                          <a:latin typeface="Calibri"/>
                        </a:rPr>
                        <a:t>Output</a:t>
                      </a:r>
                    </a:p>
                  </a:txBody>
                  <a:tcPr marL="54864" marR="54864" marT="27432" marB="27432" anchor="ctr">
                    <a:solidFill>
                      <a:srgbClr val="FFFFFF"/>
                    </a:solidFill>
                  </a:tcPr>
                </a:tc>
                <a:tc>
                  <a:txBody>
                    <a:bodyPr wrap="square"/>
                    <a:lstStyle/>
                    <a:p>
                      <a:pPr algn="ctr"/>
                      <a:r>
                        <a:rPr sz="1200" b="0" i="0">
                          <a:solidFill>
                            <a:srgbClr val="1F1F1F"/>
                          </a:solidFill>
                          <a:latin typeface="Calibri"/>
                        </a:rPr>
                        <a:t>p = σ(development baseline + climate push)</a:t>
                      </a:r>
                    </a:p>
                  </a:txBody>
                  <a:tcPr marL="54864" marR="54864" marT="27432" marB="27432" anchor="ctr">
                    <a:solidFill>
                      <a:srgbClr val="FFFFFF"/>
                    </a:solidFill>
                  </a:tcPr>
                </a:tc>
              </a:tr>
              <a:tr h="475488">
                <a:tc>
                  <a:txBody>
                    <a:bodyPr wrap="square"/>
                    <a:lstStyle/>
                    <a:p>
                      <a:pPr algn="l"/>
                      <a:r>
                        <a:rPr sz="1200" b="1" i="0">
                          <a:solidFill>
                            <a:srgbClr val="1F1F1F"/>
                          </a:solidFill>
                          <a:latin typeface="Calibri"/>
                        </a:rPr>
                        <a:t>Uncertainty</a:t>
                      </a:r>
                    </a:p>
                  </a:txBody>
                  <a:tcPr marL="54864" marR="54864" marT="27432" marB="27432" anchor="ctr">
                    <a:solidFill>
                      <a:srgbClr val="EEF2F8"/>
                    </a:solidFill>
                  </a:tcPr>
                </a:tc>
                <a:tc>
                  <a:txBody>
                    <a:bodyPr wrap="square"/>
                    <a:lstStyle/>
                    <a:p>
                      <a:pPr algn="ctr"/>
                      <a:r>
                        <a:rPr sz="1200" b="0" i="0">
                          <a:solidFill>
                            <a:srgbClr val="1F1F1F"/>
                          </a:solidFill>
                          <a:latin typeface="Calibri"/>
                        </a:rPr>
                        <a:t>MC Dropout (50 passes) + split conformal: 91.2% coverage (target 90%), avg set size 1.58</a:t>
                      </a:r>
                    </a:p>
                  </a:txBody>
                  <a:tcPr marL="54864" marR="54864" marT="27432" marB="27432" anchor="ctr">
                    <a:solidFill>
                      <a:srgbClr val="EEF2F8"/>
                    </a:solidFill>
                  </a:tcPr>
                </a:tc>
              </a:tr>
              <a:tr h="475488">
                <a:tc>
                  <a:txBody>
                    <a:bodyPr wrap="square"/>
                    <a:lstStyle/>
                    <a:p>
                      <a:pPr algn="l"/>
                      <a:r>
                        <a:rPr sz="1200" b="1" i="0">
                          <a:solidFill>
                            <a:srgbClr val="1F1F1F"/>
                          </a:solidFill>
                          <a:latin typeface="Calibri"/>
                        </a:rPr>
                        <a:t>Loss / optimiser</a:t>
                      </a:r>
                    </a:p>
                  </a:txBody>
                  <a:tcPr marL="54864" marR="54864" marT="27432" marB="27432" anchor="ctr">
                    <a:solidFill>
                      <a:srgbClr val="FFFFFF"/>
                    </a:solidFill>
                  </a:tcPr>
                </a:tc>
                <a:tc>
                  <a:txBody>
                    <a:bodyPr wrap="square"/>
                    <a:lstStyle/>
                    <a:p>
                      <a:pPr algn="ctr"/>
                      <a:r>
                        <a:rPr sz="1200" b="0" i="0">
                          <a:solidFill>
                            <a:srgbClr val="1F1F1F"/>
                          </a:solidFill>
                          <a:latin typeface="Calibri"/>
                        </a:rPr>
                        <a:t>Class-weighted BCE; AdamW lr 3e-3, weight decay 1e-3, batch 64, early stopping (patience 30)</a:t>
                      </a:r>
                    </a:p>
                  </a:txBody>
                  <a:tcPr marL="54864" marR="54864" marT="27432" marB="27432" anchor="ctr">
                    <a:solidFill>
                      <a:srgbClr val="FFFFFF"/>
                    </a:solidFill>
                  </a:tcPr>
                </a:tc>
              </a:tr>
              <a:tr h="475488">
                <a:tc>
                  <a:txBody>
                    <a:bodyPr wrap="square"/>
                    <a:lstStyle/>
                    <a:p>
                      <a:pPr algn="l"/>
                      <a:r>
                        <a:rPr sz="1200" b="1" i="0">
                          <a:solidFill>
                            <a:srgbClr val="1F1F1F"/>
                          </a:solidFill>
                          <a:latin typeface="Calibri"/>
                        </a:rPr>
                        <a:t>Parameters / train time</a:t>
                      </a:r>
                    </a:p>
                  </a:txBody>
                  <a:tcPr marL="54864" marR="54864" marT="27432" marB="27432" anchor="ctr">
                    <a:solidFill>
                      <a:srgbClr val="EEF2F8"/>
                    </a:solidFill>
                  </a:tcPr>
                </a:tc>
                <a:tc>
                  <a:txBody>
                    <a:bodyPr wrap="square"/>
                    <a:lstStyle/>
                    <a:p>
                      <a:pPr algn="ctr"/>
                      <a:r>
                        <a:rPr sz="1200" b="0" i="0">
                          <a:solidFill>
                            <a:srgbClr val="1F1F1F"/>
                          </a:solidFill>
                          <a:latin typeface="Calibri"/>
                        </a:rPr>
                        <a:t>1,775 trainable / 1.3 s per fold (CPU)</a:t>
                      </a:r>
                    </a:p>
                  </a:txBody>
                  <a:tcPr marL="54864" marR="54864" marT="27432" marB="27432" anchor="ctr">
                    <a:solidFill>
                      <a:srgbClr val="EEF2F8"/>
                    </a:solidFill>
                  </a:tcPr>
                </a:tc>
              </a:tr>
              <a:tr h="475488">
                <a:tc>
                  <a:txBody>
                    <a:bodyPr wrap="square"/>
                    <a:lstStyle/>
                    <a:p>
                      <a:pPr algn="l"/>
                      <a:r>
                        <a:rPr sz="1200" b="1" i="0">
                          <a:solidFill>
                            <a:srgbClr val="1F1F1F"/>
                          </a:solidFill>
                          <a:latin typeface="Calibri"/>
                        </a:rPr>
                        <a:t>Validation</a:t>
                      </a:r>
                    </a:p>
                  </a:txBody>
                  <a:tcPr marL="54864" marR="54864" marT="27432" marB="27432" anchor="ctr">
                    <a:solidFill>
                      <a:srgbClr val="FFFFFF"/>
                    </a:solidFill>
                  </a:tcPr>
                </a:tc>
                <a:tc>
                  <a:txBody>
                    <a:bodyPr wrap="square"/>
                    <a:lstStyle/>
                    <a:p>
                      <a:pPr algn="ctr"/>
                      <a:r>
                        <a:rPr sz="1200" b="0" i="0">
                          <a:solidFill>
                            <a:srgbClr val="1F1F1F"/>
                          </a:solidFill>
                          <a:latin typeface="Calibri"/>
                        </a:rPr>
                        <a:t>Repeated stratified 5-fold × 5 (25 folds) + leave-one-state-out</a:t>
                      </a:r>
                    </a:p>
                  </a:txBody>
                  <a:tcPr marL="54864" marR="54864" marT="27432" marB="27432" anchor="ctr">
                    <a:solidFill>
                      <a:srgbClr val="FFFFFF"/>
                    </a:solidFill>
                  </a:tcPr>
                </a:tc>
              </a:tr>
              <a:tr h="475488">
                <a:tc>
                  <a:txBody>
                    <a:bodyPr wrap="square"/>
                    <a:lstStyle/>
                    <a:p>
                      <a:pPr algn="l"/>
                      <a:r>
                        <a:rPr sz="1200" b="1" i="0">
                          <a:solidFill>
                            <a:srgbClr val="1F1F1F"/>
                          </a:solidFill>
                          <a:latin typeface="Calibri"/>
                        </a:rPr>
                        <a:t>Target</a:t>
                      </a:r>
                    </a:p>
                  </a:txBody>
                  <a:tcPr marL="54864" marR="54864" marT="27432" marB="27432" anchor="ctr">
                    <a:solidFill>
                      <a:srgbClr val="EEF2F8"/>
                    </a:solidFill>
                  </a:tcPr>
                </a:tc>
                <a:tc>
                  <a:txBody>
                    <a:bodyPr wrap="square"/>
                    <a:lstStyle/>
                    <a:p>
                      <a:pPr algn="ctr"/>
                      <a:r>
                        <a:rPr sz="1200" b="0" i="0">
                          <a:solidFill>
                            <a:srgbClr val="1F1F1F"/>
                          </a:solidFill>
                          <a:latin typeface="Calibri"/>
                        </a:rPr>
                        <a:t>High vs Low vulnerability (median of 2021 index); index never an input</a:t>
                      </a:r>
                    </a:p>
                  </a:txBody>
                  <a:tcPr marL="54864" marR="54864" marT="27432" marB="27432" anchor="ctr">
                    <a:solidFill>
                      <a:srgbClr val="EEF2F8"/>
                    </a:solidFill>
                  </a:tcPr>
                </a:tc>
              </a:tr>
            </a:tbl>
          </a:graphicData>
        </a:graphic>
      </p:graphicFrame>
      <p:sp>
        <p:nvSpPr>
          <p:cNvPr id="5" name="TextBox 4"/>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400" b="1" i="0">
                <a:solidFill>
                  <a:srgbClr val="1B3A6B"/>
                </a:solidFill>
                <a:latin typeface="Times New Roman"/>
              </a:rPr>
              <a:t>Comparison with Existing Classifier Models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80" cy="3520440"/>
        </p:xfrm>
        <a:graphic>
          <a:graphicData uri="http://schemas.openxmlformats.org/drawingml/2006/table">
            <a:tbl>
              <a:tblPr firstRow="1" bandRow="1">
                <a:tableStyleId>{5C22544A-7EE6-4342-B048-85BDC9FD1C3A}</a:tableStyleId>
              </a:tblPr>
              <a:tblGrid>
                <a:gridCol w="2057400"/>
                <a:gridCol w="1554480"/>
                <a:gridCol w="960120"/>
                <a:gridCol w="960120"/>
                <a:gridCol w="960120"/>
                <a:gridCol w="914400"/>
                <a:gridCol w="1005840"/>
              </a:tblGrid>
              <a:tr h="502920">
                <a:tc>
                  <a:txBody>
                    <a:bodyPr wrap="square"/>
                    <a:lstStyle/>
                    <a:p>
                      <a:pPr algn="l"/>
                      <a:r>
                        <a:rPr sz="1200" b="1" i="0">
                          <a:solidFill>
                            <a:srgbClr val="FFFFFF"/>
                          </a:solidFill>
                          <a:latin typeface="Calibri"/>
                        </a:rPr>
                        <a:t>Model</a:t>
                      </a:r>
                    </a:p>
                  </a:txBody>
                  <a:tcPr marL="54864" marR="54864" marT="27432" marB="27432" anchor="ctr">
                    <a:solidFill>
                      <a:srgbClr val="1B3A6B"/>
                    </a:solidFill>
                  </a:tcPr>
                </a:tc>
                <a:tc>
                  <a:txBody>
                    <a:bodyPr wrap="square"/>
                    <a:lstStyle/>
                    <a:p>
                      <a:pPr algn="ctr"/>
                      <a:r>
                        <a:rPr sz="1200" b="1" i="0">
                          <a:solidFill>
                            <a:srgbClr val="FFFFFF"/>
                          </a:solidFill>
                          <a:latin typeface="Calibri"/>
                        </a:rPr>
                        <a:t>Type / Tool</a:t>
                      </a:r>
                    </a:p>
                  </a:txBody>
                  <a:tcPr marL="54864" marR="54864" marT="27432" marB="27432" anchor="ctr">
                    <a:solidFill>
                      <a:srgbClr val="1B3A6B"/>
                    </a:solidFill>
                  </a:tcPr>
                </a:tc>
                <a:tc>
                  <a:txBody>
                    <a:bodyPr wrap="square"/>
                    <a:lstStyle/>
                    <a:p>
                      <a:pPr algn="ctr"/>
                      <a:r>
                        <a:rPr sz="1200" b="1" i="0">
                          <a:solidFill>
                            <a:srgbClr val="FFFFFF"/>
                          </a:solidFill>
                          <a:latin typeface="Calibri"/>
                        </a:rPr>
                        <a:t>ROC-AUC</a:t>
                      </a:r>
                    </a:p>
                  </a:txBody>
                  <a:tcPr marL="54864" marR="54864" marT="27432" marB="27432" anchor="ctr">
                    <a:solidFill>
                      <a:srgbClr val="1B3A6B"/>
                    </a:solidFill>
                  </a:tcPr>
                </a:tc>
                <a:tc>
                  <a:txBody>
                    <a:bodyPr wrap="square"/>
                    <a:lstStyle/>
                    <a:p>
                      <a:pPr algn="ctr"/>
                      <a:r>
                        <a:rPr sz="1200" b="1" i="0">
                          <a:solidFill>
                            <a:srgbClr val="FFFFFF"/>
                          </a:solidFill>
                          <a:latin typeface="Calibri"/>
                        </a:rPr>
                        <a:t>Bal. acc.</a:t>
                      </a:r>
                    </a:p>
                  </a:txBody>
                  <a:tcPr marL="54864" marR="54864" marT="27432" marB="27432" anchor="ctr">
                    <a:solidFill>
                      <a:srgbClr val="1B3A6B"/>
                    </a:solidFill>
                  </a:tcPr>
                </a:tc>
                <a:tc>
                  <a:txBody>
                    <a:bodyPr wrap="square"/>
                    <a:lstStyle/>
                    <a:p>
                      <a:pPr algn="ctr"/>
                      <a:r>
                        <a:rPr sz="1200" b="1" i="0">
                          <a:solidFill>
                            <a:srgbClr val="FFFFFF"/>
                          </a:solidFill>
                          <a:latin typeface="Calibri"/>
                        </a:rPr>
                        <a:t>Accuracy</a:t>
                      </a:r>
                    </a:p>
                  </a:txBody>
                  <a:tcPr marL="54864" marR="54864" marT="27432" marB="27432" anchor="ctr">
                    <a:solidFill>
                      <a:srgbClr val="1B3A6B"/>
                    </a:solidFill>
                  </a:tcPr>
                </a:tc>
                <a:tc>
                  <a:txBody>
                    <a:bodyPr wrap="square"/>
                    <a:lstStyle/>
                    <a:p>
                      <a:pPr algn="ctr"/>
                      <a:r>
                        <a:rPr sz="1200" b="1" i="0">
                          <a:solidFill>
                            <a:srgbClr val="FFFFFF"/>
                          </a:solidFill>
                          <a:latin typeface="Calibri"/>
                        </a:rPr>
                        <a:t>F1</a:t>
                      </a:r>
                    </a:p>
                  </a:txBody>
                  <a:tcPr marL="54864" marR="54864" marT="27432" marB="27432" anchor="ctr">
                    <a:solidFill>
                      <a:srgbClr val="1B3A6B"/>
                    </a:solidFill>
                  </a:tcPr>
                </a:tc>
                <a:tc>
                  <a:txBody>
                    <a:bodyPr wrap="square"/>
                    <a:lstStyle/>
                    <a:p>
                      <a:pPr algn="ctr"/>
                      <a:r>
                        <a:rPr sz="1200" b="1" i="0">
                          <a:solidFill>
                            <a:srgbClr val="FFFFFF"/>
                          </a:solidFill>
                          <a:latin typeface="Calibri"/>
                        </a:rPr>
                        <a:t>LOSO AUC</a:t>
                      </a:r>
                    </a:p>
                  </a:txBody>
                  <a:tcPr marL="54864" marR="54864" marT="27432" marB="27432" anchor="ctr">
                    <a:solidFill>
                      <a:srgbClr val="1B3A6B"/>
                    </a:solidFill>
                  </a:tcPr>
                </a:tc>
              </a:tr>
              <a:tr h="502920">
                <a:tc>
                  <a:txBody>
                    <a:bodyPr wrap="square"/>
                    <a:lstStyle/>
                    <a:p>
                      <a:pPr algn="l"/>
                      <a:r>
                        <a:rPr sz="1200" b="1" i="0">
                          <a:solidFill>
                            <a:srgbClr val="1F1F1F"/>
                          </a:solidFill>
                          <a:latin typeface="Calibri"/>
                        </a:rPr>
                        <a:t>A-CPN (proposed)</a:t>
                      </a:r>
                    </a:p>
                  </a:txBody>
                  <a:tcPr marL="54864" marR="54864" marT="27432" marB="27432" anchor="ctr">
                    <a:solidFill>
                      <a:srgbClr val="FFF4CC"/>
                    </a:solidFill>
                  </a:tcPr>
                </a:tc>
                <a:tc>
                  <a:txBody>
                    <a:bodyPr wrap="square"/>
                    <a:lstStyle/>
                    <a:p>
                      <a:pPr algn="ctr"/>
                      <a:r>
                        <a:rPr sz="1200" b="1" i="0">
                          <a:solidFill>
                            <a:srgbClr val="1F1F1F"/>
                          </a:solidFill>
                          <a:latin typeface="Calibri"/>
                        </a:rPr>
                        <a:t>Novel DL · PyTorch</a:t>
                      </a:r>
                    </a:p>
                  </a:txBody>
                  <a:tcPr marL="54864" marR="54864" marT="27432" marB="27432" anchor="ctr">
                    <a:solidFill>
                      <a:srgbClr val="FFF4CC"/>
                    </a:solidFill>
                  </a:tcPr>
                </a:tc>
                <a:tc>
                  <a:txBody>
                    <a:bodyPr wrap="square"/>
                    <a:lstStyle/>
                    <a:p>
                      <a:pPr algn="ctr"/>
                      <a:r>
                        <a:rPr sz="1200" b="1" i="0">
                          <a:solidFill>
                            <a:srgbClr val="1F1F1F"/>
                          </a:solidFill>
                          <a:latin typeface="Calibri"/>
                        </a:rPr>
                        <a:t>0.761</a:t>
                      </a:r>
                    </a:p>
                  </a:txBody>
                  <a:tcPr marL="54864" marR="54864" marT="27432" marB="27432" anchor="ctr">
                    <a:solidFill>
                      <a:srgbClr val="FFF4CC"/>
                    </a:solidFill>
                  </a:tcPr>
                </a:tc>
                <a:tc>
                  <a:txBody>
                    <a:bodyPr wrap="square"/>
                    <a:lstStyle/>
                    <a:p>
                      <a:pPr algn="ctr"/>
                      <a:r>
                        <a:rPr sz="1200" b="1" i="0">
                          <a:solidFill>
                            <a:srgbClr val="1F1F1F"/>
                          </a:solidFill>
                          <a:latin typeface="Calibri"/>
                        </a:rPr>
                        <a:t>0.702</a:t>
                      </a:r>
                    </a:p>
                  </a:txBody>
                  <a:tcPr marL="54864" marR="54864" marT="27432" marB="27432" anchor="ctr">
                    <a:solidFill>
                      <a:srgbClr val="FFF4CC"/>
                    </a:solidFill>
                  </a:tcPr>
                </a:tc>
                <a:tc>
                  <a:txBody>
                    <a:bodyPr wrap="square"/>
                    <a:lstStyle/>
                    <a:p>
                      <a:pPr algn="ctr"/>
                      <a:r>
                        <a:rPr sz="1200" b="1" i="0">
                          <a:solidFill>
                            <a:srgbClr val="1F1F1F"/>
                          </a:solidFill>
                          <a:latin typeface="Calibri"/>
                        </a:rPr>
                        <a:t>0.701</a:t>
                      </a:r>
                    </a:p>
                  </a:txBody>
                  <a:tcPr marL="54864" marR="54864" marT="27432" marB="27432" anchor="ctr">
                    <a:solidFill>
                      <a:srgbClr val="FFF4CC"/>
                    </a:solidFill>
                  </a:tcPr>
                </a:tc>
                <a:tc>
                  <a:txBody>
                    <a:bodyPr wrap="square"/>
                    <a:lstStyle/>
                    <a:p>
                      <a:pPr algn="ctr"/>
                      <a:r>
                        <a:rPr sz="1200" b="1" i="0">
                          <a:solidFill>
                            <a:srgbClr val="1F1F1F"/>
                          </a:solidFill>
                          <a:latin typeface="Calibri"/>
                        </a:rPr>
                        <a:t>0.693</a:t>
                      </a:r>
                    </a:p>
                  </a:txBody>
                  <a:tcPr marL="54864" marR="54864" marT="27432" marB="27432" anchor="ctr">
                    <a:solidFill>
                      <a:srgbClr val="FFF4CC"/>
                    </a:solidFill>
                  </a:tcPr>
                </a:tc>
                <a:tc>
                  <a:txBody>
                    <a:bodyPr wrap="square"/>
                    <a:lstStyle/>
                    <a:p>
                      <a:pPr algn="ctr"/>
                      <a:r>
                        <a:rPr sz="1200" b="1" i="0">
                          <a:solidFill>
                            <a:srgbClr val="1F1F1F"/>
                          </a:solidFill>
                          <a:latin typeface="Calibri"/>
                        </a:rPr>
                        <a:t>0.693</a:t>
                      </a:r>
                    </a:p>
                  </a:txBody>
                  <a:tcPr marL="54864" marR="54864" marT="27432" marB="27432" anchor="ctr">
                    <a:solidFill>
                      <a:srgbClr val="FFF4CC"/>
                    </a:solidFill>
                  </a:tcPr>
                </a:tc>
              </a:tr>
              <a:tr h="502920">
                <a:tc>
                  <a:txBody>
                    <a:bodyPr wrap="square"/>
                    <a:lstStyle/>
                    <a:p>
                      <a:pPr algn="l"/>
                      <a:r>
                        <a:rPr sz="1200" b="1" i="0">
                          <a:solidFill>
                            <a:srgbClr val="1F1F1F"/>
                          </a:solidFill>
                          <a:latin typeface="Calibri"/>
                        </a:rPr>
                        <a:t>Logistic Regression</a:t>
                      </a:r>
                    </a:p>
                  </a:txBody>
                  <a:tcPr marL="54864" marR="54864" marT="27432" marB="27432" anchor="ctr">
                    <a:solidFill>
                      <a:srgbClr val="EEF2F8"/>
                    </a:solidFill>
                  </a:tcPr>
                </a:tc>
                <a:tc>
                  <a:txBody>
                    <a:bodyPr wrap="square"/>
                    <a:lstStyle/>
                    <a:p>
                      <a:pPr algn="ctr"/>
                      <a:r>
                        <a:rPr sz="1200" b="0" i="0">
                          <a:solidFill>
                            <a:srgbClr val="1F1F1F"/>
                          </a:solidFill>
                          <a:latin typeface="Calibri"/>
                        </a:rPr>
                        <a:t>Spark MLlib</a:t>
                      </a:r>
                    </a:p>
                  </a:txBody>
                  <a:tcPr marL="54864" marR="54864" marT="27432" marB="27432" anchor="ctr">
                    <a:solidFill>
                      <a:srgbClr val="EEF2F8"/>
                    </a:solidFill>
                  </a:tcPr>
                </a:tc>
                <a:tc>
                  <a:txBody>
                    <a:bodyPr wrap="square"/>
                    <a:lstStyle/>
                    <a:p>
                      <a:pPr algn="ctr"/>
                      <a:r>
                        <a:rPr sz="1200" b="0" i="0">
                          <a:solidFill>
                            <a:srgbClr val="1F1F1F"/>
                          </a:solidFill>
                          <a:latin typeface="Calibri"/>
                        </a:rPr>
                        <a:t>0.747</a:t>
                      </a:r>
                    </a:p>
                  </a:txBody>
                  <a:tcPr marL="54864" marR="54864" marT="27432" marB="27432" anchor="ctr">
                    <a:solidFill>
                      <a:srgbClr val="EEF2F8"/>
                    </a:solidFill>
                  </a:tcPr>
                </a:tc>
                <a:tc>
                  <a:txBody>
                    <a:bodyPr wrap="square"/>
                    <a:lstStyle/>
                    <a:p>
                      <a:pPr algn="ctr"/>
                      <a:r>
                        <a:rPr sz="1200" b="0" i="0">
                          <a:solidFill>
                            <a:srgbClr val="1F1F1F"/>
                          </a:solidFill>
                          <a:latin typeface="Calibri"/>
                        </a:rPr>
                        <a:t>0.691</a:t>
                      </a:r>
                    </a:p>
                  </a:txBody>
                  <a:tcPr marL="54864" marR="54864" marT="27432" marB="27432" anchor="ctr">
                    <a:solidFill>
                      <a:srgbClr val="EEF2F8"/>
                    </a:solidFill>
                  </a:tcPr>
                </a:tc>
                <a:tc>
                  <a:txBody>
                    <a:bodyPr wrap="square"/>
                    <a:lstStyle/>
                    <a:p>
                      <a:pPr algn="ctr"/>
                      <a:r>
                        <a:rPr sz="1200" b="0" i="0">
                          <a:solidFill>
                            <a:srgbClr val="1F1F1F"/>
                          </a:solidFill>
                          <a:latin typeface="Calibri"/>
                        </a:rPr>
                        <a:t>0.692</a:t>
                      </a:r>
                    </a:p>
                  </a:txBody>
                  <a:tcPr marL="54864" marR="54864" marT="27432" marB="27432" anchor="ctr">
                    <a:solidFill>
                      <a:srgbClr val="EEF2F8"/>
                    </a:solidFill>
                  </a:tcPr>
                </a:tc>
                <a:tc>
                  <a:txBody>
                    <a:bodyPr wrap="square"/>
                    <a:lstStyle/>
                    <a:p>
                      <a:pPr algn="ctr"/>
                      <a:r>
                        <a:rPr sz="1200" b="0" i="0">
                          <a:solidFill>
                            <a:srgbClr val="1F1F1F"/>
                          </a:solidFill>
                          <a:latin typeface="Calibri"/>
                        </a:rPr>
                        <a:t>0.701</a:t>
                      </a:r>
                    </a:p>
                  </a:txBody>
                  <a:tcPr marL="54864" marR="54864" marT="27432" marB="27432" anchor="ctr">
                    <a:solidFill>
                      <a:srgbClr val="EEF2F8"/>
                    </a:solidFill>
                  </a:tcPr>
                </a:tc>
                <a:tc>
                  <a:txBody>
                    <a:bodyPr wrap="square"/>
                    <a:lstStyle/>
                    <a:p>
                      <a:pPr algn="ctr"/>
                      <a:r>
                        <a:rPr sz="1200" b="0" i="0">
                          <a:solidFill>
                            <a:srgbClr val="1F1F1F"/>
                          </a:solidFill>
                          <a:latin typeface="Calibri"/>
                        </a:rPr>
                        <a:t>0.661</a:t>
                      </a:r>
                    </a:p>
                  </a:txBody>
                  <a:tcPr marL="54864" marR="54864" marT="27432" marB="27432" anchor="ctr">
                    <a:solidFill>
                      <a:srgbClr val="EEF2F8"/>
                    </a:solidFill>
                  </a:tcPr>
                </a:tc>
              </a:tr>
              <a:tr h="502920">
                <a:tc>
                  <a:txBody>
                    <a:bodyPr wrap="square"/>
                    <a:lstStyle/>
                    <a:p>
                      <a:pPr algn="l"/>
                      <a:r>
                        <a:rPr sz="1200" b="1" i="0">
                          <a:solidFill>
                            <a:srgbClr val="1F1F1F"/>
                          </a:solidFill>
                          <a:latin typeface="Calibri"/>
                        </a:rPr>
                        <a:t>Random Forest</a:t>
                      </a:r>
                    </a:p>
                  </a:txBody>
                  <a:tcPr marL="54864" marR="54864" marT="27432" marB="27432" anchor="ctr">
                    <a:solidFill>
                      <a:srgbClr val="FFFFFF"/>
                    </a:solidFill>
                  </a:tcPr>
                </a:tc>
                <a:tc>
                  <a:txBody>
                    <a:bodyPr wrap="square"/>
                    <a:lstStyle/>
                    <a:p>
                      <a:pPr algn="ctr"/>
                      <a:r>
                        <a:rPr sz="1200" b="0" i="0">
                          <a:solidFill>
                            <a:srgbClr val="1F1F1F"/>
                          </a:solidFill>
                          <a:latin typeface="Calibri"/>
                        </a:rPr>
                        <a:t>Spark MLlib</a:t>
                      </a:r>
                    </a:p>
                  </a:txBody>
                  <a:tcPr marL="54864" marR="54864" marT="27432" marB="27432" anchor="ctr">
                    <a:solidFill>
                      <a:srgbClr val="FFFFFF"/>
                    </a:solidFill>
                  </a:tcPr>
                </a:tc>
                <a:tc>
                  <a:txBody>
                    <a:bodyPr wrap="square"/>
                    <a:lstStyle/>
                    <a:p>
                      <a:pPr algn="ctr"/>
                      <a:r>
                        <a:rPr sz="1200" b="0" i="0">
                          <a:solidFill>
                            <a:srgbClr val="1F1F1F"/>
                          </a:solidFill>
                          <a:latin typeface="Calibri"/>
                        </a:rPr>
                        <a:t>0.804</a:t>
                      </a:r>
                    </a:p>
                  </a:txBody>
                  <a:tcPr marL="54864" marR="54864" marT="27432" marB="27432" anchor="ctr">
                    <a:solidFill>
                      <a:srgbClr val="FFFFFF"/>
                    </a:solidFill>
                  </a:tcPr>
                </a:tc>
                <a:tc>
                  <a:txBody>
                    <a:bodyPr wrap="square"/>
                    <a:lstStyle/>
                    <a:p>
                      <a:pPr algn="ctr"/>
                      <a:r>
                        <a:rPr sz="1200" b="0" i="0">
                          <a:solidFill>
                            <a:srgbClr val="1F1F1F"/>
                          </a:solidFill>
                          <a:latin typeface="Calibri"/>
                        </a:rPr>
                        <a:t>0.715</a:t>
                      </a:r>
                    </a:p>
                  </a:txBody>
                  <a:tcPr marL="54864" marR="54864" marT="27432" marB="27432" anchor="ctr">
                    <a:solidFill>
                      <a:srgbClr val="FFFFFF"/>
                    </a:solidFill>
                  </a:tcPr>
                </a:tc>
                <a:tc>
                  <a:txBody>
                    <a:bodyPr wrap="square"/>
                    <a:lstStyle/>
                    <a:p>
                      <a:pPr algn="ctr"/>
                      <a:r>
                        <a:rPr sz="1200" b="0" i="0">
                          <a:solidFill>
                            <a:srgbClr val="1F1F1F"/>
                          </a:solidFill>
                          <a:latin typeface="Calibri"/>
                        </a:rPr>
                        <a:t>0.715</a:t>
                      </a:r>
                    </a:p>
                  </a:txBody>
                  <a:tcPr marL="54864" marR="54864" marT="27432" marB="27432" anchor="ctr">
                    <a:solidFill>
                      <a:srgbClr val="FFFFFF"/>
                    </a:solidFill>
                  </a:tcPr>
                </a:tc>
                <a:tc>
                  <a:txBody>
                    <a:bodyPr wrap="square"/>
                    <a:lstStyle/>
                    <a:p>
                      <a:pPr algn="ctr"/>
                      <a:r>
                        <a:rPr sz="1200" b="0" i="0">
                          <a:solidFill>
                            <a:srgbClr val="1F1F1F"/>
                          </a:solidFill>
                          <a:latin typeface="Calibri"/>
                        </a:rPr>
                        <a:t>0.708</a:t>
                      </a:r>
                    </a:p>
                  </a:txBody>
                  <a:tcPr marL="54864" marR="54864" marT="27432" marB="27432" anchor="ctr">
                    <a:solidFill>
                      <a:srgbClr val="FFFFFF"/>
                    </a:solidFill>
                  </a:tcPr>
                </a:tc>
                <a:tc>
                  <a:txBody>
                    <a:bodyPr wrap="square"/>
                    <a:lstStyle/>
                    <a:p>
                      <a:pPr algn="ctr"/>
                      <a:r>
                        <a:rPr sz="1200" b="0" i="0">
                          <a:solidFill>
                            <a:srgbClr val="1F1F1F"/>
                          </a:solidFill>
                          <a:latin typeface="Calibri"/>
                        </a:rPr>
                        <a:t>0.706</a:t>
                      </a:r>
                    </a:p>
                  </a:txBody>
                  <a:tcPr marL="54864" marR="54864" marT="27432" marB="27432" anchor="ctr">
                    <a:solidFill>
                      <a:srgbClr val="FFFFFF"/>
                    </a:solidFill>
                  </a:tcPr>
                </a:tc>
              </a:tr>
              <a:tr h="502920">
                <a:tc>
                  <a:txBody>
                    <a:bodyPr wrap="square"/>
                    <a:lstStyle/>
                    <a:p>
                      <a:pPr algn="l"/>
                      <a:r>
                        <a:rPr sz="1200" b="1" i="0">
                          <a:solidFill>
                            <a:srgbClr val="1F1F1F"/>
                          </a:solidFill>
                          <a:latin typeface="Calibri"/>
                        </a:rPr>
                        <a:t>Gradient-Boosted Trees</a:t>
                      </a:r>
                    </a:p>
                  </a:txBody>
                  <a:tcPr marL="54864" marR="54864" marT="27432" marB="27432" anchor="ctr">
                    <a:solidFill>
                      <a:srgbClr val="EEF2F8"/>
                    </a:solidFill>
                  </a:tcPr>
                </a:tc>
                <a:tc>
                  <a:txBody>
                    <a:bodyPr wrap="square"/>
                    <a:lstStyle/>
                    <a:p>
                      <a:pPr algn="ctr"/>
                      <a:r>
                        <a:rPr sz="1200" b="0" i="0">
                          <a:solidFill>
                            <a:srgbClr val="1F1F1F"/>
                          </a:solidFill>
                          <a:latin typeface="Calibri"/>
                        </a:rPr>
                        <a:t>Spark MLlib</a:t>
                      </a:r>
                    </a:p>
                  </a:txBody>
                  <a:tcPr marL="54864" marR="54864" marT="27432" marB="27432" anchor="ctr">
                    <a:solidFill>
                      <a:srgbClr val="EEF2F8"/>
                    </a:solidFill>
                  </a:tcPr>
                </a:tc>
                <a:tc>
                  <a:txBody>
                    <a:bodyPr wrap="square"/>
                    <a:lstStyle/>
                    <a:p>
                      <a:pPr algn="ctr"/>
                      <a:r>
                        <a:rPr sz="1200" b="0" i="0">
                          <a:solidFill>
                            <a:srgbClr val="1F1F1F"/>
                          </a:solidFill>
                          <a:latin typeface="Calibri"/>
                        </a:rPr>
                        <a:t>0.811</a:t>
                      </a:r>
                    </a:p>
                  </a:txBody>
                  <a:tcPr marL="54864" marR="54864" marT="27432" marB="27432" anchor="ctr">
                    <a:solidFill>
                      <a:srgbClr val="EEF2F8"/>
                    </a:solidFill>
                  </a:tcPr>
                </a:tc>
                <a:tc>
                  <a:txBody>
                    <a:bodyPr wrap="square"/>
                    <a:lstStyle/>
                    <a:p>
                      <a:pPr algn="ctr"/>
                      <a:r>
                        <a:rPr sz="1200" b="0" i="0">
                          <a:solidFill>
                            <a:srgbClr val="1F1F1F"/>
                          </a:solidFill>
                          <a:latin typeface="Calibri"/>
                        </a:rPr>
                        <a:t>0.726</a:t>
                      </a:r>
                    </a:p>
                  </a:txBody>
                  <a:tcPr marL="54864" marR="54864" marT="27432" marB="27432" anchor="ctr">
                    <a:solidFill>
                      <a:srgbClr val="EEF2F8"/>
                    </a:solidFill>
                  </a:tcPr>
                </a:tc>
                <a:tc>
                  <a:txBody>
                    <a:bodyPr wrap="square"/>
                    <a:lstStyle/>
                    <a:p>
                      <a:pPr algn="ctr"/>
                      <a:r>
                        <a:rPr sz="1200" b="0" i="0">
                          <a:solidFill>
                            <a:srgbClr val="1F1F1F"/>
                          </a:solidFill>
                          <a:latin typeface="Calibri"/>
                        </a:rPr>
                        <a:t>0.725</a:t>
                      </a:r>
                    </a:p>
                  </a:txBody>
                  <a:tcPr marL="54864" marR="54864" marT="27432" marB="27432" anchor="ctr">
                    <a:solidFill>
                      <a:srgbClr val="EEF2F8"/>
                    </a:solidFill>
                  </a:tcPr>
                </a:tc>
                <a:tc>
                  <a:txBody>
                    <a:bodyPr wrap="square"/>
                    <a:lstStyle/>
                    <a:p>
                      <a:pPr algn="ctr"/>
                      <a:r>
                        <a:rPr sz="1200" b="0" i="0">
                          <a:solidFill>
                            <a:srgbClr val="1F1F1F"/>
                          </a:solidFill>
                          <a:latin typeface="Calibri"/>
                        </a:rPr>
                        <a:t>0.724</a:t>
                      </a:r>
                    </a:p>
                  </a:txBody>
                  <a:tcPr marL="54864" marR="54864" marT="27432" marB="27432" anchor="ctr">
                    <a:solidFill>
                      <a:srgbClr val="EEF2F8"/>
                    </a:solidFill>
                  </a:tcPr>
                </a:tc>
                <a:tc>
                  <a:txBody>
                    <a:bodyPr wrap="square"/>
                    <a:lstStyle/>
                    <a:p>
                      <a:pPr algn="ctr"/>
                      <a:r>
                        <a:rPr sz="1200" b="0" i="0">
                          <a:solidFill>
                            <a:srgbClr val="1F1F1F"/>
                          </a:solidFill>
                          <a:latin typeface="Calibri"/>
                        </a:rPr>
                        <a:t>0.698</a:t>
                      </a:r>
                    </a:p>
                  </a:txBody>
                  <a:tcPr marL="54864" marR="54864" marT="27432" marB="27432" anchor="ctr">
                    <a:solidFill>
                      <a:srgbClr val="EEF2F8"/>
                    </a:solidFill>
                  </a:tcPr>
                </a:tc>
              </a:tr>
              <a:tr h="502920">
                <a:tc>
                  <a:txBody>
                    <a:bodyPr wrap="square"/>
                    <a:lstStyle/>
                    <a:p>
                      <a:pPr algn="l"/>
                      <a:r>
                        <a:rPr sz="1200" b="1" i="0">
                          <a:solidFill>
                            <a:srgbClr val="1F1F1F"/>
                          </a:solidFill>
                          <a:latin typeface="Calibri"/>
                        </a:rPr>
                        <a:t>Linear SVM</a:t>
                      </a:r>
                    </a:p>
                  </a:txBody>
                  <a:tcPr marL="54864" marR="54864" marT="27432" marB="27432" anchor="ctr">
                    <a:solidFill>
                      <a:srgbClr val="FFFFFF"/>
                    </a:solidFill>
                  </a:tcPr>
                </a:tc>
                <a:tc>
                  <a:txBody>
                    <a:bodyPr wrap="square"/>
                    <a:lstStyle/>
                    <a:p>
                      <a:pPr algn="ctr"/>
                      <a:r>
                        <a:rPr sz="1200" b="0" i="0">
                          <a:solidFill>
                            <a:srgbClr val="1F1F1F"/>
                          </a:solidFill>
                          <a:latin typeface="Calibri"/>
                        </a:rPr>
                        <a:t>Spark MLlib</a:t>
                      </a:r>
                    </a:p>
                  </a:txBody>
                  <a:tcPr marL="54864" marR="54864" marT="27432" marB="27432" anchor="ctr">
                    <a:solidFill>
                      <a:srgbClr val="FFFFFF"/>
                    </a:solidFill>
                  </a:tcPr>
                </a:tc>
                <a:tc>
                  <a:txBody>
                    <a:bodyPr wrap="square"/>
                    <a:lstStyle/>
                    <a:p>
                      <a:pPr algn="ctr"/>
                      <a:r>
                        <a:rPr sz="1200" b="0" i="0">
                          <a:solidFill>
                            <a:srgbClr val="1F1F1F"/>
                          </a:solidFill>
                          <a:latin typeface="Calibri"/>
                        </a:rPr>
                        <a:t>0.755</a:t>
                      </a:r>
                    </a:p>
                  </a:txBody>
                  <a:tcPr marL="54864" marR="54864" marT="27432" marB="27432" anchor="ctr">
                    <a:solidFill>
                      <a:srgbClr val="FFFFFF"/>
                    </a:solidFill>
                  </a:tcPr>
                </a:tc>
                <a:tc>
                  <a:txBody>
                    <a:bodyPr wrap="square"/>
                    <a:lstStyle/>
                    <a:p>
                      <a:pPr algn="ctr"/>
                      <a:r>
                        <a:rPr sz="1200" b="0" i="0">
                          <a:solidFill>
                            <a:srgbClr val="1F1F1F"/>
                          </a:solidFill>
                          <a:latin typeface="Calibri"/>
                        </a:rPr>
                        <a:t>0.696</a:t>
                      </a:r>
                    </a:p>
                  </a:txBody>
                  <a:tcPr marL="54864" marR="54864" marT="27432" marB="27432" anchor="ctr">
                    <a:solidFill>
                      <a:srgbClr val="FFFFFF"/>
                    </a:solidFill>
                  </a:tcPr>
                </a:tc>
                <a:tc>
                  <a:txBody>
                    <a:bodyPr wrap="square"/>
                    <a:lstStyle/>
                    <a:p>
                      <a:pPr algn="ctr"/>
                      <a:r>
                        <a:rPr sz="1200" b="0" i="0">
                          <a:solidFill>
                            <a:srgbClr val="1F1F1F"/>
                          </a:solidFill>
                          <a:latin typeface="Calibri"/>
                        </a:rPr>
                        <a:t>0.696</a:t>
                      </a:r>
                    </a:p>
                  </a:txBody>
                  <a:tcPr marL="54864" marR="54864" marT="27432" marB="27432" anchor="ctr">
                    <a:solidFill>
                      <a:srgbClr val="FFFFFF"/>
                    </a:solidFill>
                  </a:tcPr>
                </a:tc>
                <a:tc>
                  <a:txBody>
                    <a:bodyPr wrap="square"/>
                    <a:lstStyle/>
                    <a:p>
                      <a:pPr algn="ctr"/>
                      <a:r>
                        <a:rPr sz="1200" b="0" i="0">
                          <a:solidFill>
                            <a:srgbClr val="1F1F1F"/>
                          </a:solidFill>
                          <a:latin typeface="Calibri"/>
                        </a:rPr>
                        <a:t>0.708</a:t>
                      </a:r>
                    </a:p>
                  </a:txBody>
                  <a:tcPr marL="54864" marR="54864" marT="27432" marB="27432" anchor="ctr">
                    <a:solidFill>
                      <a:srgbClr val="FFFFFF"/>
                    </a:solidFill>
                  </a:tcPr>
                </a:tc>
                <a:tc>
                  <a:txBody>
                    <a:bodyPr wrap="square"/>
                    <a:lstStyle/>
                    <a:p>
                      <a:pPr algn="ctr"/>
                      <a:r>
                        <a:rPr sz="1200" b="0" i="0">
                          <a:solidFill>
                            <a:srgbClr val="1F1F1F"/>
                          </a:solidFill>
                          <a:latin typeface="Calibri"/>
                        </a:rPr>
                        <a:t>0.691</a:t>
                      </a:r>
                    </a:p>
                  </a:txBody>
                  <a:tcPr marL="54864" marR="54864" marT="27432" marB="27432" anchor="ctr">
                    <a:solidFill>
                      <a:srgbClr val="FFFFFF"/>
                    </a:solidFill>
                  </a:tcPr>
                </a:tc>
              </a:tr>
              <a:tr h="502920">
                <a:tc>
                  <a:txBody>
                    <a:bodyPr wrap="square"/>
                    <a:lstStyle/>
                    <a:p>
                      <a:pPr algn="l"/>
                      <a:r>
                        <a:rPr sz="1200" b="1" i="0">
                          <a:solidFill>
                            <a:srgbClr val="1F1F1F"/>
                          </a:solidFill>
                          <a:latin typeface="Calibri"/>
                        </a:rPr>
                        <a:t>Standard MLP</a:t>
                      </a:r>
                    </a:p>
                  </a:txBody>
                  <a:tcPr marL="54864" marR="54864" marT="27432" marB="27432" anchor="ctr">
                    <a:solidFill>
                      <a:srgbClr val="EEF2F8"/>
                    </a:solidFill>
                  </a:tcPr>
                </a:tc>
                <a:tc>
                  <a:txBody>
                    <a:bodyPr wrap="square"/>
                    <a:lstStyle/>
                    <a:p>
                      <a:pPr algn="ctr"/>
                      <a:r>
                        <a:rPr sz="1200" b="0" i="0">
                          <a:solidFill>
                            <a:srgbClr val="1F1F1F"/>
                          </a:solidFill>
                          <a:latin typeface="Calibri"/>
                        </a:rPr>
                        <a:t>PyTorch</a:t>
                      </a:r>
                    </a:p>
                  </a:txBody>
                  <a:tcPr marL="54864" marR="54864" marT="27432" marB="27432" anchor="ctr">
                    <a:solidFill>
                      <a:srgbClr val="EEF2F8"/>
                    </a:solidFill>
                  </a:tcPr>
                </a:tc>
                <a:tc>
                  <a:txBody>
                    <a:bodyPr wrap="square"/>
                    <a:lstStyle/>
                    <a:p>
                      <a:pPr algn="ctr"/>
                      <a:r>
                        <a:rPr sz="1200" b="0" i="0">
                          <a:solidFill>
                            <a:srgbClr val="1F1F1F"/>
                          </a:solidFill>
                          <a:latin typeface="Calibri"/>
                        </a:rPr>
                        <a:t>0.784</a:t>
                      </a:r>
                    </a:p>
                  </a:txBody>
                  <a:tcPr marL="54864" marR="54864" marT="27432" marB="27432" anchor="ctr">
                    <a:solidFill>
                      <a:srgbClr val="EEF2F8"/>
                    </a:solidFill>
                  </a:tcPr>
                </a:tc>
                <a:tc>
                  <a:txBody>
                    <a:bodyPr wrap="square"/>
                    <a:lstStyle/>
                    <a:p>
                      <a:pPr algn="ctr"/>
                      <a:r>
                        <a:rPr sz="1200" b="0" i="0">
                          <a:solidFill>
                            <a:srgbClr val="1F1F1F"/>
                          </a:solidFill>
                          <a:latin typeface="Calibri"/>
                        </a:rPr>
                        <a:t>0.701</a:t>
                      </a:r>
                    </a:p>
                  </a:txBody>
                  <a:tcPr marL="54864" marR="54864" marT="27432" marB="27432" anchor="ctr">
                    <a:solidFill>
                      <a:srgbClr val="EEF2F8"/>
                    </a:solidFill>
                  </a:tcPr>
                </a:tc>
                <a:tc>
                  <a:txBody>
                    <a:bodyPr wrap="square"/>
                    <a:lstStyle/>
                    <a:p>
                      <a:pPr algn="ctr"/>
                      <a:r>
                        <a:rPr sz="1200" b="0" i="0">
                          <a:solidFill>
                            <a:srgbClr val="1F1F1F"/>
                          </a:solidFill>
                          <a:latin typeface="Calibri"/>
                        </a:rPr>
                        <a:t>0.701</a:t>
                      </a:r>
                    </a:p>
                  </a:txBody>
                  <a:tcPr marL="54864" marR="54864" marT="27432" marB="27432" anchor="ctr">
                    <a:solidFill>
                      <a:srgbClr val="EEF2F8"/>
                    </a:solidFill>
                  </a:tcPr>
                </a:tc>
                <a:tc>
                  <a:txBody>
                    <a:bodyPr wrap="square"/>
                    <a:lstStyle/>
                    <a:p>
                      <a:pPr algn="ctr"/>
                      <a:r>
                        <a:rPr sz="1200" b="0" i="0">
                          <a:solidFill>
                            <a:srgbClr val="1F1F1F"/>
                          </a:solidFill>
                          <a:latin typeface="Calibri"/>
                        </a:rPr>
                        <a:t>0.696</a:t>
                      </a:r>
                    </a:p>
                  </a:txBody>
                  <a:tcPr marL="54864" marR="54864" marT="27432" marB="27432" anchor="ctr">
                    <a:solidFill>
                      <a:srgbClr val="EEF2F8"/>
                    </a:solidFill>
                  </a:tcPr>
                </a:tc>
                <a:tc>
                  <a:txBody>
                    <a:bodyPr wrap="square"/>
                    <a:lstStyle/>
                    <a:p>
                      <a:pPr algn="ctr"/>
                      <a:r>
                        <a:rPr sz="1200" b="0" i="0">
                          <a:solidFill>
                            <a:srgbClr val="1F1F1F"/>
                          </a:solidFill>
                          <a:latin typeface="Calibri"/>
                        </a:rPr>
                        <a:t>0.711</a:t>
                      </a:r>
                    </a:p>
                  </a:txBody>
                  <a:tcPr marL="54864" marR="54864" marT="27432" marB="27432" anchor="ctr">
                    <a:solidFill>
                      <a:srgbClr val="EEF2F8"/>
                    </a:solidFill>
                  </a:tcPr>
                </a:tc>
              </a:tr>
            </a:tbl>
          </a:graphicData>
        </a:graphic>
      </p:graphicFrame>
      <p:sp>
        <p:nvSpPr>
          <p:cNvPr id="5" name="TextBox 4"/>
          <p:cNvSpPr txBox="1"/>
          <p:nvPr/>
        </p:nvSpPr>
        <p:spPr>
          <a:xfrm>
            <a:off x="365760" y="4846320"/>
            <a:ext cx="8412480" cy="1554480"/>
          </a:xfrm>
          <a:prstGeom prst="rect">
            <a:avLst/>
          </a:prstGeom>
          <a:noFill/>
        </p:spPr>
        <p:txBody>
          <a:bodyPr wrap="square" lIns="45720" rIns="45720">
            <a:spAutoFit/>
          </a:bodyPr>
          <a:lstStyle/>
          <a:p>
            <a:pPr>
              <a:spcAft>
                <a:spcPts val="300"/>
              </a:spcAft>
            </a:pPr>
            <a:r>
              <a:rPr sz="1500" b="0" i="0">
                <a:solidFill>
                  <a:srgbClr val="0E6E6E"/>
                </a:solidFill>
                <a:latin typeface="Calibri"/>
              </a:rPr>
              <a:t>▪  </a:t>
            </a:r>
            <a:r>
              <a:rPr sz="1500" b="1" i="0">
                <a:solidFill>
                  <a:srgbClr val="1F1F1F"/>
                </a:solidFill>
                <a:latin typeface="Calibri"/>
              </a:rPr>
              <a:t>Result: </a:t>
            </a:r>
            <a:r>
              <a:rPr sz="1500" b="0" i="0">
                <a:solidFill>
                  <a:srgbClr val="1F1F1F"/>
                </a:solidFill>
                <a:latin typeface="Calibri"/>
              </a:rPr>
              <a:t>Gradient-Boosted Trees is best (ROC-AUC 0.811); A-CPN ranks 4 of 6 (0.761, gap 0.050 &gt; 1 SD = 0.045)</a:t>
            </a:r>
          </a:p>
          <a:p>
            <a:pPr>
              <a:spcAft>
                <a:spcPts val="300"/>
              </a:spcAft>
            </a:pPr>
            <a:r>
              <a:rPr sz="1500" b="0" i="0">
                <a:solidFill>
                  <a:srgbClr val="0E6E6E"/>
                </a:solidFill>
                <a:latin typeface="Calibri"/>
              </a:rPr>
              <a:t>▪  </a:t>
            </a:r>
            <a:r>
              <a:rPr sz="1500" b="1" i="0">
                <a:solidFill>
                  <a:srgbClr val="1F1F1F"/>
                </a:solidFill>
                <a:latin typeface="Calibri"/>
              </a:rPr>
              <a:t>A-CPN is higher than: </a:t>
            </a:r>
            <a:r>
              <a:rPr sz="1500" b="0" i="0">
                <a:solidFill>
                  <a:srgbClr val="1F1F1F"/>
                </a:solidFill>
                <a:latin typeface="Calibri"/>
              </a:rPr>
              <a:t>LR, Linear SVM</a:t>
            </a:r>
          </a:p>
          <a:p>
            <a:pPr>
              <a:spcAft>
                <a:spcPts val="300"/>
              </a:spcAft>
            </a:pPr>
            <a:r>
              <a:rPr sz="1500" b="0" i="0">
                <a:solidFill>
                  <a:srgbClr val="0E6E6E"/>
                </a:solidFill>
                <a:latin typeface="Calibri"/>
              </a:rPr>
              <a:t>▪  </a:t>
            </a:r>
            <a:r>
              <a:rPr sz="1500" b="1" i="0">
                <a:solidFill>
                  <a:srgbClr val="1F1F1F"/>
                </a:solidFill>
                <a:latin typeface="Calibri"/>
              </a:rPr>
              <a:t>A-CPN's added value: </a:t>
            </a:r>
            <a:r>
              <a:rPr sz="1500" b="0" i="0">
                <a:solidFill>
                  <a:srgbClr val="1F1F1F"/>
                </a:solidFill>
                <a:latin typeface="Calibri"/>
              </a:rPr>
              <a:t>a per-district climate push, attention and uncertainty, which the baselines do not give</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Detailed Classifier Metrics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72" cy="3840480"/>
        </p:xfrm>
        <a:graphic>
          <a:graphicData uri="http://schemas.openxmlformats.org/drawingml/2006/table">
            <a:tbl>
              <a:tblPr firstRow="1" bandRow="1">
                <a:tableStyleId>{5C22544A-7EE6-4342-B048-85BDC9FD1C3A}</a:tableStyleId>
              </a:tblPr>
              <a:tblGrid>
                <a:gridCol w="2007316"/>
                <a:gridCol w="711684"/>
                <a:gridCol w="711684"/>
                <a:gridCol w="711684"/>
                <a:gridCol w="711684"/>
                <a:gridCol w="711684"/>
                <a:gridCol w="711684"/>
                <a:gridCol w="711684"/>
                <a:gridCol w="711684"/>
                <a:gridCol w="711684"/>
              </a:tblGrid>
              <a:tr h="548640">
                <a:tc>
                  <a:txBody>
                    <a:bodyPr wrap="square"/>
                    <a:lstStyle/>
                    <a:p>
                      <a:pPr algn="l"/>
                      <a:r>
                        <a:rPr sz="1100" b="1" i="0">
                          <a:solidFill>
                            <a:srgbClr val="FFFFFF"/>
                          </a:solidFill>
                          <a:latin typeface="Calibri"/>
                        </a:rPr>
                        <a:t>Model</a:t>
                      </a:r>
                    </a:p>
                  </a:txBody>
                  <a:tcPr marL="54864" marR="54864" marT="27432" marB="27432" anchor="ctr">
                    <a:solidFill>
                      <a:srgbClr val="1B3A6B"/>
                    </a:solidFill>
                  </a:tcPr>
                </a:tc>
                <a:tc>
                  <a:txBody>
                    <a:bodyPr wrap="square"/>
                    <a:lstStyle/>
                    <a:p>
                      <a:pPr algn="ctr"/>
                      <a:r>
                        <a:rPr sz="1100" b="1" i="0">
                          <a:solidFill>
                            <a:srgbClr val="FFFFFF"/>
                          </a:solidFill>
                          <a:latin typeface="Calibri"/>
                        </a:rPr>
                        <a:t>Prec.</a:t>
                      </a:r>
                    </a:p>
                  </a:txBody>
                  <a:tcPr marL="54864" marR="54864" marT="27432" marB="27432" anchor="ctr">
                    <a:solidFill>
                      <a:srgbClr val="1B3A6B"/>
                    </a:solidFill>
                  </a:tcPr>
                </a:tc>
                <a:tc>
                  <a:txBody>
                    <a:bodyPr wrap="square"/>
                    <a:lstStyle/>
                    <a:p>
                      <a:pPr algn="ctr"/>
                      <a:r>
                        <a:rPr sz="1100" b="1" i="0">
                          <a:solidFill>
                            <a:srgbClr val="FFFFFF"/>
                          </a:solidFill>
                          <a:latin typeface="Calibri"/>
                        </a:rPr>
                        <a:t>Recall</a:t>
                      </a:r>
                    </a:p>
                  </a:txBody>
                  <a:tcPr marL="54864" marR="54864" marT="27432" marB="27432" anchor="ctr">
                    <a:solidFill>
                      <a:srgbClr val="1B3A6B"/>
                    </a:solidFill>
                  </a:tcPr>
                </a:tc>
                <a:tc>
                  <a:txBody>
                    <a:bodyPr wrap="square"/>
                    <a:lstStyle/>
                    <a:p>
                      <a:pPr algn="ctr"/>
                      <a:r>
                        <a:rPr sz="1100" b="1" i="0">
                          <a:solidFill>
                            <a:srgbClr val="FFFFFF"/>
                          </a:solidFill>
                          <a:latin typeface="Calibri"/>
                        </a:rPr>
                        <a:t>Spec.</a:t>
                      </a:r>
                    </a:p>
                  </a:txBody>
                  <a:tcPr marL="54864" marR="54864" marT="27432" marB="27432" anchor="ctr">
                    <a:solidFill>
                      <a:srgbClr val="1B3A6B"/>
                    </a:solidFill>
                  </a:tcPr>
                </a:tc>
                <a:tc>
                  <a:txBody>
                    <a:bodyPr wrap="square"/>
                    <a:lstStyle/>
                    <a:p>
                      <a:pPr algn="ctr"/>
                      <a:r>
                        <a:rPr sz="1100" b="1" i="0">
                          <a:solidFill>
                            <a:srgbClr val="FFFFFF"/>
                          </a:solidFill>
                          <a:latin typeface="Calibri"/>
                        </a:rPr>
                        <a:t>MCC</a:t>
                      </a:r>
                    </a:p>
                  </a:txBody>
                  <a:tcPr marL="54864" marR="54864" marT="27432" marB="27432" anchor="ctr">
                    <a:solidFill>
                      <a:srgbClr val="1B3A6B"/>
                    </a:solidFill>
                  </a:tcPr>
                </a:tc>
                <a:tc>
                  <a:txBody>
                    <a:bodyPr wrap="square"/>
                    <a:lstStyle/>
                    <a:p>
                      <a:pPr algn="ctr"/>
                      <a:r>
                        <a:rPr sz="1100" b="1" i="0">
                          <a:solidFill>
                            <a:srgbClr val="FFFFFF"/>
                          </a:solidFill>
                          <a:latin typeface="Calibri"/>
                        </a:rPr>
                        <a:t>Kappa</a:t>
                      </a:r>
                    </a:p>
                  </a:txBody>
                  <a:tcPr marL="54864" marR="54864" marT="27432" marB="27432" anchor="ctr">
                    <a:solidFill>
                      <a:srgbClr val="1B3A6B"/>
                    </a:solidFill>
                  </a:tcPr>
                </a:tc>
                <a:tc>
                  <a:txBody>
                    <a:bodyPr wrap="square"/>
                    <a:lstStyle/>
                    <a:p>
                      <a:pPr algn="ctr"/>
                      <a:r>
                        <a:rPr sz="1100" b="1" i="0">
                          <a:solidFill>
                            <a:srgbClr val="FFFFFF"/>
                          </a:solidFill>
                          <a:latin typeface="Calibri"/>
                        </a:rPr>
                        <a:t>PR-AUC</a:t>
                      </a:r>
                    </a:p>
                  </a:txBody>
                  <a:tcPr marL="54864" marR="54864" marT="27432" marB="27432" anchor="ctr">
                    <a:solidFill>
                      <a:srgbClr val="1B3A6B"/>
                    </a:solidFill>
                  </a:tcPr>
                </a:tc>
                <a:tc>
                  <a:txBody>
                    <a:bodyPr wrap="square"/>
                    <a:lstStyle/>
                    <a:p>
                      <a:pPr algn="ctr"/>
                      <a:r>
                        <a:rPr sz="1100" b="1" i="0">
                          <a:solidFill>
                            <a:srgbClr val="FFFFFF"/>
                          </a:solidFill>
                          <a:latin typeface="Calibri"/>
                        </a:rPr>
                        <a:t>Log loss</a:t>
                      </a:r>
                    </a:p>
                  </a:txBody>
                  <a:tcPr marL="54864" marR="54864" marT="27432" marB="27432" anchor="ctr">
                    <a:solidFill>
                      <a:srgbClr val="1B3A6B"/>
                    </a:solidFill>
                  </a:tcPr>
                </a:tc>
                <a:tc>
                  <a:txBody>
                    <a:bodyPr wrap="square"/>
                    <a:lstStyle/>
                    <a:p>
                      <a:pPr algn="ctr"/>
                      <a:r>
                        <a:rPr sz="1100" b="1" i="0">
                          <a:solidFill>
                            <a:srgbClr val="FFFFFF"/>
                          </a:solidFill>
                          <a:latin typeface="Calibri"/>
                        </a:rPr>
                        <a:t>Brier</a:t>
                      </a:r>
                    </a:p>
                  </a:txBody>
                  <a:tcPr marL="54864" marR="54864" marT="27432" marB="27432" anchor="ctr">
                    <a:solidFill>
                      <a:srgbClr val="1B3A6B"/>
                    </a:solidFill>
                  </a:tcPr>
                </a:tc>
                <a:tc>
                  <a:txBody>
                    <a:bodyPr wrap="square"/>
                    <a:lstStyle/>
                    <a:p>
                      <a:pPr algn="ctr"/>
                      <a:r>
                        <a:rPr sz="1100" b="1" i="0">
                          <a:solidFill>
                            <a:srgbClr val="FFFFFF"/>
                          </a:solidFill>
                          <a:latin typeface="Calibri"/>
                        </a:rPr>
                        <a:t>ECE</a:t>
                      </a:r>
                    </a:p>
                  </a:txBody>
                  <a:tcPr marL="54864" marR="54864" marT="27432" marB="27432" anchor="ctr">
                    <a:solidFill>
                      <a:srgbClr val="1B3A6B"/>
                    </a:solidFill>
                  </a:tcPr>
                </a:tc>
              </a:tr>
              <a:tr h="548640">
                <a:tc>
                  <a:txBody>
                    <a:bodyPr wrap="square"/>
                    <a:lstStyle/>
                    <a:p>
                      <a:pPr algn="l"/>
                      <a:r>
                        <a:rPr sz="1100" b="1" i="0">
                          <a:solidFill>
                            <a:srgbClr val="1F1F1F"/>
                          </a:solidFill>
                          <a:latin typeface="Calibri"/>
                        </a:rPr>
                        <a:t>A-CPN (proposed)</a:t>
                      </a:r>
                    </a:p>
                  </a:txBody>
                  <a:tcPr marL="54864" marR="54864" marT="27432" marB="27432" anchor="ctr">
                    <a:solidFill>
                      <a:srgbClr val="FFF4CC"/>
                    </a:solidFill>
                  </a:tcPr>
                </a:tc>
                <a:tc>
                  <a:txBody>
                    <a:bodyPr wrap="square"/>
                    <a:lstStyle/>
                    <a:p>
                      <a:pPr algn="ctr"/>
                      <a:r>
                        <a:rPr sz="1100" b="1" i="0">
                          <a:solidFill>
                            <a:srgbClr val="1F1F1F"/>
                          </a:solidFill>
                          <a:latin typeface="Calibri"/>
                        </a:rPr>
                        <a:t>0.720</a:t>
                      </a:r>
                    </a:p>
                  </a:txBody>
                  <a:tcPr marL="54864" marR="54864" marT="27432" marB="27432" anchor="ctr">
                    <a:solidFill>
                      <a:srgbClr val="FFF4CC"/>
                    </a:solidFill>
                  </a:tcPr>
                </a:tc>
                <a:tc>
                  <a:txBody>
                    <a:bodyPr wrap="square"/>
                    <a:lstStyle/>
                    <a:p>
                      <a:pPr algn="ctr"/>
                      <a:r>
                        <a:rPr sz="1100" b="1" i="0">
                          <a:solidFill>
                            <a:srgbClr val="1F1F1F"/>
                          </a:solidFill>
                          <a:latin typeface="Calibri"/>
                        </a:rPr>
                        <a:t>0.673</a:t>
                      </a:r>
                    </a:p>
                  </a:txBody>
                  <a:tcPr marL="54864" marR="54864" marT="27432" marB="27432" anchor="ctr">
                    <a:solidFill>
                      <a:srgbClr val="FFF4CC"/>
                    </a:solidFill>
                  </a:tcPr>
                </a:tc>
                <a:tc>
                  <a:txBody>
                    <a:bodyPr wrap="square"/>
                    <a:lstStyle/>
                    <a:p>
                      <a:pPr algn="ctr"/>
                      <a:r>
                        <a:rPr sz="1100" b="1" i="0">
                          <a:solidFill>
                            <a:srgbClr val="1F1F1F"/>
                          </a:solidFill>
                          <a:latin typeface="Calibri"/>
                        </a:rPr>
                        <a:t>0.730</a:t>
                      </a:r>
                    </a:p>
                  </a:txBody>
                  <a:tcPr marL="54864" marR="54864" marT="27432" marB="27432" anchor="ctr">
                    <a:solidFill>
                      <a:srgbClr val="FFF4CC"/>
                    </a:solidFill>
                  </a:tcPr>
                </a:tc>
                <a:tc>
                  <a:txBody>
                    <a:bodyPr wrap="square"/>
                    <a:lstStyle/>
                    <a:p>
                      <a:pPr algn="ctr"/>
                      <a:r>
                        <a:rPr sz="1100" b="1" i="0">
                          <a:solidFill>
                            <a:srgbClr val="1F1F1F"/>
                          </a:solidFill>
                          <a:latin typeface="Calibri"/>
                        </a:rPr>
                        <a:t>0.406</a:t>
                      </a:r>
                    </a:p>
                  </a:txBody>
                  <a:tcPr marL="54864" marR="54864" marT="27432" marB="27432" anchor="ctr">
                    <a:solidFill>
                      <a:srgbClr val="FFF4CC"/>
                    </a:solidFill>
                  </a:tcPr>
                </a:tc>
                <a:tc>
                  <a:txBody>
                    <a:bodyPr wrap="square"/>
                    <a:lstStyle/>
                    <a:p>
                      <a:pPr algn="ctr"/>
                      <a:r>
                        <a:rPr sz="1100" b="1" i="0">
                          <a:solidFill>
                            <a:srgbClr val="1F1F1F"/>
                          </a:solidFill>
                          <a:latin typeface="Calibri"/>
                        </a:rPr>
                        <a:t>0.403</a:t>
                      </a:r>
                    </a:p>
                  </a:txBody>
                  <a:tcPr marL="54864" marR="54864" marT="27432" marB="27432" anchor="ctr">
                    <a:solidFill>
                      <a:srgbClr val="FFF4CC"/>
                    </a:solidFill>
                  </a:tcPr>
                </a:tc>
                <a:tc>
                  <a:txBody>
                    <a:bodyPr wrap="square"/>
                    <a:lstStyle/>
                    <a:p>
                      <a:pPr algn="ctr"/>
                      <a:r>
                        <a:rPr sz="1100" b="1" i="0">
                          <a:solidFill>
                            <a:srgbClr val="1F1F1F"/>
                          </a:solidFill>
                          <a:latin typeface="Calibri"/>
                        </a:rPr>
                        <a:t>0.786</a:t>
                      </a:r>
                    </a:p>
                  </a:txBody>
                  <a:tcPr marL="54864" marR="54864" marT="27432" marB="27432" anchor="ctr">
                    <a:solidFill>
                      <a:srgbClr val="FFF4CC"/>
                    </a:solidFill>
                  </a:tcPr>
                </a:tc>
                <a:tc>
                  <a:txBody>
                    <a:bodyPr wrap="square"/>
                    <a:lstStyle/>
                    <a:p>
                      <a:pPr algn="ctr"/>
                      <a:r>
                        <a:rPr sz="1100" b="1" i="0">
                          <a:solidFill>
                            <a:srgbClr val="1F1F1F"/>
                          </a:solidFill>
                          <a:latin typeface="Calibri"/>
                        </a:rPr>
                        <a:t>0.613</a:t>
                      </a:r>
                    </a:p>
                  </a:txBody>
                  <a:tcPr marL="54864" marR="54864" marT="27432" marB="27432" anchor="ctr">
                    <a:solidFill>
                      <a:srgbClr val="FFF4CC"/>
                    </a:solidFill>
                  </a:tcPr>
                </a:tc>
                <a:tc>
                  <a:txBody>
                    <a:bodyPr wrap="square"/>
                    <a:lstStyle/>
                    <a:p>
                      <a:pPr algn="ctr"/>
                      <a:r>
                        <a:rPr sz="1100" b="1" i="0">
                          <a:solidFill>
                            <a:srgbClr val="1F1F1F"/>
                          </a:solidFill>
                          <a:latin typeface="Calibri"/>
                        </a:rPr>
                        <a:t>0.203</a:t>
                      </a:r>
                    </a:p>
                  </a:txBody>
                  <a:tcPr marL="54864" marR="54864" marT="27432" marB="27432" anchor="ctr">
                    <a:solidFill>
                      <a:srgbClr val="FFF4CC"/>
                    </a:solidFill>
                  </a:tcPr>
                </a:tc>
                <a:tc>
                  <a:txBody>
                    <a:bodyPr wrap="square"/>
                    <a:lstStyle/>
                    <a:p>
                      <a:pPr algn="ctr"/>
                      <a:r>
                        <a:rPr sz="1100" b="1" i="0">
                          <a:solidFill>
                            <a:srgbClr val="1F1F1F"/>
                          </a:solidFill>
                          <a:latin typeface="Calibri"/>
                        </a:rPr>
                        <a:t>0.119</a:t>
                      </a:r>
                    </a:p>
                  </a:txBody>
                  <a:tcPr marL="54864" marR="54864" marT="27432" marB="27432" anchor="ctr">
                    <a:solidFill>
                      <a:srgbClr val="FFF4CC"/>
                    </a:solidFill>
                  </a:tcPr>
                </a:tc>
              </a:tr>
              <a:tr h="548640">
                <a:tc>
                  <a:txBody>
                    <a:bodyPr wrap="square"/>
                    <a:lstStyle/>
                    <a:p>
                      <a:pPr algn="l"/>
                      <a:r>
                        <a:rPr sz="1100" b="1" i="0">
                          <a:solidFill>
                            <a:srgbClr val="1F1F1F"/>
                          </a:solidFill>
                          <a:latin typeface="Calibri"/>
                        </a:rPr>
                        <a:t>Logistic Regression</a:t>
                      </a:r>
                    </a:p>
                  </a:txBody>
                  <a:tcPr marL="54864" marR="54864" marT="27432" marB="27432" anchor="ctr">
                    <a:solidFill>
                      <a:srgbClr val="EEF2F8"/>
                    </a:solidFill>
                  </a:tcPr>
                </a:tc>
                <a:tc>
                  <a:txBody>
                    <a:bodyPr wrap="square"/>
                    <a:lstStyle/>
                    <a:p>
                      <a:pPr algn="ctr"/>
                      <a:r>
                        <a:rPr sz="1100" b="0" i="0">
                          <a:solidFill>
                            <a:srgbClr val="1F1F1F"/>
                          </a:solidFill>
                          <a:latin typeface="Calibri"/>
                        </a:rPr>
                        <a:t>0.688</a:t>
                      </a:r>
                    </a:p>
                  </a:txBody>
                  <a:tcPr marL="54864" marR="54864" marT="27432" marB="27432" anchor="ctr">
                    <a:solidFill>
                      <a:srgbClr val="EEF2F8"/>
                    </a:solidFill>
                  </a:tcPr>
                </a:tc>
                <a:tc>
                  <a:txBody>
                    <a:bodyPr wrap="square"/>
                    <a:lstStyle/>
                    <a:p>
                      <a:pPr algn="ctr"/>
                      <a:r>
                        <a:rPr sz="1100" b="0" i="0">
                          <a:solidFill>
                            <a:srgbClr val="1F1F1F"/>
                          </a:solidFill>
                          <a:latin typeface="Calibri"/>
                        </a:rPr>
                        <a:t>0.718</a:t>
                      </a:r>
                    </a:p>
                  </a:txBody>
                  <a:tcPr marL="54864" marR="54864" marT="27432" marB="27432" anchor="ctr">
                    <a:solidFill>
                      <a:srgbClr val="EEF2F8"/>
                    </a:solidFill>
                  </a:tcPr>
                </a:tc>
                <a:tc>
                  <a:txBody>
                    <a:bodyPr wrap="square"/>
                    <a:lstStyle/>
                    <a:p>
                      <a:pPr algn="ctr"/>
                      <a:r>
                        <a:rPr sz="1100" b="0" i="0">
                          <a:solidFill>
                            <a:srgbClr val="1F1F1F"/>
                          </a:solidFill>
                          <a:latin typeface="Calibri"/>
                        </a:rPr>
                        <a:t>0.665</a:t>
                      </a:r>
                    </a:p>
                  </a:txBody>
                  <a:tcPr marL="54864" marR="54864" marT="27432" marB="27432" anchor="ctr">
                    <a:solidFill>
                      <a:srgbClr val="EEF2F8"/>
                    </a:solidFill>
                  </a:tcPr>
                </a:tc>
                <a:tc>
                  <a:txBody>
                    <a:bodyPr wrap="square"/>
                    <a:lstStyle/>
                    <a:p>
                      <a:pPr algn="ctr"/>
                      <a:r>
                        <a:rPr sz="1100" b="0" i="0">
                          <a:solidFill>
                            <a:srgbClr val="1F1F1F"/>
                          </a:solidFill>
                          <a:latin typeface="Calibri"/>
                        </a:rPr>
                        <a:t>0.386</a:t>
                      </a:r>
                    </a:p>
                  </a:txBody>
                  <a:tcPr marL="54864" marR="54864" marT="27432" marB="27432" anchor="ctr">
                    <a:solidFill>
                      <a:srgbClr val="EEF2F8"/>
                    </a:solidFill>
                  </a:tcPr>
                </a:tc>
                <a:tc>
                  <a:txBody>
                    <a:bodyPr wrap="square"/>
                    <a:lstStyle/>
                    <a:p>
                      <a:pPr algn="ctr"/>
                      <a:r>
                        <a:rPr sz="1100" b="0" i="0">
                          <a:solidFill>
                            <a:srgbClr val="1F1F1F"/>
                          </a:solidFill>
                          <a:latin typeface="Calibri"/>
                        </a:rPr>
                        <a:t>0.383</a:t>
                      </a:r>
                    </a:p>
                  </a:txBody>
                  <a:tcPr marL="54864" marR="54864" marT="27432" marB="27432" anchor="ctr">
                    <a:solidFill>
                      <a:srgbClr val="EEF2F8"/>
                    </a:solidFill>
                  </a:tcPr>
                </a:tc>
                <a:tc>
                  <a:txBody>
                    <a:bodyPr wrap="square"/>
                    <a:lstStyle/>
                    <a:p>
                      <a:pPr algn="ctr"/>
                      <a:r>
                        <a:rPr sz="1100" b="0" i="0">
                          <a:solidFill>
                            <a:srgbClr val="1F1F1F"/>
                          </a:solidFill>
                          <a:latin typeface="Calibri"/>
                        </a:rPr>
                        <a:t>0.746</a:t>
                      </a:r>
                    </a:p>
                  </a:txBody>
                  <a:tcPr marL="54864" marR="54864" marT="27432" marB="27432" anchor="ctr">
                    <a:solidFill>
                      <a:srgbClr val="EEF2F8"/>
                    </a:solidFill>
                  </a:tcPr>
                </a:tc>
                <a:tc>
                  <a:txBody>
                    <a:bodyPr wrap="square"/>
                    <a:lstStyle/>
                    <a:p>
                      <a:pPr algn="ctr"/>
                      <a:r>
                        <a:rPr sz="1100" b="0" i="0">
                          <a:solidFill>
                            <a:srgbClr val="1F1F1F"/>
                          </a:solidFill>
                          <a:latin typeface="Calibri"/>
                        </a:rPr>
                        <a:t>0.611</a:t>
                      </a:r>
                    </a:p>
                  </a:txBody>
                  <a:tcPr marL="54864" marR="54864" marT="27432" marB="27432" anchor="ctr">
                    <a:solidFill>
                      <a:srgbClr val="EEF2F8"/>
                    </a:solidFill>
                  </a:tcPr>
                </a:tc>
                <a:tc>
                  <a:txBody>
                    <a:bodyPr wrap="square"/>
                    <a:lstStyle/>
                    <a:p>
                      <a:pPr algn="ctr"/>
                      <a:r>
                        <a:rPr sz="1100" b="0" i="0">
                          <a:solidFill>
                            <a:srgbClr val="1F1F1F"/>
                          </a:solidFill>
                          <a:latin typeface="Calibri"/>
                        </a:rPr>
                        <a:t>0.206</a:t>
                      </a:r>
                    </a:p>
                  </a:txBody>
                  <a:tcPr marL="54864" marR="54864" marT="27432" marB="27432" anchor="ctr">
                    <a:solidFill>
                      <a:srgbClr val="EEF2F8"/>
                    </a:solidFill>
                  </a:tcPr>
                </a:tc>
                <a:tc>
                  <a:txBody>
                    <a:bodyPr wrap="square"/>
                    <a:lstStyle/>
                    <a:p>
                      <a:pPr algn="ctr"/>
                      <a:r>
                        <a:rPr sz="1100" b="0" i="0">
                          <a:solidFill>
                            <a:srgbClr val="1F1F1F"/>
                          </a:solidFill>
                          <a:latin typeface="Calibri"/>
                        </a:rPr>
                        <a:t>0.101</a:t>
                      </a:r>
                    </a:p>
                  </a:txBody>
                  <a:tcPr marL="54864" marR="54864" marT="27432" marB="27432" anchor="ctr">
                    <a:solidFill>
                      <a:srgbClr val="EEF2F8"/>
                    </a:solidFill>
                  </a:tcPr>
                </a:tc>
              </a:tr>
              <a:tr h="548640">
                <a:tc>
                  <a:txBody>
                    <a:bodyPr wrap="square"/>
                    <a:lstStyle/>
                    <a:p>
                      <a:pPr algn="l"/>
                      <a:r>
                        <a:rPr sz="1100" b="1" i="0">
                          <a:solidFill>
                            <a:srgbClr val="1F1F1F"/>
                          </a:solidFill>
                          <a:latin typeface="Calibri"/>
                        </a:rPr>
                        <a:t>Random Forest</a:t>
                      </a:r>
                    </a:p>
                  </a:txBody>
                  <a:tcPr marL="54864" marR="54864" marT="27432" marB="27432" anchor="ctr">
                    <a:solidFill>
                      <a:srgbClr val="FFFFFF"/>
                    </a:solidFill>
                  </a:tcPr>
                </a:tc>
                <a:tc>
                  <a:txBody>
                    <a:bodyPr wrap="square"/>
                    <a:lstStyle/>
                    <a:p>
                      <a:pPr algn="ctr"/>
                      <a:r>
                        <a:rPr sz="1100" b="0" i="0">
                          <a:solidFill>
                            <a:srgbClr val="1F1F1F"/>
                          </a:solidFill>
                          <a:latin typeface="Calibri"/>
                        </a:rPr>
                        <a:t>0.735</a:t>
                      </a:r>
                    </a:p>
                  </a:txBody>
                  <a:tcPr marL="54864" marR="54864" marT="27432" marB="27432" anchor="ctr">
                    <a:solidFill>
                      <a:srgbClr val="FFFFFF"/>
                    </a:solidFill>
                  </a:tcPr>
                </a:tc>
                <a:tc>
                  <a:txBody>
                    <a:bodyPr wrap="square"/>
                    <a:lstStyle/>
                    <a:p>
                      <a:pPr algn="ctr"/>
                      <a:r>
                        <a:rPr sz="1100" b="0" i="0">
                          <a:solidFill>
                            <a:srgbClr val="1F1F1F"/>
                          </a:solidFill>
                          <a:latin typeface="Calibri"/>
                        </a:rPr>
                        <a:t>0.689</a:t>
                      </a:r>
                    </a:p>
                  </a:txBody>
                  <a:tcPr marL="54864" marR="54864" marT="27432" marB="27432" anchor="ctr">
                    <a:solidFill>
                      <a:srgbClr val="FFFFFF"/>
                    </a:solidFill>
                  </a:tcPr>
                </a:tc>
                <a:tc>
                  <a:txBody>
                    <a:bodyPr wrap="square"/>
                    <a:lstStyle/>
                    <a:p>
                      <a:pPr algn="ctr"/>
                      <a:r>
                        <a:rPr sz="1100" b="0" i="0">
                          <a:solidFill>
                            <a:srgbClr val="1F1F1F"/>
                          </a:solidFill>
                          <a:latin typeface="Calibri"/>
                        </a:rPr>
                        <a:t>0.742</a:t>
                      </a:r>
                    </a:p>
                  </a:txBody>
                  <a:tcPr marL="54864" marR="54864" marT="27432" marB="27432" anchor="ctr">
                    <a:solidFill>
                      <a:srgbClr val="FFFFFF"/>
                    </a:solidFill>
                  </a:tcPr>
                </a:tc>
                <a:tc>
                  <a:txBody>
                    <a:bodyPr wrap="square"/>
                    <a:lstStyle/>
                    <a:p>
                      <a:pPr algn="ctr"/>
                      <a:r>
                        <a:rPr sz="1100" b="0" i="0">
                          <a:solidFill>
                            <a:srgbClr val="1F1F1F"/>
                          </a:solidFill>
                          <a:latin typeface="Calibri"/>
                        </a:rPr>
                        <a:t>0.434</a:t>
                      </a:r>
                    </a:p>
                  </a:txBody>
                  <a:tcPr marL="54864" marR="54864" marT="27432" marB="27432" anchor="ctr">
                    <a:solidFill>
                      <a:srgbClr val="FFFFFF"/>
                    </a:solidFill>
                  </a:tcPr>
                </a:tc>
                <a:tc>
                  <a:txBody>
                    <a:bodyPr wrap="square"/>
                    <a:lstStyle/>
                    <a:p>
                      <a:pPr algn="ctr"/>
                      <a:r>
                        <a:rPr sz="1100" b="0" i="0">
                          <a:solidFill>
                            <a:srgbClr val="1F1F1F"/>
                          </a:solidFill>
                          <a:latin typeface="Calibri"/>
                        </a:rPr>
                        <a:t>0.430</a:t>
                      </a:r>
                    </a:p>
                  </a:txBody>
                  <a:tcPr marL="54864" marR="54864" marT="27432" marB="27432" anchor="ctr">
                    <a:solidFill>
                      <a:srgbClr val="FFFFFF"/>
                    </a:solidFill>
                  </a:tcPr>
                </a:tc>
                <a:tc>
                  <a:txBody>
                    <a:bodyPr wrap="square"/>
                    <a:lstStyle/>
                    <a:p>
                      <a:pPr algn="ctr"/>
                      <a:r>
                        <a:rPr sz="1100" b="0" i="0">
                          <a:solidFill>
                            <a:srgbClr val="1F1F1F"/>
                          </a:solidFill>
                          <a:latin typeface="Calibri"/>
                        </a:rPr>
                        <a:t>0.830</a:t>
                      </a:r>
                    </a:p>
                  </a:txBody>
                  <a:tcPr marL="54864" marR="54864" marT="27432" marB="27432" anchor="ctr">
                    <a:solidFill>
                      <a:srgbClr val="FFFFFF"/>
                    </a:solidFill>
                  </a:tcPr>
                </a:tc>
                <a:tc>
                  <a:txBody>
                    <a:bodyPr wrap="square"/>
                    <a:lstStyle/>
                    <a:p>
                      <a:pPr algn="ctr"/>
                      <a:r>
                        <a:rPr sz="1100" b="0" i="0">
                          <a:solidFill>
                            <a:srgbClr val="1F1F1F"/>
                          </a:solidFill>
                          <a:latin typeface="Calibri"/>
                        </a:rPr>
                        <a:t>0.539</a:t>
                      </a:r>
                    </a:p>
                  </a:txBody>
                  <a:tcPr marL="54864" marR="54864" marT="27432" marB="27432" anchor="ctr">
                    <a:solidFill>
                      <a:srgbClr val="FFFFFF"/>
                    </a:solidFill>
                  </a:tcPr>
                </a:tc>
                <a:tc>
                  <a:txBody>
                    <a:bodyPr wrap="square"/>
                    <a:lstStyle/>
                    <a:p>
                      <a:pPr algn="ctr"/>
                      <a:r>
                        <a:rPr sz="1100" b="0" i="0">
                          <a:solidFill>
                            <a:srgbClr val="1F1F1F"/>
                          </a:solidFill>
                          <a:latin typeface="Calibri"/>
                        </a:rPr>
                        <a:t>0.182</a:t>
                      </a:r>
                    </a:p>
                  </a:txBody>
                  <a:tcPr marL="54864" marR="54864" marT="27432" marB="27432" anchor="ctr">
                    <a:solidFill>
                      <a:srgbClr val="FFFFFF"/>
                    </a:solidFill>
                  </a:tcPr>
                </a:tc>
                <a:tc>
                  <a:txBody>
                    <a:bodyPr wrap="square"/>
                    <a:lstStyle/>
                    <a:p>
                      <a:pPr algn="ctr"/>
                      <a:r>
                        <a:rPr sz="1100" b="0" i="0">
                          <a:solidFill>
                            <a:srgbClr val="1F1F1F"/>
                          </a:solidFill>
                          <a:latin typeface="Calibri"/>
                        </a:rPr>
                        <a:t>0.095</a:t>
                      </a:r>
                    </a:p>
                  </a:txBody>
                  <a:tcPr marL="54864" marR="54864" marT="27432" marB="27432" anchor="ctr">
                    <a:solidFill>
                      <a:srgbClr val="FFFFFF"/>
                    </a:solidFill>
                  </a:tcPr>
                </a:tc>
              </a:tr>
              <a:tr h="548640">
                <a:tc>
                  <a:txBody>
                    <a:bodyPr wrap="square"/>
                    <a:lstStyle/>
                    <a:p>
                      <a:pPr algn="l"/>
                      <a:r>
                        <a:rPr sz="1100" b="1" i="0">
                          <a:solidFill>
                            <a:srgbClr val="1F1F1F"/>
                          </a:solidFill>
                          <a:latin typeface="Calibri"/>
                        </a:rPr>
                        <a:t>Gradient-Boosted Trees</a:t>
                      </a:r>
                    </a:p>
                  </a:txBody>
                  <a:tcPr marL="54864" marR="54864" marT="27432" marB="27432" anchor="ctr">
                    <a:solidFill>
                      <a:srgbClr val="EEF2F8"/>
                    </a:solidFill>
                  </a:tcPr>
                </a:tc>
                <a:tc>
                  <a:txBody>
                    <a:bodyPr wrap="square"/>
                    <a:lstStyle/>
                    <a:p>
                      <a:pPr algn="ctr"/>
                      <a:r>
                        <a:rPr sz="1100" b="0" i="0">
                          <a:solidFill>
                            <a:srgbClr val="1F1F1F"/>
                          </a:solidFill>
                          <a:latin typeface="Calibri"/>
                        </a:rPr>
                        <a:t>0.736</a:t>
                      </a:r>
                    </a:p>
                  </a:txBody>
                  <a:tcPr marL="54864" marR="54864" marT="27432" marB="27432" anchor="ctr">
                    <a:solidFill>
                      <a:srgbClr val="EEF2F8"/>
                    </a:solidFill>
                  </a:tcPr>
                </a:tc>
                <a:tc>
                  <a:txBody>
                    <a:bodyPr wrap="square"/>
                    <a:lstStyle/>
                    <a:p>
                      <a:pPr algn="ctr"/>
                      <a:r>
                        <a:rPr sz="1100" b="0" i="0">
                          <a:solidFill>
                            <a:srgbClr val="1F1F1F"/>
                          </a:solidFill>
                          <a:latin typeface="Calibri"/>
                        </a:rPr>
                        <a:t>0.718</a:t>
                      </a:r>
                    </a:p>
                  </a:txBody>
                  <a:tcPr marL="54864" marR="54864" marT="27432" marB="27432" anchor="ctr">
                    <a:solidFill>
                      <a:srgbClr val="EEF2F8"/>
                    </a:solidFill>
                  </a:tcPr>
                </a:tc>
                <a:tc>
                  <a:txBody>
                    <a:bodyPr wrap="square"/>
                    <a:lstStyle/>
                    <a:p>
                      <a:pPr algn="ctr"/>
                      <a:r>
                        <a:rPr sz="1100" b="0" i="0">
                          <a:solidFill>
                            <a:srgbClr val="1F1F1F"/>
                          </a:solidFill>
                          <a:latin typeface="Calibri"/>
                        </a:rPr>
                        <a:t>0.733</a:t>
                      </a:r>
                    </a:p>
                  </a:txBody>
                  <a:tcPr marL="54864" marR="54864" marT="27432" marB="27432" anchor="ctr">
                    <a:solidFill>
                      <a:srgbClr val="EEF2F8"/>
                    </a:solidFill>
                  </a:tcPr>
                </a:tc>
                <a:tc>
                  <a:txBody>
                    <a:bodyPr wrap="square"/>
                    <a:lstStyle/>
                    <a:p>
                      <a:pPr algn="ctr"/>
                      <a:r>
                        <a:rPr sz="1100" b="0" i="0">
                          <a:solidFill>
                            <a:srgbClr val="1F1F1F"/>
                          </a:solidFill>
                          <a:latin typeface="Calibri"/>
                        </a:rPr>
                        <a:t>0.454</a:t>
                      </a:r>
                    </a:p>
                  </a:txBody>
                  <a:tcPr marL="54864" marR="54864" marT="27432" marB="27432" anchor="ctr">
                    <a:solidFill>
                      <a:srgbClr val="EEF2F8"/>
                    </a:solidFill>
                  </a:tcPr>
                </a:tc>
                <a:tc>
                  <a:txBody>
                    <a:bodyPr wrap="square"/>
                    <a:lstStyle/>
                    <a:p>
                      <a:pPr algn="ctr"/>
                      <a:r>
                        <a:rPr sz="1100" b="0" i="0">
                          <a:solidFill>
                            <a:srgbClr val="1F1F1F"/>
                          </a:solidFill>
                          <a:latin typeface="Calibri"/>
                        </a:rPr>
                        <a:t>0.451</a:t>
                      </a:r>
                    </a:p>
                  </a:txBody>
                  <a:tcPr marL="54864" marR="54864" marT="27432" marB="27432" anchor="ctr">
                    <a:solidFill>
                      <a:srgbClr val="EEF2F8"/>
                    </a:solidFill>
                  </a:tcPr>
                </a:tc>
                <a:tc>
                  <a:txBody>
                    <a:bodyPr wrap="square"/>
                    <a:lstStyle/>
                    <a:p>
                      <a:pPr algn="ctr"/>
                      <a:r>
                        <a:rPr sz="1100" b="0" i="0">
                          <a:solidFill>
                            <a:srgbClr val="1F1F1F"/>
                          </a:solidFill>
                          <a:latin typeface="Calibri"/>
                        </a:rPr>
                        <a:t>0.826</a:t>
                      </a:r>
                    </a:p>
                  </a:txBody>
                  <a:tcPr marL="54864" marR="54864" marT="27432" marB="27432" anchor="ctr">
                    <a:solidFill>
                      <a:srgbClr val="EEF2F8"/>
                    </a:solidFill>
                  </a:tcPr>
                </a:tc>
                <a:tc>
                  <a:txBody>
                    <a:bodyPr wrap="square"/>
                    <a:lstStyle/>
                    <a:p>
                      <a:pPr algn="ctr"/>
                      <a:r>
                        <a:rPr sz="1100" b="0" i="0">
                          <a:solidFill>
                            <a:srgbClr val="1F1F1F"/>
                          </a:solidFill>
                          <a:latin typeface="Calibri"/>
                        </a:rPr>
                        <a:t>0.570</a:t>
                      </a:r>
                    </a:p>
                  </a:txBody>
                  <a:tcPr marL="54864" marR="54864" marT="27432" marB="27432" anchor="ctr">
                    <a:solidFill>
                      <a:srgbClr val="EEF2F8"/>
                    </a:solidFill>
                  </a:tcPr>
                </a:tc>
                <a:tc>
                  <a:txBody>
                    <a:bodyPr wrap="square"/>
                    <a:lstStyle/>
                    <a:p>
                      <a:pPr algn="ctr"/>
                      <a:r>
                        <a:rPr sz="1100" b="0" i="0">
                          <a:solidFill>
                            <a:srgbClr val="1F1F1F"/>
                          </a:solidFill>
                          <a:latin typeface="Calibri"/>
                        </a:rPr>
                        <a:t>0.188</a:t>
                      </a:r>
                    </a:p>
                  </a:txBody>
                  <a:tcPr marL="54864" marR="54864" marT="27432" marB="27432" anchor="ctr">
                    <a:solidFill>
                      <a:srgbClr val="EEF2F8"/>
                    </a:solidFill>
                  </a:tcPr>
                </a:tc>
                <a:tc>
                  <a:txBody>
                    <a:bodyPr wrap="square"/>
                    <a:lstStyle/>
                    <a:p>
                      <a:pPr algn="ctr"/>
                      <a:r>
                        <a:rPr sz="1100" b="0" i="0">
                          <a:solidFill>
                            <a:srgbClr val="1F1F1F"/>
                          </a:solidFill>
                          <a:latin typeface="Calibri"/>
                        </a:rPr>
                        <a:t>0.131</a:t>
                      </a:r>
                    </a:p>
                  </a:txBody>
                  <a:tcPr marL="54864" marR="54864" marT="27432" marB="27432" anchor="ctr">
                    <a:solidFill>
                      <a:srgbClr val="EEF2F8"/>
                    </a:solidFill>
                  </a:tcPr>
                </a:tc>
              </a:tr>
              <a:tr h="548640">
                <a:tc>
                  <a:txBody>
                    <a:bodyPr wrap="square"/>
                    <a:lstStyle/>
                    <a:p>
                      <a:pPr algn="l"/>
                      <a:r>
                        <a:rPr sz="1100" b="1" i="0">
                          <a:solidFill>
                            <a:srgbClr val="1F1F1F"/>
                          </a:solidFill>
                          <a:latin typeface="Calibri"/>
                        </a:rPr>
                        <a:t>Linear SVM</a:t>
                      </a:r>
                    </a:p>
                  </a:txBody>
                  <a:tcPr marL="54864" marR="54864" marT="27432" marB="27432" anchor="ctr">
                    <a:solidFill>
                      <a:srgbClr val="FFFFFF"/>
                    </a:solidFill>
                  </a:tcPr>
                </a:tc>
                <a:tc>
                  <a:txBody>
                    <a:bodyPr wrap="square"/>
                    <a:lstStyle/>
                    <a:p>
                      <a:pPr algn="ctr"/>
                      <a:r>
                        <a:rPr sz="1100" b="0" i="0">
                          <a:solidFill>
                            <a:srgbClr val="1F1F1F"/>
                          </a:solidFill>
                          <a:latin typeface="Calibri"/>
                        </a:rPr>
                        <a:t>0.689</a:t>
                      </a:r>
                    </a:p>
                  </a:txBody>
                  <a:tcPr marL="54864" marR="54864" marT="27432" marB="27432" anchor="ctr">
                    <a:solidFill>
                      <a:srgbClr val="FFFFFF"/>
                    </a:solidFill>
                  </a:tcPr>
                </a:tc>
                <a:tc>
                  <a:txBody>
                    <a:bodyPr wrap="square"/>
                    <a:lstStyle/>
                    <a:p>
                      <a:pPr algn="ctr"/>
                      <a:r>
                        <a:rPr sz="1100" b="0" i="0">
                          <a:solidFill>
                            <a:srgbClr val="1F1F1F"/>
                          </a:solidFill>
                          <a:latin typeface="Calibri"/>
                        </a:rPr>
                        <a:t>0.733</a:t>
                      </a:r>
                    </a:p>
                  </a:txBody>
                  <a:tcPr marL="54864" marR="54864" marT="27432" marB="27432" anchor="ctr">
                    <a:solidFill>
                      <a:srgbClr val="FFFFFF"/>
                    </a:solidFill>
                  </a:tcPr>
                </a:tc>
                <a:tc>
                  <a:txBody>
                    <a:bodyPr wrap="square"/>
                    <a:lstStyle/>
                    <a:p>
                      <a:pPr algn="ctr"/>
                      <a:r>
                        <a:rPr sz="1100" b="0" i="0">
                          <a:solidFill>
                            <a:srgbClr val="1F1F1F"/>
                          </a:solidFill>
                          <a:latin typeface="Calibri"/>
                        </a:rPr>
                        <a:t>0.659</a:t>
                      </a:r>
                    </a:p>
                  </a:txBody>
                  <a:tcPr marL="54864" marR="54864" marT="27432" marB="27432" anchor="ctr">
                    <a:solidFill>
                      <a:srgbClr val="FFFFFF"/>
                    </a:solidFill>
                  </a:tcPr>
                </a:tc>
                <a:tc>
                  <a:txBody>
                    <a:bodyPr wrap="square"/>
                    <a:lstStyle/>
                    <a:p>
                      <a:pPr algn="ctr"/>
                      <a:r>
                        <a:rPr sz="1100" b="0" i="0">
                          <a:solidFill>
                            <a:srgbClr val="1F1F1F"/>
                          </a:solidFill>
                          <a:latin typeface="Calibri"/>
                        </a:rPr>
                        <a:t>0.396</a:t>
                      </a:r>
                    </a:p>
                  </a:txBody>
                  <a:tcPr marL="54864" marR="54864" marT="27432" marB="27432" anchor="ctr">
                    <a:solidFill>
                      <a:srgbClr val="FFFFFF"/>
                    </a:solidFill>
                  </a:tcPr>
                </a:tc>
                <a:tc>
                  <a:txBody>
                    <a:bodyPr wrap="square"/>
                    <a:lstStyle/>
                    <a:p>
                      <a:pPr algn="ctr"/>
                      <a:r>
                        <a:rPr sz="1100" b="0" i="0">
                          <a:solidFill>
                            <a:srgbClr val="1F1F1F"/>
                          </a:solidFill>
                          <a:latin typeface="Calibri"/>
                        </a:rPr>
                        <a:t>0.392</a:t>
                      </a:r>
                    </a:p>
                  </a:txBody>
                  <a:tcPr marL="54864" marR="54864" marT="27432" marB="27432" anchor="ctr">
                    <a:solidFill>
                      <a:srgbClr val="FFFFFF"/>
                    </a:solidFill>
                  </a:tcPr>
                </a:tc>
                <a:tc>
                  <a:txBody>
                    <a:bodyPr wrap="square"/>
                    <a:lstStyle/>
                    <a:p>
                      <a:pPr algn="ctr"/>
                      <a:r>
                        <a:rPr sz="1100" b="0" i="0">
                          <a:solidFill>
                            <a:srgbClr val="1F1F1F"/>
                          </a:solidFill>
                          <a:latin typeface="Calibri"/>
                        </a:rPr>
                        <a:t>0.751</a:t>
                      </a:r>
                    </a:p>
                  </a:txBody>
                  <a:tcPr marL="54864" marR="54864" marT="27432" marB="27432" anchor="ctr">
                    <a:solidFill>
                      <a:srgbClr val="FFFFFF"/>
                    </a:solidFill>
                  </a:tcPr>
                </a:tc>
                <a:tc>
                  <a:txBody>
                    <a:bodyPr wrap="square"/>
                    <a:lstStyle/>
                    <a:p>
                      <a:pPr algn="ctr"/>
                      <a:r>
                        <a:rPr sz="1100" b="0" i="0">
                          <a:solidFill>
                            <a:srgbClr val="1F1F1F"/>
                          </a:solidFill>
                          <a:latin typeface="Calibri"/>
                        </a:rPr>
                        <a:t>n/a</a:t>
                      </a:r>
                    </a:p>
                  </a:txBody>
                  <a:tcPr marL="54864" marR="54864" marT="27432" marB="27432" anchor="ctr">
                    <a:solidFill>
                      <a:srgbClr val="FFFFFF"/>
                    </a:solidFill>
                  </a:tcPr>
                </a:tc>
                <a:tc>
                  <a:txBody>
                    <a:bodyPr wrap="square"/>
                    <a:lstStyle/>
                    <a:p>
                      <a:pPr algn="ctr"/>
                      <a:r>
                        <a:rPr sz="1100" b="0" i="0">
                          <a:solidFill>
                            <a:srgbClr val="1F1F1F"/>
                          </a:solidFill>
                          <a:latin typeface="Calibri"/>
                        </a:rPr>
                        <a:t>n/a</a:t>
                      </a:r>
                    </a:p>
                  </a:txBody>
                  <a:tcPr marL="54864" marR="54864" marT="27432" marB="27432" anchor="ctr">
                    <a:solidFill>
                      <a:srgbClr val="FFFFFF"/>
                    </a:solidFill>
                  </a:tcPr>
                </a:tc>
                <a:tc>
                  <a:txBody>
                    <a:bodyPr wrap="square"/>
                    <a:lstStyle/>
                    <a:p>
                      <a:pPr algn="ctr"/>
                      <a:r>
                        <a:rPr sz="1100" b="0" i="0">
                          <a:solidFill>
                            <a:srgbClr val="1F1F1F"/>
                          </a:solidFill>
                          <a:latin typeface="Calibri"/>
                        </a:rPr>
                        <a:t>n/a</a:t>
                      </a:r>
                    </a:p>
                  </a:txBody>
                  <a:tcPr marL="54864" marR="54864" marT="27432" marB="27432" anchor="ctr">
                    <a:solidFill>
                      <a:srgbClr val="FFFFFF"/>
                    </a:solidFill>
                  </a:tcPr>
                </a:tc>
              </a:tr>
              <a:tr h="548640">
                <a:tc>
                  <a:txBody>
                    <a:bodyPr wrap="square"/>
                    <a:lstStyle/>
                    <a:p>
                      <a:pPr algn="l"/>
                      <a:r>
                        <a:rPr sz="1100" b="1" i="0">
                          <a:solidFill>
                            <a:srgbClr val="1F1F1F"/>
                          </a:solidFill>
                          <a:latin typeface="Calibri"/>
                        </a:rPr>
                        <a:t>Standard MLP</a:t>
                      </a:r>
                    </a:p>
                  </a:txBody>
                  <a:tcPr marL="54864" marR="54864" marT="27432" marB="27432" anchor="ctr">
                    <a:solidFill>
                      <a:srgbClr val="EEF2F8"/>
                    </a:solidFill>
                  </a:tcPr>
                </a:tc>
                <a:tc>
                  <a:txBody>
                    <a:bodyPr wrap="square"/>
                    <a:lstStyle/>
                    <a:p>
                      <a:pPr algn="ctr"/>
                      <a:r>
                        <a:rPr sz="1100" b="0" i="0">
                          <a:solidFill>
                            <a:srgbClr val="1F1F1F"/>
                          </a:solidFill>
                          <a:latin typeface="Calibri"/>
                        </a:rPr>
                        <a:t>0.720</a:t>
                      </a:r>
                    </a:p>
                  </a:txBody>
                  <a:tcPr marL="54864" marR="54864" marT="27432" marB="27432" anchor="ctr">
                    <a:solidFill>
                      <a:srgbClr val="EEF2F8"/>
                    </a:solidFill>
                  </a:tcPr>
                </a:tc>
                <a:tc>
                  <a:txBody>
                    <a:bodyPr wrap="square"/>
                    <a:lstStyle/>
                    <a:p>
                      <a:pPr algn="ctr"/>
                      <a:r>
                        <a:rPr sz="1100" b="0" i="0">
                          <a:solidFill>
                            <a:srgbClr val="1F1F1F"/>
                          </a:solidFill>
                          <a:latin typeface="Calibri"/>
                        </a:rPr>
                        <a:t>0.680</a:t>
                      </a:r>
                    </a:p>
                  </a:txBody>
                  <a:tcPr marL="54864" marR="54864" marT="27432" marB="27432" anchor="ctr">
                    <a:solidFill>
                      <a:srgbClr val="EEF2F8"/>
                    </a:solidFill>
                  </a:tcPr>
                </a:tc>
                <a:tc>
                  <a:txBody>
                    <a:bodyPr wrap="square"/>
                    <a:lstStyle/>
                    <a:p>
                      <a:pPr algn="ctr"/>
                      <a:r>
                        <a:rPr sz="1100" b="0" i="0">
                          <a:solidFill>
                            <a:srgbClr val="1F1F1F"/>
                          </a:solidFill>
                          <a:latin typeface="Calibri"/>
                        </a:rPr>
                        <a:t>0.723</a:t>
                      </a:r>
                    </a:p>
                  </a:txBody>
                  <a:tcPr marL="54864" marR="54864" marT="27432" marB="27432" anchor="ctr">
                    <a:solidFill>
                      <a:srgbClr val="EEF2F8"/>
                    </a:solidFill>
                  </a:tcPr>
                </a:tc>
                <a:tc>
                  <a:txBody>
                    <a:bodyPr wrap="square"/>
                    <a:lstStyle/>
                    <a:p>
                      <a:pPr algn="ctr"/>
                      <a:r>
                        <a:rPr sz="1100" b="0" i="0">
                          <a:solidFill>
                            <a:srgbClr val="1F1F1F"/>
                          </a:solidFill>
                          <a:latin typeface="Calibri"/>
                        </a:rPr>
                        <a:t>0.407</a:t>
                      </a:r>
                    </a:p>
                  </a:txBody>
                  <a:tcPr marL="54864" marR="54864" marT="27432" marB="27432" anchor="ctr">
                    <a:solidFill>
                      <a:srgbClr val="EEF2F8"/>
                    </a:solidFill>
                  </a:tcPr>
                </a:tc>
                <a:tc>
                  <a:txBody>
                    <a:bodyPr wrap="square"/>
                    <a:lstStyle/>
                    <a:p>
                      <a:pPr algn="ctr"/>
                      <a:r>
                        <a:rPr sz="1100" b="0" i="0">
                          <a:solidFill>
                            <a:srgbClr val="1F1F1F"/>
                          </a:solidFill>
                          <a:latin typeface="Calibri"/>
                        </a:rPr>
                        <a:t>0.403</a:t>
                      </a:r>
                    </a:p>
                  </a:txBody>
                  <a:tcPr marL="54864" marR="54864" marT="27432" marB="27432" anchor="ctr">
                    <a:solidFill>
                      <a:srgbClr val="EEF2F8"/>
                    </a:solidFill>
                  </a:tcPr>
                </a:tc>
                <a:tc>
                  <a:txBody>
                    <a:bodyPr wrap="square"/>
                    <a:lstStyle/>
                    <a:p>
                      <a:pPr algn="ctr"/>
                      <a:r>
                        <a:rPr sz="1100" b="0" i="0">
                          <a:solidFill>
                            <a:srgbClr val="1F1F1F"/>
                          </a:solidFill>
                          <a:latin typeface="Calibri"/>
                        </a:rPr>
                        <a:t>0.810</a:t>
                      </a:r>
                    </a:p>
                  </a:txBody>
                  <a:tcPr marL="54864" marR="54864" marT="27432" marB="27432" anchor="ctr">
                    <a:solidFill>
                      <a:srgbClr val="EEF2F8"/>
                    </a:solidFill>
                  </a:tcPr>
                </a:tc>
                <a:tc>
                  <a:txBody>
                    <a:bodyPr wrap="square"/>
                    <a:lstStyle/>
                    <a:p>
                      <a:pPr algn="ctr"/>
                      <a:r>
                        <a:rPr sz="1100" b="0" i="0">
                          <a:solidFill>
                            <a:srgbClr val="1F1F1F"/>
                          </a:solidFill>
                          <a:latin typeface="Calibri"/>
                        </a:rPr>
                        <a:t>0.579</a:t>
                      </a:r>
                    </a:p>
                  </a:txBody>
                  <a:tcPr marL="54864" marR="54864" marT="27432" marB="27432" anchor="ctr">
                    <a:solidFill>
                      <a:srgbClr val="EEF2F8"/>
                    </a:solidFill>
                  </a:tcPr>
                </a:tc>
                <a:tc>
                  <a:txBody>
                    <a:bodyPr wrap="square"/>
                    <a:lstStyle/>
                    <a:p>
                      <a:pPr algn="ctr"/>
                      <a:r>
                        <a:rPr sz="1100" b="0" i="0">
                          <a:solidFill>
                            <a:srgbClr val="1F1F1F"/>
                          </a:solidFill>
                          <a:latin typeface="Calibri"/>
                        </a:rPr>
                        <a:t>0.194</a:t>
                      </a:r>
                    </a:p>
                  </a:txBody>
                  <a:tcPr marL="54864" marR="54864" marT="27432" marB="27432" anchor="ctr">
                    <a:solidFill>
                      <a:srgbClr val="EEF2F8"/>
                    </a:solidFill>
                  </a:tcPr>
                </a:tc>
                <a:tc>
                  <a:txBody>
                    <a:bodyPr wrap="square"/>
                    <a:lstStyle/>
                    <a:p>
                      <a:pPr algn="ctr"/>
                      <a:r>
                        <a:rPr sz="1100" b="0" i="0">
                          <a:solidFill>
                            <a:srgbClr val="1F1F1F"/>
                          </a:solidFill>
                          <a:latin typeface="Calibri"/>
                        </a:rPr>
                        <a:t>0.118</a:t>
                      </a:r>
                    </a:p>
                  </a:txBody>
                  <a:tcPr marL="54864" marR="54864" marT="27432" marB="27432" anchor="ctr">
                    <a:solidFill>
                      <a:srgbClr val="EEF2F8"/>
                    </a:solidFill>
                  </a:tcPr>
                </a:tc>
              </a:tr>
            </a:tbl>
          </a:graphicData>
        </a:graphic>
      </p:graphicFrame>
      <p:sp>
        <p:nvSpPr>
          <p:cNvPr id="5" name="TextBox 4"/>
          <p:cNvSpPr txBox="1"/>
          <p:nvPr/>
        </p:nvSpPr>
        <p:spPr>
          <a:xfrm>
            <a:off x="365760" y="5257800"/>
            <a:ext cx="8412480" cy="1097280"/>
          </a:xfrm>
          <a:prstGeom prst="rect">
            <a:avLst/>
          </a:prstGeom>
          <a:noFill/>
        </p:spPr>
        <p:txBody>
          <a:bodyPr wrap="square" lIns="45720" rIns="45720">
            <a:spAutoFit/>
          </a:bodyPr>
          <a:lstStyle/>
          <a:p>
            <a:pPr>
              <a:spcAft>
                <a:spcPts val="300"/>
              </a:spcAft>
            </a:pPr>
            <a:r>
              <a:rPr sz="1500" b="0" i="0">
                <a:solidFill>
                  <a:srgbClr val="0E6E6E"/>
                </a:solidFill>
                <a:latin typeface="Calibri"/>
              </a:rPr>
              <a:t>▪  </a:t>
            </a:r>
            <a:r>
              <a:rPr sz="1500" b="1" i="0">
                <a:solidFill>
                  <a:srgbClr val="1F1F1F"/>
                </a:solidFill>
                <a:latin typeface="Calibri"/>
              </a:rPr>
              <a:t>Higher is better: </a:t>
            </a:r>
            <a:r>
              <a:rPr sz="1500" b="0" i="0">
                <a:solidFill>
                  <a:srgbClr val="1F1F1F"/>
                </a:solidFill>
                <a:latin typeface="Calibri"/>
              </a:rPr>
              <a:t>precision, recall, specificity, MCC, Cohen's kappa, PR-AUC</a:t>
            </a:r>
          </a:p>
          <a:p>
            <a:pPr>
              <a:spcAft>
                <a:spcPts val="300"/>
              </a:spcAft>
            </a:pPr>
            <a:r>
              <a:rPr sz="1500" b="0" i="0">
                <a:solidFill>
                  <a:srgbClr val="0E6E6E"/>
                </a:solidFill>
                <a:latin typeface="Calibri"/>
              </a:rPr>
              <a:t>▪  </a:t>
            </a:r>
            <a:r>
              <a:rPr sz="1500" b="1" i="0">
                <a:solidFill>
                  <a:srgbClr val="1F1F1F"/>
                </a:solidFill>
                <a:latin typeface="Calibri"/>
              </a:rPr>
              <a:t>Lower is better: </a:t>
            </a:r>
            <a:r>
              <a:rPr sz="1500" b="0" i="0">
                <a:solidFill>
                  <a:srgbClr val="1F1F1F"/>
                </a:solidFill>
                <a:latin typeface="Calibri"/>
              </a:rPr>
              <a:t>log loss, Brier, ECE (Linear SVM: n/a, no probabilities)</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600" b="1" i="0">
                <a:solidFill>
                  <a:srgbClr val="1B3A6B"/>
                </a:solidFill>
                <a:latin typeface="Times New Roman"/>
              </a:rPr>
              <a:t>Confusion Matrix, CIs and Significance</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77" cy="3840480"/>
        </p:xfrm>
        <a:graphic>
          <a:graphicData uri="http://schemas.openxmlformats.org/drawingml/2006/table">
            <a:tbl>
              <a:tblPr firstRow="1" bandRow="1">
                <a:tableStyleId>{5C22544A-7EE6-4342-B048-85BDC9FD1C3A}</a:tableStyleId>
              </a:tblPr>
              <a:tblGrid>
                <a:gridCol w="2223988"/>
                <a:gridCol w="773561"/>
                <a:gridCol w="773561"/>
                <a:gridCol w="773561"/>
                <a:gridCol w="773561"/>
                <a:gridCol w="1837208"/>
                <a:gridCol w="1257037"/>
              </a:tblGrid>
              <a:tr h="548640">
                <a:tc>
                  <a:txBody>
                    <a:bodyPr wrap="square"/>
                    <a:lstStyle/>
                    <a:p>
                      <a:pPr algn="l"/>
                      <a:r>
                        <a:rPr sz="1200" b="1" i="0">
                          <a:solidFill>
                            <a:srgbClr val="FFFFFF"/>
                          </a:solidFill>
                          <a:latin typeface="Calibri"/>
                        </a:rPr>
                        <a:t>Model</a:t>
                      </a:r>
                    </a:p>
                  </a:txBody>
                  <a:tcPr marL="54864" marR="54864" marT="27432" marB="27432" anchor="ctr">
                    <a:solidFill>
                      <a:srgbClr val="1B3A6B"/>
                    </a:solidFill>
                  </a:tcPr>
                </a:tc>
                <a:tc>
                  <a:txBody>
                    <a:bodyPr wrap="square"/>
                    <a:lstStyle/>
                    <a:p>
                      <a:pPr algn="ctr"/>
                      <a:r>
                        <a:rPr sz="1200" b="1" i="0">
                          <a:solidFill>
                            <a:srgbClr val="FFFFFF"/>
                          </a:solidFill>
                          <a:latin typeface="Calibri"/>
                        </a:rPr>
                        <a:t>TP</a:t>
                      </a:r>
                    </a:p>
                  </a:txBody>
                  <a:tcPr marL="54864" marR="54864" marT="27432" marB="27432" anchor="ctr">
                    <a:solidFill>
                      <a:srgbClr val="1B3A6B"/>
                    </a:solidFill>
                  </a:tcPr>
                </a:tc>
                <a:tc>
                  <a:txBody>
                    <a:bodyPr wrap="square"/>
                    <a:lstStyle/>
                    <a:p>
                      <a:pPr algn="ctr"/>
                      <a:r>
                        <a:rPr sz="1200" b="1" i="0">
                          <a:solidFill>
                            <a:srgbClr val="FFFFFF"/>
                          </a:solidFill>
                          <a:latin typeface="Calibri"/>
                        </a:rPr>
                        <a:t>TN</a:t>
                      </a:r>
                    </a:p>
                  </a:txBody>
                  <a:tcPr marL="54864" marR="54864" marT="27432" marB="27432" anchor="ctr">
                    <a:solidFill>
                      <a:srgbClr val="1B3A6B"/>
                    </a:solidFill>
                  </a:tcPr>
                </a:tc>
                <a:tc>
                  <a:txBody>
                    <a:bodyPr wrap="square"/>
                    <a:lstStyle/>
                    <a:p>
                      <a:pPr algn="ctr"/>
                      <a:r>
                        <a:rPr sz="1200" b="1" i="0">
                          <a:solidFill>
                            <a:srgbClr val="FFFFFF"/>
                          </a:solidFill>
                          <a:latin typeface="Calibri"/>
                        </a:rPr>
                        <a:t>FP</a:t>
                      </a:r>
                    </a:p>
                  </a:txBody>
                  <a:tcPr marL="54864" marR="54864" marT="27432" marB="27432" anchor="ctr">
                    <a:solidFill>
                      <a:srgbClr val="1B3A6B"/>
                    </a:solidFill>
                  </a:tcPr>
                </a:tc>
                <a:tc>
                  <a:txBody>
                    <a:bodyPr wrap="square"/>
                    <a:lstStyle/>
                    <a:p>
                      <a:pPr algn="ctr"/>
                      <a:r>
                        <a:rPr sz="1200" b="1" i="0">
                          <a:solidFill>
                            <a:srgbClr val="FFFFFF"/>
                          </a:solidFill>
                          <a:latin typeface="Calibri"/>
                        </a:rPr>
                        <a:t>FN</a:t>
                      </a:r>
                    </a:p>
                  </a:txBody>
                  <a:tcPr marL="54864" marR="54864" marT="27432" marB="27432" anchor="ctr">
                    <a:solidFill>
                      <a:srgbClr val="1B3A6B"/>
                    </a:solidFill>
                  </a:tcPr>
                </a:tc>
                <a:tc>
                  <a:txBody>
                    <a:bodyPr wrap="square"/>
                    <a:lstStyle/>
                    <a:p>
                      <a:pPr algn="ctr"/>
                      <a:r>
                        <a:rPr sz="1200" b="1" i="0">
                          <a:solidFill>
                            <a:srgbClr val="FFFFFF"/>
                          </a:solidFill>
                          <a:latin typeface="Calibri"/>
                        </a:rPr>
                        <a:t>ROC-AUC 95% CI</a:t>
                      </a:r>
                    </a:p>
                  </a:txBody>
                  <a:tcPr marL="54864" marR="54864" marT="27432" marB="27432" anchor="ctr">
                    <a:solidFill>
                      <a:srgbClr val="1B3A6B"/>
                    </a:solidFill>
                  </a:tcPr>
                </a:tc>
                <a:tc>
                  <a:txBody>
                    <a:bodyPr wrap="square"/>
                    <a:lstStyle/>
                    <a:p>
                      <a:pPr algn="ctr"/>
                      <a:r>
                        <a:rPr sz="1200" b="1" i="0">
                          <a:solidFill>
                            <a:srgbClr val="FFFFFF"/>
                          </a:solidFill>
                          <a:latin typeface="Calibri"/>
                        </a:rPr>
                        <a:t>p vs A-CPN</a:t>
                      </a:r>
                    </a:p>
                  </a:txBody>
                  <a:tcPr marL="54864" marR="54864" marT="27432" marB="27432" anchor="ctr">
                    <a:solidFill>
                      <a:srgbClr val="1B3A6B"/>
                    </a:solidFill>
                  </a:tcPr>
                </a:tc>
              </a:tr>
              <a:tr h="548640">
                <a:tc>
                  <a:txBody>
                    <a:bodyPr wrap="square"/>
                    <a:lstStyle/>
                    <a:p>
                      <a:pPr algn="l"/>
                      <a:r>
                        <a:rPr sz="1200" b="1" i="0">
                          <a:solidFill>
                            <a:srgbClr val="1F1F1F"/>
                          </a:solidFill>
                          <a:latin typeface="Calibri"/>
                        </a:rPr>
                        <a:t>A-CPN (proposed)</a:t>
                      </a:r>
                    </a:p>
                  </a:txBody>
                  <a:tcPr marL="54864" marR="54864" marT="27432" marB="27432" anchor="ctr">
                    <a:solidFill>
                      <a:srgbClr val="FFF4CC"/>
                    </a:solidFill>
                  </a:tcPr>
                </a:tc>
                <a:tc>
                  <a:txBody>
                    <a:bodyPr wrap="square"/>
                    <a:lstStyle/>
                    <a:p>
                      <a:pPr algn="ctr"/>
                      <a:r>
                        <a:rPr sz="1200" b="1" i="0">
                          <a:solidFill>
                            <a:srgbClr val="1F1F1F"/>
                          </a:solidFill>
                          <a:latin typeface="Calibri"/>
                        </a:rPr>
                        <a:t>798</a:t>
                      </a:r>
                    </a:p>
                  </a:txBody>
                  <a:tcPr marL="54864" marR="54864" marT="27432" marB="27432" anchor="ctr">
                    <a:solidFill>
                      <a:srgbClr val="FFF4CC"/>
                    </a:solidFill>
                  </a:tcPr>
                </a:tc>
                <a:tc>
                  <a:txBody>
                    <a:bodyPr wrap="square"/>
                    <a:lstStyle/>
                    <a:p>
                      <a:pPr algn="ctr"/>
                      <a:r>
                        <a:rPr sz="1200" b="1" i="0">
                          <a:solidFill>
                            <a:srgbClr val="1F1F1F"/>
                          </a:solidFill>
                          <a:latin typeface="Calibri"/>
                        </a:rPr>
                        <a:t>846</a:t>
                      </a:r>
                    </a:p>
                  </a:txBody>
                  <a:tcPr marL="54864" marR="54864" marT="27432" marB="27432" anchor="ctr">
                    <a:solidFill>
                      <a:srgbClr val="FFF4CC"/>
                    </a:solidFill>
                  </a:tcPr>
                </a:tc>
                <a:tc>
                  <a:txBody>
                    <a:bodyPr wrap="square"/>
                    <a:lstStyle/>
                    <a:p>
                      <a:pPr algn="ctr"/>
                      <a:r>
                        <a:rPr sz="1200" b="1" i="0">
                          <a:solidFill>
                            <a:srgbClr val="1F1F1F"/>
                          </a:solidFill>
                          <a:latin typeface="Calibri"/>
                        </a:rPr>
                        <a:t>314</a:t>
                      </a:r>
                    </a:p>
                  </a:txBody>
                  <a:tcPr marL="54864" marR="54864" marT="27432" marB="27432" anchor="ctr">
                    <a:solidFill>
                      <a:srgbClr val="FFF4CC"/>
                    </a:solidFill>
                  </a:tcPr>
                </a:tc>
                <a:tc>
                  <a:txBody>
                    <a:bodyPr wrap="square"/>
                    <a:lstStyle/>
                    <a:p>
                      <a:pPr algn="ctr"/>
                      <a:r>
                        <a:rPr sz="1200" b="1" i="0">
                          <a:solidFill>
                            <a:srgbClr val="1F1F1F"/>
                          </a:solidFill>
                          <a:latin typeface="Calibri"/>
                        </a:rPr>
                        <a:t>387</a:t>
                      </a:r>
                    </a:p>
                  </a:txBody>
                  <a:tcPr marL="54864" marR="54864" marT="27432" marB="27432" anchor="ctr">
                    <a:solidFill>
                      <a:srgbClr val="FFF4CC"/>
                    </a:solidFill>
                  </a:tcPr>
                </a:tc>
                <a:tc>
                  <a:txBody>
                    <a:bodyPr wrap="square"/>
                    <a:lstStyle/>
                    <a:p>
                      <a:pPr algn="ctr"/>
                      <a:r>
                        <a:rPr sz="1200" b="1" i="0">
                          <a:solidFill>
                            <a:srgbClr val="1F1F1F"/>
                          </a:solidFill>
                          <a:latin typeface="Calibri"/>
                        </a:rPr>
                        <a:t>0.711 – 0.811</a:t>
                      </a:r>
                    </a:p>
                  </a:txBody>
                  <a:tcPr marL="54864" marR="54864" marT="27432" marB="27432" anchor="ctr">
                    <a:solidFill>
                      <a:srgbClr val="FFF4CC"/>
                    </a:solidFill>
                  </a:tcPr>
                </a:tc>
                <a:tc>
                  <a:txBody>
                    <a:bodyPr wrap="square"/>
                    <a:lstStyle/>
                    <a:p>
                      <a:pPr algn="ctr"/>
                      <a:r>
                        <a:rPr sz="1200" b="1" i="0">
                          <a:solidFill>
                            <a:srgbClr val="1F1F1F"/>
                          </a:solidFill>
                          <a:latin typeface="Calibri"/>
                        </a:rPr>
                        <a:t>—</a:t>
                      </a:r>
                    </a:p>
                  </a:txBody>
                  <a:tcPr marL="54864" marR="54864" marT="27432" marB="27432" anchor="ctr">
                    <a:solidFill>
                      <a:srgbClr val="FFF4CC"/>
                    </a:solidFill>
                  </a:tcPr>
                </a:tc>
              </a:tr>
              <a:tr h="548640">
                <a:tc>
                  <a:txBody>
                    <a:bodyPr wrap="square"/>
                    <a:lstStyle/>
                    <a:p>
                      <a:pPr algn="l"/>
                      <a:r>
                        <a:rPr sz="1200" b="1" i="0">
                          <a:solidFill>
                            <a:srgbClr val="1F1F1F"/>
                          </a:solidFill>
                          <a:latin typeface="Calibri"/>
                        </a:rPr>
                        <a:t>Logistic Regression</a:t>
                      </a:r>
                    </a:p>
                  </a:txBody>
                  <a:tcPr marL="54864" marR="54864" marT="27432" marB="27432" anchor="ctr">
                    <a:solidFill>
                      <a:srgbClr val="EEF2F8"/>
                    </a:solidFill>
                  </a:tcPr>
                </a:tc>
                <a:tc>
                  <a:txBody>
                    <a:bodyPr wrap="square"/>
                    <a:lstStyle/>
                    <a:p>
                      <a:pPr algn="ctr"/>
                      <a:r>
                        <a:rPr sz="1200" b="0" i="0">
                          <a:solidFill>
                            <a:srgbClr val="1F1F1F"/>
                          </a:solidFill>
                          <a:latin typeface="Calibri"/>
                        </a:rPr>
                        <a:t>851</a:t>
                      </a:r>
                    </a:p>
                  </a:txBody>
                  <a:tcPr marL="54864" marR="54864" marT="27432" marB="27432" anchor="ctr">
                    <a:solidFill>
                      <a:srgbClr val="EEF2F8"/>
                    </a:solidFill>
                  </a:tcPr>
                </a:tc>
                <a:tc>
                  <a:txBody>
                    <a:bodyPr wrap="square"/>
                    <a:lstStyle/>
                    <a:p>
                      <a:pPr algn="ctr"/>
                      <a:r>
                        <a:rPr sz="1200" b="0" i="0">
                          <a:solidFill>
                            <a:srgbClr val="1F1F1F"/>
                          </a:solidFill>
                          <a:latin typeface="Calibri"/>
                        </a:rPr>
                        <a:t>771</a:t>
                      </a:r>
                    </a:p>
                  </a:txBody>
                  <a:tcPr marL="54864" marR="54864" marT="27432" marB="27432" anchor="ctr">
                    <a:solidFill>
                      <a:srgbClr val="EEF2F8"/>
                    </a:solidFill>
                  </a:tcPr>
                </a:tc>
                <a:tc>
                  <a:txBody>
                    <a:bodyPr wrap="square"/>
                    <a:lstStyle/>
                    <a:p>
                      <a:pPr algn="ctr"/>
                      <a:r>
                        <a:rPr sz="1200" b="0" i="0">
                          <a:solidFill>
                            <a:srgbClr val="1F1F1F"/>
                          </a:solidFill>
                          <a:latin typeface="Calibri"/>
                        </a:rPr>
                        <a:t>389</a:t>
                      </a:r>
                    </a:p>
                  </a:txBody>
                  <a:tcPr marL="54864" marR="54864" marT="27432" marB="27432" anchor="ctr">
                    <a:solidFill>
                      <a:srgbClr val="EEF2F8"/>
                    </a:solidFill>
                  </a:tcPr>
                </a:tc>
                <a:tc>
                  <a:txBody>
                    <a:bodyPr wrap="square"/>
                    <a:lstStyle/>
                    <a:p>
                      <a:pPr algn="ctr"/>
                      <a:r>
                        <a:rPr sz="1200" b="0" i="0">
                          <a:solidFill>
                            <a:srgbClr val="1F1F1F"/>
                          </a:solidFill>
                          <a:latin typeface="Calibri"/>
                        </a:rPr>
                        <a:t>334</a:t>
                      </a:r>
                    </a:p>
                  </a:txBody>
                  <a:tcPr marL="54864" marR="54864" marT="27432" marB="27432" anchor="ctr">
                    <a:solidFill>
                      <a:srgbClr val="EEF2F8"/>
                    </a:solidFill>
                  </a:tcPr>
                </a:tc>
                <a:tc>
                  <a:txBody>
                    <a:bodyPr wrap="square"/>
                    <a:lstStyle/>
                    <a:p>
                      <a:pPr algn="ctr"/>
                      <a:r>
                        <a:rPr sz="1200" b="0" i="0">
                          <a:solidFill>
                            <a:srgbClr val="1F1F1F"/>
                          </a:solidFill>
                          <a:latin typeface="Calibri"/>
                        </a:rPr>
                        <a:t>0.700 – 0.793</a:t>
                      </a:r>
                    </a:p>
                  </a:txBody>
                  <a:tcPr marL="54864" marR="54864" marT="27432" marB="27432" anchor="ctr">
                    <a:solidFill>
                      <a:srgbClr val="EEF2F8"/>
                    </a:solidFill>
                  </a:tcPr>
                </a:tc>
                <a:tc>
                  <a:txBody>
                    <a:bodyPr wrap="square"/>
                    <a:lstStyle/>
                    <a:p>
                      <a:pPr algn="ctr"/>
                      <a:r>
                        <a:rPr sz="1200" b="0" i="0">
                          <a:solidFill>
                            <a:srgbClr val="1F1F1F"/>
                          </a:solidFill>
                          <a:latin typeface="Calibri"/>
                        </a:rPr>
                        <a:t>0.594</a:t>
                      </a:r>
                    </a:p>
                  </a:txBody>
                  <a:tcPr marL="54864" marR="54864" marT="27432" marB="27432" anchor="ctr">
                    <a:solidFill>
                      <a:srgbClr val="EEF2F8"/>
                    </a:solidFill>
                  </a:tcPr>
                </a:tc>
              </a:tr>
              <a:tr h="548640">
                <a:tc>
                  <a:txBody>
                    <a:bodyPr wrap="square"/>
                    <a:lstStyle/>
                    <a:p>
                      <a:pPr algn="l"/>
                      <a:r>
                        <a:rPr sz="1200" b="1" i="0">
                          <a:solidFill>
                            <a:srgbClr val="1F1F1F"/>
                          </a:solidFill>
                          <a:latin typeface="Calibri"/>
                        </a:rPr>
                        <a:t>Random Forest</a:t>
                      </a:r>
                    </a:p>
                  </a:txBody>
                  <a:tcPr marL="54864" marR="54864" marT="27432" marB="27432" anchor="ctr">
                    <a:solidFill>
                      <a:srgbClr val="FFFFFF"/>
                    </a:solidFill>
                  </a:tcPr>
                </a:tc>
                <a:tc>
                  <a:txBody>
                    <a:bodyPr wrap="square"/>
                    <a:lstStyle/>
                    <a:p>
                      <a:pPr algn="ctr"/>
                      <a:r>
                        <a:rPr sz="1200" b="0" i="0">
                          <a:solidFill>
                            <a:srgbClr val="1F1F1F"/>
                          </a:solidFill>
                          <a:latin typeface="Calibri"/>
                        </a:rPr>
                        <a:t>816</a:t>
                      </a:r>
                    </a:p>
                  </a:txBody>
                  <a:tcPr marL="54864" marR="54864" marT="27432" marB="27432" anchor="ctr">
                    <a:solidFill>
                      <a:srgbClr val="FFFFFF"/>
                    </a:solidFill>
                  </a:tcPr>
                </a:tc>
                <a:tc>
                  <a:txBody>
                    <a:bodyPr wrap="square"/>
                    <a:lstStyle/>
                    <a:p>
                      <a:pPr algn="ctr"/>
                      <a:r>
                        <a:rPr sz="1200" b="0" i="0">
                          <a:solidFill>
                            <a:srgbClr val="1F1F1F"/>
                          </a:solidFill>
                          <a:latin typeface="Calibri"/>
                        </a:rPr>
                        <a:t>860</a:t>
                      </a:r>
                    </a:p>
                  </a:txBody>
                  <a:tcPr marL="54864" marR="54864" marT="27432" marB="27432" anchor="ctr">
                    <a:solidFill>
                      <a:srgbClr val="FFFFFF"/>
                    </a:solidFill>
                  </a:tcPr>
                </a:tc>
                <a:tc>
                  <a:txBody>
                    <a:bodyPr wrap="square"/>
                    <a:lstStyle/>
                    <a:p>
                      <a:pPr algn="ctr"/>
                      <a:r>
                        <a:rPr sz="1200" b="0" i="0">
                          <a:solidFill>
                            <a:srgbClr val="1F1F1F"/>
                          </a:solidFill>
                          <a:latin typeface="Calibri"/>
                        </a:rPr>
                        <a:t>300</a:t>
                      </a:r>
                    </a:p>
                  </a:txBody>
                  <a:tcPr marL="54864" marR="54864" marT="27432" marB="27432" anchor="ctr">
                    <a:solidFill>
                      <a:srgbClr val="FFFFFF"/>
                    </a:solidFill>
                  </a:tcPr>
                </a:tc>
                <a:tc>
                  <a:txBody>
                    <a:bodyPr wrap="square"/>
                    <a:lstStyle/>
                    <a:p>
                      <a:pPr algn="ctr"/>
                      <a:r>
                        <a:rPr sz="1200" b="0" i="0">
                          <a:solidFill>
                            <a:srgbClr val="1F1F1F"/>
                          </a:solidFill>
                          <a:latin typeface="Calibri"/>
                        </a:rPr>
                        <a:t>369</a:t>
                      </a:r>
                    </a:p>
                  </a:txBody>
                  <a:tcPr marL="54864" marR="54864" marT="27432" marB="27432" anchor="ctr">
                    <a:solidFill>
                      <a:srgbClr val="FFFFFF"/>
                    </a:solidFill>
                  </a:tcPr>
                </a:tc>
                <a:tc>
                  <a:txBody>
                    <a:bodyPr wrap="square"/>
                    <a:lstStyle/>
                    <a:p>
                      <a:pPr algn="ctr"/>
                      <a:r>
                        <a:rPr sz="1200" b="0" i="0">
                          <a:solidFill>
                            <a:srgbClr val="1F1F1F"/>
                          </a:solidFill>
                          <a:latin typeface="Calibri"/>
                        </a:rPr>
                        <a:t>0.764 – 0.845</a:t>
                      </a:r>
                    </a:p>
                  </a:txBody>
                  <a:tcPr marL="54864" marR="54864" marT="27432" marB="27432" anchor="ctr">
                    <a:solidFill>
                      <a:srgbClr val="FFFFFF"/>
                    </a:solidFill>
                  </a:tcPr>
                </a:tc>
                <a:tc>
                  <a:txBody>
                    <a:bodyPr wrap="square"/>
                    <a:lstStyle/>
                    <a:p>
                      <a:pPr algn="ctr"/>
                      <a:r>
                        <a:rPr sz="1200" b="0" i="0">
                          <a:solidFill>
                            <a:srgbClr val="1F1F1F"/>
                          </a:solidFill>
                          <a:latin typeface="Calibri"/>
                        </a:rPr>
                        <a:t>0.049</a:t>
                      </a:r>
                    </a:p>
                  </a:txBody>
                  <a:tcPr marL="54864" marR="54864" marT="27432" marB="27432" anchor="ctr">
                    <a:solidFill>
                      <a:srgbClr val="FFFFFF"/>
                    </a:solidFill>
                  </a:tcPr>
                </a:tc>
              </a:tr>
              <a:tr h="548640">
                <a:tc>
                  <a:txBody>
                    <a:bodyPr wrap="square"/>
                    <a:lstStyle/>
                    <a:p>
                      <a:pPr algn="l"/>
                      <a:r>
                        <a:rPr sz="1200" b="1" i="0">
                          <a:solidFill>
                            <a:srgbClr val="1F1F1F"/>
                          </a:solidFill>
                          <a:latin typeface="Calibri"/>
                        </a:rPr>
                        <a:t>Gradient-Boosted Trees</a:t>
                      </a:r>
                    </a:p>
                  </a:txBody>
                  <a:tcPr marL="54864" marR="54864" marT="27432" marB="27432" anchor="ctr">
                    <a:solidFill>
                      <a:srgbClr val="EEF2F8"/>
                    </a:solidFill>
                  </a:tcPr>
                </a:tc>
                <a:tc>
                  <a:txBody>
                    <a:bodyPr wrap="square"/>
                    <a:lstStyle/>
                    <a:p>
                      <a:pPr algn="ctr"/>
                      <a:r>
                        <a:rPr sz="1200" b="0" i="0">
                          <a:solidFill>
                            <a:srgbClr val="1F1F1F"/>
                          </a:solidFill>
                          <a:latin typeface="Calibri"/>
                        </a:rPr>
                        <a:t>851</a:t>
                      </a:r>
                    </a:p>
                  </a:txBody>
                  <a:tcPr marL="54864" marR="54864" marT="27432" marB="27432" anchor="ctr">
                    <a:solidFill>
                      <a:srgbClr val="EEF2F8"/>
                    </a:solidFill>
                  </a:tcPr>
                </a:tc>
                <a:tc>
                  <a:txBody>
                    <a:bodyPr wrap="square"/>
                    <a:lstStyle/>
                    <a:p>
                      <a:pPr algn="ctr"/>
                      <a:r>
                        <a:rPr sz="1200" b="0" i="0">
                          <a:solidFill>
                            <a:srgbClr val="1F1F1F"/>
                          </a:solidFill>
                          <a:latin typeface="Calibri"/>
                        </a:rPr>
                        <a:t>850</a:t>
                      </a:r>
                    </a:p>
                  </a:txBody>
                  <a:tcPr marL="54864" marR="54864" marT="27432" marB="27432" anchor="ctr">
                    <a:solidFill>
                      <a:srgbClr val="EEF2F8"/>
                    </a:solidFill>
                  </a:tcPr>
                </a:tc>
                <a:tc>
                  <a:txBody>
                    <a:bodyPr wrap="square"/>
                    <a:lstStyle/>
                    <a:p>
                      <a:pPr algn="ctr"/>
                      <a:r>
                        <a:rPr sz="1200" b="0" i="0">
                          <a:solidFill>
                            <a:srgbClr val="1F1F1F"/>
                          </a:solidFill>
                          <a:latin typeface="Calibri"/>
                        </a:rPr>
                        <a:t>310</a:t>
                      </a:r>
                    </a:p>
                  </a:txBody>
                  <a:tcPr marL="54864" marR="54864" marT="27432" marB="27432" anchor="ctr">
                    <a:solidFill>
                      <a:srgbClr val="EEF2F8"/>
                    </a:solidFill>
                  </a:tcPr>
                </a:tc>
                <a:tc>
                  <a:txBody>
                    <a:bodyPr wrap="square"/>
                    <a:lstStyle/>
                    <a:p>
                      <a:pPr algn="ctr"/>
                      <a:r>
                        <a:rPr sz="1200" b="0" i="0">
                          <a:solidFill>
                            <a:srgbClr val="1F1F1F"/>
                          </a:solidFill>
                          <a:latin typeface="Calibri"/>
                        </a:rPr>
                        <a:t>334</a:t>
                      </a:r>
                    </a:p>
                  </a:txBody>
                  <a:tcPr marL="54864" marR="54864" marT="27432" marB="27432" anchor="ctr">
                    <a:solidFill>
                      <a:srgbClr val="EEF2F8"/>
                    </a:solidFill>
                  </a:tcPr>
                </a:tc>
                <a:tc>
                  <a:txBody>
                    <a:bodyPr wrap="square"/>
                    <a:lstStyle/>
                    <a:p>
                      <a:pPr algn="ctr"/>
                      <a:r>
                        <a:rPr sz="1200" b="0" i="0">
                          <a:solidFill>
                            <a:srgbClr val="1F1F1F"/>
                          </a:solidFill>
                          <a:latin typeface="Calibri"/>
                        </a:rPr>
                        <a:t>0.773 – 0.849</a:t>
                      </a:r>
                    </a:p>
                  </a:txBody>
                  <a:tcPr marL="54864" marR="54864" marT="27432" marB="27432" anchor="ctr">
                    <a:solidFill>
                      <a:srgbClr val="EEF2F8"/>
                    </a:solidFill>
                  </a:tcPr>
                </a:tc>
                <a:tc>
                  <a:txBody>
                    <a:bodyPr wrap="square"/>
                    <a:lstStyle/>
                    <a:p>
                      <a:pPr algn="ctr"/>
                      <a:r>
                        <a:rPr sz="1200" b="0" i="0">
                          <a:solidFill>
                            <a:srgbClr val="1F1F1F"/>
                          </a:solidFill>
                          <a:latin typeface="Calibri"/>
                        </a:rPr>
                        <a:t>0.073</a:t>
                      </a:r>
                    </a:p>
                  </a:txBody>
                  <a:tcPr marL="54864" marR="54864" marT="27432" marB="27432" anchor="ctr">
                    <a:solidFill>
                      <a:srgbClr val="EEF2F8"/>
                    </a:solidFill>
                  </a:tcPr>
                </a:tc>
              </a:tr>
              <a:tr h="548640">
                <a:tc>
                  <a:txBody>
                    <a:bodyPr wrap="square"/>
                    <a:lstStyle/>
                    <a:p>
                      <a:pPr algn="l"/>
                      <a:r>
                        <a:rPr sz="1200" b="1" i="0">
                          <a:solidFill>
                            <a:srgbClr val="1F1F1F"/>
                          </a:solidFill>
                          <a:latin typeface="Calibri"/>
                        </a:rPr>
                        <a:t>Linear SVM</a:t>
                      </a:r>
                    </a:p>
                  </a:txBody>
                  <a:tcPr marL="54864" marR="54864" marT="27432" marB="27432" anchor="ctr">
                    <a:solidFill>
                      <a:srgbClr val="FFFFFF"/>
                    </a:solidFill>
                  </a:tcPr>
                </a:tc>
                <a:tc>
                  <a:txBody>
                    <a:bodyPr wrap="square"/>
                    <a:lstStyle/>
                    <a:p>
                      <a:pPr algn="ctr"/>
                      <a:r>
                        <a:rPr sz="1200" b="0" i="0">
                          <a:solidFill>
                            <a:srgbClr val="1F1F1F"/>
                          </a:solidFill>
                          <a:latin typeface="Calibri"/>
                        </a:rPr>
                        <a:t>869</a:t>
                      </a:r>
                    </a:p>
                  </a:txBody>
                  <a:tcPr marL="54864" marR="54864" marT="27432" marB="27432" anchor="ctr">
                    <a:solidFill>
                      <a:srgbClr val="FFFFFF"/>
                    </a:solidFill>
                  </a:tcPr>
                </a:tc>
                <a:tc>
                  <a:txBody>
                    <a:bodyPr wrap="square"/>
                    <a:lstStyle/>
                    <a:p>
                      <a:pPr algn="ctr"/>
                      <a:r>
                        <a:rPr sz="1200" b="0" i="0">
                          <a:solidFill>
                            <a:srgbClr val="1F1F1F"/>
                          </a:solidFill>
                          <a:latin typeface="Calibri"/>
                        </a:rPr>
                        <a:t>764</a:t>
                      </a:r>
                    </a:p>
                  </a:txBody>
                  <a:tcPr marL="54864" marR="54864" marT="27432" marB="27432" anchor="ctr">
                    <a:solidFill>
                      <a:srgbClr val="FFFFFF"/>
                    </a:solidFill>
                  </a:tcPr>
                </a:tc>
                <a:tc>
                  <a:txBody>
                    <a:bodyPr wrap="square"/>
                    <a:lstStyle/>
                    <a:p>
                      <a:pPr algn="ctr"/>
                      <a:r>
                        <a:rPr sz="1200" b="0" i="0">
                          <a:solidFill>
                            <a:srgbClr val="1F1F1F"/>
                          </a:solidFill>
                          <a:latin typeface="Calibri"/>
                        </a:rPr>
                        <a:t>396</a:t>
                      </a:r>
                    </a:p>
                  </a:txBody>
                  <a:tcPr marL="54864" marR="54864" marT="27432" marB="27432" anchor="ctr">
                    <a:solidFill>
                      <a:srgbClr val="FFFFFF"/>
                    </a:solidFill>
                  </a:tcPr>
                </a:tc>
                <a:tc>
                  <a:txBody>
                    <a:bodyPr wrap="square"/>
                    <a:lstStyle/>
                    <a:p>
                      <a:pPr algn="ctr"/>
                      <a:r>
                        <a:rPr sz="1200" b="0" i="0">
                          <a:solidFill>
                            <a:srgbClr val="1F1F1F"/>
                          </a:solidFill>
                          <a:latin typeface="Calibri"/>
                        </a:rPr>
                        <a:t>316</a:t>
                      </a:r>
                    </a:p>
                  </a:txBody>
                  <a:tcPr marL="54864" marR="54864" marT="27432" marB="27432" anchor="ctr">
                    <a:solidFill>
                      <a:srgbClr val="FFFFFF"/>
                    </a:solidFill>
                  </a:tcPr>
                </a:tc>
                <a:tc>
                  <a:txBody>
                    <a:bodyPr wrap="square"/>
                    <a:lstStyle/>
                    <a:p>
                      <a:pPr algn="ctr"/>
                      <a:r>
                        <a:rPr sz="1200" b="0" i="0">
                          <a:solidFill>
                            <a:srgbClr val="1F1F1F"/>
                          </a:solidFill>
                          <a:latin typeface="Calibri"/>
                        </a:rPr>
                        <a:t>0.711 – 0.798</a:t>
                      </a:r>
                    </a:p>
                  </a:txBody>
                  <a:tcPr marL="54864" marR="54864" marT="27432" marB="27432" anchor="ctr">
                    <a:solidFill>
                      <a:srgbClr val="FFFFFF"/>
                    </a:solidFill>
                  </a:tcPr>
                </a:tc>
                <a:tc>
                  <a:txBody>
                    <a:bodyPr wrap="square"/>
                    <a:lstStyle/>
                    <a:p>
                      <a:pPr algn="ctr"/>
                      <a:r>
                        <a:rPr sz="1200" b="0" i="0">
                          <a:solidFill>
                            <a:srgbClr val="1F1F1F"/>
                          </a:solidFill>
                          <a:latin typeface="Calibri"/>
                        </a:rPr>
                        <a:t>0.826</a:t>
                      </a:r>
                    </a:p>
                  </a:txBody>
                  <a:tcPr marL="54864" marR="54864" marT="27432" marB="27432" anchor="ctr">
                    <a:solidFill>
                      <a:srgbClr val="FFFFFF"/>
                    </a:solidFill>
                  </a:tcPr>
                </a:tc>
              </a:tr>
              <a:tr h="548640">
                <a:tc>
                  <a:txBody>
                    <a:bodyPr wrap="square"/>
                    <a:lstStyle/>
                    <a:p>
                      <a:pPr algn="l"/>
                      <a:r>
                        <a:rPr sz="1200" b="1" i="0">
                          <a:solidFill>
                            <a:srgbClr val="1F1F1F"/>
                          </a:solidFill>
                          <a:latin typeface="Calibri"/>
                        </a:rPr>
                        <a:t>Standard MLP</a:t>
                      </a:r>
                    </a:p>
                  </a:txBody>
                  <a:tcPr marL="54864" marR="54864" marT="27432" marB="27432" anchor="ctr">
                    <a:solidFill>
                      <a:srgbClr val="EEF2F8"/>
                    </a:solidFill>
                  </a:tcPr>
                </a:tc>
                <a:tc>
                  <a:txBody>
                    <a:bodyPr wrap="square"/>
                    <a:lstStyle/>
                    <a:p>
                      <a:pPr algn="ctr"/>
                      <a:r>
                        <a:rPr sz="1200" b="0" i="0">
                          <a:solidFill>
                            <a:srgbClr val="1F1F1F"/>
                          </a:solidFill>
                          <a:latin typeface="Calibri"/>
                        </a:rPr>
                        <a:t>806</a:t>
                      </a:r>
                    </a:p>
                  </a:txBody>
                  <a:tcPr marL="54864" marR="54864" marT="27432" marB="27432" anchor="ctr">
                    <a:solidFill>
                      <a:srgbClr val="EEF2F8"/>
                    </a:solidFill>
                  </a:tcPr>
                </a:tc>
                <a:tc>
                  <a:txBody>
                    <a:bodyPr wrap="square"/>
                    <a:lstStyle/>
                    <a:p>
                      <a:pPr algn="ctr"/>
                      <a:r>
                        <a:rPr sz="1200" b="0" i="0">
                          <a:solidFill>
                            <a:srgbClr val="1F1F1F"/>
                          </a:solidFill>
                          <a:latin typeface="Calibri"/>
                        </a:rPr>
                        <a:t>838</a:t>
                      </a:r>
                    </a:p>
                  </a:txBody>
                  <a:tcPr marL="54864" marR="54864" marT="27432" marB="27432" anchor="ctr">
                    <a:solidFill>
                      <a:srgbClr val="EEF2F8"/>
                    </a:solidFill>
                  </a:tcPr>
                </a:tc>
                <a:tc>
                  <a:txBody>
                    <a:bodyPr wrap="square"/>
                    <a:lstStyle/>
                    <a:p>
                      <a:pPr algn="ctr"/>
                      <a:r>
                        <a:rPr sz="1200" b="0" i="0">
                          <a:solidFill>
                            <a:srgbClr val="1F1F1F"/>
                          </a:solidFill>
                          <a:latin typeface="Calibri"/>
                        </a:rPr>
                        <a:t>322</a:t>
                      </a:r>
                    </a:p>
                  </a:txBody>
                  <a:tcPr marL="54864" marR="54864" marT="27432" marB="27432" anchor="ctr">
                    <a:solidFill>
                      <a:srgbClr val="EEF2F8"/>
                    </a:solidFill>
                  </a:tcPr>
                </a:tc>
                <a:tc>
                  <a:txBody>
                    <a:bodyPr wrap="square"/>
                    <a:lstStyle/>
                    <a:p>
                      <a:pPr algn="ctr"/>
                      <a:r>
                        <a:rPr sz="1200" b="0" i="0">
                          <a:solidFill>
                            <a:srgbClr val="1F1F1F"/>
                          </a:solidFill>
                          <a:latin typeface="Calibri"/>
                        </a:rPr>
                        <a:t>379</a:t>
                      </a:r>
                    </a:p>
                  </a:txBody>
                  <a:tcPr marL="54864" marR="54864" marT="27432" marB="27432" anchor="ctr">
                    <a:solidFill>
                      <a:srgbClr val="EEF2F8"/>
                    </a:solidFill>
                  </a:tcPr>
                </a:tc>
                <a:tc>
                  <a:txBody>
                    <a:bodyPr wrap="square"/>
                    <a:lstStyle/>
                    <a:p>
                      <a:pPr algn="ctr"/>
                      <a:r>
                        <a:rPr sz="1200" b="0" i="0">
                          <a:solidFill>
                            <a:srgbClr val="1F1F1F"/>
                          </a:solidFill>
                          <a:latin typeface="Calibri"/>
                        </a:rPr>
                        <a:t>0.741 – 0.827</a:t>
                      </a:r>
                    </a:p>
                  </a:txBody>
                  <a:tcPr marL="54864" marR="54864" marT="27432" marB="27432" anchor="ctr">
                    <a:solidFill>
                      <a:srgbClr val="EEF2F8"/>
                    </a:solidFill>
                  </a:tcPr>
                </a:tc>
                <a:tc>
                  <a:txBody>
                    <a:bodyPr wrap="square"/>
                    <a:lstStyle/>
                    <a:p>
                      <a:pPr algn="ctr"/>
                      <a:r>
                        <a:rPr sz="1200" b="0" i="0">
                          <a:solidFill>
                            <a:srgbClr val="1F1F1F"/>
                          </a:solidFill>
                          <a:latin typeface="Calibri"/>
                        </a:rPr>
                        <a:t>0.330</a:t>
                      </a:r>
                    </a:p>
                  </a:txBody>
                  <a:tcPr marL="54864" marR="54864" marT="27432" marB="27432" anchor="ctr">
                    <a:solidFill>
                      <a:srgbClr val="EEF2F8"/>
                    </a:solidFill>
                  </a:tcPr>
                </a:tc>
              </a:tr>
            </a:tbl>
          </a:graphicData>
        </a:graphic>
      </p:graphicFrame>
      <p:sp>
        <p:nvSpPr>
          <p:cNvPr id="5" name="TextBox 4"/>
          <p:cNvSpPr txBox="1"/>
          <p:nvPr/>
        </p:nvSpPr>
        <p:spPr>
          <a:xfrm>
            <a:off x="365760" y="5166360"/>
            <a:ext cx="8412480" cy="1188720"/>
          </a:xfrm>
          <a:prstGeom prst="rect">
            <a:avLst/>
          </a:prstGeom>
          <a:noFill/>
        </p:spPr>
        <p:txBody>
          <a:bodyPr wrap="square" lIns="45720" rIns="45720">
            <a:spAutoFit/>
          </a:bodyPr>
          <a:lstStyle/>
          <a:p>
            <a:pPr>
              <a:spcAft>
                <a:spcPts val="300"/>
              </a:spcAft>
            </a:pPr>
            <a:r>
              <a:rPr sz="1500" b="0" i="0">
                <a:solidFill>
                  <a:srgbClr val="0E6E6E"/>
                </a:solidFill>
                <a:latin typeface="Calibri"/>
              </a:rPr>
              <a:t>▪  </a:t>
            </a:r>
            <a:r>
              <a:rPr sz="1500" b="1" i="0">
                <a:solidFill>
                  <a:srgbClr val="1F1F1F"/>
                </a:solidFill>
                <a:latin typeface="Calibri"/>
              </a:rPr>
              <a:t>TP/TN/FP/FN: </a:t>
            </a:r>
            <a:r>
              <a:rPr sz="1500" b="0" i="0">
                <a:solidFill>
                  <a:srgbClr val="1F1F1F"/>
                </a:solidFill>
                <a:latin typeface="Calibri"/>
              </a:rPr>
              <a:t>summed over the 25 test folds (High = positive class)</a:t>
            </a:r>
          </a:p>
          <a:p>
            <a:pPr>
              <a:spcAft>
                <a:spcPts val="300"/>
              </a:spcAft>
            </a:pPr>
            <a:r>
              <a:rPr sz="1500" b="0" i="0">
                <a:solidFill>
                  <a:srgbClr val="0E6E6E"/>
                </a:solidFill>
                <a:latin typeface="Calibri"/>
              </a:rPr>
              <a:t>▪  </a:t>
            </a:r>
            <a:r>
              <a:rPr sz="1500" b="1" i="0">
                <a:solidFill>
                  <a:srgbClr val="1F1F1F"/>
                </a:solidFill>
                <a:latin typeface="Calibri"/>
              </a:rPr>
              <a:t>Significance: </a:t>
            </a:r>
            <a:r>
              <a:rPr sz="1500" b="0" i="0">
                <a:solidFill>
                  <a:srgbClr val="1F1F1F"/>
                </a:solidFill>
                <a:latin typeface="Calibri"/>
              </a:rPr>
              <a:t>corrected resampled t-test (Nadeau–Bengio) on paired fold ROC-AUC; p &lt; 0.05 = real difference</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Ablation Study</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80" cy="3803904"/>
        </p:xfrm>
        <a:graphic>
          <a:graphicData uri="http://schemas.openxmlformats.org/drawingml/2006/table">
            <a:tbl>
              <a:tblPr firstRow="1" bandRow="1">
                <a:tableStyleId>{5C22544A-7EE6-4342-B048-85BDC9FD1C3A}</a:tableStyleId>
              </a:tblPr>
              <a:tblGrid>
                <a:gridCol w="4206240"/>
                <a:gridCol w="1371600"/>
                <a:gridCol w="1463040"/>
                <a:gridCol w="1371600"/>
              </a:tblGrid>
              <a:tr h="475488">
                <a:tc>
                  <a:txBody>
                    <a:bodyPr wrap="square"/>
                    <a:lstStyle/>
                    <a:p>
                      <a:pPr algn="l"/>
                      <a:r>
                        <a:rPr sz="1300" b="1" i="0">
                          <a:solidFill>
                            <a:srgbClr val="FFFFFF"/>
                          </a:solidFill>
                          <a:latin typeface="Calibri"/>
                        </a:rPr>
                        <a:t>Variant</a:t>
                      </a:r>
                    </a:p>
                  </a:txBody>
                  <a:tcPr marL="54864" marR="54864" marT="27432" marB="27432" anchor="ctr">
                    <a:solidFill>
                      <a:srgbClr val="1B3A6B"/>
                    </a:solidFill>
                  </a:tcPr>
                </a:tc>
                <a:tc>
                  <a:txBody>
                    <a:bodyPr wrap="square"/>
                    <a:lstStyle/>
                    <a:p>
                      <a:pPr algn="ctr"/>
                      <a:r>
                        <a:rPr sz="1300" b="1" i="0">
                          <a:solidFill>
                            <a:srgbClr val="FFFFFF"/>
                          </a:solidFill>
                          <a:latin typeface="Calibri"/>
                        </a:rPr>
                        <a:t>ROC-AUC</a:t>
                      </a:r>
                    </a:p>
                  </a:txBody>
                  <a:tcPr marL="54864" marR="54864" marT="27432" marB="27432" anchor="ctr">
                    <a:solidFill>
                      <a:srgbClr val="1B3A6B"/>
                    </a:solidFill>
                  </a:tcPr>
                </a:tc>
                <a:tc>
                  <a:txBody>
                    <a:bodyPr wrap="square"/>
                    <a:lstStyle/>
                    <a:p>
                      <a:pPr algn="ctr"/>
                      <a:r>
                        <a:rPr sz="1300" b="1" i="0">
                          <a:solidFill>
                            <a:srgbClr val="FFFFFF"/>
                          </a:solidFill>
                          <a:latin typeface="Calibri"/>
                        </a:rPr>
                        <a:t>Change vs full</a:t>
                      </a:r>
                    </a:p>
                  </a:txBody>
                  <a:tcPr marL="54864" marR="54864" marT="27432" marB="27432" anchor="ctr">
                    <a:solidFill>
                      <a:srgbClr val="1B3A6B"/>
                    </a:solidFill>
                  </a:tcPr>
                </a:tc>
                <a:tc>
                  <a:txBody>
                    <a:bodyPr wrap="square"/>
                    <a:lstStyle/>
                    <a:p>
                      <a:pPr algn="ctr"/>
                      <a:r>
                        <a:rPr sz="1300" b="1" i="0">
                          <a:solidFill>
                            <a:srgbClr val="FFFFFF"/>
                          </a:solidFill>
                          <a:latin typeface="Calibri"/>
                        </a:rPr>
                        <a:t>p vs full</a:t>
                      </a:r>
                    </a:p>
                  </a:txBody>
                  <a:tcPr marL="54864" marR="54864" marT="27432" marB="27432" anchor="ctr">
                    <a:solidFill>
                      <a:srgbClr val="1B3A6B"/>
                    </a:solidFill>
                  </a:tcPr>
                </a:tc>
              </a:tr>
              <a:tr h="475488">
                <a:tc>
                  <a:txBody>
                    <a:bodyPr wrap="square"/>
                    <a:lstStyle/>
                    <a:p>
                      <a:pPr algn="l"/>
                      <a:r>
                        <a:rPr sz="1300" b="1" i="0">
                          <a:solidFill>
                            <a:srgbClr val="1F1F1F"/>
                          </a:solidFill>
                          <a:latin typeface="Calibri"/>
                        </a:rPr>
                        <a:t>Full A-CPN</a:t>
                      </a:r>
                    </a:p>
                  </a:txBody>
                  <a:tcPr marL="54864" marR="54864" marT="27432" marB="27432" anchor="ctr">
                    <a:solidFill>
                      <a:srgbClr val="FFF4CC"/>
                    </a:solidFill>
                  </a:tcPr>
                </a:tc>
                <a:tc>
                  <a:txBody>
                    <a:bodyPr wrap="square"/>
                    <a:lstStyle/>
                    <a:p>
                      <a:pPr algn="ctr"/>
                      <a:r>
                        <a:rPr sz="1300" b="1" i="0">
                          <a:solidFill>
                            <a:srgbClr val="1F1F1F"/>
                          </a:solidFill>
                          <a:latin typeface="Calibri"/>
                        </a:rPr>
                        <a:t>0.761</a:t>
                      </a:r>
                    </a:p>
                  </a:txBody>
                  <a:tcPr marL="54864" marR="54864" marT="27432" marB="27432" anchor="ctr">
                    <a:solidFill>
                      <a:srgbClr val="FFF4CC"/>
                    </a:solidFill>
                  </a:tcPr>
                </a:tc>
                <a:tc>
                  <a:txBody>
                    <a:bodyPr wrap="square"/>
                    <a:lstStyle/>
                    <a:p>
                      <a:pPr algn="ctr"/>
                      <a:r>
                        <a:rPr sz="1300" b="1" i="0">
                          <a:solidFill>
                            <a:srgbClr val="1F1F1F"/>
                          </a:solidFill>
                          <a:latin typeface="Calibri"/>
                        </a:rPr>
                        <a:t>—</a:t>
                      </a:r>
                    </a:p>
                  </a:txBody>
                  <a:tcPr marL="54864" marR="54864" marT="27432" marB="27432" anchor="ctr">
                    <a:solidFill>
                      <a:srgbClr val="FFF4CC"/>
                    </a:solidFill>
                  </a:tcPr>
                </a:tc>
                <a:tc>
                  <a:txBody>
                    <a:bodyPr wrap="square"/>
                    <a:lstStyle/>
                    <a:p>
                      <a:pPr algn="ctr"/>
                      <a:r>
                        <a:rPr sz="1300" b="1" i="0">
                          <a:solidFill>
                            <a:srgbClr val="1F1F1F"/>
                          </a:solidFill>
                          <a:latin typeface="Calibri"/>
                        </a:rPr>
                        <a:t>—</a:t>
                      </a:r>
                    </a:p>
                  </a:txBody>
                  <a:tcPr marL="54864" marR="54864" marT="27432" marB="27432" anchor="ctr">
                    <a:solidFill>
                      <a:srgbClr val="FFF4CC"/>
                    </a:solidFill>
                  </a:tcPr>
                </a:tc>
              </a:tr>
              <a:tr h="475488">
                <a:tc>
                  <a:txBody>
                    <a:bodyPr wrap="square"/>
                    <a:lstStyle/>
                    <a:p>
                      <a:pPr algn="l"/>
                      <a:r>
                        <a:rPr sz="1300" b="1" i="0">
                          <a:solidFill>
                            <a:srgbClr val="1F1F1F"/>
                          </a:solidFill>
                          <a:latin typeface="Calibri"/>
                        </a:rPr>
                        <a:t>Without feature attention</a:t>
                      </a:r>
                    </a:p>
                  </a:txBody>
                  <a:tcPr marL="54864" marR="54864" marT="27432" marB="27432" anchor="ctr">
                    <a:solidFill>
                      <a:srgbClr val="EEF2F8"/>
                    </a:solidFill>
                  </a:tcPr>
                </a:tc>
                <a:tc>
                  <a:txBody>
                    <a:bodyPr wrap="square"/>
                    <a:lstStyle/>
                    <a:p>
                      <a:pPr algn="ctr"/>
                      <a:r>
                        <a:rPr sz="1300" b="0" i="0">
                          <a:solidFill>
                            <a:srgbClr val="1F1F1F"/>
                          </a:solidFill>
                          <a:latin typeface="Calibri"/>
                        </a:rPr>
                        <a:t>0.774</a:t>
                      </a:r>
                    </a:p>
                  </a:txBody>
                  <a:tcPr marL="54864" marR="54864" marT="27432" marB="27432" anchor="ctr">
                    <a:solidFill>
                      <a:srgbClr val="EEF2F8"/>
                    </a:solidFill>
                  </a:tcPr>
                </a:tc>
                <a:tc>
                  <a:txBody>
                    <a:bodyPr wrap="square"/>
                    <a:lstStyle/>
                    <a:p>
                      <a:pPr algn="ctr"/>
                      <a:r>
                        <a:rPr sz="1300" b="0" i="0">
                          <a:solidFill>
                            <a:srgbClr val="1F1F1F"/>
                          </a:solidFill>
                          <a:latin typeface="Calibri"/>
                        </a:rPr>
                        <a:t>+0.013</a:t>
                      </a:r>
                    </a:p>
                  </a:txBody>
                  <a:tcPr marL="54864" marR="54864" marT="27432" marB="27432" anchor="ctr">
                    <a:solidFill>
                      <a:srgbClr val="EEF2F8"/>
                    </a:solidFill>
                  </a:tcPr>
                </a:tc>
                <a:tc>
                  <a:txBody>
                    <a:bodyPr wrap="square"/>
                    <a:lstStyle/>
                    <a:p>
                      <a:pPr algn="ctr"/>
                      <a:r>
                        <a:rPr sz="1300" b="0" i="0">
                          <a:solidFill>
                            <a:srgbClr val="1F1F1F"/>
                          </a:solidFill>
                          <a:latin typeface="Calibri"/>
                        </a:rPr>
                        <a:t>0.709</a:t>
                      </a:r>
                    </a:p>
                  </a:txBody>
                  <a:tcPr marL="54864" marR="54864" marT="27432" marB="27432" anchor="ctr">
                    <a:solidFill>
                      <a:srgbClr val="EEF2F8"/>
                    </a:solidFill>
                  </a:tcPr>
                </a:tc>
              </a:tr>
              <a:tr h="475488">
                <a:tc>
                  <a:txBody>
                    <a:bodyPr wrap="square"/>
                    <a:lstStyle/>
                    <a:p>
                      <a:pPr algn="l"/>
                      <a:r>
                        <a:rPr sz="1300" b="1" i="0">
                          <a:solidFill>
                            <a:srgbClr val="1F1F1F"/>
                          </a:solidFill>
                          <a:latin typeface="Calibri"/>
                        </a:rPr>
                        <a:t>Without KAN layer (plain MLP)</a:t>
                      </a:r>
                    </a:p>
                  </a:txBody>
                  <a:tcPr marL="54864" marR="54864" marT="27432" marB="27432" anchor="ctr">
                    <a:solidFill>
                      <a:srgbClr val="FFFFFF"/>
                    </a:solidFill>
                  </a:tcPr>
                </a:tc>
                <a:tc>
                  <a:txBody>
                    <a:bodyPr wrap="square"/>
                    <a:lstStyle/>
                    <a:p>
                      <a:pPr algn="ctr"/>
                      <a:r>
                        <a:rPr sz="1300" b="0" i="0">
                          <a:solidFill>
                            <a:srgbClr val="1F1F1F"/>
                          </a:solidFill>
                          <a:latin typeface="Calibri"/>
                        </a:rPr>
                        <a:t>0.784</a:t>
                      </a:r>
                    </a:p>
                  </a:txBody>
                  <a:tcPr marL="54864" marR="54864" marT="27432" marB="27432" anchor="ctr">
                    <a:solidFill>
                      <a:srgbClr val="FFFFFF"/>
                    </a:solidFill>
                  </a:tcPr>
                </a:tc>
                <a:tc>
                  <a:txBody>
                    <a:bodyPr wrap="square"/>
                    <a:lstStyle/>
                    <a:p>
                      <a:pPr algn="ctr"/>
                      <a:r>
                        <a:rPr sz="1300" b="0" i="0">
                          <a:solidFill>
                            <a:srgbClr val="1F1F1F"/>
                          </a:solidFill>
                          <a:latin typeface="Calibri"/>
                        </a:rPr>
                        <a:t>+0.023</a:t>
                      </a:r>
                    </a:p>
                  </a:txBody>
                  <a:tcPr marL="54864" marR="54864" marT="27432" marB="27432" anchor="ctr">
                    <a:solidFill>
                      <a:srgbClr val="FFFFFF"/>
                    </a:solidFill>
                  </a:tcPr>
                </a:tc>
                <a:tc>
                  <a:txBody>
                    <a:bodyPr wrap="square"/>
                    <a:lstStyle/>
                    <a:p>
                      <a:pPr algn="ctr"/>
                      <a:r>
                        <a:rPr sz="1300" b="0" i="0">
                          <a:solidFill>
                            <a:srgbClr val="1F1F1F"/>
                          </a:solidFill>
                          <a:latin typeface="Calibri"/>
                        </a:rPr>
                        <a:t>0.532</a:t>
                      </a:r>
                    </a:p>
                  </a:txBody>
                  <a:tcPr marL="54864" marR="54864" marT="27432" marB="27432" anchor="ctr">
                    <a:solidFill>
                      <a:srgbClr val="FFFFFF"/>
                    </a:solidFill>
                  </a:tcPr>
                </a:tc>
              </a:tr>
              <a:tr h="475488">
                <a:tc>
                  <a:txBody>
                    <a:bodyPr wrap="square"/>
                    <a:lstStyle/>
                    <a:p>
                      <a:pPr algn="l"/>
                      <a:r>
                        <a:rPr sz="1300" b="1" i="0">
                          <a:solidFill>
                            <a:srgbClr val="1F1F1F"/>
                          </a:solidFill>
                          <a:latin typeface="Calibri"/>
                        </a:rPr>
                        <a:t>Without residual block</a:t>
                      </a:r>
                    </a:p>
                  </a:txBody>
                  <a:tcPr marL="54864" marR="54864" marT="27432" marB="27432" anchor="ctr">
                    <a:solidFill>
                      <a:srgbClr val="EEF2F8"/>
                    </a:solidFill>
                  </a:tcPr>
                </a:tc>
                <a:tc>
                  <a:txBody>
                    <a:bodyPr wrap="square"/>
                    <a:lstStyle/>
                    <a:p>
                      <a:pPr algn="ctr"/>
                      <a:r>
                        <a:rPr sz="1300" b="0" i="0">
                          <a:solidFill>
                            <a:srgbClr val="1F1F1F"/>
                          </a:solidFill>
                          <a:latin typeface="Calibri"/>
                        </a:rPr>
                        <a:t>0.756</a:t>
                      </a:r>
                    </a:p>
                  </a:txBody>
                  <a:tcPr marL="54864" marR="54864" marT="27432" marB="27432" anchor="ctr">
                    <a:solidFill>
                      <a:srgbClr val="EEF2F8"/>
                    </a:solidFill>
                  </a:tcPr>
                </a:tc>
                <a:tc>
                  <a:txBody>
                    <a:bodyPr wrap="square"/>
                    <a:lstStyle/>
                    <a:p>
                      <a:pPr algn="ctr"/>
                      <a:r>
                        <a:rPr sz="1300" b="0" i="0">
                          <a:solidFill>
                            <a:srgbClr val="1F1F1F"/>
                          </a:solidFill>
                          <a:latin typeface="Calibri"/>
                        </a:rPr>
                        <a:t>-0.005</a:t>
                      </a:r>
                    </a:p>
                  </a:txBody>
                  <a:tcPr marL="54864" marR="54864" marT="27432" marB="27432" anchor="ctr">
                    <a:solidFill>
                      <a:srgbClr val="EEF2F8"/>
                    </a:solidFill>
                  </a:tcPr>
                </a:tc>
                <a:tc>
                  <a:txBody>
                    <a:bodyPr wrap="square"/>
                    <a:lstStyle/>
                    <a:p>
                      <a:pPr algn="ctr"/>
                      <a:r>
                        <a:rPr sz="1300" b="0" i="0">
                          <a:solidFill>
                            <a:srgbClr val="1F1F1F"/>
                          </a:solidFill>
                          <a:latin typeface="Calibri"/>
                        </a:rPr>
                        <a:t>0.895</a:t>
                      </a:r>
                    </a:p>
                  </a:txBody>
                  <a:tcPr marL="54864" marR="54864" marT="27432" marB="27432" anchor="ctr">
                    <a:solidFill>
                      <a:srgbClr val="EEF2F8"/>
                    </a:solidFill>
                  </a:tcPr>
                </a:tc>
              </a:tr>
              <a:tr h="475488">
                <a:tc>
                  <a:txBody>
                    <a:bodyPr wrap="square"/>
                    <a:lstStyle/>
                    <a:p>
                      <a:pPr algn="l"/>
                      <a:r>
                        <a:rPr sz="1300" b="1" i="0">
                          <a:solidFill>
                            <a:srgbClr val="1F1F1F"/>
                          </a:solidFill>
                          <a:latin typeface="Calibri"/>
                        </a:rPr>
                        <a:t>Climate only (no development baseline)</a:t>
                      </a:r>
                    </a:p>
                  </a:txBody>
                  <a:tcPr marL="54864" marR="54864" marT="27432" marB="27432" anchor="ctr">
                    <a:solidFill>
                      <a:srgbClr val="FFFFFF"/>
                    </a:solidFill>
                  </a:tcPr>
                </a:tc>
                <a:tc>
                  <a:txBody>
                    <a:bodyPr wrap="square"/>
                    <a:lstStyle/>
                    <a:p>
                      <a:pPr algn="ctr"/>
                      <a:r>
                        <a:rPr sz="1300" b="0" i="0">
                          <a:solidFill>
                            <a:srgbClr val="1F1F1F"/>
                          </a:solidFill>
                          <a:latin typeface="Calibri"/>
                        </a:rPr>
                        <a:t>0.757</a:t>
                      </a:r>
                    </a:p>
                  </a:txBody>
                  <a:tcPr marL="54864" marR="54864" marT="27432" marB="27432" anchor="ctr">
                    <a:solidFill>
                      <a:srgbClr val="FFFFFF"/>
                    </a:solidFill>
                  </a:tcPr>
                </a:tc>
                <a:tc>
                  <a:txBody>
                    <a:bodyPr wrap="square"/>
                    <a:lstStyle/>
                    <a:p>
                      <a:pPr algn="ctr"/>
                      <a:r>
                        <a:rPr sz="1300" b="0" i="0">
                          <a:solidFill>
                            <a:srgbClr val="1F1F1F"/>
                          </a:solidFill>
                          <a:latin typeface="Calibri"/>
                        </a:rPr>
                        <a:t>-0.004</a:t>
                      </a:r>
                    </a:p>
                  </a:txBody>
                  <a:tcPr marL="54864" marR="54864" marT="27432" marB="27432" anchor="ctr">
                    <a:solidFill>
                      <a:srgbClr val="FFFFFF"/>
                    </a:solidFill>
                  </a:tcPr>
                </a:tc>
                <a:tc>
                  <a:txBody>
                    <a:bodyPr wrap="square"/>
                    <a:lstStyle/>
                    <a:p>
                      <a:pPr algn="ctr"/>
                      <a:r>
                        <a:rPr sz="1300" b="0" i="0">
                          <a:solidFill>
                            <a:srgbClr val="1F1F1F"/>
                          </a:solidFill>
                          <a:latin typeface="Calibri"/>
                        </a:rPr>
                        <a:t>0.903</a:t>
                      </a:r>
                    </a:p>
                  </a:txBody>
                  <a:tcPr marL="54864" marR="54864" marT="27432" marB="27432" anchor="ctr">
                    <a:solidFill>
                      <a:srgbClr val="FFFFFF"/>
                    </a:solidFill>
                  </a:tcPr>
                </a:tc>
              </a:tr>
              <a:tr h="475488">
                <a:tc>
                  <a:txBody>
                    <a:bodyPr wrap="square"/>
                    <a:lstStyle/>
                    <a:p>
                      <a:pPr algn="l"/>
                      <a:r>
                        <a:rPr sz="1300" b="1" i="0">
                          <a:solidFill>
                            <a:srgbClr val="1F1F1F"/>
                          </a:solidFill>
                          <a:latin typeface="Calibri"/>
                        </a:rPr>
                        <a:t>Development only (no climate push)</a:t>
                      </a:r>
                    </a:p>
                  </a:txBody>
                  <a:tcPr marL="54864" marR="54864" marT="27432" marB="27432" anchor="ctr">
                    <a:solidFill>
                      <a:srgbClr val="EEF2F8"/>
                    </a:solidFill>
                  </a:tcPr>
                </a:tc>
                <a:tc>
                  <a:txBody>
                    <a:bodyPr wrap="square"/>
                    <a:lstStyle/>
                    <a:p>
                      <a:pPr algn="ctr"/>
                      <a:r>
                        <a:rPr sz="1300" b="0" i="0">
                          <a:solidFill>
                            <a:srgbClr val="1F1F1F"/>
                          </a:solidFill>
                          <a:latin typeface="Calibri"/>
                        </a:rPr>
                        <a:t>0.670</a:t>
                      </a:r>
                    </a:p>
                  </a:txBody>
                  <a:tcPr marL="54864" marR="54864" marT="27432" marB="27432" anchor="ctr">
                    <a:solidFill>
                      <a:srgbClr val="EEF2F8"/>
                    </a:solidFill>
                  </a:tcPr>
                </a:tc>
                <a:tc>
                  <a:txBody>
                    <a:bodyPr wrap="square"/>
                    <a:lstStyle/>
                    <a:p>
                      <a:pPr algn="ctr"/>
                      <a:r>
                        <a:rPr sz="1300" b="0" i="0">
                          <a:solidFill>
                            <a:srgbClr val="1F1F1F"/>
                          </a:solidFill>
                          <a:latin typeface="Calibri"/>
                        </a:rPr>
                        <a:t>-0.091</a:t>
                      </a:r>
                    </a:p>
                  </a:txBody>
                  <a:tcPr marL="54864" marR="54864" marT="27432" marB="27432" anchor="ctr">
                    <a:solidFill>
                      <a:srgbClr val="EEF2F8"/>
                    </a:solidFill>
                  </a:tcPr>
                </a:tc>
                <a:tc>
                  <a:txBody>
                    <a:bodyPr wrap="square"/>
                    <a:lstStyle/>
                    <a:p>
                      <a:pPr algn="ctr"/>
                      <a:r>
                        <a:rPr sz="1300" b="0" i="0">
                          <a:solidFill>
                            <a:srgbClr val="1F1F1F"/>
                          </a:solidFill>
                          <a:latin typeface="Calibri"/>
                        </a:rPr>
                        <a:t>0.068</a:t>
                      </a:r>
                    </a:p>
                  </a:txBody>
                  <a:tcPr marL="54864" marR="54864" marT="27432" marB="27432" anchor="ctr">
                    <a:solidFill>
                      <a:srgbClr val="EEF2F8"/>
                    </a:solidFill>
                  </a:tcPr>
                </a:tc>
              </a:tr>
              <a:tr h="475488">
                <a:tc>
                  <a:txBody>
                    <a:bodyPr wrap="square"/>
                    <a:lstStyle/>
                    <a:p>
                      <a:pPr algn="l"/>
                      <a:r>
                        <a:rPr sz="1300" b="1" i="0">
                          <a:solidFill>
                            <a:srgbClr val="1F1F1F"/>
                          </a:solidFill>
                          <a:latin typeface="Calibri"/>
                        </a:rPr>
                        <a:t>Linear climate part (no deep layers)</a:t>
                      </a:r>
                    </a:p>
                  </a:txBody>
                  <a:tcPr marL="54864" marR="54864" marT="27432" marB="27432" anchor="ctr">
                    <a:solidFill>
                      <a:srgbClr val="FFFFFF"/>
                    </a:solidFill>
                  </a:tcPr>
                </a:tc>
                <a:tc>
                  <a:txBody>
                    <a:bodyPr wrap="square"/>
                    <a:lstStyle/>
                    <a:p>
                      <a:pPr algn="ctr"/>
                      <a:r>
                        <a:rPr sz="1300" b="0" i="0">
                          <a:solidFill>
                            <a:srgbClr val="1F1F1F"/>
                          </a:solidFill>
                          <a:latin typeface="Calibri"/>
                        </a:rPr>
                        <a:t>0.733</a:t>
                      </a:r>
                    </a:p>
                  </a:txBody>
                  <a:tcPr marL="54864" marR="54864" marT="27432" marB="27432" anchor="ctr">
                    <a:solidFill>
                      <a:srgbClr val="FFFFFF"/>
                    </a:solidFill>
                  </a:tcPr>
                </a:tc>
                <a:tc>
                  <a:txBody>
                    <a:bodyPr wrap="square"/>
                    <a:lstStyle/>
                    <a:p>
                      <a:pPr algn="ctr"/>
                      <a:r>
                        <a:rPr sz="1300" b="0" i="0">
                          <a:solidFill>
                            <a:srgbClr val="1F1F1F"/>
                          </a:solidFill>
                          <a:latin typeface="Calibri"/>
                        </a:rPr>
                        <a:t>-0.028</a:t>
                      </a:r>
                    </a:p>
                  </a:txBody>
                  <a:tcPr marL="54864" marR="54864" marT="27432" marB="27432" anchor="ctr">
                    <a:solidFill>
                      <a:srgbClr val="FFFFFF"/>
                    </a:solidFill>
                  </a:tcPr>
                </a:tc>
                <a:tc>
                  <a:txBody>
                    <a:bodyPr wrap="square"/>
                    <a:lstStyle/>
                    <a:p>
                      <a:pPr algn="ctr"/>
                      <a:r>
                        <a:rPr sz="1300" b="0" i="0">
                          <a:solidFill>
                            <a:srgbClr val="1F1F1F"/>
                          </a:solidFill>
                          <a:latin typeface="Calibri"/>
                        </a:rPr>
                        <a:t>0.491</a:t>
                      </a:r>
                    </a:p>
                  </a:txBody>
                  <a:tcPr marL="54864" marR="54864" marT="27432" marB="27432" anchor="ctr">
                    <a:solidFill>
                      <a:srgbClr val="FFFFFF"/>
                    </a:solidFill>
                  </a:tcPr>
                </a:tc>
              </a:tr>
            </a:tbl>
          </a:graphicData>
        </a:graphic>
      </p:graphicFrame>
      <p:sp>
        <p:nvSpPr>
          <p:cNvPr id="5" name="TextBox 4"/>
          <p:cNvSpPr txBox="1"/>
          <p:nvPr/>
        </p:nvSpPr>
        <p:spPr>
          <a:xfrm>
            <a:off x="365760" y="5120640"/>
            <a:ext cx="8412480" cy="1280160"/>
          </a:xfrm>
          <a:prstGeom prst="rect">
            <a:avLst/>
          </a:prstGeom>
          <a:noFill/>
        </p:spPr>
        <p:txBody>
          <a:bodyPr wrap="square" lIns="45720" rIns="45720">
            <a:spAutoFit/>
          </a:bodyPr>
          <a:lstStyle/>
          <a:p>
            <a:pPr>
              <a:spcAft>
                <a:spcPts val="300"/>
              </a:spcAft>
            </a:pPr>
            <a:r>
              <a:rPr sz="1400" b="0" i="0">
                <a:solidFill>
                  <a:srgbClr val="0E6E6E"/>
                </a:solidFill>
                <a:latin typeface="Calibri"/>
              </a:rPr>
              <a:t>▪  </a:t>
            </a:r>
            <a:r>
              <a:rPr sz="1400" b="1" i="0">
                <a:solidFill>
                  <a:srgbClr val="1F1F1F"/>
                </a:solidFill>
                <a:latin typeface="Calibri"/>
              </a:rPr>
              <a:t>Removal hurts by more than 1 SD: </a:t>
            </a:r>
            <a:r>
              <a:rPr sz="1400" b="0" i="0">
                <a:solidFill>
                  <a:srgbClr val="1F1F1F"/>
                </a:solidFill>
                <a:latin typeface="Calibri"/>
              </a:rPr>
              <a:t>Development only (no climate push)</a:t>
            </a:r>
          </a:p>
          <a:p>
            <a:pPr>
              <a:spcAft>
                <a:spcPts val="300"/>
              </a:spcAft>
            </a:pPr>
            <a:r>
              <a:rPr sz="1400" b="0" i="0">
                <a:solidFill>
                  <a:srgbClr val="0E6E6E"/>
                </a:solidFill>
                <a:latin typeface="Calibri"/>
              </a:rPr>
              <a:t>▪  </a:t>
            </a:r>
            <a:r>
              <a:rPr sz="1400" b="1" i="0">
                <a:solidFill>
                  <a:srgbClr val="1F1F1F"/>
                </a:solidFill>
                <a:latin typeface="Calibri"/>
              </a:rPr>
              <a:t>Within 1 SD (no clear accuracy gain): </a:t>
            </a:r>
            <a:r>
              <a:rPr sz="1400" b="0" i="0">
                <a:solidFill>
                  <a:srgbClr val="1F1F1F"/>
                </a:solidFill>
                <a:latin typeface="Calibri"/>
              </a:rPr>
              <a:t>Without feature attention, Without KAN layer (plain MLP), Without residual block, Climate only (no development baseline), Linear climate part (no deep layers)</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400" b="1" i="0">
                <a:solidFill>
                  <a:srgbClr val="1B3A6B"/>
                </a:solidFill>
                <a:latin typeface="Times New Roman"/>
              </a:rPr>
              <a:t>Climate-Push Analysis: What It Explains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43000"/>
          <a:ext cx="8412480" cy="2880360"/>
        </p:xfrm>
        <a:graphic>
          <a:graphicData uri="http://schemas.openxmlformats.org/drawingml/2006/table">
            <a:tbl>
              <a:tblPr firstRow="1" bandRow="1">
                <a:tableStyleId>{5C22544A-7EE6-4342-B048-85BDC9FD1C3A}</a:tableStyleId>
              </a:tblPr>
              <a:tblGrid>
                <a:gridCol w="3291840"/>
                <a:gridCol w="914400"/>
                <a:gridCol w="1463040"/>
                <a:gridCol w="914400"/>
                <a:gridCol w="1828800"/>
              </a:tblGrid>
              <a:tr h="411480">
                <a:tc>
                  <a:txBody>
                    <a:bodyPr wrap="square"/>
                    <a:lstStyle/>
                    <a:p>
                      <a:pPr algn="l"/>
                      <a:r>
                        <a:rPr sz="1200" b="1" i="0">
                          <a:solidFill>
                            <a:srgbClr val="FFFFFF"/>
                          </a:solidFill>
                          <a:latin typeface="Calibri"/>
                        </a:rPr>
                        <a:t>Group</a:t>
                      </a:r>
                    </a:p>
                  </a:txBody>
                  <a:tcPr marL="54864" marR="54864" marT="27432" marB="27432" anchor="ctr">
                    <a:solidFill>
                      <a:srgbClr val="1B3A6B"/>
                    </a:solidFill>
                  </a:tcPr>
                </a:tc>
                <a:tc>
                  <a:txBody>
                    <a:bodyPr wrap="square"/>
                    <a:lstStyle/>
                    <a:p>
                      <a:pPr algn="ctr"/>
                      <a:r>
                        <a:rPr sz="1200" b="1" i="0">
                          <a:solidFill>
                            <a:srgbClr val="FFFFFF"/>
                          </a:solidFill>
                          <a:latin typeface="Calibri"/>
                        </a:rPr>
                        <a:t>Districts</a:t>
                      </a:r>
                    </a:p>
                  </a:txBody>
                  <a:tcPr marL="54864" marR="54864" marT="27432" marB="27432" anchor="ctr">
                    <a:solidFill>
                      <a:srgbClr val="1B3A6B"/>
                    </a:solidFill>
                  </a:tcPr>
                </a:tc>
                <a:tc>
                  <a:txBody>
                    <a:bodyPr wrap="square"/>
                    <a:lstStyle/>
                    <a:p>
                      <a:pPr algn="ctr"/>
                      <a:r>
                        <a:rPr sz="1200" b="1" i="0">
                          <a:solidFill>
                            <a:srgbClr val="FFFFFF"/>
                          </a:solidFill>
                          <a:latin typeface="Calibri"/>
                        </a:rPr>
                        <a:t>Mean climate push</a:t>
                      </a:r>
                    </a:p>
                  </a:txBody>
                  <a:tcPr marL="54864" marR="54864" marT="27432" marB="27432" anchor="ctr">
                    <a:solidFill>
                      <a:srgbClr val="1B3A6B"/>
                    </a:solidFill>
                  </a:tcPr>
                </a:tc>
                <a:tc>
                  <a:txBody>
                    <a:bodyPr wrap="square"/>
                    <a:lstStyle/>
                    <a:p>
                      <a:pPr algn="ctr"/>
                      <a:r>
                        <a:rPr sz="1200" b="1" i="0">
                          <a:solidFill>
                            <a:srgbClr val="FFFFFF"/>
                          </a:solidFill>
                          <a:latin typeface="Calibri"/>
                        </a:rPr>
                        <a:t>Push &gt; 0</a:t>
                      </a:r>
                    </a:p>
                  </a:txBody>
                  <a:tcPr marL="54864" marR="54864" marT="27432" marB="27432" anchor="ctr">
                    <a:solidFill>
                      <a:srgbClr val="1B3A6B"/>
                    </a:solidFill>
                  </a:tcPr>
                </a:tc>
                <a:tc>
                  <a:txBody>
                    <a:bodyPr wrap="square"/>
                    <a:lstStyle/>
                    <a:p>
                      <a:pPr algn="ctr"/>
                      <a:r>
                        <a:rPr sz="1200" b="1" i="0">
                          <a:solidFill>
                            <a:srgbClr val="FFFFFF"/>
                          </a:solidFill>
                          <a:latin typeface="Calibri"/>
                        </a:rPr>
                        <a:t>Top climate factor</a:t>
                      </a:r>
                    </a:p>
                  </a:txBody>
                  <a:tcPr marL="54864" marR="54864" marT="27432" marB="27432" anchor="ctr">
                    <a:solidFill>
                      <a:srgbClr val="1B3A6B"/>
                    </a:solidFill>
                  </a:tcPr>
                </a:tc>
              </a:tr>
              <a:tr h="411480">
                <a:tc>
                  <a:txBody>
                    <a:bodyPr wrap="square"/>
                    <a:lstStyle/>
                    <a:p>
                      <a:pPr algn="l"/>
                      <a:r>
                        <a:rPr sz="1200" b="1" i="0">
                          <a:solidFill>
                            <a:srgbClr val="1F1F1F"/>
                          </a:solidFill>
                          <a:latin typeface="Calibri"/>
                        </a:rPr>
                        <a:t>High dev / Low vul (expected)</a:t>
                      </a:r>
                    </a:p>
                  </a:txBody>
                  <a:tcPr marL="54864" marR="54864" marT="27432" marB="27432" anchor="ctr">
                    <a:solidFill>
                      <a:srgbClr val="FFFFFF"/>
                    </a:solidFill>
                  </a:tcPr>
                </a:tc>
                <a:tc>
                  <a:txBody>
                    <a:bodyPr wrap="square"/>
                    <a:lstStyle/>
                    <a:p>
                      <a:pPr algn="ctr"/>
                      <a:r>
                        <a:rPr sz="1200" b="0" i="0">
                          <a:solidFill>
                            <a:srgbClr val="1F1F1F"/>
                          </a:solidFill>
                          <a:latin typeface="Calibri"/>
                        </a:rPr>
                        <a:t>143</a:t>
                      </a:r>
                    </a:p>
                  </a:txBody>
                  <a:tcPr marL="54864" marR="54864" marT="27432" marB="27432" anchor="ctr">
                    <a:solidFill>
                      <a:srgbClr val="FFFFFF"/>
                    </a:solidFill>
                  </a:tcPr>
                </a:tc>
                <a:tc>
                  <a:txBody>
                    <a:bodyPr wrap="square"/>
                    <a:lstStyle/>
                    <a:p>
                      <a:pPr algn="ctr"/>
                      <a:r>
                        <a:rPr sz="1200" b="0" i="0">
                          <a:solidFill>
                            <a:srgbClr val="1F1F1F"/>
                          </a:solidFill>
                          <a:latin typeface="Calibri"/>
                        </a:rPr>
                        <a:t>-0.53</a:t>
                      </a:r>
                    </a:p>
                  </a:txBody>
                  <a:tcPr marL="54864" marR="54864" marT="27432" marB="27432" anchor="ctr">
                    <a:solidFill>
                      <a:srgbClr val="FFFFFF"/>
                    </a:solidFill>
                  </a:tcPr>
                </a:tc>
                <a:tc>
                  <a:txBody>
                    <a:bodyPr wrap="square"/>
                    <a:lstStyle/>
                    <a:p>
                      <a:pPr algn="ctr"/>
                      <a:r>
                        <a:rPr sz="1200" b="0" i="0">
                          <a:solidFill>
                            <a:srgbClr val="1F1F1F"/>
                          </a:solidFill>
                          <a:latin typeface="Calibri"/>
                        </a:rPr>
                        <a:t>27%</a:t>
                      </a:r>
                    </a:p>
                  </a:txBody>
                  <a:tcPr marL="54864" marR="54864" marT="27432" marB="27432" anchor="ctr">
                    <a:solidFill>
                      <a:srgbClr val="FFFFFF"/>
                    </a:solidFill>
                  </a:tcPr>
                </a:tc>
                <a:tc>
                  <a:txBody>
                    <a:bodyPr wrap="square"/>
                    <a:lstStyle/>
                    <a:p>
                      <a:pPr algn="ctr"/>
                      <a:r>
                        <a:rPr sz="1200" b="0" i="0">
                          <a:solidFill>
                            <a:srgbClr val="1F1F1F"/>
                          </a:solidFill>
                          <a:latin typeface="Calibri"/>
                        </a:rPr>
                        <a:t>max dry spell</a:t>
                      </a:r>
                    </a:p>
                  </a:txBody>
                  <a:tcPr marL="54864" marR="54864" marT="27432" marB="27432" anchor="ctr">
                    <a:solidFill>
                      <a:srgbClr val="FFFFFF"/>
                    </a:solidFill>
                  </a:tcPr>
                </a:tc>
              </a:tr>
              <a:tr h="411480">
                <a:tc>
                  <a:txBody>
                    <a:bodyPr wrap="square"/>
                    <a:lstStyle/>
                    <a:p>
                      <a:pPr algn="l"/>
                      <a:r>
                        <a:rPr sz="1200" b="1" i="0">
                          <a:solidFill>
                            <a:srgbClr val="1F1F1F"/>
                          </a:solidFill>
                          <a:latin typeface="Calibri"/>
                        </a:rPr>
                        <a:t>Low dev / High vul (expected)</a:t>
                      </a:r>
                    </a:p>
                  </a:txBody>
                  <a:tcPr marL="54864" marR="54864" marT="27432" marB="27432" anchor="ctr">
                    <a:solidFill>
                      <a:srgbClr val="EEF2F8"/>
                    </a:solidFill>
                  </a:tcPr>
                </a:tc>
                <a:tc>
                  <a:txBody>
                    <a:bodyPr wrap="square"/>
                    <a:lstStyle/>
                    <a:p>
                      <a:pPr algn="ctr"/>
                      <a:r>
                        <a:rPr sz="1200" b="0" i="0">
                          <a:solidFill>
                            <a:srgbClr val="1F1F1F"/>
                          </a:solidFill>
                          <a:latin typeface="Calibri"/>
                        </a:rPr>
                        <a:t>145</a:t>
                      </a:r>
                    </a:p>
                  </a:txBody>
                  <a:tcPr marL="54864" marR="54864" marT="27432" marB="27432" anchor="ctr">
                    <a:solidFill>
                      <a:srgbClr val="EEF2F8"/>
                    </a:solidFill>
                  </a:tcPr>
                </a:tc>
                <a:tc>
                  <a:txBody>
                    <a:bodyPr wrap="square"/>
                    <a:lstStyle/>
                    <a:p>
                      <a:pPr algn="ctr"/>
                      <a:r>
                        <a:rPr sz="1200" b="0" i="0">
                          <a:solidFill>
                            <a:srgbClr val="1F1F1F"/>
                          </a:solidFill>
                          <a:latin typeface="Calibri"/>
                        </a:rPr>
                        <a:t>+0.81</a:t>
                      </a:r>
                    </a:p>
                  </a:txBody>
                  <a:tcPr marL="54864" marR="54864" marT="27432" marB="27432" anchor="ctr">
                    <a:solidFill>
                      <a:srgbClr val="EEF2F8"/>
                    </a:solidFill>
                  </a:tcPr>
                </a:tc>
                <a:tc>
                  <a:txBody>
                    <a:bodyPr wrap="square"/>
                    <a:lstStyle/>
                    <a:p>
                      <a:pPr algn="ctr"/>
                      <a:r>
                        <a:rPr sz="1200" b="0" i="0">
                          <a:solidFill>
                            <a:srgbClr val="1F1F1F"/>
                          </a:solidFill>
                          <a:latin typeface="Calibri"/>
                        </a:rPr>
                        <a:t>73%</a:t>
                      </a:r>
                    </a:p>
                  </a:txBody>
                  <a:tcPr marL="54864" marR="54864" marT="27432" marB="27432" anchor="ctr">
                    <a:solidFill>
                      <a:srgbClr val="EEF2F8"/>
                    </a:solidFill>
                  </a:tcPr>
                </a:tc>
                <a:tc>
                  <a:txBody>
                    <a:bodyPr wrap="square"/>
                    <a:lstStyle/>
                    <a:p>
                      <a:pPr algn="ctr"/>
                      <a:r>
                        <a:rPr sz="1200" b="0" i="0">
                          <a:solidFill>
                            <a:srgbClr val="1F1F1F"/>
                          </a:solidFill>
                          <a:latin typeface="Calibri"/>
                        </a:rPr>
                        <a:t>hot days</a:t>
                      </a:r>
                    </a:p>
                  </a:txBody>
                  <a:tcPr marL="54864" marR="54864" marT="27432" marB="27432" anchor="ctr">
                    <a:solidFill>
                      <a:srgbClr val="EEF2F8"/>
                    </a:solidFill>
                  </a:tcPr>
                </a:tc>
              </a:tr>
              <a:tr h="411480">
                <a:tc>
                  <a:txBody>
                    <a:bodyPr wrap="square"/>
                    <a:lstStyle/>
                    <a:p>
                      <a:pPr algn="l"/>
                      <a:r>
                        <a:rPr sz="1200" b="1" i="0">
                          <a:solidFill>
                            <a:srgbClr val="1F1F1F"/>
                          </a:solidFill>
                          <a:latin typeface="Calibri"/>
                        </a:rPr>
                        <a:t>Anomaly A: developed yet vulnerable</a:t>
                      </a:r>
                    </a:p>
                  </a:txBody>
                  <a:tcPr marL="54864" marR="54864" marT="27432" marB="27432" anchor="ctr">
                    <a:solidFill>
                      <a:srgbClr val="FFF4CC"/>
                    </a:solidFill>
                  </a:tcPr>
                </a:tc>
                <a:tc>
                  <a:txBody>
                    <a:bodyPr wrap="square"/>
                    <a:lstStyle/>
                    <a:p>
                      <a:pPr algn="ctr"/>
                      <a:r>
                        <a:rPr sz="1200" b="1" i="0">
                          <a:solidFill>
                            <a:srgbClr val="1F1F1F"/>
                          </a:solidFill>
                          <a:latin typeface="Calibri"/>
                        </a:rPr>
                        <a:t>92</a:t>
                      </a:r>
                    </a:p>
                  </a:txBody>
                  <a:tcPr marL="54864" marR="54864" marT="27432" marB="27432" anchor="ctr">
                    <a:solidFill>
                      <a:srgbClr val="FFF4CC"/>
                    </a:solidFill>
                  </a:tcPr>
                </a:tc>
                <a:tc>
                  <a:txBody>
                    <a:bodyPr wrap="square"/>
                    <a:lstStyle/>
                    <a:p>
                      <a:pPr algn="ctr"/>
                      <a:r>
                        <a:rPr sz="1200" b="1" i="0">
                          <a:solidFill>
                            <a:srgbClr val="1F1F1F"/>
                          </a:solidFill>
                          <a:latin typeface="Calibri"/>
                        </a:rPr>
                        <a:t>+0.31</a:t>
                      </a:r>
                    </a:p>
                  </a:txBody>
                  <a:tcPr marL="54864" marR="54864" marT="27432" marB="27432" anchor="ctr">
                    <a:solidFill>
                      <a:srgbClr val="FFF4CC"/>
                    </a:solidFill>
                  </a:tcPr>
                </a:tc>
                <a:tc>
                  <a:txBody>
                    <a:bodyPr wrap="square"/>
                    <a:lstStyle/>
                    <a:p>
                      <a:pPr algn="ctr"/>
                      <a:r>
                        <a:rPr sz="1200" b="1" i="0">
                          <a:solidFill>
                            <a:srgbClr val="1F1F1F"/>
                          </a:solidFill>
                          <a:latin typeface="Calibri"/>
                        </a:rPr>
                        <a:t>54%</a:t>
                      </a:r>
                    </a:p>
                  </a:txBody>
                  <a:tcPr marL="54864" marR="54864" marT="27432" marB="27432" anchor="ctr">
                    <a:solidFill>
                      <a:srgbClr val="FFF4CC"/>
                    </a:solidFill>
                  </a:tcPr>
                </a:tc>
                <a:tc>
                  <a:txBody>
                    <a:bodyPr wrap="square"/>
                    <a:lstStyle/>
                    <a:p>
                      <a:pPr algn="ctr"/>
                      <a:r>
                        <a:rPr sz="1200" b="1" i="0">
                          <a:solidFill>
                            <a:srgbClr val="1F1F1F"/>
                          </a:solidFill>
                          <a:latin typeface="Calibri"/>
                        </a:rPr>
                        <a:t>max dry spell</a:t>
                      </a:r>
                    </a:p>
                  </a:txBody>
                  <a:tcPr marL="54864" marR="54864" marT="27432" marB="27432" anchor="ctr">
                    <a:solidFill>
                      <a:srgbClr val="FFF4CC"/>
                    </a:solidFill>
                  </a:tcPr>
                </a:tc>
              </a:tr>
              <a:tr h="411480">
                <a:tc>
                  <a:txBody>
                    <a:bodyPr wrap="square"/>
                    <a:lstStyle/>
                    <a:p>
                      <a:pPr algn="l"/>
                      <a:r>
                        <a:rPr sz="1200" b="1" i="0">
                          <a:solidFill>
                            <a:srgbClr val="1F1F1F"/>
                          </a:solidFill>
                          <a:latin typeface="Calibri"/>
                        </a:rPr>
                        <a:t>Anomaly B: less developed yet resilient</a:t>
                      </a:r>
                    </a:p>
                  </a:txBody>
                  <a:tcPr marL="54864" marR="54864" marT="27432" marB="27432" anchor="ctr">
                    <a:solidFill>
                      <a:srgbClr val="FFF4CC"/>
                    </a:solidFill>
                  </a:tcPr>
                </a:tc>
                <a:tc>
                  <a:txBody>
                    <a:bodyPr wrap="square"/>
                    <a:lstStyle/>
                    <a:p>
                      <a:pPr algn="ctr"/>
                      <a:r>
                        <a:rPr sz="1200" b="1" i="0">
                          <a:solidFill>
                            <a:srgbClr val="1F1F1F"/>
                          </a:solidFill>
                          <a:latin typeface="Calibri"/>
                        </a:rPr>
                        <a:t>89</a:t>
                      </a:r>
                    </a:p>
                  </a:txBody>
                  <a:tcPr marL="54864" marR="54864" marT="27432" marB="27432" anchor="ctr">
                    <a:solidFill>
                      <a:srgbClr val="FFF4CC"/>
                    </a:solidFill>
                  </a:tcPr>
                </a:tc>
                <a:tc>
                  <a:txBody>
                    <a:bodyPr wrap="square"/>
                    <a:lstStyle/>
                    <a:p>
                      <a:pPr algn="ctr"/>
                      <a:r>
                        <a:rPr sz="1200" b="1" i="0">
                          <a:solidFill>
                            <a:srgbClr val="1F1F1F"/>
                          </a:solidFill>
                          <a:latin typeface="Calibri"/>
                        </a:rPr>
                        <a:t>-0.98</a:t>
                      </a:r>
                    </a:p>
                  </a:txBody>
                  <a:tcPr marL="54864" marR="54864" marT="27432" marB="27432" anchor="ctr">
                    <a:solidFill>
                      <a:srgbClr val="FFF4CC"/>
                    </a:solidFill>
                  </a:tcPr>
                </a:tc>
                <a:tc>
                  <a:txBody>
                    <a:bodyPr wrap="square"/>
                    <a:lstStyle/>
                    <a:p>
                      <a:pPr algn="ctr"/>
                      <a:r>
                        <a:rPr sz="1200" b="1" i="0">
                          <a:solidFill>
                            <a:srgbClr val="1F1F1F"/>
                          </a:solidFill>
                          <a:latin typeface="Calibri"/>
                        </a:rPr>
                        <a:t>19%</a:t>
                      </a:r>
                    </a:p>
                  </a:txBody>
                  <a:tcPr marL="54864" marR="54864" marT="27432" marB="27432" anchor="ctr">
                    <a:solidFill>
                      <a:srgbClr val="FFF4CC"/>
                    </a:solidFill>
                  </a:tcPr>
                </a:tc>
                <a:tc>
                  <a:txBody>
                    <a:bodyPr wrap="square"/>
                    <a:lstStyle/>
                    <a:p>
                      <a:pPr algn="ctr"/>
                      <a:r>
                        <a:rPr sz="1200" b="1" i="0">
                          <a:solidFill>
                            <a:srgbClr val="1F1F1F"/>
                          </a:solidFill>
                          <a:latin typeface="Calibri"/>
                        </a:rPr>
                        <a:t>annual rain mm</a:t>
                      </a:r>
                    </a:p>
                  </a:txBody>
                  <a:tcPr marL="54864" marR="54864" marT="27432" marB="27432" anchor="ctr">
                    <a:solidFill>
                      <a:srgbClr val="FFF4CC"/>
                    </a:solidFill>
                  </a:tcPr>
                </a:tc>
              </a:tr>
              <a:tr h="411480">
                <a:tc>
                  <a:txBody>
                    <a:bodyPr wrap="square"/>
                    <a:lstStyle/>
                    <a:p>
                      <a:pPr algn="l"/>
                      <a:r>
                        <a:rPr sz="1200" b="1" i="0">
                          <a:solidFill>
                            <a:srgbClr val="1F1F1F"/>
                          </a:solidFill>
                          <a:latin typeface="Calibri"/>
                        </a:rPr>
                        <a:t>Spark k-means climate regime 0</a:t>
                      </a:r>
                    </a:p>
                  </a:txBody>
                  <a:tcPr marL="54864" marR="54864" marT="27432" marB="27432" anchor="ctr">
                    <a:solidFill>
                      <a:srgbClr val="FFFFFF"/>
                    </a:solidFill>
                  </a:tcPr>
                </a:tc>
                <a:tc>
                  <a:txBody>
                    <a:bodyPr wrap="square"/>
                    <a:lstStyle/>
                    <a:p>
                      <a:pPr algn="ctr"/>
                      <a:r>
                        <a:rPr sz="1200" b="0" i="0">
                          <a:solidFill>
                            <a:srgbClr val="1F1F1F"/>
                          </a:solidFill>
                          <a:latin typeface="Calibri"/>
                        </a:rPr>
                        <a:t>95</a:t>
                      </a:r>
                    </a:p>
                  </a:txBody>
                  <a:tcPr marL="54864" marR="54864" marT="27432" marB="27432" anchor="ctr">
                    <a:solidFill>
                      <a:srgbClr val="FFFFFF"/>
                    </a:solidFill>
                  </a:tcPr>
                </a:tc>
                <a:tc>
                  <a:txBody>
                    <a:bodyPr wrap="square"/>
                    <a:lstStyle/>
                    <a:p>
                      <a:pPr algn="ctr"/>
                      <a:r>
                        <a:rPr sz="1200" b="0" i="0">
                          <a:solidFill>
                            <a:srgbClr val="1F1F1F"/>
                          </a:solidFill>
                          <a:latin typeface="Calibri"/>
                        </a:rPr>
                        <a:t>-1.00</a:t>
                      </a:r>
                    </a:p>
                  </a:txBody>
                  <a:tcPr marL="54864" marR="54864" marT="27432" marB="27432" anchor="ctr">
                    <a:solidFill>
                      <a:srgbClr val="FFFFFF"/>
                    </a:solidFill>
                  </a:tcPr>
                </a:tc>
                <a:tc>
                  <a:txBody>
                    <a:bodyPr wrap="square"/>
                    <a:lstStyle/>
                    <a:p>
                      <a:pPr algn="ctr"/>
                      <a:r>
                        <a:rPr sz="1200" b="0" i="0">
                          <a:solidFill>
                            <a:srgbClr val="1F1F1F"/>
                          </a:solidFill>
                          <a:latin typeface="Calibri"/>
                        </a:rPr>
                        <a:t>—</a:t>
                      </a:r>
                    </a:p>
                  </a:txBody>
                  <a:tcPr marL="54864" marR="54864" marT="27432" marB="27432" anchor="ctr">
                    <a:solidFill>
                      <a:srgbClr val="FFFFFF"/>
                    </a:solidFill>
                  </a:tcPr>
                </a:tc>
                <a:tc>
                  <a:txBody>
                    <a:bodyPr wrap="square"/>
                    <a:lstStyle/>
                    <a:p>
                      <a:pPr algn="ctr"/>
                      <a:r>
                        <a:rPr sz="1200" b="0" i="0">
                          <a:solidFill>
                            <a:srgbClr val="1F1F1F"/>
                          </a:solidFill>
                          <a:latin typeface="Calibri"/>
                        </a:rPr>
                        <a:t>max dry spell</a:t>
                      </a:r>
                    </a:p>
                  </a:txBody>
                  <a:tcPr marL="54864" marR="54864" marT="27432" marB="27432" anchor="ctr">
                    <a:solidFill>
                      <a:srgbClr val="FFFFFF"/>
                    </a:solidFill>
                  </a:tcPr>
                </a:tc>
              </a:tr>
              <a:tr h="411480">
                <a:tc>
                  <a:txBody>
                    <a:bodyPr wrap="square"/>
                    <a:lstStyle/>
                    <a:p>
                      <a:pPr algn="l"/>
                      <a:r>
                        <a:rPr sz="1200" b="1" i="0">
                          <a:solidFill>
                            <a:srgbClr val="1F1F1F"/>
                          </a:solidFill>
                          <a:latin typeface="Calibri"/>
                        </a:rPr>
                        <a:t>Spark k-means climate regime 1</a:t>
                      </a:r>
                    </a:p>
                  </a:txBody>
                  <a:tcPr marL="54864" marR="54864" marT="27432" marB="27432" anchor="ctr">
                    <a:solidFill>
                      <a:srgbClr val="EEF2F8"/>
                    </a:solidFill>
                  </a:tcPr>
                </a:tc>
                <a:tc>
                  <a:txBody>
                    <a:bodyPr wrap="square"/>
                    <a:lstStyle/>
                    <a:p>
                      <a:pPr algn="ctr"/>
                      <a:r>
                        <a:rPr sz="1200" b="0" i="0">
                          <a:solidFill>
                            <a:srgbClr val="1F1F1F"/>
                          </a:solidFill>
                          <a:latin typeface="Calibri"/>
                        </a:rPr>
                        <a:t>374</a:t>
                      </a:r>
                    </a:p>
                  </a:txBody>
                  <a:tcPr marL="54864" marR="54864" marT="27432" marB="27432" anchor="ctr">
                    <a:solidFill>
                      <a:srgbClr val="EEF2F8"/>
                    </a:solidFill>
                  </a:tcPr>
                </a:tc>
                <a:tc>
                  <a:txBody>
                    <a:bodyPr wrap="square"/>
                    <a:lstStyle/>
                    <a:p>
                      <a:pPr algn="ctr"/>
                      <a:r>
                        <a:rPr sz="1200" b="0" i="0">
                          <a:solidFill>
                            <a:srgbClr val="1F1F1F"/>
                          </a:solidFill>
                          <a:latin typeface="Calibri"/>
                        </a:rPr>
                        <a:t>+0.21</a:t>
                      </a:r>
                    </a:p>
                  </a:txBody>
                  <a:tcPr marL="54864" marR="54864" marT="27432" marB="27432" anchor="ctr">
                    <a:solidFill>
                      <a:srgbClr val="EEF2F8"/>
                    </a:solidFill>
                  </a:tcPr>
                </a:tc>
                <a:tc>
                  <a:txBody>
                    <a:bodyPr wrap="square"/>
                    <a:lstStyle/>
                    <a:p>
                      <a:pPr algn="ctr"/>
                      <a:r>
                        <a:rPr sz="1200" b="0" i="0">
                          <a:solidFill>
                            <a:srgbClr val="1F1F1F"/>
                          </a:solidFill>
                          <a:latin typeface="Calibri"/>
                        </a:rPr>
                        <a:t>—</a:t>
                      </a:r>
                    </a:p>
                  </a:txBody>
                  <a:tcPr marL="54864" marR="54864" marT="27432" marB="27432" anchor="ctr">
                    <a:solidFill>
                      <a:srgbClr val="EEF2F8"/>
                    </a:solidFill>
                  </a:tcPr>
                </a:tc>
                <a:tc>
                  <a:txBody>
                    <a:bodyPr wrap="square"/>
                    <a:lstStyle/>
                    <a:p>
                      <a:pPr algn="ctr"/>
                      <a:r>
                        <a:rPr sz="1200" b="0" i="0">
                          <a:solidFill>
                            <a:srgbClr val="1F1F1F"/>
                          </a:solidFill>
                          <a:latin typeface="Calibri"/>
                        </a:rPr>
                        <a:t>mean tmax</a:t>
                      </a:r>
                    </a:p>
                  </a:txBody>
                  <a:tcPr marL="54864" marR="54864" marT="27432" marB="27432" anchor="ctr">
                    <a:solidFill>
                      <a:srgbClr val="EEF2F8"/>
                    </a:solidFill>
                  </a:tcPr>
                </a:tc>
              </a:tr>
            </a:tbl>
          </a:graphicData>
        </a:graphic>
      </p:graphicFrame>
      <p:sp>
        <p:nvSpPr>
          <p:cNvPr id="5" name="TextBox 4"/>
          <p:cNvSpPr txBox="1"/>
          <p:nvPr/>
        </p:nvSpPr>
        <p:spPr>
          <a:xfrm>
            <a:off x="365760" y="4160520"/>
            <a:ext cx="8412480" cy="365760"/>
          </a:xfrm>
          <a:prstGeom prst="rect">
            <a:avLst/>
          </a:prstGeom>
          <a:noFill/>
        </p:spPr>
        <p:txBody>
          <a:bodyPr wrap="square" anchor="t" lIns="45720" rIns="45720">
            <a:spAutoFit/>
          </a:bodyPr>
          <a:lstStyle/>
          <a:p>
            <a:pPr algn="l"/>
            <a:r>
              <a:rPr sz="1200" b="0" i="0">
                <a:solidFill>
                  <a:srgbClr val="595959"/>
                </a:solidFill>
                <a:latin typeface="Calibri"/>
              </a:rPr>
              <a:t>Anomaly A vs expected developed: p = 9.21e-07;  Anomaly B vs expected less-developed: p = 3.06e-18;  mean MC Dropout SD of push = 0.53</a:t>
            </a:r>
          </a:p>
        </p:txBody>
      </p:sp>
      <p:sp>
        <p:nvSpPr>
          <p:cNvPr id="6" name="TextBox 5"/>
          <p:cNvSpPr txBox="1"/>
          <p:nvPr/>
        </p:nvSpPr>
        <p:spPr>
          <a:xfrm>
            <a:off x="365760" y="4572000"/>
            <a:ext cx="4069080" cy="320040"/>
          </a:xfrm>
          <a:prstGeom prst="rect">
            <a:avLst/>
          </a:prstGeom>
          <a:noFill/>
        </p:spPr>
        <p:txBody>
          <a:bodyPr wrap="square" anchor="t" lIns="45720" rIns="45720">
            <a:spAutoFit/>
          </a:bodyPr>
          <a:lstStyle/>
          <a:p>
            <a:pPr algn="l"/>
            <a:r>
              <a:rPr sz="1400" b="1" i="0">
                <a:solidFill>
                  <a:srgbClr val="1B3A6B"/>
                </a:solidFill>
                <a:latin typeface="Calibri"/>
              </a:rPr>
              <a:t>Top 5 climate-driven districts (push)</a:t>
            </a:r>
          </a:p>
        </p:txBody>
      </p:sp>
      <p:sp>
        <p:nvSpPr>
          <p:cNvPr id="7" name="TextBox 6"/>
          <p:cNvSpPr txBox="1"/>
          <p:nvPr/>
        </p:nvSpPr>
        <p:spPr>
          <a:xfrm>
            <a:off x="4709160" y="4572000"/>
            <a:ext cx="4069080" cy="320040"/>
          </a:xfrm>
          <a:prstGeom prst="rect">
            <a:avLst/>
          </a:prstGeom>
          <a:noFill/>
        </p:spPr>
        <p:txBody>
          <a:bodyPr wrap="square" anchor="t" lIns="45720" rIns="45720">
            <a:spAutoFit/>
          </a:bodyPr>
          <a:lstStyle/>
          <a:p>
            <a:pPr algn="l"/>
            <a:r>
              <a:rPr sz="1400" b="1" i="0">
                <a:solidFill>
                  <a:srgbClr val="1B3A6B"/>
                </a:solidFill>
                <a:latin typeface="Calibri"/>
              </a:rPr>
              <a:t>Top 5 development-driven (climate share)</a:t>
            </a:r>
          </a:p>
        </p:txBody>
      </p:sp>
      <p:sp>
        <p:nvSpPr>
          <p:cNvPr id="8" name="TextBox 7"/>
          <p:cNvSpPr txBox="1"/>
          <p:nvPr/>
        </p:nvSpPr>
        <p:spPr>
          <a:xfrm>
            <a:off x="365760" y="4937760"/>
            <a:ext cx="4206240" cy="1463040"/>
          </a:xfrm>
          <a:prstGeom prst="rect">
            <a:avLst/>
          </a:prstGeom>
          <a:noFill/>
        </p:spPr>
        <p:txBody>
          <a:bodyPr wrap="square" lIns="45720" rIns="45720">
            <a:spAutoFit/>
          </a:bodyPr>
          <a:lstStyle/>
          <a:p>
            <a:pPr>
              <a:spcAft>
                <a:spcPts val="0"/>
              </a:spcAft>
            </a:pPr>
            <a:r>
              <a:rPr sz="1200" b="0" i="0">
                <a:solidFill>
                  <a:srgbClr val="0E6E6E"/>
                </a:solidFill>
                <a:latin typeface="Calibri"/>
              </a:rPr>
              <a:t>▪  </a:t>
            </a:r>
            <a:r>
              <a:rPr sz="1200" b="0" i="0">
                <a:solidFill>
                  <a:srgbClr val="1F1F1F"/>
                </a:solidFill>
                <a:latin typeface="Calibri"/>
              </a:rPr>
              <a:t>Khagaria (Bihar) +3.34</a:t>
            </a:r>
          </a:p>
          <a:p>
            <a:pPr>
              <a:spcAft>
                <a:spcPts val="0"/>
              </a:spcAft>
            </a:pPr>
            <a:r>
              <a:rPr sz="1200" b="0" i="0">
                <a:solidFill>
                  <a:srgbClr val="0E6E6E"/>
                </a:solidFill>
                <a:latin typeface="Calibri"/>
              </a:rPr>
              <a:t>▪  </a:t>
            </a:r>
            <a:r>
              <a:rPr sz="1200" b="0" i="0">
                <a:solidFill>
                  <a:srgbClr val="1F1F1F"/>
                </a:solidFill>
                <a:latin typeface="Calibri"/>
              </a:rPr>
              <a:t>Madhepura (Bihar) +3.31</a:t>
            </a:r>
          </a:p>
          <a:p>
            <a:pPr>
              <a:spcAft>
                <a:spcPts val="0"/>
              </a:spcAft>
            </a:pPr>
            <a:r>
              <a:rPr sz="1200" b="0" i="0">
                <a:solidFill>
                  <a:srgbClr val="0E6E6E"/>
                </a:solidFill>
                <a:latin typeface="Calibri"/>
              </a:rPr>
              <a:t>▪  </a:t>
            </a:r>
            <a:r>
              <a:rPr sz="1200" b="0" i="0">
                <a:solidFill>
                  <a:srgbClr val="1F1F1F"/>
                </a:solidFill>
                <a:latin typeface="Calibri"/>
              </a:rPr>
              <a:t>Maldah (West Bengal) +3.18</a:t>
            </a:r>
          </a:p>
          <a:p>
            <a:pPr>
              <a:spcAft>
                <a:spcPts val="0"/>
              </a:spcAft>
            </a:pPr>
            <a:r>
              <a:rPr sz="1200" b="0" i="0">
                <a:solidFill>
                  <a:srgbClr val="0E6E6E"/>
                </a:solidFill>
                <a:latin typeface="Calibri"/>
              </a:rPr>
              <a:t>▪  </a:t>
            </a:r>
            <a:r>
              <a:rPr sz="1200" b="0" i="0">
                <a:solidFill>
                  <a:srgbClr val="1F1F1F"/>
                </a:solidFill>
                <a:latin typeface="Calibri"/>
              </a:rPr>
              <a:t>Sahebganj (Jharkhand) +3.12</a:t>
            </a:r>
          </a:p>
          <a:p>
            <a:pPr>
              <a:spcAft>
                <a:spcPts val="0"/>
              </a:spcAft>
            </a:pPr>
            <a:r>
              <a:rPr sz="1200" b="0" i="0">
                <a:solidFill>
                  <a:srgbClr val="0E6E6E"/>
                </a:solidFill>
                <a:latin typeface="Calibri"/>
              </a:rPr>
              <a:t>▪  </a:t>
            </a:r>
            <a:r>
              <a:rPr sz="1200" b="0" i="0">
                <a:solidFill>
                  <a:srgbClr val="1F1F1F"/>
                </a:solidFill>
                <a:latin typeface="Calibri"/>
              </a:rPr>
              <a:t>Saharsa (Bihar) +3.07</a:t>
            </a:r>
          </a:p>
        </p:txBody>
      </p:sp>
      <p:sp>
        <p:nvSpPr>
          <p:cNvPr id="9" name="TextBox 8"/>
          <p:cNvSpPr txBox="1"/>
          <p:nvPr/>
        </p:nvSpPr>
        <p:spPr>
          <a:xfrm>
            <a:off x="4709160" y="4937760"/>
            <a:ext cx="4206240" cy="1463040"/>
          </a:xfrm>
          <a:prstGeom prst="rect">
            <a:avLst/>
          </a:prstGeom>
          <a:noFill/>
        </p:spPr>
        <p:txBody>
          <a:bodyPr wrap="square" lIns="45720" rIns="45720">
            <a:spAutoFit/>
          </a:bodyPr>
          <a:lstStyle/>
          <a:p>
            <a:pPr>
              <a:spcAft>
                <a:spcPts val="0"/>
              </a:spcAft>
            </a:pPr>
            <a:r>
              <a:rPr sz="1200" b="0" i="0">
                <a:solidFill>
                  <a:srgbClr val="0E6E6E"/>
                </a:solidFill>
                <a:latin typeface="Calibri"/>
              </a:rPr>
              <a:t>▪  </a:t>
            </a:r>
            <a:r>
              <a:rPr sz="1200" b="0" i="0">
                <a:solidFill>
                  <a:srgbClr val="1F1F1F"/>
                </a:solidFill>
                <a:latin typeface="Calibri"/>
              </a:rPr>
              <a:t>Darjeeling (West Bengal) 1%</a:t>
            </a:r>
          </a:p>
          <a:p>
            <a:pPr>
              <a:spcAft>
                <a:spcPts val="0"/>
              </a:spcAft>
            </a:pPr>
            <a:r>
              <a:rPr sz="1200" b="0" i="0">
                <a:solidFill>
                  <a:srgbClr val="0E6E6E"/>
                </a:solidFill>
                <a:latin typeface="Calibri"/>
              </a:rPr>
              <a:t>▪  </a:t>
            </a:r>
            <a:r>
              <a:rPr sz="1200" b="0" i="0">
                <a:solidFill>
                  <a:srgbClr val="1F1F1F"/>
                </a:solidFill>
                <a:latin typeface="Calibri"/>
              </a:rPr>
              <a:t>Mahoba (Uttar Pradesh) 1%</a:t>
            </a:r>
          </a:p>
          <a:p>
            <a:pPr>
              <a:spcAft>
                <a:spcPts val="0"/>
              </a:spcAft>
            </a:pPr>
            <a:r>
              <a:rPr sz="1200" b="0" i="0">
                <a:solidFill>
                  <a:srgbClr val="0E6E6E"/>
                </a:solidFill>
                <a:latin typeface="Calibri"/>
              </a:rPr>
              <a:t>▪  </a:t>
            </a:r>
            <a:r>
              <a:rPr sz="1200" b="0" i="0">
                <a:solidFill>
                  <a:srgbClr val="1F1F1F"/>
                </a:solidFill>
                <a:latin typeface="Calibri"/>
              </a:rPr>
              <a:t>Kannur (Kerala) 2%</a:t>
            </a:r>
          </a:p>
          <a:p>
            <a:pPr>
              <a:spcAft>
                <a:spcPts val="0"/>
              </a:spcAft>
            </a:pPr>
            <a:r>
              <a:rPr sz="1200" b="0" i="0">
                <a:solidFill>
                  <a:srgbClr val="0E6E6E"/>
                </a:solidFill>
                <a:latin typeface="Calibri"/>
              </a:rPr>
              <a:t>▪  </a:t>
            </a:r>
            <a:r>
              <a:rPr sz="1200" b="0" i="0">
                <a:solidFill>
                  <a:srgbClr val="1F1F1F"/>
                </a:solidFill>
                <a:latin typeface="Calibri"/>
              </a:rPr>
              <a:t>Kanpur Dehat (Uttar Pradesh) 4%</a:t>
            </a:r>
          </a:p>
          <a:p>
            <a:pPr>
              <a:spcAft>
                <a:spcPts val="0"/>
              </a:spcAft>
            </a:pPr>
            <a:r>
              <a:rPr sz="1200" b="0" i="0">
                <a:solidFill>
                  <a:srgbClr val="0E6E6E"/>
                </a:solidFill>
                <a:latin typeface="Calibri"/>
              </a:rPr>
              <a:t>▪  </a:t>
            </a:r>
            <a:r>
              <a:rPr sz="1200" b="0" i="0">
                <a:solidFill>
                  <a:srgbClr val="1F1F1F"/>
                </a:solidFill>
                <a:latin typeface="Calibri"/>
              </a:rPr>
              <a:t>Deogarh (Odisha) 5%</a:t>
            </a:r>
          </a:p>
        </p:txBody>
      </p:sp>
      <p:sp>
        <p:nvSpPr>
          <p:cNvPr id="10" name="TextBox 9"/>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600" b="1" i="0">
                <a:solidFill>
                  <a:srgbClr val="1B3A6B"/>
                </a:solidFill>
                <a:latin typeface="Times New Roman"/>
              </a:rPr>
              <a:t>Preprocessing: Before vs After (Figures)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pic>
        <p:nvPicPr>
          <p:cNvPr id="4" name="Picture 3" descr="prep_quality_before_after.png"/>
          <p:cNvPicPr>
            <a:picLocks noChangeAspect="1"/>
          </p:cNvPicPr>
          <p:nvPr/>
        </p:nvPicPr>
        <p:blipFill>
          <a:blip r:embed="rId4"/>
          <a:stretch>
            <a:fillRect/>
          </a:stretch>
        </p:blipFill>
        <p:spPr>
          <a:xfrm>
            <a:off x="2263940" y="1188720"/>
            <a:ext cx="4616119" cy="2423160"/>
          </a:xfrm>
          <a:prstGeom prst="rect">
            <a:avLst/>
          </a:prstGeom>
        </p:spPr>
      </p:pic>
      <p:pic>
        <p:nvPicPr>
          <p:cNvPr id="5" name="Picture 4" descr="prep_feature_scaling.png"/>
          <p:cNvPicPr>
            <a:picLocks noChangeAspect="1"/>
          </p:cNvPicPr>
          <p:nvPr/>
        </p:nvPicPr>
        <p:blipFill>
          <a:blip r:embed="rId5"/>
          <a:stretch>
            <a:fillRect/>
          </a:stretch>
        </p:blipFill>
        <p:spPr>
          <a:xfrm>
            <a:off x="1633772" y="3703320"/>
            <a:ext cx="5876455" cy="2423160"/>
          </a:xfrm>
          <a:prstGeom prst="rect">
            <a:avLst/>
          </a:prstGeom>
        </p:spPr>
      </p:pic>
      <p:sp>
        <p:nvSpPr>
          <p:cNvPr id="6" name="TextBox 5"/>
          <p:cNvSpPr txBox="1"/>
          <p:nvPr/>
        </p:nvSpPr>
        <p:spPr>
          <a:xfrm>
            <a:off x="365760" y="6144768"/>
            <a:ext cx="8412480" cy="292608"/>
          </a:xfrm>
          <a:prstGeom prst="rect">
            <a:avLst/>
          </a:prstGeom>
          <a:noFill/>
        </p:spPr>
        <p:txBody>
          <a:bodyPr wrap="square" anchor="t" lIns="45720" rIns="45720">
            <a:spAutoFit/>
          </a:bodyPr>
          <a:lstStyle/>
          <a:p>
            <a:pPr algn="ctr"/>
            <a:r>
              <a:rPr sz="1200" b="0" i="0">
                <a:solidFill>
                  <a:srgbClr val="595959"/>
                </a:solidFill>
                <a:latin typeface="Calibri"/>
              </a:rPr>
              <a:t>Top: Data-quality problems before vs after.  Bottom: Feature scales before (raw) vs after (standardised).</a:t>
            </a:r>
          </a:p>
        </p:txBody>
      </p:sp>
      <p:sp>
        <p:nvSpPr>
          <p:cNvPr id="7" name="TextBox 6"/>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600" b="1" i="0">
                <a:solidFill>
                  <a:srgbClr val="1B3A6B"/>
                </a:solidFill>
                <a:latin typeface="Times New Roman"/>
              </a:rPr>
              <a:t>Preprocessing Improvement (Figures)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pic>
        <p:nvPicPr>
          <p:cNvPr id="4" name="Picture 3" descr="prep_model_gain.png"/>
          <p:cNvPicPr>
            <a:picLocks noChangeAspect="1"/>
          </p:cNvPicPr>
          <p:nvPr/>
        </p:nvPicPr>
        <p:blipFill>
          <a:blip r:embed="rId4"/>
          <a:stretch>
            <a:fillRect/>
          </a:stretch>
        </p:blipFill>
        <p:spPr>
          <a:xfrm>
            <a:off x="2084960" y="1188720"/>
            <a:ext cx="4974078" cy="2423160"/>
          </a:xfrm>
          <a:prstGeom prst="rect">
            <a:avLst/>
          </a:prstGeom>
        </p:spPr>
      </p:pic>
      <p:pic>
        <p:nvPicPr>
          <p:cNvPr id="5" name="Picture 4" descr="prep_retention.png"/>
          <p:cNvPicPr>
            <a:picLocks noChangeAspect="1"/>
          </p:cNvPicPr>
          <p:nvPr/>
        </p:nvPicPr>
        <p:blipFill>
          <a:blip r:embed="rId5"/>
          <a:stretch>
            <a:fillRect/>
          </a:stretch>
        </p:blipFill>
        <p:spPr>
          <a:xfrm>
            <a:off x="1890962" y="3703320"/>
            <a:ext cx="5362075" cy="2423160"/>
          </a:xfrm>
          <a:prstGeom prst="rect">
            <a:avLst/>
          </a:prstGeom>
        </p:spPr>
      </p:pic>
      <p:sp>
        <p:nvSpPr>
          <p:cNvPr id="6" name="TextBox 5"/>
          <p:cNvSpPr txBox="1"/>
          <p:nvPr/>
        </p:nvSpPr>
        <p:spPr>
          <a:xfrm>
            <a:off x="365760" y="6144768"/>
            <a:ext cx="8412480" cy="292608"/>
          </a:xfrm>
          <a:prstGeom prst="rect">
            <a:avLst/>
          </a:prstGeom>
          <a:noFill/>
        </p:spPr>
        <p:txBody>
          <a:bodyPr wrap="square" anchor="t" lIns="45720" rIns="45720">
            <a:spAutoFit/>
          </a:bodyPr>
          <a:lstStyle/>
          <a:p>
            <a:pPr algn="ctr"/>
            <a:r>
              <a:rPr sz="1200" b="0" i="0">
                <a:solidFill>
                  <a:srgbClr val="595959"/>
                </a:solidFill>
                <a:latin typeface="Calibri"/>
              </a:rPr>
              <a:t>Top: Model ROC-AUC before vs after preprocessing.  Bottom: District retention 640 → 469.</a:t>
            </a:r>
          </a:p>
        </p:txBody>
      </p:sp>
      <p:sp>
        <p:nvSpPr>
          <p:cNvPr id="7" name="TextBox 6"/>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Sehjodh Grewal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Big Data Results (Figures)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pic>
        <p:nvPicPr>
          <p:cNvPr id="4" name="Picture 3" descr="hdfs_storage.png"/>
          <p:cNvPicPr>
            <a:picLocks noChangeAspect="1"/>
          </p:cNvPicPr>
          <p:nvPr/>
        </p:nvPicPr>
        <p:blipFill>
          <a:blip r:embed="rId4"/>
          <a:stretch>
            <a:fillRect/>
          </a:stretch>
        </p:blipFill>
        <p:spPr>
          <a:xfrm>
            <a:off x="1591979" y="1188720"/>
            <a:ext cx="5960041" cy="2423160"/>
          </a:xfrm>
          <a:prstGeom prst="rect">
            <a:avLst/>
          </a:prstGeom>
        </p:spPr>
      </p:pic>
      <p:pic>
        <p:nvPicPr>
          <p:cNvPr id="5" name="Picture 4" descr="mapreduce_scalability.png"/>
          <p:cNvPicPr>
            <a:picLocks noChangeAspect="1"/>
          </p:cNvPicPr>
          <p:nvPr/>
        </p:nvPicPr>
        <p:blipFill>
          <a:blip r:embed="rId5"/>
          <a:stretch>
            <a:fillRect/>
          </a:stretch>
        </p:blipFill>
        <p:spPr>
          <a:xfrm>
            <a:off x="2542182" y="3703320"/>
            <a:ext cx="4059634" cy="2423160"/>
          </a:xfrm>
          <a:prstGeom prst="rect">
            <a:avLst/>
          </a:prstGeom>
        </p:spPr>
      </p:pic>
      <p:sp>
        <p:nvSpPr>
          <p:cNvPr id="6" name="TextBox 5"/>
          <p:cNvSpPr txBox="1"/>
          <p:nvPr/>
        </p:nvSpPr>
        <p:spPr>
          <a:xfrm>
            <a:off x="365760" y="6144768"/>
            <a:ext cx="8412480" cy="292608"/>
          </a:xfrm>
          <a:prstGeom prst="rect">
            <a:avLst/>
          </a:prstGeom>
          <a:noFill/>
        </p:spPr>
        <p:txBody>
          <a:bodyPr wrap="square" anchor="t" lIns="45720" rIns="45720">
            <a:spAutoFit/>
          </a:bodyPr>
          <a:lstStyle/>
          <a:p>
            <a:pPr algn="ctr"/>
            <a:r>
              <a:rPr sz="1200" b="0" i="0">
                <a:solidFill>
                  <a:srgbClr val="595959"/>
                </a:solidFill>
                <a:latin typeface="Calibri"/>
              </a:rPr>
              <a:t>Top: HDFS storage by zone (Colab run 2026-10-11).  Bottom: MapReduce scaling, single node (Colab run 2026-10-11).</a:t>
            </a:r>
          </a:p>
        </p:txBody>
      </p:sp>
      <p:sp>
        <p:nvSpPr>
          <p:cNvPr id="7" name="TextBox 6"/>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Tanmay Singh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600" b="1" i="0">
                <a:solidFill>
                  <a:srgbClr val="1B3A6B"/>
                </a:solidFill>
                <a:latin typeface="Times New Roman"/>
              </a:rPr>
              <a:t>Results of Classification (Figures)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pic>
        <p:nvPicPr>
          <p:cNvPr id="4" name="Picture 3" descr="roc_curves.png"/>
          <p:cNvPicPr>
            <a:picLocks noChangeAspect="1"/>
          </p:cNvPicPr>
          <p:nvPr/>
        </p:nvPicPr>
        <p:blipFill>
          <a:blip r:embed="rId4"/>
          <a:stretch>
            <a:fillRect/>
          </a:stretch>
        </p:blipFill>
        <p:spPr>
          <a:xfrm>
            <a:off x="2010175" y="1188720"/>
            <a:ext cx="5123648" cy="2423160"/>
          </a:xfrm>
          <a:prstGeom prst="rect">
            <a:avLst/>
          </a:prstGeom>
        </p:spPr>
      </p:pic>
      <p:pic>
        <p:nvPicPr>
          <p:cNvPr id="5" name="Picture 4" descr="comparison_bars.png"/>
          <p:cNvPicPr>
            <a:picLocks noChangeAspect="1"/>
          </p:cNvPicPr>
          <p:nvPr/>
        </p:nvPicPr>
        <p:blipFill>
          <a:blip r:embed="rId5"/>
          <a:stretch>
            <a:fillRect/>
          </a:stretch>
        </p:blipFill>
        <p:spPr>
          <a:xfrm>
            <a:off x="1955065" y="3703320"/>
            <a:ext cx="5233869" cy="2423160"/>
          </a:xfrm>
          <a:prstGeom prst="rect">
            <a:avLst/>
          </a:prstGeom>
        </p:spPr>
      </p:pic>
      <p:sp>
        <p:nvSpPr>
          <p:cNvPr id="6" name="TextBox 5"/>
          <p:cNvSpPr txBox="1"/>
          <p:nvPr/>
        </p:nvSpPr>
        <p:spPr>
          <a:xfrm>
            <a:off x="365760" y="6144768"/>
            <a:ext cx="8412480" cy="292608"/>
          </a:xfrm>
          <a:prstGeom prst="rect">
            <a:avLst/>
          </a:prstGeom>
          <a:noFill/>
        </p:spPr>
        <p:txBody>
          <a:bodyPr wrap="square" anchor="t" lIns="45720" rIns="45720">
            <a:spAutoFit/>
          </a:bodyPr>
          <a:lstStyle/>
          <a:p>
            <a:pPr algn="ctr"/>
            <a:r>
              <a:rPr sz="1200" b="0" i="0">
                <a:solidFill>
                  <a:srgbClr val="595959"/>
                </a:solidFill>
                <a:latin typeface="Calibri"/>
              </a:rPr>
              <a:t>Top: ROC and precision-recall curves (25 folds).  Bottom: Comparison: mean ± SD over 25 folds.</a:t>
            </a:r>
          </a:p>
        </p:txBody>
      </p:sp>
      <p:sp>
        <p:nvSpPr>
          <p:cNvPr id="7" name="TextBox 6"/>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600" b="1" i="0">
                <a:solidFill>
                  <a:srgbClr val="1B3A6B"/>
                </a:solidFill>
                <a:latin typeface="Times New Roman"/>
              </a:rPr>
              <a:t>Confusion Matrix &amp; Stability (Figures)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pic>
        <p:nvPicPr>
          <p:cNvPr id="4" name="Picture 3" descr="confusion_acpn.png"/>
          <p:cNvPicPr>
            <a:picLocks noChangeAspect="1"/>
          </p:cNvPicPr>
          <p:nvPr/>
        </p:nvPicPr>
        <p:blipFill>
          <a:blip r:embed="rId4"/>
          <a:stretch>
            <a:fillRect/>
          </a:stretch>
        </p:blipFill>
        <p:spPr>
          <a:xfrm>
            <a:off x="365760" y="1619648"/>
            <a:ext cx="4114800" cy="3801583"/>
          </a:xfrm>
          <a:prstGeom prst="rect">
            <a:avLst/>
          </a:prstGeom>
        </p:spPr>
      </p:pic>
      <p:pic>
        <p:nvPicPr>
          <p:cNvPr id="5" name="Picture 4" descr="fold_boxplots.png"/>
          <p:cNvPicPr>
            <a:picLocks noChangeAspect="1"/>
          </p:cNvPicPr>
          <p:nvPr/>
        </p:nvPicPr>
        <p:blipFill>
          <a:blip r:embed="rId5"/>
          <a:stretch>
            <a:fillRect/>
          </a:stretch>
        </p:blipFill>
        <p:spPr>
          <a:xfrm>
            <a:off x="4663440" y="2429283"/>
            <a:ext cx="4114800" cy="2182313"/>
          </a:xfrm>
          <a:prstGeom prst="rect">
            <a:avLst/>
          </a:prstGeom>
        </p:spPr>
      </p:pic>
      <p:sp>
        <p:nvSpPr>
          <p:cNvPr id="6" name="TextBox 5"/>
          <p:cNvSpPr txBox="1"/>
          <p:nvPr/>
        </p:nvSpPr>
        <p:spPr>
          <a:xfrm>
            <a:off x="365760" y="5897880"/>
            <a:ext cx="4114800" cy="457200"/>
          </a:xfrm>
          <a:prstGeom prst="rect">
            <a:avLst/>
          </a:prstGeom>
          <a:noFill/>
        </p:spPr>
        <p:txBody>
          <a:bodyPr wrap="square" anchor="t" lIns="45720" rIns="45720">
            <a:spAutoFit/>
          </a:bodyPr>
          <a:lstStyle/>
          <a:p>
            <a:pPr algn="ctr"/>
            <a:r>
              <a:rPr sz="1200" b="0" i="0">
                <a:solidFill>
                  <a:srgbClr val="595959"/>
                </a:solidFill>
                <a:latin typeface="Calibri"/>
              </a:rPr>
              <a:t>A-CPN confusion matrix (25 folds)</a:t>
            </a:r>
          </a:p>
        </p:txBody>
      </p:sp>
      <p:sp>
        <p:nvSpPr>
          <p:cNvPr id="7" name="TextBox 6"/>
          <p:cNvSpPr txBox="1"/>
          <p:nvPr/>
        </p:nvSpPr>
        <p:spPr>
          <a:xfrm>
            <a:off x="4663440" y="5897880"/>
            <a:ext cx="4114800" cy="457200"/>
          </a:xfrm>
          <a:prstGeom prst="rect">
            <a:avLst/>
          </a:prstGeom>
          <a:noFill/>
        </p:spPr>
        <p:txBody>
          <a:bodyPr wrap="square" anchor="t" lIns="45720" rIns="45720">
            <a:spAutoFit/>
          </a:bodyPr>
          <a:lstStyle/>
          <a:p>
            <a:pPr algn="ctr"/>
            <a:r>
              <a:rPr sz="1200" b="0" i="0">
                <a:solidFill>
                  <a:srgbClr val="595959"/>
                </a:solidFill>
                <a:latin typeface="Calibri"/>
              </a:rPr>
              <a:t>ROC-AUC per fold, all models</a:t>
            </a:r>
          </a:p>
        </p:txBody>
      </p:sp>
      <p:sp>
        <p:nvSpPr>
          <p:cNvPr id="8" name="TextBox 7"/>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Climate-Push Visualisation</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pic>
        <p:nvPicPr>
          <p:cNvPr id="4" name="Picture 3" descr="climate_push_by_quadrant.png"/>
          <p:cNvPicPr>
            <a:picLocks noChangeAspect="1"/>
          </p:cNvPicPr>
          <p:nvPr/>
        </p:nvPicPr>
        <p:blipFill>
          <a:blip r:embed="rId4"/>
          <a:stretch>
            <a:fillRect/>
          </a:stretch>
        </p:blipFill>
        <p:spPr>
          <a:xfrm>
            <a:off x="365760" y="2225613"/>
            <a:ext cx="4114800" cy="2589653"/>
          </a:xfrm>
          <a:prstGeom prst="rect">
            <a:avLst/>
          </a:prstGeom>
        </p:spPr>
      </p:pic>
      <p:pic>
        <p:nvPicPr>
          <p:cNvPr id="5" name="Picture 4" descr="climate_push_map.png"/>
          <p:cNvPicPr>
            <a:picLocks noChangeAspect="1"/>
          </p:cNvPicPr>
          <p:nvPr/>
        </p:nvPicPr>
        <p:blipFill>
          <a:blip r:embed="rId5"/>
          <a:stretch>
            <a:fillRect/>
          </a:stretch>
        </p:blipFill>
        <p:spPr>
          <a:xfrm>
            <a:off x="4663440" y="1681213"/>
            <a:ext cx="4114800" cy="3678452"/>
          </a:xfrm>
          <a:prstGeom prst="rect">
            <a:avLst/>
          </a:prstGeom>
        </p:spPr>
      </p:pic>
      <p:sp>
        <p:nvSpPr>
          <p:cNvPr id="6" name="TextBox 5"/>
          <p:cNvSpPr txBox="1"/>
          <p:nvPr/>
        </p:nvSpPr>
        <p:spPr>
          <a:xfrm>
            <a:off x="365760" y="5897880"/>
            <a:ext cx="4114800" cy="457200"/>
          </a:xfrm>
          <a:prstGeom prst="rect">
            <a:avLst/>
          </a:prstGeom>
          <a:noFill/>
        </p:spPr>
        <p:txBody>
          <a:bodyPr wrap="square" anchor="t" lIns="45720" rIns="45720">
            <a:spAutoFit/>
          </a:bodyPr>
          <a:lstStyle/>
          <a:p>
            <a:pPr algn="ctr"/>
            <a:r>
              <a:rPr sz="1200" b="0" i="0">
                <a:solidFill>
                  <a:srgbClr val="595959"/>
                </a:solidFill>
                <a:latin typeface="Calibri"/>
              </a:rPr>
              <a:t>Climate push by group (bar = mean)</a:t>
            </a:r>
          </a:p>
        </p:txBody>
      </p:sp>
      <p:sp>
        <p:nvSpPr>
          <p:cNvPr id="7" name="TextBox 6"/>
          <p:cNvSpPr txBox="1"/>
          <p:nvPr/>
        </p:nvSpPr>
        <p:spPr>
          <a:xfrm>
            <a:off x="4663440" y="5897880"/>
            <a:ext cx="4114800" cy="457200"/>
          </a:xfrm>
          <a:prstGeom prst="rect">
            <a:avLst/>
          </a:prstGeom>
          <a:noFill/>
        </p:spPr>
        <p:txBody>
          <a:bodyPr wrap="square" anchor="t" lIns="45720" rIns="45720">
            <a:spAutoFit/>
          </a:bodyPr>
          <a:lstStyle/>
          <a:p>
            <a:pPr algn="ctr"/>
            <a:r>
              <a:rPr sz="1200" b="0" i="0">
                <a:solidFill>
                  <a:srgbClr val="595959"/>
                </a:solidFill>
                <a:latin typeface="Calibri"/>
              </a:rPr>
              <a:t>Climate push per district (469)</a:t>
            </a:r>
          </a:p>
        </p:txBody>
      </p:sp>
      <p:sp>
        <p:nvSpPr>
          <p:cNvPr id="8" name="TextBox 7"/>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Devanshu Kumar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Key Findings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TextBox 3"/>
          <p:cNvSpPr txBox="1"/>
          <p:nvPr/>
        </p:nvSpPr>
        <p:spPr>
          <a:xfrm>
            <a:off x="365760" y="1188720"/>
            <a:ext cx="4572000" cy="5120640"/>
          </a:xfrm>
          <a:prstGeom prst="rect">
            <a:avLst/>
          </a:prstGeom>
          <a:noFill/>
        </p:spPr>
        <p:txBody>
          <a:bodyPr wrap="square" lIns="45720" rIns="45720">
            <a:spAutoFit/>
          </a:bodyPr>
          <a:lstStyle/>
          <a:p>
            <a:pPr>
              <a:spcAft>
                <a:spcPts val="1000"/>
              </a:spcAft>
            </a:pPr>
            <a:r>
              <a:rPr sz="1500" b="0" i="0">
                <a:solidFill>
                  <a:srgbClr val="0E6E6E"/>
                </a:solidFill>
                <a:latin typeface="Calibri"/>
              </a:rPr>
              <a:t>▪  </a:t>
            </a:r>
            <a:r>
              <a:rPr sz="1500" b="1" i="0">
                <a:solidFill>
                  <a:srgbClr val="1F1F1F"/>
                </a:solidFill>
                <a:latin typeface="Calibri"/>
              </a:rPr>
              <a:t>Development is not enough: </a:t>
            </a:r>
            <a:r>
              <a:rPr sz="1500" b="0" i="0">
                <a:solidFill>
                  <a:srgbClr val="1F1F1F"/>
                </a:solidFill>
                <a:latin typeface="Calibri"/>
              </a:rPr>
              <a:t>R² 0.127; Pearson -0.356</a:t>
            </a:r>
          </a:p>
          <a:p>
            <a:pPr>
              <a:spcAft>
                <a:spcPts val="1000"/>
              </a:spcAft>
            </a:pPr>
            <a:r>
              <a:rPr sz="1500" b="0" i="0">
                <a:solidFill>
                  <a:srgbClr val="0E6E6E"/>
                </a:solidFill>
                <a:latin typeface="Calibri"/>
              </a:rPr>
              <a:t>▪  </a:t>
            </a:r>
            <a:r>
              <a:rPr sz="1500" b="1" i="0">
                <a:solidFill>
                  <a:srgbClr val="1F1F1F"/>
                </a:solidFill>
                <a:latin typeface="Calibri"/>
              </a:rPr>
              <a:t>Climate adds signal: </a:t>
            </a:r>
            <a:r>
              <a:rPr sz="1500" b="0" i="0">
                <a:solidFill>
                  <a:srgbClr val="1F1F1F"/>
                </a:solidFill>
                <a:latin typeface="Calibri"/>
              </a:rPr>
              <a:t>R² rises to 0.334 with the 8 hazard variables</a:t>
            </a:r>
          </a:p>
          <a:p>
            <a:pPr>
              <a:spcAft>
                <a:spcPts val="1000"/>
              </a:spcAft>
            </a:pPr>
            <a:r>
              <a:rPr sz="1500" b="0" i="0">
                <a:solidFill>
                  <a:srgbClr val="0E6E6E"/>
                </a:solidFill>
                <a:latin typeface="Calibri"/>
              </a:rPr>
              <a:t>▪  </a:t>
            </a:r>
            <a:r>
              <a:rPr sz="1500" b="1" i="0">
                <a:solidFill>
                  <a:srgbClr val="1F1F1F"/>
                </a:solidFill>
                <a:latin typeface="Calibri"/>
              </a:rPr>
              <a:t>Anomalies are common: </a:t>
            </a:r>
            <a:r>
              <a:rPr sz="1500" b="0" i="0">
                <a:solidFill>
                  <a:srgbClr val="1F1F1F"/>
                </a:solidFill>
                <a:latin typeface="Calibri"/>
              </a:rPr>
              <a:t>181/469 districts (38.6%)</a:t>
            </a:r>
          </a:p>
          <a:p>
            <a:pPr>
              <a:spcAft>
                <a:spcPts val="1000"/>
              </a:spcAft>
            </a:pPr>
            <a:r>
              <a:rPr sz="1500" b="0" i="0">
                <a:solidFill>
                  <a:srgbClr val="0E6E6E"/>
                </a:solidFill>
                <a:latin typeface="Calibri"/>
              </a:rPr>
              <a:t>▪  </a:t>
            </a:r>
            <a:r>
              <a:rPr sz="1500" b="1" i="0">
                <a:solidFill>
                  <a:srgbClr val="1F1F1F"/>
                </a:solidFill>
                <a:latin typeface="Calibri"/>
              </a:rPr>
              <a:t>Anomaly A: </a:t>
            </a:r>
            <a:r>
              <a:rPr sz="1500" b="0" i="0">
                <a:solidFill>
                  <a:srgbClr val="1F1F1F"/>
                </a:solidFill>
                <a:latin typeface="Calibri"/>
              </a:rPr>
              <a:t>≈2× tropical nights (91 vs 45 per year)</a:t>
            </a:r>
          </a:p>
          <a:p>
            <a:pPr>
              <a:spcAft>
                <a:spcPts val="1000"/>
              </a:spcAft>
            </a:pPr>
            <a:r>
              <a:rPr sz="1500" b="0" i="0">
                <a:solidFill>
                  <a:srgbClr val="0E6E6E"/>
                </a:solidFill>
                <a:latin typeface="Calibri"/>
              </a:rPr>
              <a:t>▪  </a:t>
            </a:r>
            <a:r>
              <a:rPr sz="1500" b="1" i="0">
                <a:solidFill>
                  <a:srgbClr val="1F1F1F"/>
                </a:solidFill>
                <a:latin typeface="Calibri"/>
              </a:rPr>
              <a:t>Anomaly B: </a:t>
            </a:r>
            <a:r>
              <a:rPr sz="1500" b="0" i="0">
                <a:solidFill>
                  <a:srgbClr val="1F1F1F"/>
                </a:solidFill>
                <a:latin typeface="Calibri"/>
              </a:rPr>
              <a:t>drier (863 vs 1078 mm annual rain)</a:t>
            </a:r>
          </a:p>
          <a:p>
            <a:pPr>
              <a:spcAft>
                <a:spcPts val="1000"/>
              </a:spcAft>
            </a:pPr>
            <a:r>
              <a:rPr sz="1500" b="0" i="0">
                <a:solidFill>
                  <a:srgbClr val="0E6E6E"/>
                </a:solidFill>
                <a:latin typeface="Calibri"/>
              </a:rPr>
              <a:t>▪  </a:t>
            </a:r>
            <a:r>
              <a:rPr sz="1500" b="1" i="0">
                <a:solidFill>
                  <a:srgbClr val="1F1F1F"/>
                </a:solidFill>
                <a:latin typeface="Calibri"/>
              </a:rPr>
              <a:t>A-CPN result: </a:t>
            </a:r>
            <a:r>
              <a:rPr sz="1500" b="0" i="0">
                <a:solidFill>
                  <a:srgbClr val="1F1F1F"/>
                </a:solidFill>
                <a:latin typeface="Calibri"/>
              </a:rPr>
              <a:t>ROC-AUC 0.761 vs best GBT 0.811; climate push Anomaly A +0.31 vs expected -0.53</a:t>
            </a:r>
          </a:p>
          <a:p>
            <a:pPr>
              <a:spcAft>
                <a:spcPts val="1000"/>
              </a:spcAft>
            </a:pPr>
            <a:r>
              <a:rPr sz="1500" b="0" i="0">
                <a:solidFill>
                  <a:srgbClr val="0E6E6E"/>
                </a:solidFill>
                <a:latin typeface="Calibri"/>
              </a:rPr>
              <a:t>▪  </a:t>
            </a:r>
            <a:r>
              <a:rPr sz="1500" b="1" i="0">
                <a:solidFill>
                  <a:srgbClr val="1F1F1F"/>
                </a:solidFill>
                <a:latin typeface="Calibri"/>
              </a:rPr>
              <a:t>Limitations: </a:t>
            </a:r>
            <a:r>
              <a:rPr sz="1500" b="0" i="0">
                <a:solidFill>
                  <a:srgbClr val="1F1F1F"/>
                </a:solidFill>
                <a:latin typeface="Calibri"/>
              </a:rPr>
              <a:t>2011 Census vs 2021 index; 1° temperature grid; single-node Hadoop; 469 districts</a:t>
            </a:r>
          </a:p>
        </p:txBody>
      </p:sp>
      <p:graphicFrame>
        <p:nvGraphicFramePr>
          <p:cNvPr id="5" name="Chart 4"/>
          <p:cNvGraphicFramePr>
            <a:graphicFrameLocks noGrp="1"/>
          </p:cNvGraphicFramePr>
          <p:nvPr/>
        </p:nvGraphicFramePr>
        <p:xfrm>
          <a:off x="5120640" y="1280160"/>
          <a:ext cx="3657600" cy="4206240"/>
        </p:xfrm>
        <a:graphic>
          <a:graphicData uri="http://schemas.openxmlformats.org/drawingml/2006/chart">
            <c:chart xmlns:c="http://schemas.openxmlformats.org/drawingml/2006/chart" r:id="rId4"/>
          </a:graphicData>
        </a:graphic>
      </p:graphicFrame>
      <p:sp>
        <p:nvSpPr>
          <p:cNvPr id="6" name="TextBox 5"/>
          <p:cNvSpPr txBox="1"/>
          <p:nvPr/>
        </p:nvSpPr>
        <p:spPr>
          <a:xfrm>
            <a:off x="5120640" y="5577840"/>
            <a:ext cx="3657600" cy="457200"/>
          </a:xfrm>
          <a:prstGeom prst="rect">
            <a:avLst/>
          </a:prstGeom>
          <a:noFill/>
        </p:spPr>
        <p:txBody>
          <a:bodyPr wrap="square" anchor="t" lIns="45720" rIns="45720">
            <a:spAutoFit/>
          </a:bodyPr>
          <a:lstStyle/>
          <a:p>
            <a:pPr algn="ctr"/>
            <a:r>
              <a:rPr sz="1100" b="0" i="0">
                <a:solidFill>
                  <a:srgbClr val="595959"/>
                </a:solidFill>
                <a:latin typeface="Calibri"/>
              </a:rPr>
              <a:t>Source: Colab run 2026-10-11</a:t>
            </a:r>
          </a:p>
        </p:txBody>
      </p:sp>
      <p:sp>
        <p:nvSpPr>
          <p:cNvPr id="7" name="TextBox 6"/>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Tanmay Singh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Plan of Action / Member Tasks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graphicFrame>
        <p:nvGraphicFramePr>
          <p:cNvPr id="4" name="Table 3"/>
          <p:cNvGraphicFramePr>
            <a:graphicFrameLocks noGrp="1"/>
          </p:cNvGraphicFramePr>
          <p:nvPr/>
        </p:nvGraphicFramePr>
        <p:xfrm>
          <a:off x="365760" y="1188720"/>
          <a:ext cx="8412480" cy="4343400"/>
        </p:xfrm>
        <a:graphic>
          <a:graphicData uri="http://schemas.openxmlformats.org/drawingml/2006/table">
            <a:tbl>
              <a:tblPr firstRow="1" bandRow="1">
                <a:tableStyleId>{5C22544A-7EE6-4342-B048-85BDC9FD1C3A}</a:tableStyleId>
              </a:tblPr>
              <a:tblGrid>
                <a:gridCol w="1463040"/>
                <a:gridCol w="1737360"/>
                <a:gridCol w="3931920"/>
                <a:gridCol w="1280160"/>
              </a:tblGrid>
              <a:tr h="868680">
                <a:tc>
                  <a:txBody>
                    <a:bodyPr wrap="square"/>
                    <a:lstStyle/>
                    <a:p>
                      <a:pPr algn="l"/>
                      <a:r>
                        <a:rPr sz="1100" b="1" i="0">
                          <a:solidFill>
                            <a:srgbClr val="FFFFFF"/>
                          </a:solidFill>
                          <a:latin typeface="Calibri"/>
                        </a:rPr>
                        <a:t>Team member</a:t>
                      </a:r>
                    </a:p>
                  </a:txBody>
                  <a:tcPr marL="54864" marR="54864" marT="27432" marB="27432" anchor="ctr">
                    <a:solidFill>
                      <a:srgbClr val="1B3A6B"/>
                    </a:solidFill>
                  </a:tcPr>
                </a:tc>
                <a:tc>
                  <a:txBody>
                    <a:bodyPr wrap="square"/>
                    <a:lstStyle/>
                    <a:p>
                      <a:pPr algn="ctr"/>
                      <a:r>
                        <a:rPr sz="1100" b="1" i="0">
                          <a:solidFill>
                            <a:srgbClr val="FFFFFF"/>
                          </a:solidFill>
                          <a:latin typeface="Calibri"/>
                        </a:rPr>
                        <a:t>Assigned work</a:t>
                      </a:r>
                    </a:p>
                  </a:txBody>
                  <a:tcPr marL="54864" marR="54864" marT="27432" marB="27432" anchor="ctr">
                    <a:solidFill>
                      <a:srgbClr val="1B3A6B"/>
                    </a:solidFill>
                  </a:tcPr>
                </a:tc>
                <a:tc>
                  <a:txBody>
                    <a:bodyPr wrap="square"/>
                    <a:lstStyle/>
                    <a:p>
                      <a:pPr algn="ctr"/>
                      <a:r>
                        <a:rPr sz="1100" b="1" i="0">
                          <a:solidFill>
                            <a:srgbClr val="FFFFFF"/>
                          </a:solidFill>
                          <a:latin typeface="Calibri"/>
                        </a:rPr>
                        <a:t>Key responsibilities</a:t>
                      </a:r>
                    </a:p>
                  </a:txBody>
                  <a:tcPr marL="54864" marR="54864" marT="27432" marB="27432" anchor="ctr">
                    <a:solidFill>
                      <a:srgbClr val="1B3A6B"/>
                    </a:solidFill>
                  </a:tcPr>
                </a:tc>
                <a:tc>
                  <a:txBody>
                    <a:bodyPr wrap="square"/>
                    <a:lstStyle/>
                    <a:p>
                      <a:pPr algn="ctr"/>
                      <a:r>
                        <a:rPr sz="1100" b="1" i="0">
                          <a:solidFill>
                            <a:srgbClr val="FFFFFF"/>
                          </a:solidFill>
                          <a:latin typeface="Calibri"/>
                        </a:rPr>
                        <a:t>Completion (Review 2)</a:t>
                      </a:r>
                    </a:p>
                  </a:txBody>
                  <a:tcPr marL="54864" marR="54864" marT="27432" marB="27432" anchor="ctr">
                    <a:solidFill>
                      <a:srgbClr val="1B3A6B"/>
                    </a:solidFill>
                  </a:tcPr>
                </a:tc>
              </a:tr>
              <a:tr h="868680">
                <a:tc>
                  <a:txBody>
                    <a:bodyPr wrap="square"/>
                    <a:lstStyle/>
                    <a:p>
                      <a:pPr algn="l"/>
                      <a:r>
                        <a:rPr sz="1100" b="1" i="0">
                          <a:solidFill>
                            <a:srgbClr val="1F1F1F"/>
                          </a:solidFill>
                          <a:latin typeface="Calibri"/>
                        </a:rPr>
                        <a:t>Sehjodh Grewal</a:t>
                      </a:r>
                    </a:p>
                  </a:txBody>
                  <a:tcPr marL="54864" marR="54864" marT="27432" marB="27432" anchor="ctr">
                    <a:solidFill>
                      <a:srgbClr val="FFFFFF"/>
                    </a:solidFill>
                  </a:tcPr>
                </a:tc>
                <a:tc>
                  <a:txBody>
                    <a:bodyPr wrap="square"/>
                    <a:lstStyle/>
                    <a:p>
                      <a:pPr algn="ctr"/>
                      <a:r>
                        <a:rPr sz="1100" b="0" i="0">
                          <a:solidFill>
                            <a:srgbClr val="1F1F1F"/>
                          </a:solidFill>
                          <a:latin typeface="Calibri"/>
                        </a:rPr>
                        <a:t>Data acquisition &amp; preprocessing</a:t>
                      </a:r>
                    </a:p>
                  </a:txBody>
                  <a:tcPr marL="54864" marR="54864" marT="27432" marB="27432" anchor="ctr">
                    <a:solidFill>
                      <a:srgbClr val="FFFFFF"/>
                    </a:solidFill>
                  </a:tcPr>
                </a:tc>
                <a:tc>
                  <a:txBody>
                    <a:bodyPr wrap="square"/>
                    <a:lstStyle/>
                    <a:p>
                      <a:pPr algn="ctr"/>
                      <a:r>
                        <a:rPr sz="1100" b="0" i="0">
                          <a:solidFill>
                            <a:srgbClr val="1F1F1F"/>
                          </a:solidFill>
                          <a:latin typeface="Calibri"/>
                        </a:rPr>
                        <a:t>Data download, Census rates, district matching, grid weights, grid-to-district conversion, Table 1, preprocessing error metrics</a:t>
                      </a:r>
                    </a:p>
                  </a:txBody>
                  <a:tcPr marL="54864" marR="54864" marT="27432" marB="27432" anchor="ctr">
                    <a:solidFill>
                      <a:srgbClr val="FFFFFF"/>
                    </a:solidFill>
                  </a:tcPr>
                </a:tc>
                <a:tc>
                  <a:txBody>
                    <a:bodyPr wrap="square"/>
                    <a:lstStyle/>
                    <a:p>
                      <a:pPr algn="ctr"/>
                      <a:r>
                        <a:rPr sz="1100" b="0" i="0">
                          <a:solidFill>
                            <a:srgbClr val="1F1F1F"/>
                          </a:solidFill>
                          <a:latin typeface="Calibri"/>
                        </a:rPr>
                        <a:t>100% (estimate)</a:t>
                      </a:r>
                    </a:p>
                  </a:txBody>
                  <a:tcPr marL="54864" marR="54864" marT="27432" marB="27432" anchor="ctr">
                    <a:solidFill>
                      <a:srgbClr val="FFFFFF"/>
                    </a:solidFill>
                  </a:tcPr>
                </a:tc>
              </a:tr>
              <a:tr h="868680">
                <a:tc>
                  <a:txBody>
                    <a:bodyPr wrap="square"/>
                    <a:lstStyle/>
                    <a:p>
                      <a:pPr algn="l"/>
                      <a:r>
                        <a:rPr sz="1100" b="1" i="0">
                          <a:solidFill>
                            <a:srgbClr val="1F1F1F"/>
                          </a:solidFill>
                          <a:latin typeface="Calibri"/>
                        </a:rPr>
                        <a:t>Deepankar</a:t>
                      </a:r>
                    </a:p>
                  </a:txBody>
                  <a:tcPr marL="54864" marR="54864" marT="27432" marB="27432" anchor="ctr">
                    <a:solidFill>
                      <a:srgbClr val="EEF2F8"/>
                    </a:solidFill>
                  </a:tcPr>
                </a:tc>
                <a:tc>
                  <a:txBody>
                    <a:bodyPr wrap="square"/>
                    <a:lstStyle/>
                    <a:p>
                      <a:pPr algn="ctr"/>
                      <a:r>
                        <a:rPr sz="1100" b="0" i="0">
                          <a:solidFill>
                            <a:srgbClr val="1F1F1F"/>
                          </a:solidFill>
                          <a:latin typeface="Calibri"/>
                        </a:rPr>
                        <a:t>Big Data platform &amp; storage</a:t>
                      </a:r>
                    </a:p>
                  </a:txBody>
                  <a:tcPr marL="54864" marR="54864" marT="27432" marB="27432" anchor="ctr">
                    <a:solidFill>
                      <a:srgbClr val="EEF2F8"/>
                    </a:solidFill>
                  </a:tcPr>
                </a:tc>
                <a:tc>
                  <a:txBody>
                    <a:bodyPr wrap="square"/>
                    <a:lstStyle/>
                    <a:p>
                      <a:pPr algn="ctr"/>
                      <a:r>
                        <a:rPr sz="1100" b="0" i="0">
                          <a:solidFill>
                            <a:srgbClr val="1F1F1F"/>
                          </a:solidFill>
                          <a:latin typeface="Calibri"/>
                        </a:rPr>
                        <a:t>Hadoop/YARN/Hive/Spark setup in Colab, HDFS zones, data loading, storage report (Table 2), repo and notebook integration</a:t>
                      </a:r>
                    </a:p>
                  </a:txBody>
                  <a:tcPr marL="54864" marR="54864" marT="27432" marB="27432" anchor="ctr">
                    <a:solidFill>
                      <a:srgbClr val="EEF2F8"/>
                    </a:solidFill>
                  </a:tcPr>
                </a:tc>
                <a:tc>
                  <a:txBody>
                    <a:bodyPr wrap="square"/>
                    <a:lstStyle/>
                    <a:p>
                      <a:pPr algn="ctr"/>
                      <a:r>
                        <a:rPr sz="1100" b="0" i="0">
                          <a:solidFill>
                            <a:srgbClr val="1F1F1F"/>
                          </a:solidFill>
                          <a:latin typeface="Calibri"/>
                        </a:rPr>
                        <a:t>90% (estimate: fresh Colab run pending)</a:t>
                      </a:r>
                    </a:p>
                  </a:txBody>
                  <a:tcPr marL="54864" marR="54864" marT="27432" marB="27432" anchor="ctr">
                    <a:solidFill>
                      <a:srgbClr val="EEF2F8"/>
                    </a:solidFill>
                  </a:tcPr>
                </a:tc>
              </a:tr>
              <a:tr h="868680">
                <a:tc>
                  <a:txBody>
                    <a:bodyPr wrap="square"/>
                    <a:lstStyle/>
                    <a:p>
                      <a:pPr algn="l"/>
                      <a:r>
                        <a:rPr sz="1100" b="1" i="0">
                          <a:solidFill>
                            <a:srgbClr val="1F1F1F"/>
                          </a:solidFill>
                          <a:latin typeface="Calibri"/>
                        </a:rPr>
                        <a:t>Tanmay Singh</a:t>
                      </a:r>
                    </a:p>
                  </a:txBody>
                  <a:tcPr marL="54864" marR="54864" marT="27432" marB="27432" anchor="ctr">
                    <a:solidFill>
                      <a:srgbClr val="FFFFFF"/>
                    </a:solidFill>
                  </a:tcPr>
                </a:tc>
                <a:tc>
                  <a:txBody>
                    <a:bodyPr wrap="square"/>
                    <a:lstStyle/>
                    <a:p>
                      <a:pPr algn="ctr"/>
                      <a:r>
                        <a:rPr sz="1100" b="0" i="0">
                          <a:solidFill>
                            <a:srgbClr val="1F1F1F"/>
                          </a:solidFill>
                          <a:latin typeface="Calibri"/>
                        </a:rPr>
                        <a:t>Big Data processing jobs</a:t>
                      </a:r>
                    </a:p>
                  </a:txBody>
                  <a:tcPr marL="54864" marR="54864" marT="27432" marB="27432" anchor="ctr">
                    <a:solidFill>
                      <a:srgbClr val="FFFFFF"/>
                    </a:solidFill>
                  </a:tcPr>
                </a:tc>
                <a:tc>
                  <a:txBody>
                    <a:bodyPr wrap="square"/>
                    <a:lstStyle/>
                    <a:p>
                      <a:pPr algn="ctr"/>
                      <a:r>
                        <a:rPr sz="1100" b="0" i="0">
                          <a:solidFill>
                            <a:srgbClr val="1F1F1F"/>
                          </a:solidFill>
                          <a:latin typeface="Calibri"/>
                        </a:rPr>
                        <a:t>MapReduce, Hive queries, Spark k-means climate regimes, processing results (Table 3), slide assembly</a:t>
                      </a:r>
                    </a:p>
                  </a:txBody>
                  <a:tcPr marL="54864" marR="54864" marT="27432" marB="27432" anchor="ctr">
                    <a:solidFill>
                      <a:srgbClr val="FFFFFF"/>
                    </a:solidFill>
                  </a:tcPr>
                </a:tc>
                <a:tc>
                  <a:txBody>
                    <a:bodyPr wrap="square"/>
                    <a:lstStyle/>
                    <a:p>
                      <a:pPr algn="ctr"/>
                      <a:r>
                        <a:rPr sz="1100" b="0" i="0">
                          <a:solidFill>
                            <a:srgbClr val="1F1F1F"/>
                          </a:solidFill>
                          <a:latin typeface="Calibri"/>
                        </a:rPr>
                        <a:t>90% (estimate: fresh MapReduce/Hive run pending)</a:t>
                      </a:r>
                    </a:p>
                  </a:txBody>
                  <a:tcPr marL="54864" marR="54864" marT="27432" marB="27432" anchor="ctr">
                    <a:solidFill>
                      <a:srgbClr val="FFFFFF"/>
                    </a:solidFill>
                  </a:tcPr>
                </a:tc>
              </a:tr>
              <a:tr h="868680">
                <a:tc>
                  <a:txBody>
                    <a:bodyPr wrap="square"/>
                    <a:lstStyle/>
                    <a:p>
                      <a:pPr algn="l"/>
                      <a:r>
                        <a:rPr sz="1100" b="1" i="0">
                          <a:solidFill>
                            <a:srgbClr val="1F1F1F"/>
                          </a:solidFill>
                          <a:latin typeface="Calibri"/>
                        </a:rPr>
                        <a:t>Devanshu Kumar</a:t>
                      </a:r>
                    </a:p>
                  </a:txBody>
                  <a:tcPr marL="54864" marR="54864" marT="27432" marB="27432" anchor="ctr">
                    <a:solidFill>
                      <a:srgbClr val="EEF2F8"/>
                    </a:solidFill>
                  </a:tcPr>
                </a:tc>
                <a:tc>
                  <a:txBody>
                    <a:bodyPr wrap="square"/>
                    <a:lstStyle/>
                    <a:p>
                      <a:pPr algn="ctr"/>
                      <a:r>
                        <a:rPr sz="1100" b="0" i="0">
                          <a:solidFill>
                            <a:srgbClr val="1F1F1F"/>
                          </a:solidFill>
                          <a:latin typeface="Calibri"/>
                        </a:rPr>
                        <a:t>Models &amp; comparison</a:t>
                      </a:r>
                    </a:p>
                  </a:txBody>
                  <a:tcPr marL="54864" marR="54864" marT="27432" marB="27432" anchor="ctr">
                    <a:solidFill>
                      <a:srgbClr val="EEF2F8"/>
                    </a:solidFill>
                  </a:tcPr>
                </a:tc>
                <a:tc>
                  <a:txBody>
                    <a:bodyPr wrap="square"/>
                    <a:lstStyle/>
                    <a:p>
                      <a:pPr algn="ctr"/>
                      <a:r>
                        <a:rPr sz="1100" b="0" i="0">
                          <a:solidFill>
                            <a:srgbClr val="1F1F1F"/>
                          </a:solidFill>
                          <a:latin typeface="Calibri"/>
                        </a:rPr>
                        <a:t>A-CPN design and training, 5 comparison models, metrics, ablation, climate-push analysis (Tables 4-6)</a:t>
                      </a:r>
                    </a:p>
                  </a:txBody>
                  <a:tcPr marL="54864" marR="54864" marT="27432" marB="27432" anchor="ctr">
                    <a:solidFill>
                      <a:srgbClr val="EEF2F8"/>
                    </a:solidFill>
                  </a:tcPr>
                </a:tc>
                <a:tc>
                  <a:txBody>
                    <a:bodyPr wrap="square"/>
                    <a:lstStyle/>
                    <a:p>
                      <a:pPr algn="ctr"/>
                      <a:r>
                        <a:rPr sz="1100" b="0" i="0">
                          <a:solidFill>
                            <a:srgbClr val="1F1F1F"/>
                          </a:solidFill>
                          <a:latin typeface="Calibri"/>
                        </a:rPr>
                        <a:t>95% (estimate: all models run; tuning next)</a:t>
                      </a:r>
                    </a:p>
                  </a:txBody>
                  <a:tcPr marL="54864" marR="54864" marT="27432" marB="27432" anchor="ctr">
                    <a:solidFill>
                      <a:srgbClr val="EEF2F8"/>
                    </a:solidFill>
                  </a:tcPr>
                </a:tc>
              </a:tr>
            </a:tbl>
          </a:graphicData>
        </a:graphic>
      </p:graphicFrame>
      <p:sp>
        <p:nvSpPr>
          <p:cNvPr id="5" name="TextBox 4"/>
          <p:cNvSpPr txBox="1"/>
          <p:nvPr/>
        </p:nvSpPr>
        <p:spPr>
          <a:xfrm>
            <a:off x="365760" y="5623560"/>
            <a:ext cx="8412480" cy="731520"/>
          </a:xfrm>
          <a:prstGeom prst="rect">
            <a:avLst/>
          </a:prstGeom>
          <a:noFill/>
        </p:spPr>
        <p:txBody>
          <a:bodyPr wrap="square" anchor="t" lIns="45720" rIns="45720">
            <a:spAutoFit/>
          </a:bodyPr>
          <a:lstStyle/>
          <a:p>
            <a:pPr algn="l"/>
            <a:r>
              <a:rPr sz="1300" b="0" i="0">
                <a:solidFill>
                  <a:srgbClr val="1F1F1F"/>
                </a:solidFill>
                <a:latin typeface="Calibri"/>
              </a:rPr>
              <a:t>Next (Review 3): full 1901–2024 rainfall in HDFS and re-timing; A-CPN tuning; comparison with CEEW / DST district rankings; final report.</a:t>
            </a:r>
          </a:p>
        </p:txBody>
      </p:sp>
      <p:sp>
        <p:nvSpPr>
          <p:cNvPr id="6" name="TextBox 5"/>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Tanmay Singh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References</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TextBox 3"/>
          <p:cNvSpPr txBox="1"/>
          <p:nvPr/>
        </p:nvSpPr>
        <p:spPr>
          <a:xfrm>
            <a:off x="365760" y="1188720"/>
            <a:ext cx="8412480" cy="5212080"/>
          </a:xfrm>
          <a:prstGeom prst="rect">
            <a:avLst/>
          </a:prstGeom>
          <a:noFill/>
        </p:spPr>
        <p:txBody>
          <a:bodyPr wrap="square">
            <a:spAutoFit/>
          </a:bodyPr>
          <a:lstStyle/>
          <a:p>
            <a:pPr>
              <a:spcAft>
                <a:spcPts val="400"/>
              </a:spcAft>
            </a:pPr>
            <a:r>
              <a:rPr sz="1300" b="1" i="0">
                <a:solidFill>
                  <a:srgbClr val="1B3A6B"/>
                </a:solidFill>
                <a:latin typeface="Calibri"/>
              </a:rPr>
              <a:t>[1]  </a:t>
            </a:r>
            <a:r>
              <a:rPr sz="1300" b="0" i="0">
                <a:solidFill>
                  <a:srgbClr val="1F1F1F"/>
                </a:solidFill>
                <a:latin typeface="Calibri"/>
              </a:rPr>
              <a:t>A. Mohanty and S. Wadhawan, Mapping India's Climate Vulnerability, CEEW, 2021.</a:t>
            </a:r>
          </a:p>
          <a:p>
            <a:pPr>
              <a:spcAft>
                <a:spcPts val="400"/>
              </a:spcAft>
            </a:pPr>
            <a:r>
              <a:rPr sz="1300" b="1" i="0">
                <a:solidFill>
                  <a:srgbClr val="1B3A6B"/>
                </a:solidFill>
                <a:latin typeface="Calibri"/>
              </a:rPr>
              <a:t>[2]  </a:t>
            </a:r>
            <a:r>
              <a:rPr sz="1300" b="0" i="0">
                <a:solidFill>
                  <a:srgbClr val="1F1F1F"/>
                </a:solidFill>
                <a:latin typeface="Calibri"/>
              </a:rPr>
              <a:t>NITI Aayog, District-Level Climate Vulnerability Indicators, NDAP dataset 7160.</a:t>
            </a:r>
          </a:p>
          <a:p>
            <a:pPr>
              <a:spcAft>
                <a:spcPts val="400"/>
              </a:spcAft>
            </a:pPr>
            <a:r>
              <a:rPr sz="1300" b="1" i="0">
                <a:solidFill>
                  <a:srgbClr val="1B3A6B"/>
                </a:solidFill>
                <a:latin typeface="Calibri"/>
              </a:rPr>
              <a:t>[3]  </a:t>
            </a:r>
            <a:r>
              <a:rPr sz="1300" b="0" i="0">
                <a:solidFill>
                  <a:srgbClr val="1F1F1F"/>
                </a:solidFill>
                <a:latin typeface="Calibri"/>
              </a:rPr>
              <a:t>Census of India 2011, Primary Census Abstract.</a:t>
            </a:r>
          </a:p>
          <a:p>
            <a:pPr>
              <a:spcAft>
                <a:spcPts val="400"/>
              </a:spcAft>
            </a:pPr>
            <a:r>
              <a:rPr sz="1300" b="1" i="0">
                <a:solidFill>
                  <a:srgbClr val="1B3A6B"/>
                </a:solidFill>
                <a:latin typeface="Calibri"/>
              </a:rPr>
              <a:t>[4]  </a:t>
            </a:r>
            <a:r>
              <a:rPr sz="1300" b="0" i="0">
                <a:solidFill>
                  <a:srgbClr val="1F1F1F"/>
                </a:solidFill>
                <a:latin typeface="Calibri"/>
              </a:rPr>
              <a:t>D. S. Pai et al., MAUSAM 65(1), 2014 (IMD gridded rainfall).</a:t>
            </a:r>
          </a:p>
          <a:p>
            <a:pPr>
              <a:spcAft>
                <a:spcPts val="400"/>
              </a:spcAft>
            </a:pPr>
            <a:r>
              <a:rPr sz="1300" b="1" i="0">
                <a:solidFill>
                  <a:srgbClr val="1B3A6B"/>
                </a:solidFill>
                <a:latin typeface="Calibri"/>
              </a:rPr>
              <a:t>[5]  </a:t>
            </a:r>
            <a:r>
              <a:rPr sz="1300" b="0" i="0">
                <a:solidFill>
                  <a:srgbClr val="1F1F1F"/>
                </a:solidFill>
                <a:latin typeface="Calibri"/>
              </a:rPr>
              <a:t>A. K. Srivastava et al., Atmospheric Science Letters 10, 2009 (IMD gridded temperature).</a:t>
            </a:r>
          </a:p>
          <a:p>
            <a:pPr>
              <a:spcAft>
                <a:spcPts val="400"/>
              </a:spcAft>
            </a:pPr>
            <a:r>
              <a:rPr sz="1300" b="1" i="0">
                <a:solidFill>
                  <a:srgbClr val="1B3A6B"/>
                </a:solidFill>
                <a:latin typeface="Calibri"/>
              </a:rPr>
              <a:t>[6]  </a:t>
            </a:r>
            <a:r>
              <a:rPr sz="1300" b="0" i="0">
                <a:solidFill>
                  <a:srgbClr val="1F1F1F"/>
                </a:solidFill>
                <a:latin typeface="Calibri"/>
              </a:rPr>
              <a:t>H.-T. Cheng et al., Wide &amp; Deep Learning for Recommender Systems, DLRS 2016.</a:t>
            </a:r>
          </a:p>
          <a:p>
            <a:pPr>
              <a:spcAft>
                <a:spcPts val="400"/>
              </a:spcAft>
            </a:pPr>
            <a:r>
              <a:rPr sz="1300" b="1" i="0">
                <a:solidFill>
                  <a:srgbClr val="1B3A6B"/>
                </a:solidFill>
                <a:latin typeface="Calibri"/>
              </a:rPr>
              <a:t>[7]  </a:t>
            </a:r>
            <a:r>
              <a:rPr sz="1300" b="0" i="0">
                <a:solidFill>
                  <a:srgbClr val="1F1F1F"/>
                </a:solidFill>
                <a:latin typeface="Calibri"/>
              </a:rPr>
              <a:t>S. Ö. Arık and T. Pfister, TabNet: Attentive Interpretable Tabular Learning, AAAI 2021.</a:t>
            </a:r>
          </a:p>
          <a:p>
            <a:pPr>
              <a:spcAft>
                <a:spcPts val="400"/>
              </a:spcAft>
            </a:pPr>
            <a:r>
              <a:rPr sz="1300" b="1" i="0">
                <a:solidFill>
                  <a:srgbClr val="1B3A6B"/>
                </a:solidFill>
                <a:latin typeface="Calibri"/>
              </a:rPr>
              <a:t>[8]  </a:t>
            </a:r>
            <a:r>
              <a:rPr sz="1300" b="0" i="0">
                <a:solidFill>
                  <a:srgbClr val="1F1F1F"/>
                </a:solidFill>
                <a:latin typeface="Calibri"/>
              </a:rPr>
              <a:t>Z. Liu et al., KAN: Kolmogorov–Arnold Networks, arXiv:2404.19756, 2024.</a:t>
            </a:r>
          </a:p>
          <a:p>
            <a:pPr>
              <a:spcAft>
                <a:spcPts val="400"/>
              </a:spcAft>
            </a:pPr>
            <a:r>
              <a:rPr sz="1300" b="1" i="0">
                <a:solidFill>
                  <a:srgbClr val="1B3A6B"/>
                </a:solidFill>
                <a:latin typeface="Calibri"/>
              </a:rPr>
              <a:t>[9]  </a:t>
            </a:r>
            <a:r>
              <a:rPr sz="1300" b="0" i="0">
                <a:solidFill>
                  <a:srgbClr val="1F1F1F"/>
                </a:solidFill>
                <a:latin typeface="Calibri"/>
              </a:rPr>
              <a:t>K. He et al., Deep Residual Learning for Image Recognition, CVPR 2016.</a:t>
            </a:r>
          </a:p>
          <a:p>
            <a:pPr>
              <a:spcAft>
                <a:spcPts val="400"/>
              </a:spcAft>
            </a:pPr>
            <a:r>
              <a:rPr sz="1300" b="1" i="0">
                <a:solidFill>
                  <a:srgbClr val="1B3A6B"/>
                </a:solidFill>
                <a:latin typeface="Calibri"/>
              </a:rPr>
              <a:t>[10]  </a:t>
            </a:r>
            <a:r>
              <a:rPr sz="1300" b="0" i="0">
                <a:solidFill>
                  <a:srgbClr val="1F1F1F"/>
                </a:solidFill>
                <a:latin typeface="Calibri"/>
              </a:rPr>
              <a:t>Y. Gal and Z. Ghahramani, Dropout as a Bayesian Approximation, ICML 2016.</a:t>
            </a:r>
          </a:p>
          <a:p>
            <a:pPr>
              <a:spcAft>
                <a:spcPts val="400"/>
              </a:spcAft>
            </a:pPr>
            <a:r>
              <a:rPr sz="1300" b="1" i="0">
                <a:solidFill>
                  <a:srgbClr val="1B3A6B"/>
                </a:solidFill>
                <a:latin typeface="Calibri"/>
              </a:rPr>
              <a:t>[11]  </a:t>
            </a:r>
            <a:r>
              <a:rPr sz="1300" b="0" i="0">
                <a:solidFill>
                  <a:srgbClr val="1F1F1F"/>
                </a:solidFill>
                <a:latin typeface="Calibri"/>
              </a:rPr>
              <a:t>A. N. Angelopoulos and S. Bates, A Gentle Introduction to Conformal Prediction, arXiv:2107.07511, 2021.</a:t>
            </a:r>
          </a:p>
          <a:p>
            <a:pPr>
              <a:spcAft>
                <a:spcPts val="400"/>
              </a:spcAft>
            </a:pPr>
            <a:r>
              <a:rPr sz="1300" b="1" i="0">
                <a:solidFill>
                  <a:srgbClr val="1B3A6B"/>
                </a:solidFill>
                <a:latin typeface="Calibri"/>
              </a:rPr>
              <a:t>[12]  </a:t>
            </a:r>
            <a:r>
              <a:rPr sz="1300" b="0" i="0">
                <a:solidFill>
                  <a:srgbClr val="1F1F1F"/>
                </a:solidFill>
                <a:latin typeface="Calibri"/>
              </a:rPr>
              <a:t>K. Shvachko et al., The Hadoop Distributed File System, MSST 2010.</a:t>
            </a:r>
          </a:p>
          <a:p>
            <a:pPr>
              <a:spcAft>
                <a:spcPts val="400"/>
              </a:spcAft>
            </a:pPr>
            <a:r>
              <a:rPr sz="1300" b="1" i="0">
                <a:solidFill>
                  <a:srgbClr val="1B3A6B"/>
                </a:solidFill>
                <a:latin typeface="Calibri"/>
              </a:rPr>
              <a:t>[13]  </a:t>
            </a:r>
            <a:r>
              <a:rPr sz="1300" b="0" i="0">
                <a:solidFill>
                  <a:srgbClr val="1F1F1F"/>
                </a:solidFill>
                <a:latin typeface="Calibri"/>
              </a:rPr>
              <a:t>J. Dean and S. Ghemawat, MapReduce, Communications of the ACM, 2008.</a:t>
            </a:r>
          </a:p>
          <a:p>
            <a:pPr>
              <a:spcAft>
                <a:spcPts val="400"/>
              </a:spcAft>
            </a:pPr>
            <a:r>
              <a:rPr sz="1300" b="1" i="0">
                <a:solidFill>
                  <a:srgbClr val="1B3A6B"/>
                </a:solidFill>
                <a:latin typeface="Calibri"/>
              </a:rPr>
              <a:t>[14]  </a:t>
            </a:r>
            <a:r>
              <a:rPr sz="1300" b="0" i="0">
                <a:solidFill>
                  <a:srgbClr val="1F1F1F"/>
                </a:solidFill>
                <a:latin typeface="Calibri"/>
              </a:rPr>
              <a:t>A. Thusoo et al., Hive, VLDB 2009.</a:t>
            </a:r>
          </a:p>
          <a:p>
            <a:pPr>
              <a:spcAft>
                <a:spcPts val="400"/>
              </a:spcAft>
            </a:pPr>
            <a:r>
              <a:rPr sz="1300" b="1" i="0">
                <a:solidFill>
                  <a:srgbClr val="1B3A6B"/>
                </a:solidFill>
                <a:latin typeface="Calibri"/>
              </a:rPr>
              <a:t>[15]  </a:t>
            </a:r>
            <a:r>
              <a:rPr sz="1300" b="0" i="0">
                <a:solidFill>
                  <a:srgbClr val="1F1F1F"/>
                </a:solidFill>
                <a:latin typeface="Calibri"/>
              </a:rPr>
              <a:t>M. Zaharia et al., Apache Spark: A Unified Engine for Big Data Processing, CACM 59(11), 2016.</a:t>
            </a:r>
          </a:p>
          <a:p>
            <a:pPr>
              <a:spcAft>
                <a:spcPts val="400"/>
              </a:spcAft>
            </a:pPr>
            <a:r>
              <a:rPr sz="1300" b="1" i="0">
                <a:solidFill>
                  <a:srgbClr val="1B3A6B"/>
                </a:solidFill>
                <a:latin typeface="Calibri"/>
              </a:rPr>
              <a:t>[16]  </a:t>
            </a:r>
            <a:r>
              <a:rPr sz="1300" b="0" i="0">
                <a:solidFill>
                  <a:srgbClr val="1F1F1F"/>
                </a:solidFill>
                <a:latin typeface="Calibri"/>
              </a:rPr>
              <a:t>X. Meng et al., MLlib: Machine Learning in Apache Spark, JMLR 17, 2016.</a:t>
            </a:r>
          </a:p>
          <a:p>
            <a:pPr>
              <a:spcAft>
                <a:spcPts val="400"/>
              </a:spcAft>
            </a:pPr>
            <a:r>
              <a:rPr sz="1300" b="1" i="0">
                <a:solidFill>
                  <a:srgbClr val="1B3A6B"/>
                </a:solidFill>
                <a:latin typeface="Calibri"/>
              </a:rPr>
              <a:t>[17]  </a:t>
            </a:r>
            <a:r>
              <a:rPr sz="1300" b="0" i="0">
                <a:solidFill>
                  <a:srgbClr val="1F1F1F"/>
                </a:solidFill>
                <a:latin typeface="Calibri"/>
              </a:rPr>
              <a:t>DataMeet, Community Created Maps of India.</a:t>
            </a:r>
          </a:p>
        </p:txBody>
      </p:sp>
      <p:sp>
        <p:nvSpPr>
          <p:cNvPr id="5" name="TextBox 4"/>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Tanmay Singh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Geotagged Photo: Review 2</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Rectangle 3"/>
          <p:cNvSpPr/>
          <p:nvPr/>
        </p:nvSpPr>
        <p:spPr>
          <a:xfrm>
            <a:off x="548640" y="1280160"/>
            <a:ext cx="8046720" cy="4937760"/>
          </a:xfrm>
          <a:prstGeom prst="rect">
            <a:avLst/>
          </a:pr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i="0">
                <a:solidFill>
                  <a:srgbClr val="595959"/>
                </a:solidFill>
                <a:latin typeface="Calibri"/>
              </a:rPr>
              <a:t>Insert geotagged photo</a:t>
            </a:r>
          </a:p>
        </p:txBody>
      </p:sp>
      <p:sp>
        <p:nvSpPr>
          <p:cNvPr id="5" name="TextBox 4"/>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Tanmay Singh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74320"/>
            <a:ext cx="6355080" cy="822960"/>
          </a:xfrm>
        </p:spPr>
        <p:txBody>
          <a:bodyPr wrap="square" anchor="ctr" lIns="45720"/>
          <a:lstStyle/>
          <a:p>
            <a:pPr algn="l"/>
            <a:r>
              <a:rPr sz="2800" b="1" i="0">
                <a:solidFill>
                  <a:srgbClr val="1B3A6B"/>
                </a:solidFill>
                <a:latin typeface="Times New Roman"/>
              </a:rPr>
              <a:t>Google Colab Implementation Link</a:t>
            </a:r>
          </a:p>
        </p:txBody>
      </p:sp>
      <p:pic>
        <p:nvPicPr>
          <p:cNvPr id="3" name="Picture 2" descr="image.jpeg"/>
          <p:cNvPicPr>
            <a:picLocks noChangeAspect="1"/>
          </p:cNvPicPr>
          <p:nvPr/>
        </p:nvPicPr>
        <p:blipFill>
          <a:blip r:embed="rId2"/>
          <a:stretch>
            <a:fillRect/>
          </a:stretch>
        </p:blipFill>
        <p:spPr>
          <a:xfrm>
            <a:off x="6858000" y="228600"/>
            <a:ext cx="2066925" cy="857250"/>
          </a:xfrm>
          <a:prstGeom prst="rect">
            <a:avLst/>
          </a:prstGeom>
        </p:spPr>
      </p:pic>
      <p:sp>
        <p:nvSpPr>
          <p:cNvPr id="4" name="TextBox 3"/>
          <p:cNvSpPr txBox="1"/>
          <p:nvPr/>
        </p:nvSpPr>
        <p:spPr>
          <a:xfrm>
            <a:off x="365760" y="1188720"/>
            <a:ext cx="8412480" cy="320040"/>
          </a:xfrm>
          <a:prstGeom prst="rect">
            <a:avLst/>
          </a:prstGeom>
          <a:noFill/>
        </p:spPr>
        <p:txBody>
          <a:bodyPr wrap="square" anchor="t" lIns="45720" rIns="45720">
            <a:spAutoFit/>
          </a:bodyPr>
          <a:lstStyle/>
          <a:p>
            <a:pPr algn="l"/>
            <a:r>
              <a:rPr sz="1400" b="1" i="0">
                <a:solidFill>
                  <a:srgbClr val="1B3A6B"/>
                </a:solidFill>
                <a:latin typeface="Calibri"/>
              </a:rPr>
              <a:t>Colab (with outputs):</a:t>
            </a:r>
          </a:p>
        </p:txBody>
      </p:sp>
      <p:sp>
        <p:nvSpPr>
          <p:cNvPr id="5" name="TextBox 4"/>
          <p:cNvSpPr txBox="1"/>
          <p:nvPr/>
        </p:nvSpPr>
        <p:spPr>
          <a:xfrm>
            <a:off x="365760" y="1481328"/>
            <a:ext cx="8412480" cy="502920"/>
          </a:xfrm>
          <a:prstGeom prst="rect">
            <a:avLst/>
          </a:prstGeom>
          <a:noFill/>
        </p:spPr>
        <p:txBody>
          <a:bodyPr wrap="square" anchor="t" lIns="45720" rIns="45720">
            <a:spAutoFit/>
          </a:bodyPr>
          <a:lstStyle/>
          <a:p>
            <a:pPr algn="l"/>
            <a:r>
              <a:rPr sz="1200" b="0" i="0">
                <a:solidFill>
                  <a:srgbClr val="0E6E6E"/>
                </a:solidFill>
                <a:latin typeface="Calibri"/>
              </a:rPr>
              <a:t>https://colab.research.google.com/github/deepankarkumar1310/hadoop-ml-algorithm-/blob/main/notebooks/Review2_Colab.ipynb</a:t>
            </a:r>
          </a:p>
        </p:txBody>
      </p:sp>
      <p:sp>
        <p:nvSpPr>
          <p:cNvPr id="6" name="TextBox 5"/>
          <p:cNvSpPr txBox="1"/>
          <p:nvPr/>
        </p:nvSpPr>
        <p:spPr>
          <a:xfrm>
            <a:off x="365760" y="2011680"/>
            <a:ext cx="8412480" cy="320040"/>
          </a:xfrm>
          <a:prstGeom prst="rect">
            <a:avLst/>
          </a:prstGeom>
          <a:noFill/>
        </p:spPr>
        <p:txBody>
          <a:bodyPr wrap="square" anchor="t" lIns="45720" rIns="45720">
            <a:spAutoFit/>
          </a:bodyPr>
          <a:lstStyle/>
          <a:p>
            <a:pPr algn="l"/>
            <a:r>
              <a:rPr sz="1300" b="1" i="0">
                <a:solidFill>
                  <a:srgbClr val="1B3A6B"/>
                </a:solidFill>
                <a:latin typeface="Calibri"/>
              </a:rPr>
              <a:t>GitHub:  https://github.com/deepankarkumar1310/hadoop-ml-algorithm-</a:t>
            </a:r>
          </a:p>
        </p:txBody>
      </p:sp>
      <p:graphicFrame>
        <p:nvGraphicFramePr>
          <p:cNvPr id="7" name="Table 6"/>
          <p:cNvGraphicFramePr>
            <a:graphicFrameLocks noGrp="1"/>
          </p:cNvGraphicFramePr>
          <p:nvPr/>
        </p:nvGraphicFramePr>
        <p:xfrm>
          <a:off x="365760" y="2514600"/>
          <a:ext cx="8412480" cy="3520440"/>
        </p:xfrm>
        <a:graphic>
          <a:graphicData uri="http://schemas.openxmlformats.org/drawingml/2006/table">
            <a:tbl>
              <a:tblPr firstRow="1" bandRow="1">
                <a:tableStyleId>{5C22544A-7EE6-4342-B048-85BDC9FD1C3A}</a:tableStyleId>
              </a:tblPr>
              <a:tblGrid>
                <a:gridCol w="2468880"/>
                <a:gridCol w="4572000"/>
                <a:gridCol w="1371600"/>
              </a:tblGrid>
              <a:tr h="502920">
                <a:tc>
                  <a:txBody>
                    <a:bodyPr wrap="square"/>
                    <a:lstStyle/>
                    <a:p>
                      <a:pPr algn="l"/>
                      <a:r>
                        <a:rPr sz="1200" b="1" i="0">
                          <a:solidFill>
                            <a:srgbClr val="FFFFFF"/>
                          </a:solidFill>
                          <a:latin typeface="Calibri"/>
                        </a:rPr>
                        <a:t>Notebook section</a:t>
                      </a:r>
                    </a:p>
                  </a:txBody>
                  <a:tcPr marL="54864" marR="54864" marT="27432" marB="27432" anchor="ctr">
                    <a:solidFill>
                      <a:srgbClr val="1B3A6B"/>
                    </a:solidFill>
                  </a:tcPr>
                </a:tc>
                <a:tc>
                  <a:txBody>
                    <a:bodyPr wrap="square"/>
                    <a:lstStyle/>
                    <a:p>
                      <a:pPr algn="ctr"/>
                      <a:r>
                        <a:rPr sz="1200" b="1" i="0">
                          <a:solidFill>
                            <a:srgbClr val="FFFFFF"/>
                          </a:solidFill>
                          <a:latin typeface="Calibri"/>
                        </a:rPr>
                        <a:t>What it shows</a:t>
                      </a:r>
                    </a:p>
                  </a:txBody>
                  <a:tcPr marL="54864" marR="54864" marT="27432" marB="27432" anchor="ctr">
                    <a:solidFill>
                      <a:srgbClr val="1B3A6B"/>
                    </a:solidFill>
                  </a:tcPr>
                </a:tc>
                <a:tc>
                  <a:txBody>
                    <a:bodyPr wrap="square"/>
                    <a:lstStyle/>
                    <a:p>
                      <a:pPr algn="ctr"/>
                      <a:r>
                        <a:rPr sz="1200" b="1" i="0">
                          <a:solidFill>
                            <a:srgbClr val="FFFFFF"/>
                          </a:solidFill>
                          <a:latin typeface="Calibri"/>
                        </a:rPr>
                        <a:t>Owner</a:t>
                      </a:r>
                    </a:p>
                  </a:txBody>
                  <a:tcPr marL="54864" marR="54864" marT="27432" marB="27432" anchor="ctr">
                    <a:solidFill>
                      <a:srgbClr val="1B3A6B"/>
                    </a:solidFill>
                  </a:tcPr>
                </a:tc>
              </a:tr>
              <a:tr h="502920">
                <a:tc>
                  <a:txBody>
                    <a:bodyPr wrap="square"/>
                    <a:lstStyle/>
                    <a:p>
                      <a:pPr algn="l"/>
                      <a:r>
                        <a:rPr sz="1200" b="1" i="0">
                          <a:solidFill>
                            <a:srgbClr val="1F1F1F"/>
                          </a:solidFill>
                          <a:latin typeface="Calibri"/>
                        </a:rPr>
                        <a:t>0–2 Setup, data, preprocessing</a:t>
                      </a:r>
                    </a:p>
                  </a:txBody>
                  <a:tcPr marL="54864" marR="54864" marT="27432" marB="27432" anchor="ctr">
                    <a:solidFill>
                      <a:srgbClr val="FFFFFF"/>
                    </a:solidFill>
                  </a:tcPr>
                </a:tc>
                <a:tc>
                  <a:txBody>
                    <a:bodyPr wrap="square"/>
                    <a:lstStyle/>
                    <a:p>
                      <a:pPr algn="ctr"/>
                      <a:r>
                        <a:rPr sz="1200" b="0" i="0">
                          <a:solidFill>
                            <a:srgbClr val="1F1F1F"/>
                          </a:solidFill>
                          <a:latin typeface="Calibri"/>
                        </a:rPr>
                        <a:t>Install, IMD download to Drive, Table 1 + error metrics</a:t>
                      </a:r>
                    </a:p>
                  </a:txBody>
                  <a:tcPr marL="54864" marR="54864" marT="27432" marB="27432" anchor="ctr">
                    <a:solidFill>
                      <a:srgbClr val="FFFFFF"/>
                    </a:solidFill>
                  </a:tcPr>
                </a:tc>
                <a:tc>
                  <a:txBody>
                    <a:bodyPr wrap="square"/>
                    <a:lstStyle/>
                    <a:p>
                      <a:pPr algn="ctr"/>
                      <a:r>
                        <a:rPr sz="1200" b="0" i="0">
                          <a:solidFill>
                            <a:srgbClr val="1F1F1F"/>
                          </a:solidFill>
                          <a:latin typeface="Calibri"/>
                        </a:rPr>
                        <a:t>Sehjodh</a:t>
                      </a:r>
                    </a:p>
                  </a:txBody>
                  <a:tcPr marL="54864" marR="54864" marT="27432" marB="27432" anchor="ctr">
                    <a:solidFill>
                      <a:srgbClr val="FFFFFF"/>
                    </a:solidFill>
                  </a:tcPr>
                </a:tc>
              </a:tr>
              <a:tr h="502920">
                <a:tc>
                  <a:txBody>
                    <a:bodyPr wrap="square"/>
                    <a:lstStyle/>
                    <a:p>
                      <a:pPr algn="l"/>
                      <a:r>
                        <a:rPr sz="1200" b="1" i="0">
                          <a:solidFill>
                            <a:srgbClr val="1F1F1F"/>
                          </a:solidFill>
                          <a:latin typeface="Calibri"/>
                        </a:rPr>
                        <a:t>3–4 Hadoop + HDFS</a:t>
                      </a:r>
                    </a:p>
                  </a:txBody>
                  <a:tcPr marL="54864" marR="54864" marT="27432" marB="27432" anchor="ctr">
                    <a:solidFill>
                      <a:srgbClr val="EEF2F8"/>
                    </a:solidFill>
                  </a:tcPr>
                </a:tc>
                <a:tc>
                  <a:txBody>
                    <a:bodyPr wrap="square"/>
                    <a:lstStyle/>
                    <a:p>
                      <a:pPr algn="ctr"/>
                      <a:r>
                        <a:rPr sz="1200" b="0" i="0">
                          <a:solidFill>
                            <a:srgbClr val="1F1F1F"/>
                          </a:solidFill>
                          <a:latin typeface="Calibri"/>
                        </a:rPr>
                        <a:t>Cluster start, health report, HDFS load, Table 2</a:t>
                      </a:r>
                    </a:p>
                  </a:txBody>
                  <a:tcPr marL="54864" marR="54864" marT="27432" marB="27432" anchor="ctr">
                    <a:solidFill>
                      <a:srgbClr val="EEF2F8"/>
                    </a:solidFill>
                  </a:tcPr>
                </a:tc>
                <a:tc>
                  <a:txBody>
                    <a:bodyPr wrap="square"/>
                    <a:lstStyle/>
                    <a:p>
                      <a:pPr algn="ctr"/>
                      <a:r>
                        <a:rPr sz="1200" b="0" i="0">
                          <a:solidFill>
                            <a:srgbClr val="1F1F1F"/>
                          </a:solidFill>
                          <a:latin typeface="Calibri"/>
                        </a:rPr>
                        <a:t>Deepankar</a:t>
                      </a:r>
                    </a:p>
                  </a:txBody>
                  <a:tcPr marL="54864" marR="54864" marT="27432" marB="27432" anchor="ctr">
                    <a:solidFill>
                      <a:srgbClr val="EEF2F8"/>
                    </a:solidFill>
                  </a:tcPr>
                </a:tc>
              </a:tr>
              <a:tr h="502920">
                <a:tc>
                  <a:txBody>
                    <a:bodyPr wrap="square"/>
                    <a:lstStyle/>
                    <a:p>
                      <a:pPr algn="l"/>
                      <a:r>
                        <a:rPr sz="1200" b="1" i="0">
                          <a:solidFill>
                            <a:srgbClr val="1F1F1F"/>
                          </a:solidFill>
                          <a:latin typeface="Calibri"/>
                        </a:rPr>
                        <a:t>5–7 MapReduce, Hive, Spark</a:t>
                      </a:r>
                    </a:p>
                  </a:txBody>
                  <a:tcPr marL="54864" marR="54864" marT="27432" marB="27432" anchor="ctr">
                    <a:solidFill>
                      <a:srgbClr val="FFFFFF"/>
                    </a:solidFill>
                  </a:tcPr>
                </a:tc>
                <a:tc>
                  <a:txBody>
                    <a:bodyPr wrap="square"/>
                    <a:lstStyle/>
                    <a:p>
                      <a:pPr algn="ctr"/>
                      <a:r>
                        <a:rPr sz="1200" b="0" i="0">
                          <a:solidFill>
                            <a:srgbClr val="1F1F1F"/>
                          </a:solidFill>
                          <a:latin typeface="Calibri"/>
                        </a:rPr>
                        <a:t>YARN job + timings, Hive check, k-means regimes, Table 3</a:t>
                      </a:r>
                    </a:p>
                  </a:txBody>
                  <a:tcPr marL="54864" marR="54864" marT="27432" marB="27432" anchor="ctr">
                    <a:solidFill>
                      <a:srgbClr val="FFFFFF"/>
                    </a:solidFill>
                  </a:tcPr>
                </a:tc>
                <a:tc>
                  <a:txBody>
                    <a:bodyPr wrap="square"/>
                    <a:lstStyle/>
                    <a:p>
                      <a:pPr algn="ctr"/>
                      <a:r>
                        <a:rPr sz="1200" b="0" i="0">
                          <a:solidFill>
                            <a:srgbClr val="1F1F1F"/>
                          </a:solidFill>
                          <a:latin typeface="Calibri"/>
                        </a:rPr>
                        <a:t>Tanmay</a:t>
                      </a:r>
                    </a:p>
                  </a:txBody>
                  <a:tcPr marL="54864" marR="54864" marT="27432" marB="27432" anchor="ctr">
                    <a:solidFill>
                      <a:srgbClr val="FFFFFF"/>
                    </a:solidFill>
                  </a:tcPr>
                </a:tc>
              </a:tr>
              <a:tr h="502920">
                <a:tc>
                  <a:txBody>
                    <a:bodyPr wrap="square"/>
                    <a:lstStyle/>
                    <a:p>
                      <a:pPr algn="l"/>
                      <a:r>
                        <a:rPr sz="1200" b="1" i="0">
                          <a:solidFill>
                            <a:srgbClr val="1F1F1F"/>
                          </a:solidFill>
                          <a:latin typeface="Calibri"/>
                        </a:rPr>
                        <a:t>8–10 A-CPN + comparison</a:t>
                      </a:r>
                    </a:p>
                  </a:txBody>
                  <a:tcPr marL="54864" marR="54864" marT="27432" marB="27432" anchor="ctr">
                    <a:solidFill>
                      <a:srgbClr val="EEF2F8"/>
                    </a:solidFill>
                  </a:tcPr>
                </a:tc>
                <a:tc>
                  <a:txBody>
                    <a:bodyPr wrap="square"/>
                    <a:lstStyle/>
                    <a:p>
                      <a:pPr algn="ctr"/>
                      <a:r>
                        <a:rPr sz="1200" b="0" i="0">
                          <a:solidFill>
                            <a:srgbClr val="1F1F1F"/>
                          </a:solidFill>
                          <a:latin typeface="Calibri"/>
                        </a:rPr>
                        <a:t>Model card, 5 baselines, Tables 4–6, ablation</a:t>
                      </a:r>
                    </a:p>
                  </a:txBody>
                  <a:tcPr marL="54864" marR="54864" marT="27432" marB="27432" anchor="ctr">
                    <a:solidFill>
                      <a:srgbClr val="EEF2F8"/>
                    </a:solidFill>
                  </a:tcPr>
                </a:tc>
                <a:tc>
                  <a:txBody>
                    <a:bodyPr wrap="square"/>
                    <a:lstStyle/>
                    <a:p>
                      <a:pPr algn="ctr"/>
                      <a:r>
                        <a:rPr sz="1200" b="0" i="0">
                          <a:solidFill>
                            <a:srgbClr val="1F1F1F"/>
                          </a:solidFill>
                          <a:latin typeface="Calibri"/>
                        </a:rPr>
                        <a:t>Devanshu</a:t>
                      </a:r>
                    </a:p>
                  </a:txBody>
                  <a:tcPr marL="54864" marR="54864" marT="27432" marB="27432" anchor="ctr">
                    <a:solidFill>
                      <a:srgbClr val="EEF2F8"/>
                    </a:solidFill>
                  </a:tcPr>
                </a:tc>
              </a:tr>
              <a:tr h="502920">
                <a:tc>
                  <a:txBody>
                    <a:bodyPr wrap="square"/>
                    <a:lstStyle/>
                    <a:p>
                      <a:pPr algn="l"/>
                      <a:r>
                        <a:rPr sz="1200" b="1" i="0">
                          <a:solidFill>
                            <a:srgbClr val="1F1F1F"/>
                          </a:solidFill>
                          <a:latin typeface="Calibri"/>
                        </a:rPr>
                        <a:t>11 Visualisations</a:t>
                      </a:r>
                    </a:p>
                  </a:txBody>
                  <a:tcPr marL="54864" marR="54864" marT="27432" marB="27432" anchor="ctr">
                    <a:solidFill>
                      <a:srgbClr val="FFFFFF"/>
                    </a:solidFill>
                  </a:tcPr>
                </a:tc>
                <a:tc>
                  <a:txBody>
                    <a:bodyPr wrap="square"/>
                    <a:lstStyle/>
                    <a:p>
                      <a:pPr algn="ctr"/>
                      <a:r>
                        <a:rPr sz="1200" b="0" i="0">
                          <a:solidFill>
                            <a:srgbClr val="1F1F1F"/>
                          </a:solidFill>
                          <a:latin typeface="Calibri"/>
                        </a:rPr>
                        <a:t>All figures, only after every table</a:t>
                      </a:r>
                    </a:p>
                  </a:txBody>
                  <a:tcPr marL="54864" marR="54864" marT="27432" marB="27432" anchor="ctr">
                    <a:solidFill>
                      <a:srgbClr val="FFFFFF"/>
                    </a:solidFill>
                  </a:tcPr>
                </a:tc>
                <a:tc>
                  <a:txBody>
                    <a:bodyPr wrap="square"/>
                    <a:lstStyle/>
                    <a:p>
                      <a:pPr algn="ctr"/>
                      <a:r>
                        <a:rPr sz="1200" b="0" i="0">
                          <a:solidFill>
                            <a:srgbClr val="1F1F1F"/>
                          </a:solidFill>
                          <a:latin typeface="Calibri"/>
                        </a:rPr>
                        <a:t>Each owner</a:t>
                      </a:r>
                    </a:p>
                  </a:txBody>
                  <a:tcPr marL="54864" marR="54864" marT="27432" marB="27432" anchor="ctr">
                    <a:solidFill>
                      <a:srgbClr val="FFFFFF"/>
                    </a:solidFill>
                  </a:tcPr>
                </a:tc>
              </a:tr>
              <a:tr h="502920">
                <a:tc>
                  <a:txBody>
                    <a:bodyPr wrap="square"/>
                    <a:lstStyle/>
                    <a:p>
                      <a:pPr algn="l"/>
                      <a:r>
                        <a:rPr sz="1200" b="1" i="0">
                          <a:solidFill>
                            <a:srgbClr val="1F1F1F"/>
                          </a:solidFill>
                          <a:latin typeface="Calibri"/>
                        </a:rPr>
                        <a:t>12 Slides</a:t>
                      </a:r>
                    </a:p>
                  </a:txBody>
                  <a:tcPr marL="54864" marR="54864" marT="27432" marB="27432" anchor="ctr">
                    <a:solidFill>
                      <a:srgbClr val="EEF2F8"/>
                    </a:solidFill>
                  </a:tcPr>
                </a:tc>
                <a:tc>
                  <a:txBody>
                    <a:bodyPr wrap="square"/>
                    <a:lstStyle/>
                    <a:p>
                      <a:pPr algn="ctr"/>
                      <a:r>
                        <a:rPr sz="1200" b="0" i="0">
                          <a:solidFill>
                            <a:srgbClr val="1F1F1F"/>
                          </a:solidFill>
                          <a:latin typeface="Calibri"/>
                        </a:rPr>
                        <a:t>Builds this deck from results/</a:t>
                      </a:r>
                    </a:p>
                  </a:txBody>
                  <a:tcPr marL="54864" marR="54864" marT="27432" marB="27432" anchor="ctr">
                    <a:solidFill>
                      <a:srgbClr val="EEF2F8"/>
                    </a:solidFill>
                  </a:tcPr>
                </a:tc>
                <a:tc>
                  <a:txBody>
                    <a:bodyPr wrap="square"/>
                    <a:lstStyle/>
                    <a:p>
                      <a:pPr algn="ctr"/>
                      <a:r>
                        <a:rPr sz="1200" b="0" i="0">
                          <a:solidFill>
                            <a:srgbClr val="1F1F1F"/>
                          </a:solidFill>
                          <a:latin typeface="Calibri"/>
                        </a:rPr>
                        <a:t>Tanmay</a:t>
                      </a:r>
                    </a:p>
                  </a:txBody>
                  <a:tcPr marL="54864" marR="54864" marT="27432" marB="27432" anchor="ctr">
                    <a:solidFill>
                      <a:srgbClr val="EEF2F8"/>
                    </a:solidFill>
                  </a:tcPr>
                </a:tc>
              </a:tr>
            </a:tbl>
          </a:graphicData>
        </a:graphic>
      </p:graphicFrame>
      <p:sp>
        <p:nvSpPr>
          <p:cNvPr id="8" name="TextBox 7"/>
          <p:cNvSpPr txBox="1"/>
          <p:nvPr/>
        </p:nvSpPr>
        <p:spPr>
          <a:xfrm>
            <a:off x="365760" y="6446520"/>
            <a:ext cx="8412480" cy="274320"/>
          </a:xfrm>
          <a:prstGeom prst="rect">
            <a:avLst/>
          </a:prstGeom>
          <a:noFill/>
        </p:spPr>
        <p:txBody>
          <a:bodyPr wrap="square" anchor="t" lIns="45720" rIns="45720">
            <a:spAutoFit/>
          </a:bodyPr>
          <a:lstStyle/>
          <a:p>
            <a:pPr algn="r"/>
            <a:r>
              <a:rPr sz="1000" b="0" i="0">
                <a:solidFill>
                  <a:srgbClr val="595959"/>
                </a:solidFill>
                <a:latin typeface="Calibri"/>
              </a:rPr>
              <a:t>Presenter: Tanmay Singh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95422</TotalTime>
  <Words>102</Words>
  <Application>Microsoft Office PowerPoint</Application>
  <PresentationFormat>On-screen Show (4:3)</PresentationFormat>
  <Paragraphs>17</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Office Theme</vt:lpstr>
      <vt:lpstr>Title Review 2</vt:lpstr>
      <vt:lpstr>Contents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Development: Explaining Climate Resilience Across Indian Districts - Review 2</dc:title>
  <dc:creator>Deepankar</dc:creator>
  <cp:lastModifiedBy>Deepankar</cp:lastModifiedBy>
  <cp:revision>1599</cp:revision>
  <dcterms:created xsi:type="dcterms:W3CDTF">2017-03-21T16:05:31Z</dcterms:created>
  <dcterms:modified xsi:type="dcterms:W3CDTF">2026-09-28T03:14:54Z</dcterms:modified>
  <dc:subject>Big Data Review 2</dc:subject>
  <cp:keywords/>
  <dc:description/>
</cp:coreProperties>
</file>