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is used for k-means climate regimes and the MLlib baselines because it works in memory.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Two checks need the raw IMD grids and will be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 over folds. We call a model best only if its lead is larger than one standard deviation; otherwise the models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Lower is better for the last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test folds. The 95% confidence interval shows how certain each ROC-AUC is, and the corrected paired test tells us whether a difference from A-CPN is real or could be noise from the folds.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that part helps prediction; if it does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We expect a large positive push for Anomaly A, developed districts that are vulnerable because of climate, and a negative push for Anomaly B, where a mild climate protects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ROC curves of A-CPN and the five baselines on the pooled test folds. Right: the A-CPN confusion matrix. Both figures are generated from results/ after the model run.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mean climate push for each of the four groups. Right: an India map of the climate push for every district,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of the pipeline with no overlap: Sehjodh the data and preprocessing, Deepankar the Big Data platform, Tanmay the processing jobs, and Devanshu the models. Completion percentages are estimates at Review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400"/>
              </a:spcAft>
            </a:pPr>
            <a:r>
              <a:rPr sz="1400" b="0" i="0">
                <a:solidFill>
                  <a:srgbClr val="0E6E6E"/>
                </a:solidFill>
                <a:latin typeface="Calibri"/>
              </a:rPr>
              <a:t>▪  </a:t>
            </a:r>
            <a:r>
              <a:rPr sz="1400" b="1" i="0">
                <a:solidFill>
                  <a:srgbClr val="1F1F1F"/>
                </a:solidFill>
                <a:latin typeface="Calibri"/>
              </a:rPr>
              <a:t>5 development variables: </a:t>
            </a:r>
            <a:r>
              <a:rPr sz="1400" b="0" i="0">
                <a:solidFill>
                  <a:srgbClr val="1F1F1F"/>
                </a:solidFill>
                <a:latin typeface="Calibri"/>
              </a:rPr>
              <a:t>literacy, female literacy, agri-worker share (Census 2011); MGNREGA days, yield variability (NDAP 2021)</a:t>
            </a:r>
          </a:p>
          <a:p>
            <a:pPr>
              <a:spcAft>
                <a:spcPts val="400"/>
              </a:spcAft>
            </a:pPr>
            <a:r>
              <a:rPr sz="1400" b="0" i="0">
                <a:solidFill>
                  <a:srgbClr val="0E6E6E"/>
                </a:solidFill>
                <a:latin typeface="Calibri"/>
              </a:rPr>
              <a:t>▪  </a:t>
            </a:r>
            <a:r>
              <a:rPr sz="1400" b="1" i="0">
                <a:solidFill>
                  <a:srgbClr val="1F1F1F"/>
                </a:solidFill>
                <a:latin typeface="Calibri"/>
              </a:rPr>
              <a:t>8 hazard variables: </a:t>
            </a:r>
            <a:r>
              <a:rPr sz="1400" b="0" i="0">
                <a:solidFill>
                  <a:srgbClr val="1F1F1F"/>
                </a:solidFill>
                <a:latin typeface="Calibri"/>
              </a:rPr>
              <a:t>annual rain, rain variability, max 5-day rain, heavy-rain days, longest dry spell, mean Tmax, hot days, tropical nights</a:t>
            </a:r>
          </a:p>
          <a:p>
            <a:pPr>
              <a:spcAft>
                <a:spcPts val="400"/>
              </a:spcAft>
            </a:pPr>
            <a:r>
              <a:rPr sz="1400" b="0" i="0">
                <a:solidFill>
                  <a:srgbClr val="0E6E6E"/>
                </a:solidFill>
                <a:latin typeface="Calibri"/>
              </a:rPr>
              <a:t>▪  </a:t>
            </a:r>
            <a:r>
              <a:rPr sz="1400" b="1" i="0">
                <a:solidFill>
                  <a:srgbClr val="1F1F1F"/>
                </a:solidFill>
                <a:latin typeface="Calibri"/>
              </a:rPr>
              <a:t>Scale: </a:t>
            </a:r>
            <a:r>
              <a:rPr sz="1400" b="0" i="0">
                <a:solidFill>
                  <a:srgbClr val="1F1F1F"/>
                </a:solidFill>
                <a:latin typeface="Calibri"/>
              </a:rPr>
              <a:t>~212 million gridded climate values; 1.08 GB in HDFS (Colab run 2026-10-11)</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2026-10-11);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1.2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2026-10-11)</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0" i="0">
                <a:solidFill>
                  <a:srgbClr val="1F1F1F"/>
                </a:solidFill>
                <a:latin typeface="Calibri"/>
              </a:rPr>
              <a:t>Hadoop 3.3.6 + YARN, Hive 3.1.3, Spark (pyspark), Java 8 (Hive 3.1.3 fails on Java 11)</a:t>
            </a:r>
          </a:p>
          <a:p>
            <a:pPr>
              <a:spcAft>
                <a:spcPts val="200"/>
              </a:spcAft>
            </a:pPr>
            <a:r>
              <a:rPr sz="1300" b="0" i="0">
                <a:solidFill>
                  <a:srgbClr val="0E6E6E"/>
                </a:solidFill>
                <a:latin typeface="Calibri"/>
              </a:rPr>
              <a:t>▪  </a:t>
            </a:r>
            <a:r>
              <a:rPr sz="13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306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53 s / 132 s / 306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469 districts ×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4 baseline models</a:t>
                      </a:r>
                    </a:p>
                  </a:txBody>
                  <a:tcPr marL="54864" marR="54864" marT="27432" marB="27432" anchor="ctr">
                    <a:solidFill>
                      <a:srgbClr val="FFFFFF"/>
                    </a:solidFill>
                  </a:tcPr>
                </a:tc>
                <a:tc>
                  <a:txBody>
                    <a:bodyPr wrap="square"/>
                    <a:lstStyle/>
                    <a:p>
                      <a:pPr algn="ctr"/>
                      <a:r>
                        <a:rPr sz="1200" b="0" i="0">
                          <a:solidFill>
                            <a:srgbClr val="1F1F1F"/>
                          </a:solidFill>
                          <a:latin typeface="Calibri"/>
                        </a:rPr>
                        <a:t>see Table 5</a:t>
                      </a:r>
                    </a:p>
                  </a:txBody>
                  <a:tcPr marL="54864" marR="54864" marT="27432" marB="27432" anchor="ctr">
                    <a:solidFill>
                      <a:srgbClr val="FFFFFF"/>
                    </a:solidFill>
                  </a:tcPr>
                </a:tc>
                <a:tc>
                  <a:txBody>
                    <a:bodyPr wrap="square"/>
                    <a:lstStyle/>
                    <a:p>
                      <a:pPr algn="ctr"/>
                      <a:r>
                        <a:rPr sz="1200" b="0" i="0">
                          <a:solidFill>
                            <a:srgbClr val="1F1F1F"/>
                          </a:solidFill>
                          <a:latin typeface="Calibri"/>
                        </a:rPr>
                        <a:t>Distributed standard models</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2026-10-11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965960"/>
                <a:gridCol w="2331720"/>
                <a:gridCol w="2286000"/>
                <a:gridCol w="1828800"/>
              </a:tblGrid>
              <a:tr h="429768">
                <a:tc>
                  <a:txBody>
                    <a:bodyPr wrap="square"/>
                    <a:lstStyle/>
                    <a:p>
                      <a:pPr algn="l"/>
                      <a:r>
                        <a:rPr sz="1100" b="1" i="0">
                          <a:solidFill>
                            <a:srgbClr val="FFFFFF"/>
                          </a:solidFill>
                          <a:latin typeface="Calibri"/>
                        </a:rPr>
                        <a:t>Check</a:t>
                      </a:r>
                    </a:p>
                  </a:txBody>
                  <a:tcPr marL="54864" marR="54864" marT="27432" marB="27432" anchor="ctr">
                    <a:solidFill>
                      <a:srgbClr val="1B3A6B"/>
                    </a:solidFill>
                  </a:tcPr>
                </a:tc>
                <a:tc>
                  <a:txBody>
                    <a:bodyPr wrap="square"/>
                    <a:lstStyle/>
                    <a:p>
                      <a:pPr algn="ctr"/>
                      <a:r>
                        <a:rPr sz="11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1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100" b="1" i="0">
                          <a:solidFill>
                            <a:srgbClr val="FFFFFF"/>
                          </a:solidFill>
                          <a:latin typeface="Calibri"/>
                        </a:rPr>
                        <a:t>Error</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1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1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100" b="0" i="0">
                          <a:solidFill>
                            <a:srgbClr val="1F1F1F"/>
                          </a:solidFill>
                          <a:latin typeface="Calibri"/>
                        </a:rPr>
                        <a:t>0 (0.000%)</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1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100" b="0" i="0">
                          <a:solidFill>
                            <a:srgbClr val="1F1F1F"/>
                          </a:solidFill>
                          <a:latin typeface="Calibri"/>
                        </a:rPr>
                        <a:t>72.9819%</a:t>
                      </a:r>
                    </a:p>
                  </a:txBody>
                  <a:tcPr marL="54864" marR="54864" marT="27432" marB="27432" anchor="ctr">
                    <a:solidFill>
                      <a:srgbClr val="EEF2F8"/>
                    </a:solidFill>
                  </a:tcPr>
                </a:tc>
                <a:tc>
                  <a:txBody>
                    <a:bodyPr wrap="square"/>
                    <a:lstStyle/>
                    <a:p>
                      <a:pPr algn="ctr"/>
                      <a:r>
                        <a:rPr sz="1100" b="0" i="0">
                          <a:solidFill>
                            <a:srgbClr val="1F1F1F"/>
                          </a:solidFill>
                          <a:latin typeface="Calibri"/>
                        </a:rPr>
                        <a:t>0.0019 pp</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1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1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100" b="0" i="0">
                          <a:solidFill>
                            <a:srgbClr val="1F1F1F"/>
                          </a:solidFill>
                          <a:latin typeface="Calibri"/>
                        </a:rPr>
                        <a:t>no imputation</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1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1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100" b="0" i="0">
                          <a:solidFill>
                            <a:srgbClr val="1F1F1F"/>
                          </a:solidFill>
                          <a:latin typeface="Calibri"/>
                        </a:rPr>
                        <a:t>2 errors blocked</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1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1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100" b="0" i="0">
                          <a:solidFill>
                            <a:srgbClr val="1F1F1F"/>
                          </a:solidFill>
                          <a:latin typeface="Calibri"/>
                        </a:rPr>
                        <a:t>RMSE 1.2e-08</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1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1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100" b="0" i="0">
                          <a:solidFill>
                            <a:srgbClr val="1F1F1F"/>
                          </a:solidFill>
                          <a:latin typeface="Calibri"/>
                        </a:rPr>
                        <a:t>0 zero-filled</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100" b="0" i="0">
                          <a:solidFill>
                            <a:srgbClr val="1F1F1F"/>
                          </a:solidFill>
                          <a:latin typeface="Calibri"/>
                        </a:rPr>
                        <a:t>—</a:t>
                      </a:r>
                    </a:p>
                  </a:txBody>
                  <a:tcPr marL="54864" marR="54864" marT="27432" marB="27432" anchor="ctr">
                    <a:solidFill>
                      <a:srgbClr val="FFFFFF"/>
                    </a:solidFill>
                  </a:tcPr>
                </a:tc>
                <a:tc>
                  <a:txBody>
                    <a:bodyPr wrap="square"/>
                    <a:lstStyle/>
                    <a:p>
                      <a:pPr algn="ctr"/>
                      <a:r>
                        <a:rPr sz="11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100" b="0" i="0">
                          <a:solidFill>
                            <a:srgbClr val="1F1F1F"/>
                          </a:solidFill>
                          <a:latin typeface="Calibri"/>
                        </a:rPr>
                        <a:t>66 outlier cells flagged, kept</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Hive vs pandas</a:t>
                      </a:r>
                    </a:p>
                  </a:txBody>
                  <a:tcPr marL="54864" marR="54864" marT="27432" marB="27432" anchor="ctr">
                    <a:solidFill>
                      <a:srgbClr val="EEF2F8"/>
                    </a:solidFill>
                  </a:tcPr>
                </a:tc>
                <a:tc>
                  <a:txBody>
                    <a:bodyPr wrap="square"/>
                    <a:lstStyle/>
                    <a:p>
                      <a:pPr algn="ctr"/>
                      <a:r>
                        <a:rPr sz="1100" b="0" i="0">
                          <a:solidFill>
                            <a:srgbClr val="1F1F1F"/>
                          </a:solidFill>
                          <a:latin typeface="Calibri"/>
                        </a:rPr>
                        <a:t>469 rows</a:t>
                      </a:r>
                    </a:p>
                  </a:txBody>
                  <a:tcPr marL="54864" marR="54864" marT="27432" marB="27432" anchor="ctr">
                    <a:solidFill>
                      <a:srgbClr val="EEF2F8"/>
                    </a:solidFill>
                  </a:tcPr>
                </a:tc>
                <a:tc>
                  <a:txBody>
                    <a:bodyPr wrap="square"/>
                    <a:lstStyle/>
                    <a:p>
                      <a:pPr algn="ctr"/>
                      <a:r>
                        <a:rPr sz="1100" b="0" i="0">
                          <a:solidFill>
                            <a:srgbClr val="1F1F1F"/>
                          </a:solidFill>
                          <a:latin typeface="Calibri"/>
                        </a:rPr>
                        <a:t>469 rows</a:t>
                      </a:r>
                    </a:p>
                  </a:txBody>
                  <a:tcPr marL="54864" marR="54864" marT="27432" marB="27432" anchor="ctr">
                    <a:solidFill>
                      <a:srgbClr val="EEF2F8"/>
                    </a:solidFill>
                  </a:tcPr>
                </a:tc>
                <a:tc>
                  <a:txBody>
                    <a:bodyPr wrap="square"/>
                    <a:lstStyle/>
                    <a:p>
                      <a:pPr algn="ctr"/>
                      <a:r>
                        <a:rPr sz="1100" b="0" i="0">
                          <a:solidFill>
                            <a:srgbClr val="1F1F1F"/>
                          </a:solidFill>
                          <a:latin typeface="Calibri"/>
                        </a:rPr>
                        <a:t>max diff 0.0</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MapReduce vs pandas</a:t>
                      </a:r>
                    </a:p>
                  </a:txBody>
                  <a:tcPr marL="54864" marR="54864" marT="27432" marB="27432" anchor="ctr">
                    <a:solidFill>
                      <a:srgbClr val="FFFFFF"/>
                    </a:solidFill>
                  </a:tcPr>
                </a:tc>
                <a:tc>
                  <a:txBody>
                    <a:bodyPr wrap="square"/>
                    <a:lstStyle/>
                    <a:p>
                      <a:pPr algn="ctr"/>
                      <a:r>
                        <a:rPr sz="11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0">
                          <a:solidFill>
                            <a:srgbClr val="1F1F1F"/>
                          </a:solidFill>
                          <a:latin typeface="Calibri"/>
                        </a:rPr>
                        <a:t>RMSE / MAE: PENDING</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100" b="0" i="0">
                          <a:solidFill>
                            <a:srgbClr val="1F1F1F"/>
                          </a:solidFill>
                          <a:latin typeface="Calibri"/>
                        </a:rPr>
                        <a:t>naive method</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0">
                          <a:solidFill>
                            <a:srgbClr val="1F1F1F"/>
                          </a:solidFill>
                          <a:latin typeface="Calibri"/>
                        </a:rPr>
                        <a:t>RMSE: PENDING</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2026-10-21 from project data; district-day and Hive values from the Colab run 2026-10-11. PENDING rows need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prediction (90% target coverage)</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 / PENDING</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68496"/>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66928">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66928">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r>
              <a:tr h="566928">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r h="566928">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r>
              <a:tr h="566928">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r h="566928">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r>
              <a:tr h="566928">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bl>
          </a:graphicData>
        </a:graphic>
      </p:graphicFrame>
      <p:sp>
        <p:nvSpPr>
          <p:cNvPr id="5" name="TextBox 4"/>
          <p:cNvSpPr txBox="1"/>
          <p:nvPr/>
        </p:nvSpPr>
        <p:spPr>
          <a:xfrm>
            <a:off x="365760" y="5349240"/>
            <a:ext cx="8412480" cy="100584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0" i="0">
                <a:solidFill>
                  <a:srgbClr val="1F1F1F"/>
                </a:solidFill>
                <a:latin typeface="Calibri"/>
              </a:rPr>
              <a:t>Same 25 folds (5 × 5 repeated stratified CV) and leave-one-state-out for every model; mean ± SD in results/</a:t>
            </a:r>
          </a:p>
          <a:p>
            <a:pPr>
              <a:spcAft>
                <a:spcPts val="200"/>
              </a:spcAft>
            </a:pPr>
            <a:r>
              <a:rPr sz="1300" b="0" i="0">
                <a:solidFill>
                  <a:srgbClr val="0E6E6E"/>
                </a:solidFill>
                <a:latin typeface="Calibri"/>
              </a:rPr>
              <a:t>▪  </a:t>
            </a:r>
            <a:r>
              <a:rPr sz="1300" b="0" i="0">
                <a:solidFill>
                  <a:srgbClr val="1F1F1F"/>
                </a:solidFill>
                <a:latin typeface="Calibri"/>
              </a:rPr>
              <a:t>"Best" only if the gap exceeds 1 SD, otherwise "comparable"; if a baseline wins, it is reported as such</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c>
                  <a:txBody>
                    <a:bodyPr wrap="square"/>
                    <a:lstStyle/>
                    <a:p>
                      <a:pPr algn="ctr"/>
                      <a:r>
                        <a:rPr sz="1100" b="1" i="1">
                          <a:solidFill>
                            <a:srgbClr val="C0392B"/>
                          </a:solidFill>
                          <a:latin typeface="Calibri"/>
                        </a:rPr>
                        <a:t>PENDING</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Classification: </a:t>
            </a:r>
            <a:r>
              <a:rPr sz="1300" b="0" i="0">
                <a:solidFill>
                  <a:srgbClr val="1F1F1F"/>
                </a:solidFill>
                <a:latin typeface="Calibri"/>
              </a:rPr>
              <a:t>precision, recall, specificity, MCC, Cohen's kappa (higher is better)</a:t>
            </a:r>
          </a:p>
          <a:p>
            <a:pPr>
              <a:spcAft>
                <a:spcPts val="200"/>
              </a:spcAft>
            </a:pPr>
            <a:r>
              <a:rPr sz="1300" b="0" i="0">
                <a:solidFill>
                  <a:srgbClr val="0E6E6E"/>
                </a:solidFill>
                <a:latin typeface="Calibri"/>
              </a:rPr>
              <a:t>▪  </a:t>
            </a:r>
            <a:r>
              <a:rPr sz="1300" b="1" i="0">
                <a:solidFill>
                  <a:srgbClr val="1F1F1F"/>
                </a:solidFill>
                <a:latin typeface="Calibri"/>
              </a:rPr>
              <a:t>Probability quality: </a:t>
            </a:r>
            <a:r>
              <a:rPr sz="1300" b="0" i="0">
                <a:solidFill>
                  <a:srgbClr val="1F1F1F"/>
                </a:solidFill>
                <a:latin typeface="Calibri"/>
              </a:rPr>
              <a:t>PR-AUC (higher); log loss, Brier, ECE (lower is better); training and prediction time in results/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968496"/>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66928">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66928">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66928">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r h="566928">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r>
              <a:tr h="566928">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r h="566928">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r>
              <a:tr h="566928">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TP/TN/FP/FN: </a:t>
            </a:r>
            <a:r>
              <a:rPr sz="1300" b="0" i="0">
                <a:solidFill>
                  <a:srgbClr val="1F1F1F"/>
                </a:solidFill>
                <a:latin typeface="Calibri"/>
              </a:rPr>
              <a:t>summed over the 25 test folds (High = positive class)</a:t>
            </a:r>
          </a:p>
          <a:p>
            <a:pPr>
              <a:spcAft>
                <a:spcPts val="200"/>
              </a:spcAft>
            </a:pPr>
            <a:r>
              <a:rPr sz="1300" b="0" i="0">
                <a:solidFill>
                  <a:srgbClr val="0E6E6E"/>
                </a:solidFill>
                <a:latin typeface="Calibri"/>
              </a:rPr>
              <a:t>▪  </a:t>
            </a:r>
            <a:r>
              <a:rPr sz="1300" b="1" i="0">
                <a:solidFill>
                  <a:srgbClr val="1F1F1F"/>
                </a:solidFill>
                <a:latin typeface="Calibri"/>
              </a:rPr>
              <a:t>Significance: </a:t>
            </a:r>
            <a:r>
              <a:rPr sz="1300" b="0" i="0">
                <a:solidFill>
                  <a:srgbClr val="1F1F1F"/>
                </a:solidFill>
                <a:latin typeface="Calibri"/>
              </a:rPr>
              <a:t>corrected resampled t-test (Nadeau–Bengio) on paired fold scores;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096512"/>
        </p:xfrm>
        <a:graphic>
          <a:graphicData uri="http://schemas.openxmlformats.org/drawingml/2006/table">
            <a:tbl>
              <a:tblPr firstRow="1" bandRow="1">
                <a:tableStyleId>{5C22544A-7EE6-4342-B048-85BDC9FD1C3A}</a:tableStyleId>
              </a:tblPr>
              <a:tblGrid>
                <a:gridCol w="4572000"/>
                <a:gridCol w="1828800"/>
                <a:gridCol w="2011680"/>
              </a:tblGrid>
              <a:tr h="512064">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r>
              <a:tr h="512064">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1">
                          <a:solidFill>
                            <a:srgbClr val="C0392B"/>
                          </a:solidFill>
                          <a:latin typeface="Calibri"/>
                        </a:rPr>
                        <a:t>PENDING</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512064">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1">
                          <a:solidFill>
                            <a:srgbClr val="C0392B"/>
                          </a:solidFill>
                          <a:latin typeface="Calibri"/>
                        </a:rPr>
                        <a:t>PENDING</a:t>
                      </a:r>
                    </a:p>
                  </a:txBody>
                  <a:tcPr marL="54864" marR="54864" marT="27432" marB="27432" anchor="ctr">
                    <a:solidFill>
                      <a:srgbClr val="EEF2F8"/>
                    </a:solidFill>
                  </a:tcPr>
                </a:tc>
                <a:tc>
                  <a:txBody>
                    <a:bodyPr wrap="square"/>
                    <a:lstStyle/>
                    <a:p>
                      <a:pPr algn="ctr"/>
                      <a:r>
                        <a:rPr sz="1300" b="0" i="1">
                          <a:solidFill>
                            <a:srgbClr val="C0392B"/>
                          </a:solidFill>
                          <a:latin typeface="Calibri"/>
                        </a:rPr>
                        <a:t>PENDING</a:t>
                      </a:r>
                    </a:p>
                  </a:txBody>
                  <a:tcPr marL="54864" marR="54864" marT="27432" marB="27432" anchor="ctr">
                    <a:solidFill>
                      <a:srgbClr val="EEF2F8"/>
                    </a:solidFill>
                  </a:tcPr>
                </a:tc>
              </a:tr>
              <a:tr h="512064">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1">
                          <a:solidFill>
                            <a:srgbClr val="C0392B"/>
                          </a:solidFill>
                          <a:latin typeface="Calibri"/>
                        </a:rPr>
                        <a:t>PENDING</a:t>
                      </a:r>
                    </a:p>
                  </a:txBody>
                  <a:tcPr marL="54864" marR="54864" marT="27432" marB="27432" anchor="ctr">
                    <a:solidFill>
                      <a:srgbClr val="FFFFFF"/>
                    </a:solidFill>
                  </a:tcPr>
                </a:tc>
                <a:tc>
                  <a:txBody>
                    <a:bodyPr wrap="square"/>
                    <a:lstStyle/>
                    <a:p>
                      <a:pPr algn="ctr"/>
                      <a:r>
                        <a:rPr sz="1300" b="0" i="1">
                          <a:solidFill>
                            <a:srgbClr val="C0392B"/>
                          </a:solidFill>
                          <a:latin typeface="Calibri"/>
                        </a:rPr>
                        <a:t>PENDING</a:t>
                      </a:r>
                    </a:p>
                  </a:txBody>
                  <a:tcPr marL="54864" marR="54864" marT="27432" marB="27432" anchor="ctr">
                    <a:solidFill>
                      <a:srgbClr val="FFFFFF"/>
                    </a:solidFill>
                  </a:tcPr>
                </a:tc>
              </a:tr>
              <a:tr h="512064">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1">
                          <a:solidFill>
                            <a:srgbClr val="C0392B"/>
                          </a:solidFill>
                          <a:latin typeface="Calibri"/>
                        </a:rPr>
                        <a:t>PENDING</a:t>
                      </a:r>
                    </a:p>
                  </a:txBody>
                  <a:tcPr marL="54864" marR="54864" marT="27432" marB="27432" anchor="ctr">
                    <a:solidFill>
                      <a:srgbClr val="EEF2F8"/>
                    </a:solidFill>
                  </a:tcPr>
                </a:tc>
                <a:tc>
                  <a:txBody>
                    <a:bodyPr wrap="square"/>
                    <a:lstStyle/>
                    <a:p>
                      <a:pPr algn="ctr"/>
                      <a:r>
                        <a:rPr sz="1300" b="0" i="1">
                          <a:solidFill>
                            <a:srgbClr val="C0392B"/>
                          </a:solidFill>
                          <a:latin typeface="Calibri"/>
                        </a:rPr>
                        <a:t>PENDING</a:t>
                      </a:r>
                    </a:p>
                  </a:txBody>
                  <a:tcPr marL="54864" marR="54864" marT="27432" marB="27432" anchor="ctr">
                    <a:solidFill>
                      <a:srgbClr val="EEF2F8"/>
                    </a:solidFill>
                  </a:tcPr>
                </a:tc>
              </a:tr>
              <a:tr h="512064">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1">
                          <a:solidFill>
                            <a:srgbClr val="C0392B"/>
                          </a:solidFill>
                          <a:latin typeface="Calibri"/>
                        </a:rPr>
                        <a:t>PENDING</a:t>
                      </a:r>
                    </a:p>
                  </a:txBody>
                  <a:tcPr marL="54864" marR="54864" marT="27432" marB="27432" anchor="ctr">
                    <a:solidFill>
                      <a:srgbClr val="FFFFFF"/>
                    </a:solidFill>
                  </a:tcPr>
                </a:tc>
                <a:tc>
                  <a:txBody>
                    <a:bodyPr wrap="square"/>
                    <a:lstStyle/>
                    <a:p>
                      <a:pPr algn="ctr"/>
                      <a:r>
                        <a:rPr sz="1300" b="0" i="1">
                          <a:solidFill>
                            <a:srgbClr val="C0392B"/>
                          </a:solidFill>
                          <a:latin typeface="Calibri"/>
                        </a:rPr>
                        <a:t>PENDING</a:t>
                      </a:r>
                    </a:p>
                  </a:txBody>
                  <a:tcPr marL="54864" marR="54864" marT="27432" marB="27432" anchor="ctr">
                    <a:solidFill>
                      <a:srgbClr val="FFFFFF"/>
                    </a:solidFill>
                  </a:tcPr>
                </a:tc>
              </a:tr>
              <a:tr h="512064">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1">
                          <a:solidFill>
                            <a:srgbClr val="C0392B"/>
                          </a:solidFill>
                          <a:latin typeface="Calibri"/>
                        </a:rPr>
                        <a:t>PENDING</a:t>
                      </a:r>
                    </a:p>
                  </a:txBody>
                  <a:tcPr marL="54864" marR="54864" marT="27432" marB="27432" anchor="ctr">
                    <a:solidFill>
                      <a:srgbClr val="EEF2F8"/>
                    </a:solidFill>
                  </a:tcPr>
                </a:tc>
                <a:tc>
                  <a:txBody>
                    <a:bodyPr wrap="square"/>
                    <a:lstStyle/>
                    <a:p>
                      <a:pPr algn="ctr"/>
                      <a:r>
                        <a:rPr sz="1300" b="0" i="1">
                          <a:solidFill>
                            <a:srgbClr val="C0392B"/>
                          </a:solidFill>
                          <a:latin typeface="Calibri"/>
                        </a:rPr>
                        <a:t>PENDING</a:t>
                      </a:r>
                    </a:p>
                  </a:txBody>
                  <a:tcPr marL="54864" marR="54864" marT="27432" marB="27432" anchor="ctr">
                    <a:solidFill>
                      <a:srgbClr val="EEF2F8"/>
                    </a:solidFill>
                  </a:tcPr>
                </a:tc>
              </a:tr>
              <a:tr h="512064">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1">
                          <a:solidFill>
                            <a:srgbClr val="C0392B"/>
                          </a:solidFill>
                          <a:latin typeface="Calibri"/>
                        </a:rPr>
                        <a:t>PENDING</a:t>
                      </a:r>
                    </a:p>
                  </a:txBody>
                  <a:tcPr marL="54864" marR="54864" marT="27432" marB="27432" anchor="ctr">
                    <a:solidFill>
                      <a:srgbClr val="FFFFFF"/>
                    </a:solidFill>
                  </a:tcPr>
                </a:tc>
                <a:tc>
                  <a:txBody>
                    <a:bodyPr wrap="square"/>
                    <a:lstStyle/>
                    <a:p>
                      <a:pPr algn="ctr"/>
                      <a:r>
                        <a:rPr sz="1300" b="0" i="1">
                          <a:solidFill>
                            <a:srgbClr val="C0392B"/>
                          </a:solidFill>
                          <a:latin typeface="Calibri"/>
                        </a:rPr>
                        <a:t>PENDING</a:t>
                      </a:r>
                    </a:p>
                  </a:txBody>
                  <a:tcPr marL="54864" marR="54864" marT="27432" marB="27432" anchor="ctr">
                    <a:solidFill>
                      <a:srgbClr val="FFFFFF"/>
                    </a:solidFill>
                  </a:tcPr>
                </a:tc>
              </a:tr>
            </a:tbl>
          </a:graphicData>
        </a:graphic>
      </p:graphicFrame>
      <p:sp>
        <p:nvSpPr>
          <p:cNvPr id="5" name="TextBox 4"/>
          <p:cNvSpPr txBox="1"/>
          <p:nvPr/>
        </p:nvSpPr>
        <p:spPr>
          <a:xfrm>
            <a:off x="365760" y="5440680"/>
            <a:ext cx="8412480" cy="91440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0" i="0">
                <a:solidFill>
                  <a:srgbClr val="1F1F1F"/>
                </a:solidFill>
                <a:latin typeface="Calibri"/>
              </a:rPr>
              <a:t>Same 25 folds as Table 5; a drop larger than 1 SD means the component helps prediction</a:t>
            </a:r>
          </a:p>
          <a:p>
            <a:pPr>
              <a:spcAft>
                <a:spcPts val="200"/>
              </a:spcAft>
            </a:pPr>
            <a:r>
              <a:rPr sz="1300" b="0" i="0">
                <a:solidFill>
                  <a:srgbClr val="0E6E6E"/>
                </a:solidFill>
                <a:latin typeface="Calibri"/>
              </a:rPr>
              <a:t>▪  </a:t>
            </a:r>
            <a:r>
              <a:rPr sz="1300" b="0" i="0">
                <a:solidFill>
                  <a:srgbClr val="1F1F1F"/>
                </a:solidFill>
                <a:latin typeface="Calibri"/>
              </a:rPr>
              <a:t>Components that do not improve accuracy are reported honestly and justified by explanation only</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017520"/>
        </p:xfrm>
        <a:graphic>
          <a:graphicData uri="http://schemas.openxmlformats.org/drawingml/2006/table">
            <a:tbl>
              <a:tblPr firstRow="1" bandRow="1">
                <a:tableStyleId>{5C22544A-7EE6-4342-B048-85BDC9FD1C3A}</a:tableStyleId>
              </a:tblPr>
              <a:tblGrid>
                <a:gridCol w="3566160"/>
                <a:gridCol w="1097280"/>
                <a:gridCol w="1737360"/>
                <a:gridCol w="2011680"/>
              </a:tblGrid>
              <a:tr h="50292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c>
                  <a:txBody>
                    <a:bodyPr wrap="square"/>
                    <a:lstStyle/>
                    <a:p>
                      <a:pPr algn="ctr"/>
                      <a:r>
                        <a:rPr sz="1200" b="0" i="1">
                          <a:solidFill>
                            <a:srgbClr val="C0392B"/>
                          </a:solidFill>
                          <a:latin typeface="Calibri"/>
                        </a:rPr>
                        <a:t>PENDING</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c>
                  <a:txBody>
                    <a:bodyPr wrap="square"/>
                    <a:lstStyle/>
                    <a:p>
                      <a:pPr algn="ctr"/>
                      <a:r>
                        <a:rPr sz="1200" b="1" i="1">
                          <a:solidFill>
                            <a:srgbClr val="C0392B"/>
                          </a:solidFill>
                          <a:latin typeface="Calibri"/>
                        </a:rPr>
                        <a:t>PENDING</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Spark k-means climate regimes</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c>
                  <a:txBody>
                    <a:bodyPr wrap="square"/>
                    <a:lstStyle/>
                    <a:p>
                      <a:pPr algn="ctr"/>
                      <a:r>
                        <a:rPr sz="1200" b="0" i="1">
                          <a:solidFill>
                            <a:srgbClr val="C0392B"/>
                          </a:solidFill>
                          <a:latin typeface="Calibri"/>
                        </a:rPr>
                        <a:t>PENDING</a:t>
                      </a:r>
                    </a:p>
                  </a:txBody>
                  <a:tcPr marL="54864" marR="54864" marT="27432" marB="27432" anchor="ctr">
                    <a:solidFill>
                      <a:srgbClr val="FFFFFF"/>
                    </a:solidFill>
                  </a:tcPr>
                </a:tc>
              </a:tr>
            </a:tbl>
          </a:graphicData>
        </a:graphic>
      </p:graphicFrame>
      <p:sp>
        <p:nvSpPr>
          <p:cNvPr id="5" name="TextBox 4"/>
          <p:cNvSpPr txBox="1"/>
          <p:nvPr/>
        </p:nvSpPr>
        <p:spPr>
          <a:xfrm>
            <a:off x="365760" y="4434840"/>
            <a:ext cx="4069080" cy="365760"/>
          </a:xfrm>
          <a:prstGeom prst="rect">
            <a:avLst/>
          </a:prstGeom>
          <a:noFill/>
        </p:spPr>
        <p:txBody>
          <a:bodyPr wrap="square" anchor="t" lIns="45720" rIns="45720">
            <a:spAutoFit/>
          </a:bodyPr>
          <a:lstStyle/>
          <a:p>
            <a:pPr algn="l"/>
            <a:r>
              <a:rPr sz="1400" b="1" i="0">
                <a:solidFill>
                  <a:srgbClr val="1B3A6B"/>
                </a:solidFill>
                <a:latin typeface="Calibri"/>
              </a:rPr>
              <a:t>Top 5 climate-driven districts</a:t>
            </a:r>
          </a:p>
        </p:txBody>
      </p:sp>
      <p:sp>
        <p:nvSpPr>
          <p:cNvPr id="6" name="TextBox 5"/>
          <p:cNvSpPr txBox="1"/>
          <p:nvPr/>
        </p:nvSpPr>
        <p:spPr>
          <a:xfrm>
            <a:off x="4709160" y="4434840"/>
            <a:ext cx="4069080" cy="365760"/>
          </a:xfrm>
          <a:prstGeom prst="rect">
            <a:avLst/>
          </a:prstGeom>
          <a:noFill/>
        </p:spPr>
        <p:txBody>
          <a:bodyPr wrap="square" anchor="t" lIns="45720" rIns="45720">
            <a:spAutoFit/>
          </a:bodyPr>
          <a:lstStyle/>
          <a:p>
            <a:pPr algn="l"/>
            <a:r>
              <a:rPr sz="1400" b="1" i="0">
                <a:solidFill>
                  <a:srgbClr val="1B3A6B"/>
                </a:solidFill>
                <a:latin typeface="Calibri"/>
              </a:rPr>
              <a:t>Top 5 development-driven districts</a:t>
            </a:r>
          </a:p>
        </p:txBody>
      </p:sp>
      <p:sp>
        <p:nvSpPr>
          <p:cNvPr id="7" name="TextBox 6"/>
          <p:cNvSpPr txBox="1"/>
          <p:nvPr/>
        </p:nvSpPr>
        <p:spPr>
          <a:xfrm>
            <a:off x="365760" y="4846320"/>
            <a:ext cx="4069080" cy="1463040"/>
          </a:xfrm>
          <a:prstGeom prst="rect">
            <a:avLst/>
          </a:prstGeom>
          <a:noFill/>
        </p:spPr>
        <p:txBody>
          <a:bodyPr wrap="square" anchor="t" lIns="45720" rIns="45720">
            <a:spAutoFit/>
          </a:bodyPr>
          <a:lstStyle/>
          <a:p>
            <a:pPr algn="l"/>
            <a:r>
              <a:rPr sz="1300" b="0" i="1">
                <a:solidFill>
                  <a:srgbClr val="C0392B"/>
                </a:solidFill>
                <a:latin typeface="Calibri"/>
              </a:rPr>
              <a:t>PENDING</a:t>
            </a:r>
          </a:p>
        </p:txBody>
      </p:sp>
      <p:sp>
        <p:nvSpPr>
          <p:cNvPr id="8" name="TextBox 7"/>
          <p:cNvSpPr txBox="1"/>
          <p:nvPr/>
        </p:nvSpPr>
        <p:spPr>
          <a:xfrm>
            <a:off x="4709160" y="4846320"/>
            <a:ext cx="4069080" cy="1463040"/>
          </a:xfrm>
          <a:prstGeom prst="rect">
            <a:avLst/>
          </a:prstGeom>
          <a:noFill/>
        </p:spPr>
        <p:txBody>
          <a:bodyPr wrap="square" anchor="t" lIns="45720" rIns="45720">
            <a:spAutoFit/>
          </a:bodyPr>
          <a:lstStyle/>
          <a:p>
            <a:pPr algn="l"/>
            <a:r>
              <a:rPr sz="1300" b="0" i="1">
                <a:solidFill>
                  <a:srgbClr val="C0392B"/>
                </a:solidFill>
                <a:latin typeface="Calibri"/>
              </a:rPr>
              <a:t>PENDING</a:t>
            </a:r>
          </a:p>
        </p:txBody>
      </p:sp>
      <p:sp>
        <p:nvSpPr>
          <p:cNvPr id="9" name="TextBox 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365760" y="1234440"/>
            <a:ext cx="4114800" cy="4572000"/>
          </a:xfrm>
          <a:prstGeom prst="rect">
            <a:avLst/>
          </a:prstGeom>
          <a:solidFill>
            <a:srgbClr val="F7F7F7"/>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1B3A6B"/>
                </a:solidFill>
                <a:latin typeface="Calibri"/>
              </a:rPr>
              <a:t>ROC curves</a:t>
            </a:r>
          </a:p>
          <a:p>
            <a:pPr algn="ctr"/>
            <a:r>
              <a:rPr sz="1200" b="0" i="1">
                <a:solidFill>
                  <a:srgbClr val="C0392B"/>
                </a:solidFill>
                <a:latin typeface="Calibri"/>
              </a:rPr>
              <a:t>PENDING: generated after the model run</a:t>
            </a:r>
          </a:p>
        </p:txBody>
      </p:sp>
      <p:sp>
        <p:nvSpPr>
          <p:cNvPr id="5" name="Rectangle 4"/>
          <p:cNvSpPr/>
          <p:nvPr/>
        </p:nvSpPr>
        <p:spPr>
          <a:xfrm>
            <a:off x="4663440" y="1234440"/>
            <a:ext cx="4114800" cy="4572000"/>
          </a:xfrm>
          <a:prstGeom prst="rect">
            <a:avLst/>
          </a:prstGeom>
          <a:solidFill>
            <a:srgbClr val="F7F7F7"/>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1B3A6B"/>
                </a:solidFill>
                <a:latin typeface="Calibri"/>
              </a:rPr>
              <a:t>A-CPN confusion matrix</a:t>
            </a:r>
          </a:p>
          <a:p>
            <a:pPr algn="ctr"/>
            <a:r>
              <a:rPr sz="1200" b="0" i="1">
                <a:solidFill>
                  <a:srgbClr val="C0392B"/>
                </a:solidFill>
                <a:latin typeface="Calibri"/>
              </a:rPr>
              <a:t>PENDING: generated after the model run</a:t>
            </a:r>
          </a:p>
        </p:txBody>
      </p:sp>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ROC curves: A-CPN vs 5 baselines (25 folds)</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confusion matrix (all test folds)</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365760" y="1234440"/>
            <a:ext cx="4114800" cy="4572000"/>
          </a:xfrm>
          <a:prstGeom prst="rect">
            <a:avLst/>
          </a:prstGeom>
          <a:solidFill>
            <a:srgbClr val="F7F7F7"/>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1B3A6B"/>
                </a:solidFill>
                <a:latin typeface="Calibri"/>
              </a:rPr>
              <a:t>Climate push by quadrant</a:t>
            </a:r>
          </a:p>
          <a:p>
            <a:pPr algn="ctr"/>
            <a:r>
              <a:rPr sz="1200" b="0" i="1">
                <a:solidFill>
                  <a:srgbClr val="C0392B"/>
                </a:solidFill>
                <a:latin typeface="Calibri"/>
              </a:rPr>
              <a:t>PENDING: generated after the model run</a:t>
            </a:r>
          </a:p>
        </p:txBody>
      </p:sp>
      <p:sp>
        <p:nvSpPr>
          <p:cNvPr id="5" name="Rectangle 4"/>
          <p:cNvSpPr/>
          <p:nvPr/>
        </p:nvSpPr>
        <p:spPr>
          <a:xfrm>
            <a:off x="4663440" y="1234440"/>
            <a:ext cx="4114800" cy="4572000"/>
          </a:xfrm>
          <a:prstGeom prst="rect">
            <a:avLst/>
          </a:prstGeom>
          <a:solidFill>
            <a:srgbClr val="F7F7F7"/>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1B3A6B"/>
                </a:solidFill>
                <a:latin typeface="Calibri"/>
              </a:rPr>
              <a:t>India map of climate push</a:t>
            </a:r>
          </a:p>
          <a:p>
            <a:pPr algn="ctr"/>
            <a:r>
              <a:rPr sz="1200" b="0" i="1">
                <a:solidFill>
                  <a:srgbClr val="C0392B"/>
                </a:solidFill>
                <a:latin typeface="Calibri"/>
              </a:rPr>
              <a:t>PENDING: generated after the model run</a:t>
            </a:r>
          </a:p>
        </p:txBody>
      </p:sp>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Mean climate push per quadrant</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A-CPN result: </a:t>
            </a:r>
            <a:r>
              <a:rPr sz="1500" b="0" i="0">
                <a:solidFill>
                  <a:srgbClr val="1F1F1F"/>
                </a:solidFill>
                <a:latin typeface="Calibri"/>
              </a:rPr>
              <a:t>PENDING</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2026-10-11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343400"/>
        </p:xfrm>
        <a:graphic>
          <a:graphicData uri="http://schemas.openxmlformats.org/drawingml/2006/table">
            <a:tbl>
              <a:tblPr firstRow="1" bandRow="1">
                <a:tableStyleId>{5C22544A-7EE6-4342-B048-85BDC9FD1C3A}</a:tableStyleId>
              </a:tblPr>
              <a:tblGrid>
                <a:gridCol w="1463040"/>
                <a:gridCol w="1737360"/>
                <a:gridCol w="3931920"/>
                <a:gridCol w="1280160"/>
              </a:tblGrid>
              <a:tr h="868680">
                <a:tc>
                  <a:txBody>
                    <a:bodyPr wrap="square"/>
                    <a:lstStyle/>
                    <a:p>
                      <a:pPr algn="l"/>
                      <a:r>
                        <a:rPr sz="1100" b="1" i="0">
                          <a:solidFill>
                            <a:srgbClr val="FFFFFF"/>
                          </a:solidFill>
                          <a:latin typeface="Calibri"/>
                        </a:rPr>
                        <a:t>Team member</a:t>
                      </a:r>
                    </a:p>
                  </a:txBody>
                  <a:tcPr marL="54864" marR="54864" marT="27432" marB="27432" anchor="ctr">
                    <a:solidFill>
                      <a:srgbClr val="1B3A6B"/>
                    </a:solidFill>
                  </a:tcPr>
                </a:tc>
                <a:tc>
                  <a:txBody>
                    <a:bodyPr wrap="square"/>
                    <a:lstStyle/>
                    <a:p>
                      <a:pPr algn="ctr"/>
                      <a:r>
                        <a:rPr sz="1100" b="1" i="0">
                          <a:solidFill>
                            <a:srgbClr val="FFFFFF"/>
                          </a:solidFill>
                          <a:latin typeface="Calibri"/>
                        </a:rPr>
                        <a:t>Assigned work</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Completion (Review 2)</a:t>
                      </a:r>
                    </a:p>
                  </a:txBody>
                  <a:tcPr marL="54864" marR="54864" marT="27432" marB="27432" anchor="ctr">
                    <a:solidFill>
                      <a:srgbClr val="1B3A6B"/>
                    </a:solidFill>
                  </a:tcPr>
                </a:tc>
              </a:tr>
              <a:tr h="86868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 acquisition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Data download, Census rates, district matching, grid weights, grid-to-district conversion, Table 1, preprocessing error metrics</a:t>
                      </a:r>
                    </a:p>
                  </a:txBody>
                  <a:tcPr marL="54864" marR="54864" marT="27432" marB="27432" anchor="ctr">
                    <a:solidFill>
                      <a:srgbClr val="FFFFFF"/>
                    </a:solidFill>
                  </a:tcPr>
                </a:tc>
                <a:tc>
                  <a:txBody>
                    <a:bodyPr wrap="square"/>
                    <a:lstStyle/>
                    <a:p>
                      <a:pPr algn="ctr"/>
                      <a:r>
                        <a:rPr sz="1100" b="0" i="0">
                          <a:solidFill>
                            <a:srgbClr val="1F1F1F"/>
                          </a:solidFill>
                          <a:latin typeface="Calibri"/>
                        </a:rPr>
                        <a:t>100% (estimate)</a:t>
                      </a:r>
                    </a:p>
                  </a:txBody>
                  <a:tcPr marL="54864" marR="54864" marT="27432" marB="27432" anchor="ctr">
                    <a:solidFill>
                      <a:srgbClr val="FFFFFF"/>
                    </a:solidFill>
                  </a:tcPr>
                </a:tc>
              </a:tr>
              <a:tr h="86868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platform &amp; storage</a:t>
                      </a:r>
                    </a:p>
                  </a:txBody>
                  <a:tcPr marL="54864" marR="54864" marT="27432" marB="27432" anchor="ctr">
                    <a:solidFill>
                      <a:srgbClr val="EEF2F8"/>
                    </a:solidFill>
                  </a:tcPr>
                </a:tc>
                <a:tc>
                  <a:txBody>
                    <a:bodyPr wrap="square"/>
                    <a:lstStyle/>
                    <a:p>
                      <a:pPr algn="ctr"/>
                      <a:r>
                        <a:rPr sz="1100" b="0" i="0">
                          <a:solidFill>
                            <a:srgbClr val="1F1F1F"/>
                          </a:solidFill>
                          <a:latin typeface="Calibri"/>
                        </a:rPr>
                        <a:t>Hadoop/YARN/Hive/Spark setup in Colab, HDFS zones, data loading, storage report (Table 2), repo and notebook integration</a:t>
                      </a:r>
                    </a:p>
                  </a:txBody>
                  <a:tcPr marL="54864" marR="54864" marT="27432" marB="27432" anchor="ctr">
                    <a:solidFill>
                      <a:srgbClr val="EEF2F8"/>
                    </a:solidFill>
                  </a:tcPr>
                </a:tc>
                <a:tc>
                  <a:txBody>
                    <a:bodyPr wrap="square"/>
                    <a:lstStyle/>
                    <a:p>
                      <a:pPr algn="ctr"/>
                      <a:r>
                        <a:rPr sz="1100" b="0" i="0">
                          <a:solidFill>
                            <a:srgbClr val="1F1F1F"/>
                          </a:solidFill>
                          <a:latin typeface="Calibri"/>
                        </a:rPr>
                        <a:t>90% (estimate)</a:t>
                      </a:r>
                    </a:p>
                  </a:txBody>
                  <a:tcPr marL="54864" marR="54864" marT="27432" marB="27432" anchor="ctr">
                    <a:solidFill>
                      <a:srgbClr val="EEF2F8"/>
                    </a:solidFill>
                  </a:tcPr>
                </a:tc>
              </a:tr>
              <a:tr h="868680">
                <a:tc>
                  <a:txBody>
                    <a:bodyPr wrap="square"/>
                    <a:lstStyle/>
                    <a:p>
                      <a:pPr algn="l"/>
                      <a:r>
                        <a:rPr sz="1100" b="1" i="0">
                          <a:solidFill>
                            <a:srgbClr val="1F1F1F"/>
                          </a:solidFill>
                          <a:latin typeface="Calibri"/>
                        </a:rPr>
                        <a:t>Tanmay Singh</a:t>
                      </a:r>
                    </a:p>
                  </a:txBody>
                  <a:tcPr marL="54864" marR="54864" marT="27432" marB="27432" anchor="ctr">
                    <a:solidFill>
                      <a:srgbClr val="FFFFFF"/>
                    </a:solidFill>
                  </a:tcPr>
                </a:tc>
                <a:tc>
                  <a:txBody>
                    <a:bodyPr wrap="square"/>
                    <a:lstStyle/>
                    <a:p>
                      <a:pPr algn="ctr"/>
                      <a:r>
                        <a:rPr sz="1100" b="0" i="0">
                          <a:solidFill>
                            <a:srgbClr val="1F1F1F"/>
                          </a:solidFill>
                          <a:latin typeface="Calibri"/>
                        </a:rPr>
                        <a:t>Big Data processing jobs</a:t>
                      </a:r>
                    </a:p>
                  </a:txBody>
                  <a:tcPr marL="54864" marR="54864" marT="27432" marB="27432" anchor="ctr">
                    <a:solidFill>
                      <a:srgbClr val="FFFFFF"/>
                    </a:solidFill>
                  </a:tcPr>
                </a:tc>
                <a:tc>
                  <a:txBody>
                    <a:bodyPr wrap="square"/>
                    <a:lstStyle/>
                    <a:p>
                      <a:pPr algn="ctr"/>
                      <a:r>
                        <a:rPr sz="1100" b="0" i="0">
                          <a:solidFill>
                            <a:srgbClr val="1F1F1F"/>
                          </a:solidFill>
                          <a:latin typeface="Calibri"/>
                        </a:rPr>
                        <a:t>MapReduce, Hive queries, Spark k-means climate regimes, processing results (Table 3), slide assembly</a:t>
                      </a:r>
                    </a:p>
                  </a:txBody>
                  <a:tcPr marL="54864" marR="54864" marT="27432" marB="27432" anchor="ctr">
                    <a:solidFill>
                      <a:srgbClr val="FFFFFF"/>
                    </a:solidFill>
                  </a:tcPr>
                </a:tc>
                <a:tc>
                  <a:txBody>
                    <a:bodyPr wrap="square"/>
                    <a:lstStyle/>
                    <a:p>
                      <a:pPr algn="ctr"/>
                      <a:r>
                        <a:rPr sz="1100" b="0" i="0">
                          <a:solidFill>
                            <a:srgbClr val="1F1F1F"/>
                          </a:solidFill>
                          <a:latin typeface="Calibri"/>
                        </a:rPr>
                        <a:t>85% (estimate)</a:t>
                      </a:r>
                    </a:p>
                  </a:txBody>
                  <a:tcPr marL="54864" marR="54864" marT="27432" marB="27432" anchor="ctr">
                    <a:solidFill>
                      <a:srgbClr val="FFFFFF"/>
                    </a:solidFill>
                  </a:tcPr>
                </a:tc>
              </a:tr>
              <a:tr h="868680">
                <a:tc>
                  <a:txBody>
                    <a:bodyPr wrap="square"/>
                    <a:lstStyle/>
                    <a:p>
                      <a:pPr algn="l"/>
                      <a:r>
                        <a:rPr sz="1100" b="1" i="0">
                          <a:solidFill>
                            <a:srgbClr val="1F1F1F"/>
                          </a:solidFill>
                          <a:latin typeface="Calibri"/>
                        </a:rPr>
                        <a:t>Devanshu Kumar</a:t>
                      </a:r>
                    </a:p>
                  </a:txBody>
                  <a:tcPr marL="54864" marR="54864" marT="27432" marB="27432" anchor="ctr">
                    <a:solidFill>
                      <a:srgbClr val="EEF2F8"/>
                    </a:solidFill>
                  </a:tcPr>
                </a:tc>
                <a:tc>
                  <a:txBody>
                    <a:bodyPr wrap="square"/>
                    <a:lstStyle/>
                    <a:p>
                      <a:pPr algn="ctr"/>
                      <a:r>
                        <a:rPr sz="1100" b="0" i="0">
                          <a:solidFill>
                            <a:srgbClr val="1F1F1F"/>
                          </a:solidFill>
                          <a:latin typeface="Calibri"/>
                        </a:rPr>
                        <a:t>Models &amp; comparison</a:t>
                      </a:r>
                    </a:p>
                  </a:txBody>
                  <a:tcPr marL="54864" marR="54864" marT="27432" marB="27432" anchor="ctr">
                    <a:solidFill>
                      <a:srgbClr val="EEF2F8"/>
                    </a:solidFill>
                  </a:tcPr>
                </a:tc>
                <a:tc>
                  <a:txBody>
                    <a:bodyPr wrap="square"/>
                    <a:lstStyle/>
                    <a:p>
                      <a:pPr algn="ctr"/>
                      <a:r>
                        <a:rPr sz="1100" b="0" i="0">
                          <a:solidFill>
                            <a:srgbClr val="1F1F1F"/>
                          </a:solidFill>
                          <a:latin typeface="Calibri"/>
                        </a:rPr>
                        <a:t>A-CPN design and training, 5 comparison models, metrics, ablation, climate-push analysis (Tables 4-6)</a:t>
                      </a:r>
                    </a:p>
                  </a:txBody>
                  <a:tcPr marL="54864" marR="54864" marT="27432" marB="27432" anchor="ctr">
                    <a:solidFill>
                      <a:srgbClr val="EEF2F8"/>
                    </a:solidFill>
                  </a:tcPr>
                </a:tc>
                <a:tc>
                  <a:txBody>
                    <a:bodyPr wrap="square"/>
                    <a:lstStyle/>
                    <a:p>
                      <a:pPr algn="ctr"/>
                      <a:r>
                        <a:rPr sz="1100" b="0" i="0">
                          <a:solidFill>
                            <a:srgbClr val="1F1F1F"/>
                          </a:solidFill>
                          <a:latin typeface="Calibri"/>
                        </a:rPr>
                        <a:t>40% (estimate: design done, training pending)</a:t>
                      </a:r>
                    </a:p>
                  </a:txBody>
                  <a:tcPr marL="54864" marR="54864" marT="27432" marB="27432" anchor="ctr">
                    <a:solidFill>
                      <a:srgbClr val="EEF2F8"/>
                    </a:solidFill>
                  </a:tcPr>
                </a:tc>
              </a:tr>
            </a:tbl>
          </a:graphicData>
        </a:graphic>
      </p:graphicFrame>
      <p:sp>
        <p:nvSpPr>
          <p:cNvPr id="5" name="TextBox 4"/>
          <p:cNvSpPr txBox="1"/>
          <p:nvPr/>
        </p:nvSpPr>
        <p:spPr>
          <a:xfrm>
            <a:off x="365760" y="5623560"/>
            <a:ext cx="8412480" cy="731520"/>
          </a:xfrm>
          <a:prstGeom prst="rect">
            <a:avLst/>
          </a:prstGeom>
          <a:noFill/>
        </p:spPr>
        <p:txBody>
          <a:bodyPr wrap="square" anchor="t" lIns="45720" rIns="45720">
            <a:spAutoFit/>
          </a:bodyPr>
          <a:lstStyle/>
          <a:p>
            <a:pPr algn="l"/>
            <a:r>
              <a:rPr sz="13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