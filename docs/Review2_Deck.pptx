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4" r:id="rId16"/>
    <p:sldId id="265" r:id="rId17"/>
    <p:sldId id="266" r:id="rId18"/>
    <p:sldId id="267" r:id="rId19"/>
    <p:sldId id="277" r:id="rId29"/>
    <p:sldId id="278" r:id="rId30"/>
    <p:sldId id="270" r:id="rId22"/>
    <p:sldId id="274" r:id="rId26"/>
    <p:sldId id="286" r:id="rId38"/>
    <p:sldId id="261" r:id="rId13"/>
    <p:sldId id="262" r:id="rId14"/>
    <p:sldId id="263" r:id="rId15"/>
    <p:sldId id="279" r:id="rId31"/>
    <p:sldId id="280" r:id="rId32"/>
    <p:sldId id="260" r:id="rId12"/>
    <p:sldId id="268" r:id="rId20"/>
    <p:sldId id="275" r:id="rId27"/>
    <p:sldId id="276" r:id="rId28"/>
    <p:sldId id="281" r:id="rId33"/>
    <p:sldId id="282" r:id="rId34"/>
    <p:sldId id="283" r:id="rId35"/>
    <p:sldId id="269" r:id="rId21"/>
    <p:sldId id="271" r:id="rId23"/>
    <p:sldId id="272" r:id="rId24"/>
    <p:sldId id="273" r:id="rId25"/>
    <p:sldId id="284" r:id="rId36"/>
    <p:sldId id="285" r:id="rId37"/>
    <p:sldId id="287" r:id="rId39"/>
    <p:sldId id="288" r:id="rId40"/>
    <p:sldId id="289" r:id="rId41"/>
    <p:sldId id="290" r:id="rId42"/>
    <p:sldId id="291" r:id="rId43"/>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hybrid deep-learning model, B-ACPN,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runs in three parts, each with its own tables and figures: preprocessing first, then the Big Data tools, then the proposed model and the comparison with existing models, followed by the key findings,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B-ACPN works in two stages. A random forest first gives a tree risk score. A deep network then starts from that score and learns what the trees miss: a development term and a climate push gated by development level. Five networks are averaged,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B-ACPN (random forest + PyTorch) is trained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2026-10-22.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 and the rainfall signal-to-noise ratio shows the 30-year average is about four times larger than its year-to-year variation.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error metrics for the two preprocessing steps that have an exact reference. Left: annual rainfall per district from the naive nearest-cell method against our area-weighted method, i.e. the error our method avoids. Right: the seven MapReduce climate indices against an independent pandas recomputation (worst of the seven), i.e. whether MapReduce is correct.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B-ACPN specification. The tree stage gives a strong first score; the deep stage is small, sized for 469 districts, and learns the development and climate corrections. Every model, including B-ACPN,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B-ACPN with five existing models on exactly the same 25 folds and the same leave-one-state-out split. Values are means over folds. We call a model best only if its lead is larger than one standard deviation, and we report a baseline that beats B-ACPN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We compare accuracy, F1, RMSE and ROC-AUC before and after.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B-ACPN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ten classification metrics, with what each one measures, for the proposed model and the best of the five existing models on that metric. Values are means over the same 25 folds; the full per-model values are in the comparison and detailed-metrics tables.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classification metric for every model, trained on the raw features (before) and on the preprocessed features (after), on the same 25 folds. Arrows read before → after; for log loss and RMSE lower is better. B-ACPN improves or stays equal on all of them. The standard MLP gains recall, ROC-AUC and F1 but loses precision and specificity. Tree models and Spark's internally standardised models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B-ACPN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B-ACPN deep-stage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B-ACPN with one component removed, on the same 25 folds. A drop larger than one standard deviation means the part helps accuracy; parts within one SD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B-ACPN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F1, ROC-AUC and RMSE of every model on raw versus preprocessed features, with the change written above each pair. The neural models change; tree models and Spark's internally standardised models do not.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B-ACPN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2.png"/><Relationship Id="rId5"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4.png"/><Relationship Id="rId5"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7.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9.png"/><Relationship Id="rId5"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2.png"/><Relationship Id="rId5"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image" Target="../media/image14.png"/><Relationship Id="rId5"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 Id="rId4" Type="http://schemas.openxmlformats.org/officeDocument/2006/relationships/image" Target="../media/image16.png"/><Relationship Id="rId5"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 Id="rId4" Type="http://schemas.openxmlformats.org/officeDocument/2006/relationships/chart" Target="../charts/char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steps, results and error metrics</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Effect of preprocessing on the models</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Big Data tools: architecture, HDFS, MapReduce, Hive, Spark</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(B-ACPN)</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Ablation and climate-push results</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Key findings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B-ACPN (Boosted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B-ACPN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Tree stage: </a:t>
            </a:r>
            <a:r>
              <a:rPr sz="1500" b="0" i="0">
                <a:solidFill>
                  <a:srgbClr val="1F1F1F"/>
                </a:solidFill>
                <a:latin typeface="Calibri"/>
              </a:rPr>
              <a:t>random forest (500 trees) on all 13 features → risk score, out-of-fold for training rows</a:t>
            </a:r>
          </a:p>
          <a:p>
            <a:pPr>
              <a:spcAft>
                <a:spcPts val="300"/>
              </a:spcAft>
            </a:pPr>
            <a:r>
              <a:rPr sz="1500" b="0" i="0">
                <a:solidFill>
                  <a:srgbClr val="0E6E6E"/>
                </a:solidFill>
                <a:latin typeface="Calibri"/>
              </a:rPr>
              <a:t>▪  </a:t>
            </a:r>
            <a:r>
              <a:rPr sz="1500" b="1" i="0">
                <a:solidFill>
                  <a:srgbClr val="1F1F1F"/>
                </a:solidFill>
                <a:latin typeface="Calibri"/>
              </a:rPr>
              <a:t>Deep stage: </a:t>
            </a:r>
            <a:r>
              <a:rPr sz="1500" b="0" i="0">
                <a:solidFill>
                  <a:srgbClr val="1F1F1F"/>
                </a:solidFill>
                <a:latin typeface="Calibri"/>
              </a:rPr>
              <a:t>tree score + linear development term + climate push (attention → MLP → residual block)</a:t>
            </a:r>
          </a:p>
          <a:p>
            <a:pPr>
              <a:spcAft>
                <a:spcPts val="300"/>
              </a:spcAft>
            </a:pPr>
            <a:r>
              <a:rPr sz="1500" b="0" i="0">
                <a:solidFill>
                  <a:srgbClr val="0E6E6E"/>
                </a:solidFill>
                <a:latin typeface="Calibri"/>
              </a:rPr>
              <a:t>▪  </a:t>
            </a:r>
            <a:r>
              <a:rPr sz="1500" b="1" i="0">
                <a:solidFill>
                  <a:srgbClr val="1F1F1F"/>
                </a:solidFill>
                <a:latin typeface="Calibri"/>
              </a:rPr>
              <a:t>Development gate: </a:t>
            </a:r>
            <a:r>
              <a:rPr sz="1500" b="0" i="0">
                <a:solidFill>
                  <a:srgbClr val="1F1F1F"/>
                </a:solidFill>
                <a:latin typeface="Calibri"/>
              </a:rPr>
              <a:t>climate push × 2σ(gate(development)): how strongly climate acts at that level</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ensemble of 5 networks;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All 13 features</a:t>
            </a:r>
          </a:p>
          <a:p>
            <a:pPr algn="ctr"/>
            <a:r>
              <a:rPr sz="1100" b="0" i="0">
                <a:solidFill>
                  <a:srgbClr val="595959"/>
                </a:solidFill>
                <a:latin typeface="Calibri"/>
              </a:rPr>
              <a:t>dev + climate</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Random forest</a:t>
            </a:r>
          </a:p>
          <a:p>
            <a:pPr algn="ctr"/>
            <a:r>
              <a:rPr sz="1100" b="0" i="0">
                <a:solidFill>
                  <a:srgbClr val="595959"/>
                </a:solidFill>
                <a:latin typeface="Calibri"/>
              </a:rPr>
              <a:t>tree stage, 500 trees</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MLP → Residual × dev gate</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Tree + dev</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 × 5</a:t>
            </a:r>
          </a:p>
          <a:p>
            <a:pPr algn="ctr"/>
            <a:r>
              <a:rPr sz="1100" b="0" i="0">
                <a:solidFill>
                  <a:srgbClr val="595959"/>
                </a:solidFill>
                <a:latin typeface="Calibri"/>
              </a:rPr>
              <a:t>ensemble mean</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a tree stage boosted by a development-gated attentive climate network (with uncertainty) that separates each district's climate push from its tree/development baseline</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B-ACPN</a:t>
            </a:r>
          </a:p>
          <a:p>
            <a:pPr algn="ctr"/>
            <a:r>
              <a:rPr sz="1100" b="0" i="0">
                <a:solidFill>
                  <a:srgbClr val="595959"/>
                </a:solidFill>
                <a:latin typeface="Calibri"/>
              </a:rPr>
              <a:t>RF + 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2026-10-22);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2026-10-22)</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333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55 s / 140 s / 333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0">
                          <a:solidFill>
                            <a:srgbClr val="1F1F1F"/>
                          </a:solidFill>
                          <a:latin typeface="Calibri"/>
                        </a:rPr>
                        <a:t>RMSE ≤ 0.0029, MAE ≤ 0.0025</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2026-10-22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325112"/>
        </p:xfrm>
        <a:graphic>
          <a:graphicData uri="http://schemas.openxmlformats.org/drawingml/2006/table">
            <a:tbl>
              <a:tblPr firstRow="1" bandRow="1">
                <a:tableStyleId>{5C22544A-7EE6-4342-B048-85BDC9FD1C3A}</a:tableStyleId>
              </a:tblPr>
              <a:tblGrid>
                <a:gridCol w="2377440"/>
                <a:gridCol w="2103120"/>
              </a:tblGrid>
              <a:tr h="393192">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393192">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393192">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393192">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393192">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393192">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393192">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393192">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393192">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393192">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r h="393192">
                <a:tc>
                  <a:txBody>
                    <a:bodyPr wrap="square"/>
                    <a:lstStyle/>
                    <a:p>
                      <a:pPr algn="l"/>
                      <a:r>
                        <a:rPr sz="1200" b="1" i="0">
                          <a:solidFill>
                            <a:srgbClr val="1F1F1F"/>
                          </a:solidFill>
                          <a:latin typeface="Calibri"/>
                        </a:rPr>
                        <a:t>Rainfall signal-to-noise (median)</a:t>
                      </a:r>
                    </a:p>
                  </a:txBody>
                  <a:tcPr marL="54864" marR="54864" marT="27432" marB="27432" anchor="ctr">
                    <a:solidFill>
                      <a:srgbClr val="EEF2F8"/>
                    </a:solidFill>
                  </a:tcPr>
                </a:tc>
                <a:tc>
                  <a:txBody>
                    <a:bodyPr wrap="square"/>
                    <a:lstStyle/>
                    <a:p>
                      <a:pPr algn="ctr"/>
                      <a:r>
                        <a:rPr sz="1200" b="0" i="0">
                          <a:solidFill>
                            <a:srgbClr val="1F1F1F"/>
                          </a:solidFill>
                          <a:latin typeface="Calibri"/>
                        </a:rPr>
                        <a:t>3.98 (mean ÷ year-to-year SD)</a:t>
                      </a:r>
                    </a:p>
                  </a:txBody>
                  <a:tcPr marL="54864" marR="54864" marT="27432" marB="27432" anchor="ctr">
                    <a:solidFill>
                      <a:srgbClr val="EEF2F8"/>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 2020</a:t>
                      </a:r>
                    </a:p>
                  </a:txBody>
                  <a:tcPr marL="54864" marR="54864" marT="27432" marB="27432" anchor="ctr">
                    <a:solidFill>
                      <a:srgbClr val="EEF2F8"/>
                    </a:solidFill>
                  </a:tcPr>
                </a:tc>
                <a:tc>
                  <a:txBody>
                    <a:bodyPr wrap="square"/>
                    <a:lstStyle/>
                    <a:p>
                      <a:pPr algn="ctr"/>
                      <a:r>
                        <a:rPr sz="1200" b="0" i="0">
                          <a:solidFill>
                            <a:srgbClr val="1F1F1F"/>
                          </a:solidFill>
                          <a:latin typeface="Calibri"/>
                        </a:rPr>
                        <a:t>636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RMSE 287 mm (11.1%) avoided</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2026-10-22 from project data; district-day values from the Colab run 2026-10-22.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Performance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914400"/>
                <a:gridCol w="1828800"/>
                <a:gridCol w="2651760"/>
                <a:gridCol w="1508760"/>
                <a:gridCol w="1508760"/>
              </a:tblGrid>
              <a:tr h="475488">
                <a:tc>
                  <a:txBody>
                    <a:bodyPr wrap="square"/>
                    <a:lstStyle/>
                    <a:p>
                      <a:pPr algn="l"/>
                      <a:r>
                        <a:rPr sz="1100" b="1" i="0">
                          <a:solidFill>
                            <a:srgbClr val="FFFFFF"/>
                          </a:solidFill>
                          <a:latin typeface="Calibri"/>
                        </a:rPr>
                        <a:t>Metric</a:t>
                      </a:r>
                    </a:p>
                  </a:txBody>
                  <a:tcPr marL="54864" marR="54864" marT="27432" marB="27432" anchor="ctr">
                    <a:solidFill>
                      <a:srgbClr val="1B3A6B"/>
                    </a:solidFill>
                  </a:tcPr>
                </a:tc>
                <a:tc>
                  <a:txBody>
                    <a:bodyPr wrap="square"/>
                    <a:lstStyle/>
                    <a:p>
                      <a:pPr algn="ctr"/>
                      <a:r>
                        <a:rPr sz="1100" b="1" i="0">
                          <a:solidFill>
                            <a:srgbClr val="FFFFFF"/>
                          </a:solidFill>
                          <a:latin typeface="Calibri"/>
                        </a:rPr>
                        <a:t>Full form</a:t>
                      </a:r>
                    </a:p>
                  </a:txBody>
                  <a:tcPr marL="54864" marR="54864" marT="27432" marB="27432" anchor="ctr">
                    <a:solidFill>
                      <a:srgbClr val="1B3A6B"/>
                    </a:solidFill>
                  </a:tcPr>
                </a:tc>
                <a:tc>
                  <a:txBody>
                    <a:bodyPr wrap="square"/>
                    <a:lstStyle/>
                    <a:p>
                      <a:pPr algn="ctr"/>
                      <a:r>
                        <a:rPr sz="1100" b="1" i="0">
                          <a:solidFill>
                            <a:srgbClr val="FFFFFF"/>
                          </a:solidFill>
                          <a:latin typeface="Calibri"/>
                        </a:rPr>
                        <a:t>Purpose</a:t>
                      </a:r>
                    </a:p>
                  </a:txBody>
                  <a:tcPr marL="54864" marR="54864" marT="27432" marB="27432" anchor="ctr">
                    <a:solidFill>
                      <a:srgbClr val="1B3A6B"/>
                    </a:solidFill>
                  </a:tcPr>
                </a:tc>
                <a:tc>
                  <a:txBody>
                    <a:bodyPr wrap="square"/>
                    <a:lstStyle/>
                    <a:p>
                      <a:pPr algn="ctr"/>
                      <a:r>
                        <a:rPr sz="1100" b="1" i="0">
                          <a:solidFill>
                            <a:srgbClr val="FFFFFF"/>
                          </a:solidFill>
                          <a:latin typeface="Calibri"/>
                        </a:rPr>
                        <a:t>Nearest cell vs our area-weighted rain</a:t>
                      </a:r>
                    </a:p>
                  </a:txBody>
                  <a:tcPr marL="54864" marR="54864" marT="27432" marB="27432" anchor="ctr">
                    <a:solidFill>
                      <a:srgbClr val="1B3A6B"/>
                    </a:solidFill>
                  </a:tcPr>
                </a:tc>
                <a:tc>
                  <a:txBody>
                    <a:bodyPr wrap="square"/>
                    <a:lstStyle/>
                    <a:p>
                      <a:pPr algn="ctr"/>
                      <a:r>
                        <a:rPr sz="1100" b="1" i="0">
                          <a:solidFill>
                            <a:srgbClr val="FFFFFF"/>
                          </a:solidFill>
                          <a:latin typeface="Calibri"/>
                        </a:rPr>
                        <a:t>MapReduce vs independent pandas</a:t>
                      </a:r>
                    </a:p>
                  </a:txBody>
                  <a:tcPr marL="54864" marR="54864" marT="27432" marB="27432" anchor="ctr">
                    <a:solidFill>
                      <a:srgbClr val="1B3A6B"/>
                    </a:solidFill>
                  </a:tcPr>
                </a:tc>
              </a:tr>
              <a:tr h="475488">
                <a:tc>
                  <a:txBody>
                    <a:bodyPr wrap="square"/>
                    <a:lstStyle/>
                    <a:p>
                      <a:pPr algn="l"/>
                      <a:r>
                        <a:rPr sz="1100" b="1" i="0">
                          <a:solidFill>
                            <a:srgbClr val="1F1F1F"/>
                          </a:solidFill>
                          <a:latin typeface="Calibri"/>
                        </a:rPr>
                        <a:t>RMSE</a:t>
                      </a:r>
                    </a:p>
                  </a:txBody>
                  <a:tcPr marL="54864" marR="54864" marT="27432" marB="27432" anchor="ctr">
                    <a:solidFill>
                      <a:srgbClr val="FFFFFF"/>
                    </a:solidFill>
                  </a:tcPr>
                </a:tc>
                <a:tc>
                  <a:txBody>
                    <a:bodyPr wrap="square"/>
                    <a:lstStyle/>
                    <a:p>
                      <a:pPr algn="ctr"/>
                      <a:r>
                        <a:rPr sz="1100" b="0" i="0">
                          <a:solidFill>
                            <a:srgbClr val="1F1F1F"/>
                          </a:solidFill>
                          <a:latin typeface="Calibri"/>
                        </a:rPr>
                        <a:t>Root Mean Square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Square root of the average squared error</a:t>
                      </a:r>
                    </a:p>
                  </a:txBody>
                  <a:tcPr marL="54864" marR="54864" marT="27432" marB="27432" anchor="ctr">
                    <a:solidFill>
                      <a:srgbClr val="FFFFFF"/>
                    </a:solidFill>
                  </a:tcPr>
                </a:tc>
                <a:tc>
                  <a:txBody>
                    <a:bodyPr wrap="square"/>
                    <a:lstStyle/>
                    <a:p>
                      <a:pPr algn="ctr"/>
                      <a:r>
                        <a:rPr sz="1100" b="0" i="0">
                          <a:solidFill>
                            <a:srgbClr val="1F1F1F"/>
                          </a:solidFill>
                          <a:latin typeface="Calibri"/>
                        </a:rPr>
                        <a:t>286.9</a:t>
                      </a:r>
                    </a:p>
                  </a:txBody>
                  <a:tcPr marL="54864" marR="54864" marT="27432" marB="27432" anchor="ctr">
                    <a:solidFill>
                      <a:srgbClr val="FFFFFF"/>
                    </a:solidFill>
                  </a:tcPr>
                </a:tc>
                <a:tc>
                  <a:txBody>
                    <a:bodyPr wrap="square"/>
                    <a:lstStyle/>
                    <a:p>
                      <a:pPr algn="ctr"/>
                      <a:r>
                        <a:rPr sz="1100" b="0" i="0">
                          <a:solidFill>
                            <a:srgbClr val="1F1F1F"/>
                          </a:solidFill>
                          <a:latin typeface="Calibri"/>
                        </a:rPr>
                        <a:t>0.003</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MSE</a:t>
                      </a:r>
                    </a:p>
                  </a:txBody>
                  <a:tcPr marL="54864" marR="54864" marT="27432" marB="27432" anchor="ctr">
                    <a:solidFill>
                      <a:srgbClr val="EEF2F8"/>
                    </a:solidFill>
                  </a:tcPr>
                </a:tc>
                <a:tc>
                  <a:txBody>
                    <a:bodyPr wrap="square"/>
                    <a:lstStyle/>
                    <a:p>
                      <a:pPr algn="ctr"/>
                      <a:r>
                        <a:rPr sz="1100" b="0" i="0">
                          <a:solidFill>
                            <a:srgbClr val="1F1F1F"/>
                          </a:solidFill>
                          <a:latin typeface="Calibri"/>
                        </a:rPr>
                        <a:t>Mean Squared Error</a:t>
                      </a:r>
                    </a:p>
                  </a:txBody>
                  <a:tcPr marL="54864" marR="54864" marT="27432" marB="27432" anchor="ctr">
                    <a:solidFill>
                      <a:srgbClr val="EEF2F8"/>
                    </a:solidFill>
                  </a:tcPr>
                </a:tc>
                <a:tc>
                  <a:txBody>
                    <a:bodyPr wrap="square"/>
                    <a:lstStyle/>
                    <a:p>
                      <a:pPr algn="ctr"/>
                      <a:r>
                        <a:rPr sz="1100" b="0" i="0">
                          <a:solidFill>
                            <a:srgbClr val="1F1F1F"/>
                          </a:solidFill>
                          <a:latin typeface="Calibri"/>
                        </a:rPr>
                        <a:t>Average squared difference, actual vs computed</a:t>
                      </a:r>
                    </a:p>
                  </a:txBody>
                  <a:tcPr marL="54864" marR="54864" marT="27432" marB="27432" anchor="ctr">
                    <a:solidFill>
                      <a:srgbClr val="EEF2F8"/>
                    </a:solidFill>
                  </a:tcPr>
                </a:tc>
                <a:tc>
                  <a:txBody>
                    <a:bodyPr wrap="square"/>
                    <a:lstStyle/>
                    <a:p>
                      <a:pPr algn="ctr"/>
                      <a:r>
                        <a:rPr sz="1100" b="0" i="0">
                          <a:solidFill>
                            <a:srgbClr val="1F1F1F"/>
                          </a:solidFill>
                          <a:latin typeface="Calibri"/>
                        </a:rPr>
                        <a:t>82,313.7</a:t>
                      </a:r>
                    </a:p>
                  </a:txBody>
                  <a:tcPr marL="54864" marR="54864" marT="27432" marB="27432" anchor="ctr">
                    <a:solidFill>
                      <a:srgbClr val="EEF2F8"/>
                    </a:solidFill>
                  </a:tcPr>
                </a:tc>
                <a:tc>
                  <a:txBody>
                    <a:bodyPr wrap="square"/>
                    <a:lstStyle/>
                    <a:p>
                      <a:pPr algn="ctr"/>
                      <a:r>
                        <a:rPr sz="1100" b="0" i="0">
                          <a:solidFill>
                            <a:srgbClr val="1F1F1F"/>
                          </a:solidFill>
                          <a:latin typeface="Calibri"/>
                        </a:rPr>
                        <a:t>8.4e-06</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MAE</a:t>
                      </a:r>
                    </a:p>
                  </a:txBody>
                  <a:tcPr marL="54864" marR="54864" marT="27432" marB="27432" anchor="ctr">
                    <a:solidFill>
                      <a:srgbClr val="FFFFFF"/>
                    </a:solidFill>
                  </a:tcPr>
                </a:tc>
                <a:tc>
                  <a:txBody>
                    <a:bodyPr wrap="square"/>
                    <a:lstStyle/>
                    <a:p>
                      <a:pPr algn="ctr"/>
                      <a:r>
                        <a:rPr sz="1100" b="0" i="0">
                          <a:solidFill>
                            <a:srgbClr val="1F1F1F"/>
                          </a:solidFill>
                          <a:latin typeface="Calibri"/>
                        </a:rPr>
                        <a:t>Mean Absolute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Average absolute difference</a:t>
                      </a:r>
                    </a:p>
                  </a:txBody>
                  <a:tcPr marL="54864" marR="54864" marT="27432" marB="27432" anchor="ctr">
                    <a:solidFill>
                      <a:srgbClr val="FFFFFF"/>
                    </a:solidFill>
                  </a:tcPr>
                </a:tc>
                <a:tc>
                  <a:txBody>
                    <a:bodyPr wrap="square"/>
                    <a:lstStyle/>
                    <a:p>
                      <a:pPr algn="ctr"/>
                      <a:r>
                        <a:rPr sz="1100" b="0" i="0">
                          <a:solidFill>
                            <a:srgbClr val="1F1F1F"/>
                          </a:solidFill>
                          <a:latin typeface="Calibri"/>
                        </a:rPr>
                        <a:t>151.7</a:t>
                      </a:r>
                    </a:p>
                  </a:txBody>
                  <a:tcPr marL="54864" marR="54864" marT="27432" marB="27432" anchor="ctr">
                    <a:solidFill>
                      <a:srgbClr val="FFFFFF"/>
                    </a:solidFill>
                  </a:tcPr>
                </a:tc>
                <a:tc>
                  <a:txBody>
                    <a:bodyPr wrap="square"/>
                    <a:lstStyle/>
                    <a:p>
                      <a:pPr algn="ctr"/>
                      <a:r>
                        <a:rPr sz="1100" b="0" i="0">
                          <a:solidFill>
                            <a:srgbClr val="1F1F1F"/>
                          </a:solidFill>
                          <a:latin typeface="Calibri"/>
                        </a:rPr>
                        <a:t>0.003</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MAPE</a:t>
                      </a:r>
                    </a:p>
                  </a:txBody>
                  <a:tcPr marL="54864" marR="54864" marT="27432" marB="27432" anchor="ctr">
                    <a:solidFill>
                      <a:srgbClr val="EEF2F8"/>
                    </a:solidFill>
                  </a:tcPr>
                </a:tc>
                <a:tc>
                  <a:txBody>
                    <a:bodyPr wrap="square"/>
                    <a:lstStyle/>
                    <a:p>
                      <a:pPr algn="ctr"/>
                      <a:r>
                        <a:rPr sz="1100" b="0" i="0">
                          <a:solidFill>
                            <a:srgbClr val="1F1F1F"/>
                          </a:solidFill>
                          <a:latin typeface="Calibri"/>
                        </a:rPr>
                        <a:t>Mean Absolute Percentage Error</a:t>
                      </a:r>
                    </a:p>
                  </a:txBody>
                  <a:tcPr marL="54864" marR="54864" marT="27432" marB="27432" anchor="ctr">
                    <a:solidFill>
                      <a:srgbClr val="EEF2F8"/>
                    </a:solidFill>
                  </a:tcPr>
                </a:tc>
                <a:tc>
                  <a:txBody>
                    <a:bodyPr wrap="square"/>
                    <a:lstStyle/>
                    <a:p>
                      <a:pPr algn="ctr"/>
                      <a:r>
                        <a:rPr sz="1100" b="0" i="0">
                          <a:solidFill>
                            <a:srgbClr val="1F1F1F"/>
                          </a:solidFill>
                          <a:latin typeface="Calibri"/>
                        </a:rPr>
                        <a:t>Error as a percentage of the actual value</a:t>
                      </a:r>
                    </a:p>
                  </a:txBody>
                  <a:tcPr marL="54864" marR="54864" marT="27432" marB="27432" anchor="ctr">
                    <a:solidFill>
                      <a:srgbClr val="EEF2F8"/>
                    </a:solidFill>
                  </a:tcPr>
                </a:tc>
                <a:tc>
                  <a:txBody>
                    <a:bodyPr wrap="square"/>
                    <a:lstStyle/>
                    <a:p>
                      <a:pPr algn="ctr"/>
                      <a:r>
                        <a:rPr sz="1100" b="0" i="0">
                          <a:solidFill>
                            <a:srgbClr val="1F1F1F"/>
                          </a:solidFill>
                          <a:latin typeface="Calibri"/>
                        </a:rPr>
                        <a:t>11.08%</a:t>
                      </a:r>
                    </a:p>
                  </a:txBody>
                  <a:tcPr marL="54864" marR="54864" marT="27432" marB="27432" anchor="ctr">
                    <a:solidFill>
                      <a:srgbClr val="EEF2F8"/>
                    </a:solidFill>
                  </a:tcPr>
                </a:tc>
                <a:tc>
                  <a:txBody>
                    <a:bodyPr wrap="square"/>
                    <a:lstStyle/>
                    <a:p>
                      <a:pPr algn="ctr"/>
                      <a:r>
                        <a:rPr sz="1100" b="0" i="0">
                          <a:solidFill>
                            <a:srgbClr val="1F1F1F"/>
                          </a:solidFill>
                          <a:latin typeface="Calibri"/>
                        </a:rPr>
                        <a:t>0.01%</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R²</a:t>
                      </a:r>
                    </a:p>
                  </a:txBody>
                  <a:tcPr marL="54864" marR="54864" marT="27432" marB="27432" anchor="ctr">
                    <a:solidFill>
                      <a:srgbClr val="FFFFFF"/>
                    </a:solidFill>
                  </a:tcPr>
                </a:tc>
                <a:tc>
                  <a:txBody>
                    <a:bodyPr wrap="square"/>
                    <a:lstStyle/>
                    <a:p>
                      <a:pPr algn="ctr"/>
                      <a:r>
                        <a:rPr sz="1100" b="0" i="0">
                          <a:solidFill>
                            <a:srgbClr val="1F1F1F"/>
                          </a:solidFill>
                          <a:latin typeface="Calibri"/>
                        </a:rPr>
                        <a:t>Coefficient of Determination</a:t>
                      </a:r>
                    </a:p>
                  </a:txBody>
                  <a:tcPr marL="54864" marR="54864" marT="27432" marB="27432" anchor="ctr">
                    <a:solidFill>
                      <a:srgbClr val="FFFFFF"/>
                    </a:solidFill>
                  </a:tcPr>
                </a:tc>
                <a:tc>
                  <a:txBody>
                    <a:bodyPr wrap="square"/>
                    <a:lstStyle/>
                    <a:p>
                      <a:pPr algn="ctr"/>
                      <a:r>
                        <a:rPr sz="1100" b="0" i="0">
                          <a:solidFill>
                            <a:srgbClr val="1F1F1F"/>
                          </a:solidFill>
                          <a:latin typeface="Calibri"/>
                        </a:rPr>
                        <a:t>How much of the variation is reproduced (1 = all)</a:t>
                      </a:r>
                    </a:p>
                  </a:txBody>
                  <a:tcPr marL="54864" marR="54864" marT="27432" marB="27432" anchor="ctr">
                    <a:solidFill>
                      <a:srgbClr val="FFFFFF"/>
                    </a:solidFill>
                  </a:tcPr>
                </a:tc>
                <a:tc>
                  <a:txBody>
                    <a:bodyPr wrap="square"/>
                    <a:lstStyle/>
                    <a:p>
                      <a:pPr algn="ctr"/>
                      <a:r>
                        <a:rPr sz="1100" b="0" i="0">
                          <a:solidFill>
                            <a:srgbClr val="1F1F1F"/>
                          </a:solidFill>
                          <a:latin typeface="Calibri"/>
                        </a:rPr>
                        <a:t>0.9042</a:t>
                      </a:r>
                    </a:p>
                  </a:txBody>
                  <a:tcPr marL="54864" marR="54864" marT="27432" marB="27432" anchor="ctr">
                    <a:solidFill>
                      <a:srgbClr val="FFFFFF"/>
                    </a:solidFill>
                  </a:tcPr>
                </a:tc>
                <a:tc>
                  <a:txBody>
                    <a:bodyPr wrap="square"/>
                    <a:lstStyle/>
                    <a:p>
                      <a:pPr algn="ctr"/>
                      <a:r>
                        <a:rPr sz="1100" b="0" i="0">
                          <a:solidFill>
                            <a:srgbClr val="1F1F1F"/>
                          </a:solidFill>
                          <a:latin typeface="Calibri"/>
                        </a:rPr>
                        <a:t>0.999999</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NRMSE</a:t>
                      </a:r>
                    </a:p>
                  </a:txBody>
                  <a:tcPr marL="54864" marR="54864" marT="27432" marB="27432" anchor="ctr">
                    <a:solidFill>
                      <a:srgbClr val="EEF2F8"/>
                    </a:solidFill>
                  </a:tcPr>
                </a:tc>
                <a:tc>
                  <a:txBody>
                    <a:bodyPr wrap="square"/>
                    <a:lstStyle/>
                    <a:p>
                      <a:pPr algn="ctr"/>
                      <a:r>
                        <a:rPr sz="1100" b="0" i="0">
                          <a:solidFill>
                            <a:srgbClr val="1F1F1F"/>
                          </a:solidFill>
                          <a:latin typeface="Calibri"/>
                        </a:rPr>
                        <a:t>Normalised RMSE</a:t>
                      </a:r>
                    </a:p>
                  </a:txBody>
                  <a:tcPr marL="54864" marR="54864" marT="27432" marB="27432" anchor="ctr">
                    <a:solidFill>
                      <a:srgbClr val="EEF2F8"/>
                    </a:solidFill>
                  </a:tcPr>
                </a:tc>
                <a:tc>
                  <a:txBody>
                    <a:bodyPr wrap="square"/>
                    <a:lstStyle/>
                    <a:p>
                      <a:pPr algn="ctr"/>
                      <a:r>
                        <a:rPr sz="1100" b="0" i="0">
                          <a:solidFill>
                            <a:srgbClr val="1F1F1F"/>
                          </a:solidFill>
                          <a:latin typeface="Calibri"/>
                        </a:rPr>
                        <a:t>RMSE divided by the range of the actual values</a:t>
                      </a:r>
                    </a:p>
                  </a:txBody>
                  <a:tcPr marL="54864" marR="54864" marT="27432" marB="27432" anchor="ctr">
                    <a:solidFill>
                      <a:srgbClr val="EEF2F8"/>
                    </a:solidFill>
                  </a:tcPr>
                </a:tc>
                <a:tc>
                  <a:txBody>
                    <a:bodyPr wrap="square"/>
                    <a:lstStyle/>
                    <a:p>
                      <a:pPr algn="ctr"/>
                      <a:r>
                        <a:rPr sz="1100" b="0" i="0">
                          <a:solidFill>
                            <a:srgbClr val="1F1F1F"/>
                          </a:solidFill>
                          <a:latin typeface="Calibri"/>
                        </a:rPr>
                        <a:t>0.034</a:t>
                      </a:r>
                    </a:p>
                  </a:txBody>
                  <a:tcPr marL="54864" marR="54864" marT="27432" marB="27432" anchor="ctr">
                    <a:solidFill>
                      <a:srgbClr val="EEF2F8"/>
                    </a:solidFill>
                  </a:tcPr>
                </a:tc>
                <a:tc>
                  <a:txBody>
                    <a:bodyPr wrap="square"/>
                    <a:lstStyle/>
                    <a:p>
                      <a:pPr algn="ctr"/>
                      <a:r>
                        <a:rPr sz="1100" b="0" i="0">
                          <a:solidFill>
                            <a:srgbClr val="1F1F1F"/>
                          </a:solidFill>
                          <a:latin typeface="Calibri"/>
                        </a:rPr>
                        <a:t>1.9e-04</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MedAE</a:t>
                      </a:r>
                    </a:p>
                  </a:txBody>
                  <a:tcPr marL="54864" marR="54864" marT="27432" marB="27432" anchor="ctr">
                    <a:solidFill>
                      <a:srgbClr val="FFFFFF"/>
                    </a:solidFill>
                  </a:tcPr>
                </a:tc>
                <a:tc>
                  <a:txBody>
                    <a:bodyPr wrap="square"/>
                    <a:lstStyle/>
                    <a:p>
                      <a:pPr algn="ctr"/>
                      <a:r>
                        <a:rPr sz="1100" b="0" i="0">
                          <a:solidFill>
                            <a:srgbClr val="1F1F1F"/>
                          </a:solidFill>
                          <a:latin typeface="Calibri"/>
                        </a:rPr>
                        <a:t>Median Absolute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Median error; not driven by a few extreme values</a:t>
                      </a:r>
                    </a:p>
                  </a:txBody>
                  <a:tcPr marL="54864" marR="54864" marT="27432" marB="27432" anchor="ctr">
                    <a:solidFill>
                      <a:srgbClr val="FFFFFF"/>
                    </a:solidFill>
                  </a:tcPr>
                </a:tc>
                <a:tc>
                  <a:txBody>
                    <a:bodyPr wrap="square"/>
                    <a:lstStyle/>
                    <a:p>
                      <a:pPr algn="ctr"/>
                      <a:r>
                        <a:rPr sz="1100" b="0" i="0">
                          <a:solidFill>
                            <a:srgbClr val="1F1F1F"/>
                          </a:solidFill>
                          <a:latin typeface="Calibri"/>
                        </a:rPr>
                        <a:t>87.0</a:t>
                      </a:r>
                    </a:p>
                  </a:txBody>
                  <a:tcPr marL="54864" marR="54864" marT="27432" marB="27432" anchor="ctr">
                    <a:solidFill>
                      <a:srgbClr val="FFFFFF"/>
                    </a:solidFill>
                  </a:tcPr>
                </a:tc>
                <a:tc>
                  <a:txBody>
                    <a:bodyPr wrap="square"/>
                    <a:lstStyle/>
                    <a:p>
                      <a:pPr algn="ctr"/>
                      <a:r>
                        <a:rPr sz="1100" b="0" i="0">
                          <a:solidFill>
                            <a:srgbClr val="1F1F1F"/>
                          </a:solidFill>
                          <a:latin typeface="Calibri"/>
                        </a:rPr>
                        <a:t>0.002</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Bias / ME</a:t>
                      </a:r>
                    </a:p>
                  </a:txBody>
                  <a:tcPr marL="54864" marR="54864" marT="27432" marB="27432" anchor="ctr">
                    <a:solidFill>
                      <a:srgbClr val="EEF2F8"/>
                    </a:solidFill>
                  </a:tcPr>
                </a:tc>
                <a:tc>
                  <a:txBody>
                    <a:bodyPr wrap="square"/>
                    <a:lstStyle/>
                    <a:p>
                      <a:pPr algn="ctr"/>
                      <a:r>
                        <a:rPr sz="1100" b="0" i="0">
                          <a:solidFill>
                            <a:srgbClr val="1F1F1F"/>
                          </a:solidFill>
                          <a:latin typeface="Calibri"/>
                        </a:rPr>
                        <a:t>Mean Error</a:t>
                      </a:r>
                    </a:p>
                  </a:txBody>
                  <a:tcPr marL="54864" marR="54864" marT="27432" marB="27432" anchor="ctr">
                    <a:solidFill>
                      <a:srgbClr val="EEF2F8"/>
                    </a:solidFill>
                  </a:tcPr>
                </a:tc>
                <a:tc>
                  <a:txBody>
                    <a:bodyPr wrap="square"/>
                    <a:lstStyle/>
                    <a:p>
                      <a:pPr algn="ctr"/>
                      <a:r>
                        <a:rPr sz="1100" b="0" i="0">
                          <a:solidFill>
                            <a:srgbClr val="1F1F1F"/>
                          </a:solidFill>
                          <a:latin typeface="Calibri"/>
                        </a:rPr>
                        <a:t>Systematic over- (+) or under- (−) estimation</a:t>
                      </a:r>
                    </a:p>
                  </a:txBody>
                  <a:tcPr marL="54864" marR="54864" marT="27432" marB="27432" anchor="ctr">
                    <a:solidFill>
                      <a:srgbClr val="EEF2F8"/>
                    </a:solidFill>
                  </a:tcPr>
                </a:tc>
                <a:tc>
                  <a:txBody>
                    <a:bodyPr wrap="square"/>
                    <a:lstStyle/>
                    <a:p>
                      <a:pPr algn="ctr"/>
                      <a:r>
                        <a:rPr sz="1100" b="0" i="0">
                          <a:solidFill>
                            <a:srgbClr val="1F1F1F"/>
                          </a:solidFill>
                          <a:latin typeface="Calibri"/>
                        </a:rPr>
                        <a:t>5.045</a:t>
                      </a:r>
                    </a:p>
                  </a:txBody>
                  <a:tcPr marL="54864" marR="54864" marT="27432" marB="27432" anchor="ctr">
                    <a:solidFill>
                      <a:srgbClr val="EEF2F8"/>
                    </a:solidFill>
                  </a:tcPr>
                </a:tc>
                <a:tc>
                  <a:txBody>
                    <a:bodyPr wrap="square"/>
                    <a:lstStyle/>
                    <a:p>
                      <a:pPr algn="ctr"/>
                      <a:r>
                        <a:rPr sz="1100" b="0" i="0">
                          <a:solidFill>
                            <a:srgbClr val="1F1F1F"/>
                          </a:solidFill>
                          <a:latin typeface="Calibri"/>
                        </a:rPr>
                        <a:t>-2.2e-05</a:t>
                      </a:r>
                    </a:p>
                  </a:txBody>
                  <a:tcPr marL="54864" marR="54864" marT="27432" marB="27432" anchor="ctr">
                    <a:solidFill>
                      <a:srgbClr val="EEF2F8"/>
                    </a:solidFill>
                  </a:tcPr>
                </a:tc>
              </a:tr>
            </a:tbl>
          </a:graphicData>
        </a:graphic>
      </p:graphicFrame>
      <p:sp>
        <p:nvSpPr>
          <p:cNvPr id="5" name="TextBox 4"/>
          <p:cNvSpPr txBox="1"/>
          <p:nvPr/>
        </p:nvSpPr>
        <p:spPr>
          <a:xfrm>
            <a:off x="365760" y="5532120"/>
            <a:ext cx="8412480" cy="822960"/>
          </a:xfrm>
          <a:prstGeom prst="rect">
            <a:avLst/>
          </a:prstGeom>
          <a:noFill/>
        </p:spPr>
        <p:txBody>
          <a:bodyPr wrap="square" anchor="t" lIns="45720" rIns="45720">
            <a:spAutoFit/>
          </a:bodyPr>
          <a:lstStyle/>
          <a:p>
            <a:pPr algn="l"/>
            <a:r>
              <a:rPr sz="1000" b="0" i="0">
                <a:solidFill>
                  <a:srgbClr val="595959"/>
                </a:solidFill>
                <a:latin typeface="Calibri"/>
              </a:rPr>
              <a:t>Left: 636 districts, year 2020, in mm; large values are the error the naive method would make. Right: 19,200 district-years × 7 indices; values near 0 (and R² near 1) mean MapReduce matches. MAPE skips zero actual values; NRMSE uses the range. Computed in Colab section 10b (2026-10-28) from the IMD and MapReduce data of the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B-ACPN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54880"/>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Tree stage</a:t>
                      </a:r>
                    </a:p>
                  </a:txBody>
                  <a:tcPr marL="54864" marR="54864" marT="27432" marB="27432" anchor="ctr">
                    <a:solidFill>
                      <a:srgbClr val="FFFFFF"/>
                    </a:solidFill>
                  </a:tcPr>
                </a:tc>
                <a:tc>
                  <a:txBody>
                    <a:bodyPr wrap="square"/>
                    <a:lstStyle/>
                    <a:p>
                      <a:pPr algn="ctr"/>
                      <a:r>
                        <a:rPr sz="1200" b="0" i="0">
                          <a:solidFill>
                            <a:srgbClr val="1F1F1F"/>
                          </a:solidFill>
                          <a:latin typeface="Calibri"/>
                        </a:rPr>
                        <a:t>Random forest, 500 trees, min leaf 2, all 13 features; out-of-fold (5 inner folds) score for training rows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Deep stage: baseline</a:t>
                      </a:r>
                    </a:p>
                  </a:txBody>
                  <a:tcPr marL="54864" marR="54864" marT="27432" marB="27432" anchor="ctr">
                    <a:solidFill>
                      <a:srgbClr val="EEF2F8"/>
                    </a:solidFill>
                  </a:tcPr>
                </a:tc>
                <a:tc>
                  <a:txBody>
                    <a:bodyPr wrap="square"/>
                    <a:lstStyle/>
                    <a:p>
                      <a:pPr algn="ctr"/>
                      <a:r>
                        <a:rPr sz="1200" b="0" i="0">
                          <a:solidFill>
                            <a:srgbClr val="1F1F1F"/>
                          </a:solidFill>
                          <a:latin typeface="Calibri"/>
                        </a:rPr>
                        <a:t>tree log-odds + Linear(5 → 1) on the 5 development features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Deep stage: climate push</a:t>
                      </a:r>
                    </a:p>
                  </a:txBody>
                  <a:tcPr marL="54864" marR="54864" marT="27432" marB="27432" anchor="ctr">
                    <a:solidFill>
                      <a:srgbClr val="FFFFFF"/>
                    </a:solidFill>
                  </a:tcPr>
                </a:tc>
                <a:tc>
                  <a:txBody>
                    <a:bodyPr wrap="square"/>
                    <a:lstStyle/>
                    <a:p>
                      <a:pPr algn="ctr"/>
                      <a:r>
                        <a:rPr sz="1200" b="0" i="0">
                          <a:solidFill>
                            <a:srgbClr val="1F1F1F"/>
                          </a:solidFill>
                          <a:latin typeface="Calibri"/>
                        </a:rPr>
                        <a:t>attention (8) → Linear(8→16), ReLU, Dropout 0.3 → residual block → Linear(16→1)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Development gate</a:t>
                      </a:r>
                    </a:p>
                  </a:txBody>
                  <a:tcPr marL="54864" marR="54864" marT="27432" marB="27432" anchor="ctr">
                    <a:solidFill>
                      <a:srgbClr val="EEF2F8"/>
                    </a:solidFill>
                  </a:tcPr>
                </a:tc>
                <a:tc>
                  <a:txBody>
                    <a:bodyPr wrap="square"/>
                    <a:lstStyle/>
                    <a:p>
                      <a:pPr algn="ctr"/>
                      <a:r>
                        <a:rPr sz="1200" b="0" i="0">
                          <a:solidFill>
                            <a:srgbClr val="1F1F1F"/>
                          </a:solidFill>
                          <a:latin typeface="Calibri"/>
                        </a:rPr>
                        <a:t>push × 2σ(Linear(5→4), tanh, Linear(4→1)); ensemble of 5 seeds, probabilities averaged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FFFFFF"/>
                    </a:solidFill>
                  </a:tcPr>
                </a:tc>
                <a:tc>
                  <a:txBody>
                    <a:bodyPr wrap="square"/>
                    <a:lstStyle/>
                    <a:p>
                      <a:pPr algn="ctr"/>
                      <a:r>
                        <a:rPr sz="1200" b="0" i="0">
                          <a:solidFill>
                            <a:srgbClr val="1F1F1F"/>
                          </a:solidFill>
                          <a:latin typeface="Calibri"/>
                        </a:rPr>
                        <a:t>MC Dropout (50 passes) + split conformal: 92.9% coverage (target 90%), avg set size 1.51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EEF2F8"/>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FFFFFF"/>
                    </a:solidFill>
                  </a:tcPr>
                </a:tc>
                <a:tc>
                  <a:txBody>
                    <a:bodyPr wrap="square"/>
                    <a:lstStyle/>
                    <a:p>
                      <a:pPr algn="ctr"/>
                      <a:r>
                        <a:rPr sz="1200" b="0" i="0">
                          <a:solidFill>
                            <a:srgbClr val="1F1F1F"/>
                          </a:solidFill>
                          <a:latin typeface="Calibri"/>
                        </a:rPr>
                        <a:t>780 trainable per network (+ 500 trees) / 11.8 s per fold (CPU)</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EEF2F8"/>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FFFFFF"/>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hybrid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0.820</a:t>
                      </a:r>
                    </a:p>
                  </a:txBody>
                  <a:tcPr marL="54864" marR="54864" marT="27432" marB="27432" anchor="ctr">
                    <a:solidFill>
                      <a:srgbClr val="FFF4CC"/>
                    </a:solidFill>
                  </a:tcPr>
                </a:tc>
                <a:tc>
                  <a:txBody>
                    <a:bodyPr wrap="square"/>
                    <a:lstStyle/>
                    <a:p>
                      <a:pPr algn="ctr"/>
                      <a:r>
                        <a:rPr sz="1200" b="1" i="0">
                          <a:solidFill>
                            <a:srgbClr val="1F1F1F"/>
                          </a:solidFill>
                          <a:latin typeface="Calibri"/>
                        </a:rPr>
                        <a:t>0.739</a:t>
                      </a:r>
                    </a:p>
                  </a:txBody>
                  <a:tcPr marL="54864" marR="54864" marT="27432" marB="27432" anchor="ctr">
                    <a:solidFill>
                      <a:srgbClr val="FFF4CC"/>
                    </a:solidFill>
                  </a:tcPr>
                </a:tc>
                <a:tc>
                  <a:txBody>
                    <a:bodyPr wrap="square"/>
                    <a:lstStyle/>
                    <a:p>
                      <a:pPr algn="ctr"/>
                      <a:r>
                        <a:rPr sz="1200" b="1" i="0">
                          <a:solidFill>
                            <a:srgbClr val="1F1F1F"/>
                          </a:solidFill>
                          <a:latin typeface="Calibri"/>
                        </a:rPr>
                        <a:t>0.738</a:t>
                      </a:r>
                    </a:p>
                  </a:txBody>
                  <a:tcPr marL="54864" marR="54864" marT="27432" marB="27432" anchor="ctr">
                    <a:solidFill>
                      <a:srgbClr val="FFF4CC"/>
                    </a:solidFill>
                  </a:tcPr>
                </a:tc>
                <a:tc>
                  <a:txBody>
                    <a:bodyPr wrap="square"/>
                    <a:lstStyle/>
                    <a:p>
                      <a:pPr algn="ctr"/>
                      <a:r>
                        <a:rPr sz="1200" b="1" i="0">
                          <a:solidFill>
                            <a:srgbClr val="1F1F1F"/>
                          </a:solidFill>
                          <a:latin typeface="Calibri"/>
                        </a:rPr>
                        <a:t>0.728</a:t>
                      </a:r>
                    </a:p>
                  </a:txBody>
                  <a:tcPr marL="54864" marR="54864" marT="27432" marB="27432" anchor="ctr">
                    <a:solidFill>
                      <a:srgbClr val="FFF4CC"/>
                    </a:solidFill>
                  </a:tcPr>
                </a:tc>
                <a:tc>
                  <a:txBody>
                    <a:bodyPr wrap="square"/>
                    <a:lstStyle/>
                    <a:p>
                      <a:pPr algn="ctr"/>
                      <a:r>
                        <a:rPr sz="1200" b="1" i="0">
                          <a:solidFill>
                            <a:srgbClr val="1F1F1F"/>
                          </a:solidFill>
                          <a:latin typeface="Calibri"/>
                        </a:rPr>
                        <a:t>0.717</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0.710</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28016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1" i="0">
                <a:solidFill>
                  <a:srgbClr val="1F1F1F"/>
                </a:solidFill>
                <a:latin typeface="Calibri"/>
              </a:rPr>
              <a:t>Result: </a:t>
            </a:r>
            <a:r>
              <a:rPr sz="1300" b="0" i="0">
                <a:solidFill>
                  <a:srgbClr val="1F1F1F"/>
                </a:solidFill>
                <a:latin typeface="Calibri"/>
              </a:rPr>
              <a:t>B-ACPN has the highest ROC-AUC (0.820); next is GBT (0.811), lead +0.009 &lt; 1 SD (0.035), so the top models are comparable</a:t>
            </a:r>
          </a:p>
          <a:p>
            <a:pPr>
              <a:spcAft>
                <a:spcPts val="200"/>
              </a:spcAft>
            </a:pPr>
            <a:r>
              <a:rPr sz="1300" b="0" i="0">
                <a:solidFill>
                  <a:srgbClr val="0E6E6E"/>
                </a:solidFill>
                <a:latin typeface="Calibri"/>
              </a:rPr>
              <a:t>▪  </a:t>
            </a:r>
            <a:r>
              <a:rPr sz="1300" b="1" i="0">
                <a:solidFill>
                  <a:srgbClr val="1F1F1F"/>
                </a:solidFill>
                <a:latin typeface="Calibri"/>
              </a:rPr>
              <a:t>B-ACPN is higher than: </a:t>
            </a:r>
            <a:r>
              <a:rPr sz="1300" b="0" i="0">
                <a:solidFill>
                  <a:srgbClr val="1F1F1F"/>
                </a:solidFill>
                <a:latin typeface="Calibri"/>
              </a:rPr>
              <a:t>LR, RF, GBT, Linear SVM, MLP</a:t>
            </a:r>
          </a:p>
          <a:p>
            <a:pPr>
              <a:spcAft>
                <a:spcPts val="200"/>
              </a:spcAft>
            </a:pPr>
            <a:r>
              <a:rPr sz="1300" b="0" i="0">
                <a:solidFill>
                  <a:srgbClr val="0E6E6E"/>
                </a:solidFill>
                <a:latin typeface="Calibri"/>
              </a:rPr>
              <a:t>▪  </a:t>
            </a:r>
            <a:r>
              <a:rPr sz="1300" b="1" i="0">
                <a:solidFill>
                  <a:srgbClr val="1F1F1F"/>
                </a:solidFill>
                <a:latin typeface="Calibri"/>
              </a:rPr>
              <a:t>Significant (p &lt; 0.05): </a:t>
            </a:r>
            <a:r>
              <a:rPr sz="1300" b="0" i="0">
                <a:solidFill>
                  <a:srgbClr val="1F1F1F"/>
                </a:solidFill>
                <a:latin typeface="Calibri"/>
              </a:rPr>
              <a:t>LR, RF, Linear SVM, MLP; not significant: GBT</a:t>
            </a:r>
          </a:p>
          <a:p>
            <a:pPr>
              <a:spcAft>
                <a:spcPts val="200"/>
              </a:spcAft>
            </a:pPr>
            <a:r>
              <a:rPr sz="1300" b="0" i="0">
                <a:solidFill>
                  <a:srgbClr val="0E6E6E"/>
                </a:solidFill>
                <a:latin typeface="Calibri"/>
              </a:rPr>
              <a:t>▪  </a:t>
            </a:r>
            <a:r>
              <a:rPr sz="1300" b="1" i="0">
                <a:solidFill>
                  <a:srgbClr val="1F1F1F"/>
                </a:solidFill>
                <a:latin typeface="Calibri"/>
              </a:rPr>
              <a:t>B-ACPN's added value: </a:t>
            </a:r>
            <a:r>
              <a:rPr sz="1300" b="0" i="0">
                <a:solidFill>
                  <a:srgbClr val="1F1F1F"/>
                </a:solidFill>
                <a:latin typeface="Calibri"/>
              </a:rPr>
              <a:t>a per-district climate push, attention and uncertainty, which the baselines do not give</a:t>
            </a:r>
          </a:p>
        </p:txBody>
      </p:sp>
      <p:sp>
        <p:nvSpPr>
          <p:cNvPr id="6" name="TextBox 5"/>
          <p:cNvSpPr txBox="1"/>
          <p:nvPr/>
        </p:nvSpPr>
        <p:spPr>
          <a:xfrm>
            <a:off x="365760" y="6126480"/>
            <a:ext cx="8412480" cy="320040"/>
          </a:xfrm>
          <a:prstGeom prst="rect">
            <a:avLst/>
          </a:prstGeom>
          <a:noFill/>
        </p:spPr>
        <p:txBody>
          <a:bodyPr wrap="square" anchor="t" lIns="45720" rIns="45720">
            <a:spAutoFit/>
          </a:bodyPr>
          <a:lstStyle/>
          <a:p>
            <a:pPr algn="l"/>
            <a:r>
              <a:rPr sz="1000" b="0" i="0">
                <a:solidFill>
                  <a:srgbClr val="595959"/>
                </a:solidFill>
                <a:latin typeface="Calibri"/>
              </a:rPr>
              <a:t>B-ACPN and MLP: local CPU run 2026-10-22. Spark MLlib models: same data and folds, Spark 3.5.3 on 2026-10-21.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1097280"/>
                <a:gridCol w="914400"/>
                <a:gridCol w="914400"/>
                <a:gridCol w="914400"/>
                <a:gridCol w="914400"/>
                <a:gridCol w="914400"/>
                <a:gridCol w="914400"/>
                <a:gridCol w="914400"/>
                <a:gridCol w="914400"/>
              </a:tblGrid>
              <a:tr h="50292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after</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RMSE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RMSE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after</a:t>
                      </a:r>
                    </a:p>
                  </a:txBody>
                  <a:tcPr marL="54864" marR="54864" marT="27432" marB="27432" anchor="ctr">
                    <a:solidFill>
                      <a:srgbClr val="1B3A6B"/>
                    </a:solidFill>
                  </a:tcPr>
                </a:tc>
              </a:tr>
              <a:tr h="502920">
                <a:tc>
                  <a:txBody>
                    <a:bodyPr wrap="square"/>
                    <a:lstStyle/>
                    <a:p>
                      <a:pPr algn="l"/>
                      <a:r>
                        <a:rPr sz="1100" b="1" i="0">
                          <a:solidFill>
                            <a:srgbClr val="1F1F1F"/>
                          </a:solidFill>
                          <a:latin typeface="Calibri"/>
                        </a:rPr>
                        <a:t>B-ACPN</a:t>
                      </a:r>
                    </a:p>
                  </a:txBody>
                  <a:tcPr marL="54864" marR="54864" marT="27432" marB="27432" anchor="ctr">
                    <a:solidFill>
                      <a:srgbClr val="FFF4CC"/>
                    </a:solidFill>
                  </a:tcPr>
                </a:tc>
                <a:tc>
                  <a:txBody>
                    <a:bodyPr wrap="square"/>
                    <a:lstStyle/>
                    <a:p>
                      <a:pPr algn="ctr"/>
                      <a:r>
                        <a:rPr sz="1100" b="1" i="0">
                          <a:solidFill>
                            <a:srgbClr val="1F1F1F"/>
                          </a:solidFill>
                          <a:latin typeface="Calibri"/>
                        </a:rPr>
                        <a:t>0.735</a:t>
                      </a:r>
                    </a:p>
                  </a:txBody>
                  <a:tcPr marL="54864" marR="54864" marT="27432" marB="27432" anchor="ctr">
                    <a:solidFill>
                      <a:srgbClr val="FFF4CC"/>
                    </a:solidFill>
                  </a:tcPr>
                </a:tc>
                <a:tc>
                  <a:txBody>
                    <a:bodyPr wrap="square"/>
                    <a:lstStyle/>
                    <a:p>
                      <a:pPr algn="ctr"/>
                      <a:r>
                        <a:rPr sz="1100" b="1" i="0">
                          <a:solidFill>
                            <a:srgbClr val="1F1F1F"/>
                          </a:solidFill>
                          <a:latin typeface="Calibri"/>
                        </a:rPr>
                        <a:t>0.738</a:t>
                      </a:r>
                    </a:p>
                  </a:txBody>
                  <a:tcPr marL="54864" marR="54864" marT="27432" marB="27432" anchor="ctr">
                    <a:solidFill>
                      <a:srgbClr val="FFF4CC"/>
                    </a:solidFill>
                  </a:tcPr>
                </a:tc>
                <a:tc>
                  <a:txBody>
                    <a:bodyPr wrap="square"/>
                    <a:lstStyle/>
                    <a:p>
                      <a:pPr algn="ctr"/>
                      <a:r>
                        <a:rPr sz="1100" b="1" i="0">
                          <a:solidFill>
                            <a:srgbClr val="1F1F1F"/>
                          </a:solidFill>
                          <a:latin typeface="Calibri"/>
                        </a:rPr>
                        <a:t>0.726</a:t>
                      </a:r>
                    </a:p>
                  </a:txBody>
                  <a:tcPr marL="54864" marR="54864" marT="27432" marB="27432" anchor="ctr">
                    <a:solidFill>
                      <a:srgbClr val="FFF4CC"/>
                    </a:solidFill>
                  </a:tcPr>
                </a:tc>
                <a:tc>
                  <a:txBody>
                    <a:bodyPr wrap="square"/>
                    <a:lstStyle/>
                    <a:p>
                      <a:pPr algn="ctr"/>
                      <a:r>
                        <a:rPr sz="1100" b="1" i="0">
                          <a:solidFill>
                            <a:srgbClr val="1F1F1F"/>
                          </a:solidFill>
                          <a:latin typeface="Calibri"/>
                        </a:rPr>
                        <a:t>0.728</a:t>
                      </a:r>
                    </a:p>
                  </a:txBody>
                  <a:tcPr marL="54864" marR="54864" marT="27432" marB="27432" anchor="ctr">
                    <a:solidFill>
                      <a:srgbClr val="FFF4CC"/>
                    </a:solidFill>
                  </a:tcPr>
                </a:tc>
                <a:tc>
                  <a:txBody>
                    <a:bodyPr wrap="square"/>
                    <a:lstStyle/>
                    <a:p>
                      <a:pPr algn="ctr"/>
                      <a:r>
                        <a:rPr sz="1100" b="1" i="0">
                          <a:solidFill>
                            <a:srgbClr val="1F1F1F"/>
                          </a:solidFill>
                          <a:latin typeface="Calibri"/>
                        </a:rPr>
                        <a:t>0.422</a:t>
                      </a:r>
                    </a:p>
                  </a:txBody>
                  <a:tcPr marL="54864" marR="54864" marT="27432" marB="27432" anchor="ctr">
                    <a:solidFill>
                      <a:srgbClr val="FFF4CC"/>
                    </a:solidFill>
                  </a:tcPr>
                </a:tc>
                <a:tc>
                  <a:txBody>
                    <a:bodyPr wrap="square"/>
                    <a:lstStyle/>
                    <a:p>
                      <a:pPr algn="ctr"/>
                      <a:r>
                        <a:rPr sz="1100" b="1" i="0">
                          <a:solidFill>
                            <a:srgbClr val="1F1F1F"/>
                          </a:solidFill>
                          <a:latin typeface="Calibri"/>
                        </a:rPr>
                        <a:t>0.417</a:t>
                      </a:r>
                    </a:p>
                  </a:txBody>
                  <a:tcPr marL="54864" marR="54864" marT="27432" marB="27432" anchor="ctr">
                    <a:solidFill>
                      <a:srgbClr val="FFF4CC"/>
                    </a:solidFill>
                  </a:tcPr>
                </a:tc>
                <a:tc>
                  <a:txBody>
                    <a:bodyPr wrap="square"/>
                    <a:lstStyle/>
                    <a:p>
                      <a:pPr algn="ctr"/>
                      <a:r>
                        <a:rPr sz="1100" b="1" i="0">
                          <a:solidFill>
                            <a:srgbClr val="1F1F1F"/>
                          </a:solidFill>
                          <a:latin typeface="Calibri"/>
                        </a:rPr>
                        <a:t>0.806</a:t>
                      </a:r>
                    </a:p>
                  </a:txBody>
                  <a:tcPr marL="54864" marR="54864" marT="27432" marB="27432" anchor="ctr">
                    <a:solidFill>
                      <a:srgbClr val="FFF4CC"/>
                    </a:solidFill>
                  </a:tcPr>
                </a:tc>
                <a:tc>
                  <a:txBody>
                    <a:bodyPr wrap="square"/>
                    <a:lstStyle/>
                    <a:p>
                      <a:pPr algn="ctr"/>
                      <a:r>
                        <a:rPr sz="1100" b="1" i="0">
                          <a:solidFill>
                            <a:srgbClr val="1F1F1F"/>
                          </a:solidFill>
                          <a:latin typeface="Calibri"/>
                        </a:rPr>
                        <a:t>0.820</a:t>
                      </a:r>
                    </a:p>
                  </a:txBody>
                  <a:tcPr marL="54864" marR="54864" marT="27432" marB="27432" anchor="ctr">
                    <a:solidFill>
                      <a:srgbClr val="FFF4CC"/>
                    </a:solidFill>
                  </a:tcPr>
                </a:tc>
              </a:tr>
              <a:tr h="502920">
                <a:tc>
                  <a:txBody>
                    <a:bodyPr wrap="square"/>
                    <a:lstStyle/>
                    <a:p>
                      <a:pPr algn="l"/>
                      <a:r>
                        <a:rPr sz="1100" b="1" i="0">
                          <a:solidFill>
                            <a:srgbClr val="1F1F1F"/>
                          </a:solidFill>
                          <a:latin typeface="Calibri"/>
                        </a:rPr>
                        <a:t>LR</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RF</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0.805</a:t>
                      </a:r>
                    </a:p>
                  </a:txBody>
                  <a:tcPr marL="54864" marR="54864" marT="27432" marB="27432" anchor="ctr">
                    <a:solidFill>
                      <a:srgbClr val="FFFFFF"/>
                    </a:solidFill>
                  </a:tcPr>
                </a:tc>
                <a:tc>
                  <a:txBody>
                    <a:bodyPr wrap="square"/>
                    <a:lstStyle/>
                    <a:p>
                      <a:pPr algn="ctr"/>
                      <a:r>
                        <a:rPr sz="1100" b="0" i="0">
                          <a:solidFill>
                            <a:srgbClr val="1F1F1F"/>
                          </a:solidFill>
                          <a:latin typeface="Calibri"/>
                        </a:rPr>
                        <a:t>0.804</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GBT</a:t>
                      </a:r>
                    </a:p>
                  </a:txBody>
                  <a:tcPr marL="54864" marR="54864" marT="27432" marB="27432" anchor="ctr">
                    <a:solidFill>
                      <a:srgbClr val="EEF2F8"/>
                    </a:solidFill>
                  </a:tcPr>
                </a:tc>
                <a:tc>
                  <a:txBody>
                    <a:bodyPr wrap="square"/>
                    <a:lstStyle/>
                    <a:p>
                      <a:pPr algn="ctr"/>
                      <a:r>
                        <a:rPr sz="1100" b="0" i="0">
                          <a:solidFill>
                            <a:srgbClr val="1F1F1F"/>
                          </a:solidFill>
                          <a:latin typeface="Calibri"/>
                        </a:rPr>
                        <a:t>0.726</a:t>
                      </a:r>
                    </a:p>
                  </a:txBody>
                  <a:tcPr marL="54864" marR="54864" marT="27432" marB="27432" anchor="ctr">
                    <a:solidFill>
                      <a:srgbClr val="EEF2F8"/>
                    </a:solidFill>
                  </a:tcPr>
                </a:tc>
                <a:tc>
                  <a:txBody>
                    <a:bodyPr wrap="square"/>
                    <a:lstStyle/>
                    <a:p>
                      <a:pPr algn="ctr"/>
                      <a:r>
                        <a:rPr sz="1100" b="0" i="0">
                          <a:solidFill>
                            <a:srgbClr val="1F1F1F"/>
                          </a:solidFill>
                          <a:latin typeface="Calibri"/>
                        </a:rPr>
                        <a:t>0.725</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0.432</a:t>
                      </a:r>
                    </a:p>
                  </a:txBody>
                  <a:tcPr marL="54864" marR="54864" marT="27432" marB="27432" anchor="ctr">
                    <a:solidFill>
                      <a:srgbClr val="EEF2F8"/>
                    </a:solidFill>
                  </a:tcPr>
                </a:tc>
                <a:tc>
                  <a:txBody>
                    <a:bodyPr wrap="square"/>
                    <a:lstStyle/>
                    <a:p>
                      <a:pPr algn="ctr"/>
                      <a:r>
                        <a:rPr sz="1100" b="0" i="0">
                          <a:solidFill>
                            <a:srgbClr val="1F1F1F"/>
                          </a:solidFill>
                          <a:latin typeface="Calibri"/>
                        </a:rPr>
                        <a:t>0.433</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MLP</a:t>
                      </a:r>
                    </a:p>
                  </a:txBody>
                  <a:tcPr marL="54864" marR="54864" marT="27432" marB="27432" anchor="ctr">
                    <a:solidFill>
                      <a:srgbClr val="EEF2F8"/>
                    </a:solidFill>
                  </a:tcPr>
                </a:tc>
                <a:tc>
                  <a:txBody>
                    <a:bodyPr wrap="square"/>
                    <a:lstStyle/>
                    <a:p>
                      <a:pPr algn="ctr"/>
                      <a:r>
                        <a:rPr sz="1100" b="0" i="0">
                          <a:solidFill>
                            <a:srgbClr val="1F1F1F"/>
                          </a:solidFill>
                          <a:latin typeface="Calibri"/>
                        </a:rPr>
                        <a:t>0.711</a:t>
                      </a:r>
                    </a:p>
                  </a:txBody>
                  <a:tcPr marL="54864" marR="54864" marT="27432" marB="27432" anchor="ctr">
                    <a:solidFill>
                      <a:srgbClr val="EEF2F8"/>
                    </a:solidFill>
                  </a:tcPr>
                </a:tc>
                <a:tc>
                  <a:txBody>
                    <a:bodyPr wrap="square"/>
                    <a:lstStyle/>
                    <a:p>
                      <a:pPr algn="ctr"/>
                      <a:r>
                        <a:rPr sz="1100" b="0" i="0">
                          <a:solidFill>
                            <a:srgbClr val="1F1F1F"/>
                          </a:solidFill>
                          <a:latin typeface="Calibri"/>
                        </a:rPr>
                        <a:t>0.699</a:t>
                      </a:r>
                    </a:p>
                  </a:txBody>
                  <a:tcPr marL="54864" marR="54864" marT="27432" marB="27432" anchor="ctr">
                    <a:solidFill>
                      <a:srgbClr val="EEF2F8"/>
                    </a:solidFill>
                  </a:tcPr>
                </a:tc>
                <a:tc>
                  <a:txBody>
                    <a:bodyPr wrap="square"/>
                    <a:lstStyle/>
                    <a:p>
                      <a:pPr algn="ctr"/>
                      <a:r>
                        <a:rPr sz="1100" b="0" i="0">
                          <a:solidFill>
                            <a:srgbClr val="1F1F1F"/>
                          </a:solidFill>
                          <a:latin typeface="Calibri"/>
                        </a:rPr>
                        <a:t>0.678</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0.445</a:t>
                      </a:r>
                    </a:p>
                  </a:txBody>
                  <a:tcPr marL="54864" marR="54864" marT="27432" marB="27432" anchor="ctr">
                    <a:solidFill>
                      <a:srgbClr val="EEF2F8"/>
                    </a:solidFill>
                  </a:tcPr>
                </a:tc>
                <a:tc>
                  <a:txBody>
                    <a:bodyPr wrap="square"/>
                    <a:lstStyle/>
                    <a:p>
                      <a:pPr algn="ctr"/>
                      <a:r>
                        <a:rPr sz="1100" b="0" i="0">
                          <a:solidFill>
                            <a:srgbClr val="1F1F1F"/>
                          </a:solidFill>
                          <a:latin typeface="Calibri"/>
                        </a:rPr>
                        <a:t>0.440</a:t>
                      </a:r>
                    </a:p>
                  </a:txBody>
                  <a:tcPr marL="54864" marR="54864" marT="27432" marB="27432" anchor="ctr">
                    <a:solidFill>
                      <a:srgbClr val="EEF2F8"/>
                    </a:solidFill>
                  </a:tcPr>
                </a:tc>
                <a:tc>
                  <a:txBody>
                    <a:bodyPr wrap="square"/>
                    <a:lstStyle/>
                    <a:p>
                      <a:pPr algn="ctr"/>
                      <a:r>
                        <a:rPr sz="1100" b="0" i="0">
                          <a:solidFill>
                            <a:srgbClr val="1F1F1F"/>
                          </a:solidFill>
                          <a:latin typeface="Calibri"/>
                        </a:rPr>
                        <a:t>0.759</a:t>
                      </a:r>
                    </a:p>
                  </a:txBody>
                  <a:tcPr marL="54864" marR="54864" marT="27432" marB="27432" anchor="ctr">
                    <a:solidFill>
                      <a:srgbClr val="EEF2F8"/>
                    </a:solidFill>
                  </a:tcPr>
                </a:tc>
                <a:tc>
                  <a:txBody>
                    <a:bodyPr wrap="square"/>
                    <a:lstStyle/>
                    <a:p>
                      <a:pPr algn="ctr"/>
                      <a:r>
                        <a:rPr sz="1100" b="0" i="0">
                          <a:solidFill>
                            <a:srgbClr val="1F1F1F"/>
                          </a:solidFill>
                          <a:latin typeface="Calibri"/>
                        </a:rPr>
                        <a:t>0.784</a:t>
                      </a:r>
                    </a:p>
                  </a:txBody>
                  <a:tcPr marL="54864" marR="54864" marT="27432" marB="27432" anchor="ctr">
                    <a:solidFill>
                      <a:srgbClr val="EEF2F8"/>
                    </a:solidFill>
                  </a:tcPr>
                </a:tc>
              </a:tr>
            </a:tbl>
          </a:graphicData>
        </a:graphic>
      </p:graphicFrame>
      <p:sp>
        <p:nvSpPr>
          <p:cNvPr id="5" name="TextBox 4"/>
          <p:cNvSpPr txBox="1"/>
          <p:nvPr/>
        </p:nvSpPr>
        <p:spPr>
          <a:xfrm>
            <a:off x="365760" y="4800600"/>
            <a:ext cx="8412480" cy="1463040"/>
          </a:xfrm>
          <a:prstGeom prst="rect">
            <a:avLst/>
          </a:prstGeom>
          <a:noFill/>
        </p:spPr>
        <p:txBody>
          <a:bodyPr wrap="square" lIns="45720" rIns="45720">
            <a:spAutoFit/>
          </a:bodyPr>
          <a:lstStyle/>
          <a:p>
            <a:pPr>
              <a:spcAft>
                <a:spcPts val="200"/>
              </a:spcAft>
            </a:pPr>
            <a:r>
              <a:rPr sz="1200" b="0" i="0">
                <a:solidFill>
                  <a:srgbClr val="0E6E6E"/>
                </a:solidFill>
                <a:latin typeface="Calibri"/>
              </a:rPr>
              <a:t>▪  </a:t>
            </a:r>
            <a:r>
              <a:rPr sz="1200" b="1" i="0">
                <a:solidFill>
                  <a:srgbClr val="1F1F1F"/>
                </a:solidFill>
                <a:latin typeface="Calibri"/>
              </a:rPr>
              <a:t>Before: </a:t>
            </a:r>
            <a:r>
              <a:rPr sz="1200" b="0" i="0">
                <a:solidFill>
                  <a:srgbClr val="1F1F1F"/>
                </a:solidFill>
                <a:latin typeface="Calibri"/>
              </a:rPr>
              <a:t>raw features (rain in mm, days, %, °C on very different scales); After: preprocessed, same 25 folds</a:t>
            </a:r>
          </a:p>
          <a:p>
            <a:pPr>
              <a:spcAft>
                <a:spcPts val="200"/>
              </a:spcAft>
            </a:pPr>
            <a:r>
              <a:rPr sz="1200" b="0" i="0">
                <a:solidFill>
                  <a:srgbClr val="0E6E6E"/>
                </a:solidFill>
                <a:latin typeface="Calibri"/>
              </a:rPr>
              <a:t>▪  </a:t>
            </a:r>
            <a:r>
              <a:rPr sz="1200" b="1" i="0">
                <a:solidFill>
                  <a:srgbClr val="1F1F1F"/>
                </a:solidFill>
                <a:latin typeface="Calibri"/>
              </a:rPr>
              <a:t>RMSE: </a:t>
            </a:r>
            <a:r>
              <a:rPr sz="1200" b="0" i="0">
                <a:solidFill>
                  <a:srgbClr val="1F1F1F"/>
                </a:solidFill>
                <a:latin typeface="Calibri"/>
              </a:rPr>
              <a:t>error of the predicted probability against the true class (Linear SVM gives no probabilities: n/a)</a:t>
            </a:r>
          </a:p>
          <a:p>
            <a:pPr>
              <a:spcAft>
                <a:spcPts val="200"/>
              </a:spcAft>
            </a:pPr>
            <a:r>
              <a:rPr sz="1200" b="0" i="0">
                <a:solidFill>
                  <a:srgbClr val="0E6E6E"/>
                </a:solidFill>
                <a:latin typeface="Calibri"/>
              </a:rPr>
              <a:t>▪  </a:t>
            </a:r>
            <a:r>
              <a:rPr sz="1200" b="1" i="0">
                <a:solidFill>
                  <a:srgbClr val="1F1F1F"/>
                </a:solidFill>
                <a:latin typeface="Calibri"/>
              </a:rPr>
              <a:t>Result: </a:t>
            </a:r>
            <a:r>
              <a:rPr sz="1200" b="0" i="0">
                <a:solidFill>
                  <a:srgbClr val="1F1F1F"/>
                </a:solidFill>
                <a:latin typeface="Calibri"/>
              </a:rPr>
              <a:t>B-ACPN accuracy 0.735 → 0.738, F1 0.726 → 0.728, RMSE 0.422 → 0.417 (lower is better), ROC-AUC 0.806 → 0.820. Not every metric improves: MLP accuracy 0.711 → 0.699. RF and GBT ignore feature scale, and Spark's LR and Linear SVM standardise internally, so they do not change.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0.765</a:t>
                      </a:r>
                    </a:p>
                  </a:txBody>
                  <a:tcPr marL="54864" marR="54864" marT="27432" marB="27432" anchor="ctr">
                    <a:solidFill>
                      <a:srgbClr val="FFF4CC"/>
                    </a:solidFill>
                  </a:tcPr>
                </a:tc>
                <a:tc>
                  <a:txBody>
                    <a:bodyPr wrap="square"/>
                    <a:lstStyle/>
                    <a:p>
                      <a:pPr algn="ctr"/>
                      <a:r>
                        <a:rPr sz="1100" b="1" i="0">
                          <a:solidFill>
                            <a:srgbClr val="1F1F1F"/>
                          </a:solidFill>
                          <a:latin typeface="Calibri"/>
                        </a:rPr>
                        <a:t>0.700</a:t>
                      </a:r>
                    </a:p>
                  </a:txBody>
                  <a:tcPr marL="54864" marR="54864" marT="27432" marB="27432" anchor="ctr">
                    <a:solidFill>
                      <a:srgbClr val="FFF4CC"/>
                    </a:solidFill>
                  </a:tcPr>
                </a:tc>
                <a:tc>
                  <a:txBody>
                    <a:bodyPr wrap="square"/>
                    <a:lstStyle/>
                    <a:p>
                      <a:pPr algn="ctr"/>
                      <a:r>
                        <a:rPr sz="1100" b="1" i="0">
                          <a:solidFill>
                            <a:srgbClr val="1F1F1F"/>
                          </a:solidFill>
                          <a:latin typeface="Calibri"/>
                        </a:rPr>
                        <a:t>0.778</a:t>
                      </a:r>
                    </a:p>
                  </a:txBody>
                  <a:tcPr marL="54864" marR="54864" marT="27432" marB="27432" anchor="ctr">
                    <a:solidFill>
                      <a:srgbClr val="FFF4CC"/>
                    </a:solidFill>
                  </a:tcPr>
                </a:tc>
                <a:tc>
                  <a:txBody>
                    <a:bodyPr wrap="square"/>
                    <a:lstStyle/>
                    <a:p>
                      <a:pPr algn="ctr"/>
                      <a:r>
                        <a:rPr sz="1100" b="1" i="0">
                          <a:solidFill>
                            <a:srgbClr val="1F1F1F"/>
                          </a:solidFill>
                          <a:latin typeface="Calibri"/>
                        </a:rPr>
                        <a:t>0.482</a:t>
                      </a:r>
                    </a:p>
                  </a:txBody>
                  <a:tcPr marL="54864" marR="54864" marT="27432" marB="27432" anchor="ctr">
                    <a:solidFill>
                      <a:srgbClr val="FFF4CC"/>
                    </a:solidFill>
                  </a:tcPr>
                </a:tc>
                <a:tc>
                  <a:txBody>
                    <a:bodyPr wrap="square"/>
                    <a:lstStyle/>
                    <a:p>
                      <a:pPr algn="ctr"/>
                      <a:r>
                        <a:rPr sz="1100" b="1" i="0">
                          <a:solidFill>
                            <a:srgbClr val="1F1F1F"/>
                          </a:solidFill>
                          <a:latin typeface="Calibri"/>
                        </a:rPr>
                        <a:t>0.477</a:t>
                      </a:r>
                    </a:p>
                  </a:txBody>
                  <a:tcPr marL="54864" marR="54864" marT="27432" marB="27432" anchor="ctr">
                    <a:solidFill>
                      <a:srgbClr val="FFF4CC"/>
                    </a:solidFill>
                  </a:tcPr>
                </a:tc>
                <a:tc>
                  <a:txBody>
                    <a:bodyPr wrap="square"/>
                    <a:lstStyle/>
                    <a:p>
                      <a:pPr algn="ctr"/>
                      <a:r>
                        <a:rPr sz="1100" b="1" i="0">
                          <a:solidFill>
                            <a:srgbClr val="1F1F1F"/>
                          </a:solidFill>
                          <a:latin typeface="Calibri"/>
                        </a:rPr>
                        <a:t>0.844</a:t>
                      </a:r>
                    </a:p>
                  </a:txBody>
                  <a:tcPr marL="54864" marR="54864" marT="27432" marB="27432" anchor="ctr">
                    <a:solidFill>
                      <a:srgbClr val="FFF4CC"/>
                    </a:solidFill>
                  </a:tcPr>
                </a:tc>
                <a:tc>
                  <a:txBody>
                    <a:bodyPr wrap="square"/>
                    <a:lstStyle/>
                    <a:p>
                      <a:pPr algn="ctr"/>
                      <a:r>
                        <a:rPr sz="1100" b="1" i="0">
                          <a:solidFill>
                            <a:srgbClr val="1F1F1F"/>
                          </a:solidFill>
                          <a:latin typeface="Calibri"/>
                        </a:rPr>
                        <a:t>0.516</a:t>
                      </a:r>
                    </a:p>
                  </a:txBody>
                  <a:tcPr marL="54864" marR="54864" marT="27432" marB="27432" anchor="ctr">
                    <a:solidFill>
                      <a:srgbClr val="FFF4CC"/>
                    </a:solidFill>
                  </a:tcPr>
                </a:tc>
                <a:tc>
                  <a:txBody>
                    <a:bodyPr wrap="square"/>
                    <a:lstStyle/>
                    <a:p>
                      <a:pPr algn="ctr"/>
                      <a:r>
                        <a:rPr sz="1100" b="1" i="0">
                          <a:solidFill>
                            <a:srgbClr val="1F1F1F"/>
                          </a:solidFill>
                          <a:latin typeface="Calibri"/>
                        </a:rPr>
                        <a:t>0.174</a:t>
                      </a:r>
                    </a:p>
                  </a:txBody>
                  <a:tcPr marL="54864" marR="54864" marT="27432" marB="27432" anchor="ctr">
                    <a:solidFill>
                      <a:srgbClr val="FFF4CC"/>
                    </a:solidFill>
                  </a:tcPr>
                </a:tc>
                <a:tc>
                  <a:txBody>
                    <a:bodyPr wrap="square"/>
                    <a:lstStyle/>
                    <a:p>
                      <a:pPr algn="ctr"/>
                      <a:r>
                        <a:rPr sz="1100" b="1" i="0">
                          <a:solidFill>
                            <a:srgbClr val="1F1F1F"/>
                          </a:solidFill>
                          <a:latin typeface="Calibri"/>
                        </a:rPr>
                        <a:t>0.108</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0.719</a:t>
                      </a:r>
                    </a:p>
                  </a:txBody>
                  <a:tcPr marL="54864" marR="54864" marT="27432" marB="27432" anchor="ctr">
                    <a:solidFill>
                      <a:srgbClr val="EEF2F8"/>
                    </a:solidFill>
                  </a:tcPr>
                </a:tc>
                <a:tc>
                  <a:txBody>
                    <a:bodyPr wrap="square"/>
                    <a:lstStyle/>
                    <a:p>
                      <a:pPr algn="ctr"/>
                      <a:r>
                        <a:rPr sz="1100" b="0" i="0">
                          <a:solidFill>
                            <a:srgbClr val="1F1F1F"/>
                          </a:solidFill>
                          <a:latin typeface="Calibri"/>
                        </a:rPr>
                        <a:t>0.674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0.404</a:t>
                      </a:r>
                    </a:p>
                  </a:txBody>
                  <a:tcPr marL="54864" marR="54864" marT="27432" marB="27432" anchor="ctr">
                    <a:solidFill>
                      <a:srgbClr val="EEF2F8"/>
                    </a:solidFill>
                  </a:tcPr>
                </a:tc>
                <a:tc>
                  <a:txBody>
                    <a:bodyPr wrap="square"/>
                    <a:lstStyle/>
                    <a:p>
                      <a:pPr algn="ctr"/>
                      <a:r>
                        <a:rPr sz="1100" b="0" i="0">
                          <a:solidFill>
                            <a:srgbClr val="1F1F1F"/>
                          </a:solidFill>
                          <a:latin typeface="Calibri"/>
                        </a:rPr>
                        <a:t>0.398</a:t>
                      </a:r>
                    </a:p>
                  </a:txBody>
                  <a:tcPr marL="54864" marR="54864" marT="27432" marB="27432" anchor="ctr">
                    <a:solidFill>
                      <a:srgbClr val="EEF2F8"/>
                    </a:solidFill>
                  </a:tcPr>
                </a:tc>
                <a:tc>
                  <a:txBody>
                    <a:bodyPr wrap="square"/>
                    <a:lstStyle/>
                    <a:p>
                      <a:pPr algn="ctr"/>
                      <a:r>
                        <a:rPr sz="1100" b="0" i="0">
                          <a:solidFill>
                            <a:srgbClr val="1F1F1F"/>
                          </a:solidFill>
                          <a:latin typeface="Calibri"/>
                        </a:rPr>
                        <a:t>0.809</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0.114</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B-ACPN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829</a:t>
                      </a:r>
                    </a:p>
                  </a:txBody>
                  <a:tcPr marL="54864" marR="54864" marT="27432" marB="27432" anchor="ctr">
                    <a:solidFill>
                      <a:srgbClr val="FFF4CC"/>
                    </a:solidFill>
                  </a:tcPr>
                </a:tc>
                <a:tc>
                  <a:txBody>
                    <a:bodyPr wrap="square"/>
                    <a:lstStyle/>
                    <a:p>
                      <a:pPr algn="ctr"/>
                      <a:r>
                        <a:rPr sz="1200" b="1" i="0">
                          <a:solidFill>
                            <a:srgbClr val="1F1F1F"/>
                          </a:solidFill>
                          <a:latin typeface="Calibri"/>
                        </a:rPr>
                        <a:t>902</a:t>
                      </a:r>
                    </a:p>
                  </a:txBody>
                  <a:tcPr marL="54864" marR="54864" marT="27432" marB="27432" anchor="ctr">
                    <a:solidFill>
                      <a:srgbClr val="FFF4CC"/>
                    </a:solidFill>
                  </a:tcPr>
                </a:tc>
                <a:tc>
                  <a:txBody>
                    <a:bodyPr wrap="square"/>
                    <a:lstStyle/>
                    <a:p>
                      <a:pPr algn="ctr"/>
                      <a:r>
                        <a:rPr sz="1200" b="1" i="0">
                          <a:solidFill>
                            <a:srgbClr val="1F1F1F"/>
                          </a:solidFill>
                          <a:latin typeface="Calibri"/>
                        </a:rPr>
                        <a:t>258</a:t>
                      </a:r>
                    </a:p>
                  </a:txBody>
                  <a:tcPr marL="54864" marR="54864" marT="27432" marB="27432" anchor="ctr">
                    <a:solidFill>
                      <a:srgbClr val="FFF4CC"/>
                    </a:solidFill>
                  </a:tcPr>
                </a:tc>
                <a:tc>
                  <a:txBody>
                    <a:bodyPr wrap="square"/>
                    <a:lstStyle/>
                    <a:p>
                      <a:pPr algn="ctr"/>
                      <a:r>
                        <a:rPr sz="1200" b="1" i="0">
                          <a:solidFill>
                            <a:srgbClr val="1F1F1F"/>
                          </a:solidFill>
                          <a:latin typeface="Calibri"/>
                        </a:rPr>
                        <a:t>356</a:t>
                      </a:r>
                    </a:p>
                  </a:txBody>
                  <a:tcPr marL="54864" marR="54864" marT="27432" marB="27432" anchor="ctr">
                    <a:solidFill>
                      <a:srgbClr val="FFF4CC"/>
                    </a:solidFill>
                  </a:tcPr>
                </a:tc>
                <a:tc>
                  <a:txBody>
                    <a:bodyPr wrap="square"/>
                    <a:lstStyle/>
                    <a:p>
                      <a:pPr algn="ctr"/>
                      <a:r>
                        <a:rPr sz="1200" b="1" i="0">
                          <a:solidFill>
                            <a:srgbClr val="1F1F1F"/>
                          </a:solidFill>
                          <a:latin typeface="Calibri"/>
                        </a:rPr>
                        <a:t>0.780 – 0.859</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0.004</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0.042</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0.550</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0.006</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799</a:t>
                      </a:r>
                    </a:p>
                  </a:txBody>
                  <a:tcPr marL="54864" marR="54864" marT="27432" marB="27432" anchor="ctr">
                    <a:solidFill>
                      <a:srgbClr val="EEF2F8"/>
                    </a:solidFill>
                  </a:tcPr>
                </a:tc>
                <a:tc>
                  <a:txBody>
                    <a:bodyPr wrap="square"/>
                    <a:lstStyle/>
                    <a:p>
                      <a:pPr algn="ctr"/>
                      <a:r>
                        <a:rPr sz="1200" b="0" i="0">
                          <a:solidFill>
                            <a:srgbClr val="1F1F1F"/>
                          </a:solidFill>
                          <a:latin typeface="Calibri"/>
                        </a:rPr>
                        <a:t>840</a:t>
                      </a:r>
                    </a:p>
                  </a:txBody>
                  <a:tcPr marL="54864" marR="54864" marT="27432" marB="27432" anchor="ctr">
                    <a:solidFill>
                      <a:srgbClr val="EEF2F8"/>
                    </a:solidFill>
                  </a:tcPr>
                </a:tc>
                <a:tc>
                  <a:txBody>
                    <a:bodyPr wrap="square"/>
                    <a:lstStyle/>
                    <a:p>
                      <a:pPr algn="ctr"/>
                      <a:r>
                        <a:rPr sz="1200" b="0" i="0">
                          <a:solidFill>
                            <a:srgbClr val="1F1F1F"/>
                          </a:solidFill>
                          <a:latin typeface="Calibri"/>
                        </a:rPr>
                        <a:t>320</a:t>
                      </a:r>
                    </a:p>
                  </a:txBody>
                  <a:tcPr marL="54864" marR="54864" marT="27432" marB="27432" anchor="ctr">
                    <a:solidFill>
                      <a:srgbClr val="EEF2F8"/>
                    </a:solidFill>
                  </a:tcPr>
                </a:tc>
                <a:tc>
                  <a:txBody>
                    <a:bodyPr wrap="square"/>
                    <a:lstStyle/>
                    <a:p>
                      <a:pPr algn="ctr"/>
                      <a:r>
                        <a:rPr sz="1200" b="0" i="0">
                          <a:solidFill>
                            <a:srgbClr val="1F1F1F"/>
                          </a:solidFill>
                          <a:latin typeface="Calibri"/>
                        </a:rPr>
                        <a:t>386</a:t>
                      </a:r>
                    </a:p>
                  </a:txBody>
                  <a:tcPr marL="54864" marR="54864" marT="27432" marB="27432" anchor="ctr">
                    <a:solidFill>
                      <a:srgbClr val="EEF2F8"/>
                    </a:solidFill>
                  </a:tcPr>
                </a:tc>
                <a:tc>
                  <a:txBody>
                    <a:bodyPr wrap="square"/>
                    <a:lstStyle/>
                    <a:p>
                      <a:pPr algn="ctr"/>
                      <a:r>
                        <a:rPr sz="1200" b="0" i="0">
                          <a:solidFill>
                            <a:srgbClr val="1F1F1F"/>
                          </a:solidFill>
                          <a:latin typeface="Calibri"/>
                        </a:rPr>
                        <a:t>0.743 – 0.825</a:t>
                      </a:r>
                    </a:p>
                  </a:txBody>
                  <a:tcPr marL="54864" marR="54864" marT="27432" marB="27432" anchor="ctr">
                    <a:solidFill>
                      <a:srgbClr val="EEF2F8"/>
                    </a:solidFill>
                  </a:tcPr>
                </a:tc>
                <a:tc>
                  <a:txBody>
                    <a:bodyPr wrap="square"/>
                    <a:lstStyle/>
                    <a:p>
                      <a:pPr algn="ctr"/>
                      <a:r>
                        <a:rPr sz="1200" b="0" i="0">
                          <a:solidFill>
                            <a:srgbClr val="1F1F1F"/>
                          </a:solidFill>
                          <a:latin typeface="Calibri"/>
                        </a:rPr>
                        <a:t>0.019</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Classification Performance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27448"/>
        </p:xfrm>
        <a:graphic>
          <a:graphicData uri="http://schemas.openxmlformats.org/drawingml/2006/table">
            <a:tbl>
              <a:tblPr firstRow="1" bandRow="1">
                <a:tableStyleId>{5C22544A-7EE6-4342-B048-85BDC9FD1C3A}</a:tableStyleId>
              </a:tblPr>
              <a:tblGrid>
                <a:gridCol w="1234440"/>
                <a:gridCol w="2148840"/>
                <a:gridCol w="2743200"/>
                <a:gridCol w="914400"/>
                <a:gridCol w="1371600"/>
              </a:tblGrid>
              <a:tr h="429768">
                <a:tc>
                  <a:txBody>
                    <a:bodyPr wrap="square"/>
                    <a:lstStyle/>
                    <a:p>
                      <a:pPr algn="l"/>
                      <a:r>
                        <a:rPr sz="1100" b="1" i="0">
                          <a:solidFill>
                            <a:srgbClr val="FFFFFF"/>
                          </a:solidFill>
                          <a:latin typeface="Calibri"/>
                        </a:rPr>
                        <a:t>Metric</a:t>
                      </a:r>
                    </a:p>
                  </a:txBody>
                  <a:tcPr marL="54864" marR="54864" marT="27432" marB="27432" anchor="ctr">
                    <a:solidFill>
                      <a:srgbClr val="1B3A6B"/>
                    </a:solidFill>
                  </a:tcPr>
                </a:tc>
                <a:tc>
                  <a:txBody>
                    <a:bodyPr wrap="square"/>
                    <a:lstStyle/>
                    <a:p>
                      <a:pPr algn="ctr"/>
                      <a:r>
                        <a:rPr sz="1100" b="1" i="0">
                          <a:solidFill>
                            <a:srgbClr val="FFFFFF"/>
                          </a:solidFill>
                          <a:latin typeface="Calibri"/>
                        </a:rPr>
                        <a:t>Full form</a:t>
                      </a:r>
                    </a:p>
                  </a:txBody>
                  <a:tcPr marL="54864" marR="54864" marT="27432" marB="27432" anchor="ctr">
                    <a:solidFill>
                      <a:srgbClr val="1B3A6B"/>
                    </a:solidFill>
                  </a:tcPr>
                </a:tc>
                <a:tc>
                  <a:txBody>
                    <a:bodyPr wrap="square"/>
                    <a:lstStyle/>
                    <a:p>
                      <a:pPr algn="ctr"/>
                      <a:r>
                        <a:rPr sz="1100" b="1" i="0">
                          <a:solidFill>
                            <a:srgbClr val="FFFFFF"/>
                          </a:solidFill>
                          <a:latin typeface="Calibri"/>
                        </a:rPr>
                        <a:t>Purpose</a:t>
                      </a:r>
                    </a:p>
                  </a:txBody>
                  <a:tcPr marL="54864" marR="54864" marT="27432" marB="27432" anchor="ctr">
                    <a:solidFill>
                      <a:srgbClr val="1B3A6B"/>
                    </a:solidFill>
                  </a:tcPr>
                </a:tc>
                <a:tc>
                  <a:txBody>
                    <a:bodyPr wrap="square"/>
                    <a:lstStyle/>
                    <a:p>
                      <a:pPr algn="ctr"/>
                      <a:r>
                        <a:rPr sz="1100" b="1" i="0">
                          <a:solidFill>
                            <a:srgbClr val="FFFFFF"/>
                          </a:solidFill>
                          <a:latin typeface="Calibri"/>
                        </a:rPr>
                        <a:t>B-ACPN</a:t>
                      </a:r>
                    </a:p>
                  </a:txBody>
                  <a:tcPr marL="54864" marR="54864" marT="27432" marB="27432" anchor="ctr">
                    <a:solidFill>
                      <a:srgbClr val="1B3A6B"/>
                    </a:solidFill>
                  </a:tcPr>
                </a:tc>
                <a:tc>
                  <a:txBody>
                    <a:bodyPr wrap="square"/>
                    <a:lstStyle/>
                    <a:p>
                      <a:pPr algn="ctr"/>
                      <a:r>
                        <a:rPr sz="1100" b="1" i="0">
                          <a:solidFill>
                            <a:srgbClr val="FFFFFF"/>
                          </a:solidFill>
                          <a:latin typeface="Calibri"/>
                        </a:rPr>
                        <a:t>Best other model</a:t>
                      </a:r>
                    </a:p>
                  </a:txBody>
                  <a:tcPr marL="54864" marR="54864" marT="27432" marB="27432" anchor="ctr">
                    <a:solidFill>
                      <a:srgbClr val="1B3A6B"/>
                    </a:solidFill>
                  </a:tcPr>
                </a:tc>
              </a:tr>
              <a:tr h="429768">
                <a:tc>
                  <a:txBody>
                    <a:bodyPr wrap="square"/>
                    <a:lstStyle/>
                    <a:p>
                      <a:pPr algn="l"/>
                      <a:r>
                        <a:rPr sz="1100" b="1" i="0">
                          <a:solidFill>
                            <a:srgbClr val="1F1F1F"/>
                          </a:solidFill>
                          <a:latin typeface="Calibri"/>
                        </a:rPr>
                        <a:t>Accuracy</a:t>
                      </a:r>
                    </a:p>
                  </a:txBody>
                  <a:tcPr marL="54864" marR="54864" marT="27432" marB="27432" anchor="ctr">
                    <a:solidFill>
                      <a:srgbClr val="FFFFFF"/>
                    </a:solidFill>
                  </a:tcPr>
                </a:tc>
                <a:tc>
                  <a:txBody>
                    <a:bodyPr wrap="square"/>
                    <a:lstStyle/>
                    <a:p>
                      <a:pPr algn="ctr"/>
                      <a:r>
                        <a:rPr sz="1100" b="0" i="0">
                          <a:solidFill>
                            <a:srgbClr val="1F1F1F"/>
                          </a:solidFill>
                          <a:latin typeface="Calibri"/>
                        </a:rPr>
                        <a:t>Classification Accuracy</a:t>
                      </a:r>
                    </a:p>
                  </a:txBody>
                  <a:tcPr marL="54864" marR="54864" marT="27432" marB="27432" anchor="ctr">
                    <a:solidFill>
                      <a:srgbClr val="FFFFFF"/>
                    </a:solidFill>
                  </a:tcPr>
                </a:tc>
                <a:tc>
                  <a:txBody>
                    <a:bodyPr wrap="square"/>
                    <a:lstStyle/>
                    <a:p>
                      <a:pPr algn="ctr"/>
                      <a:r>
                        <a:rPr sz="1100" b="0" i="0">
                          <a:solidFill>
                            <a:srgbClr val="1F1F1F"/>
                          </a:solidFill>
                          <a:latin typeface="Calibri"/>
                        </a:rPr>
                        <a:t>Share of districts classified correctly</a:t>
                      </a:r>
                    </a:p>
                  </a:txBody>
                  <a:tcPr marL="54864" marR="54864" marT="27432" marB="27432" anchor="ctr">
                    <a:solidFill>
                      <a:srgbClr val="FFFFFF"/>
                    </a:solidFill>
                  </a:tcPr>
                </a:tc>
                <a:tc>
                  <a:txBody>
                    <a:bodyPr wrap="square"/>
                    <a:lstStyle/>
                    <a:p>
                      <a:pPr algn="ctr"/>
                      <a:r>
                        <a:rPr sz="1100" b="0" i="0">
                          <a:solidFill>
                            <a:srgbClr val="1F1F1F"/>
                          </a:solidFill>
                          <a:latin typeface="Calibri"/>
                        </a:rPr>
                        <a:t>0.738</a:t>
                      </a:r>
                    </a:p>
                  </a:txBody>
                  <a:tcPr marL="54864" marR="54864" marT="27432" marB="27432" anchor="ctr">
                    <a:solidFill>
                      <a:srgbClr val="FFFFFF"/>
                    </a:solidFill>
                  </a:tcPr>
                </a:tc>
                <a:tc>
                  <a:txBody>
                    <a:bodyPr wrap="square"/>
                    <a:lstStyle/>
                    <a:p>
                      <a:pPr algn="ctr"/>
                      <a:r>
                        <a:rPr sz="1100" b="0" i="0">
                          <a:solidFill>
                            <a:srgbClr val="1F1F1F"/>
                          </a:solidFill>
                          <a:latin typeface="Calibri"/>
                        </a:rPr>
                        <a:t>GBT 0.725</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Precision</a:t>
                      </a:r>
                    </a:p>
                  </a:txBody>
                  <a:tcPr marL="54864" marR="54864" marT="27432" marB="27432" anchor="ctr">
                    <a:solidFill>
                      <a:srgbClr val="EEF2F8"/>
                    </a:solidFill>
                  </a:tcPr>
                </a:tc>
                <a:tc>
                  <a:txBody>
                    <a:bodyPr wrap="square"/>
                    <a:lstStyle/>
                    <a:p>
                      <a:pPr algn="ctr"/>
                      <a:r>
                        <a:rPr sz="1100" b="0" i="0">
                          <a:solidFill>
                            <a:srgbClr val="1F1F1F"/>
                          </a:solidFill>
                          <a:latin typeface="Calibri"/>
                        </a:rPr>
                        <a:t>Positive Predictive Value</a:t>
                      </a:r>
                    </a:p>
                  </a:txBody>
                  <a:tcPr marL="54864" marR="54864" marT="27432" marB="27432" anchor="ctr">
                    <a:solidFill>
                      <a:srgbClr val="EEF2F8"/>
                    </a:solidFill>
                  </a:tcPr>
                </a:tc>
                <a:tc>
                  <a:txBody>
                    <a:bodyPr wrap="square"/>
                    <a:lstStyle/>
                    <a:p>
                      <a:pPr algn="ctr"/>
                      <a:r>
                        <a:rPr sz="1100" b="0" i="0">
                          <a:solidFill>
                            <a:srgbClr val="1F1F1F"/>
                          </a:solidFill>
                          <a:latin typeface="Calibri"/>
                        </a:rPr>
                        <a:t>Of districts predicted High, share truly High</a:t>
                      </a:r>
                    </a:p>
                  </a:txBody>
                  <a:tcPr marL="54864" marR="54864" marT="27432" marB="27432" anchor="ctr">
                    <a:solidFill>
                      <a:srgbClr val="EEF2F8"/>
                    </a:solidFill>
                  </a:tcPr>
                </a:tc>
                <a:tc>
                  <a:txBody>
                    <a:bodyPr wrap="square"/>
                    <a:lstStyle/>
                    <a:p>
                      <a:pPr algn="ctr"/>
                      <a:r>
                        <a:rPr sz="1100" b="0" i="0">
                          <a:solidFill>
                            <a:srgbClr val="1F1F1F"/>
                          </a:solidFill>
                          <a:latin typeface="Calibri"/>
                        </a:rPr>
                        <a:t>0.765</a:t>
                      </a:r>
                    </a:p>
                  </a:txBody>
                  <a:tcPr marL="54864" marR="54864" marT="27432" marB="27432" anchor="ctr">
                    <a:solidFill>
                      <a:srgbClr val="EEF2F8"/>
                    </a:solidFill>
                  </a:tcPr>
                </a:tc>
                <a:tc>
                  <a:txBody>
                    <a:bodyPr wrap="square"/>
                    <a:lstStyle/>
                    <a:p>
                      <a:pPr algn="ctr"/>
                      <a:r>
                        <a:rPr sz="1100" b="0" i="0">
                          <a:solidFill>
                            <a:srgbClr val="1F1F1F"/>
                          </a:solidFill>
                          <a:latin typeface="Calibri"/>
                        </a:rPr>
                        <a:t>GBT 0.736</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Recall</a:t>
                      </a:r>
                    </a:p>
                  </a:txBody>
                  <a:tcPr marL="54864" marR="54864" marT="27432" marB="27432" anchor="ctr">
                    <a:solidFill>
                      <a:srgbClr val="FFFFFF"/>
                    </a:solidFill>
                  </a:tcPr>
                </a:tc>
                <a:tc>
                  <a:txBody>
                    <a:bodyPr wrap="square"/>
                    <a:lstStyle/>
                    <a:p>
                      <a:pPr algn="ctr"/>
                      <a:r>
                        <a:rPr sz="1100" b="0" i="0">
                          <a:solidFill>
                            <a:srgbClr val="1F1F1F"/>
                          </a:solidFill>
                          <a:latin typeface="Calibri"/>
                        </a:rPr>
                        <a:t>Sensitivity / True Positive Rate</a:t>
                      </a:r>
                    </a:p>
                  </a:txBody>
                  <a:tcPr marL="54864" marR="54864" marT="27432" marB="27432" anchor="ctr">
                    <a:solidFill>
                      <a:srgbClr val="FFFFFF"/>
                    </a:solidFill>
                  </a:tcPr>
                </a:tc>
                <a:tc>
                  <a:txBody>
                    <a:bodyPr wrap="square"/>
                    <a:lstStyle/>
                    <a:p>
                      <a:pPr algn="ctr"/>
                      <a:r>
                        <a:rPr sz="1100" b="0" i="0">
                          <a:solidFill>
                            <a:srgbClr val="1F1F1F"/>
                          </a:solidFill>
                          <a:latin typeface="Calibri"/>
                        </a:rPr>
                        <a:t>Of truly High districts, share found</a:t>
                      </a:r>
                    </a:p>
                  </a:txBody>
                  <a:tcPr marL="54864" marR="54864" marT="27432" marB="27432" anchor="ctr">
                    <a:solidFill>
                      <a:srgbClr val="FFFFFF"/>
                    </a:solidFill>
                  </a:tcPr>
                </a:tc>
                <a:tc>
                  <a:txBody>
                    <a:bodyPr wrap="square"/>
                    <a:lstStyle/>
                    <a:p>
                      <a:pPr algn="ctr"/>
                      <a:r>
                        <a:rPr sz="1100" b="0" i="0">
                          <a:solidFill>
                            <a:srgbClr val="1F1F1F"/>
                          </a:solidFill>
                          <a:latin typeface="Calibri"/>
                        </a:rPr>
                        <a:t>0.700</a:t>
                      </a:r>
                    </a:p>
                  </a:txBody>
                  <a:tcPr marL="54864" marR="54864" marT="27432" marB="27432" anchor="ctr">
                    <a:solidFill>
                      <a:srgbClr val="FFFFFF"/>
                    </a:solidFill>
                  </a:tcPr>
                </a:tc>
                <a:tc>
                  <a:txBody>
                    <a:bodyPr wrap="square"/>
                    <a:lstStyle/>
                    <a:p>
                      <a:pPr algn="ctr"/>
                      <a:r>
                        <a:rPr sz="1100" b="0" i="0">
                          <a:solidFill>
                            <a:srgbClr val="1F1F1F"/>
                          </a:solidFill>
                          <a:latin typeface="Calibri"/>
                        </a:rPr>
                        <a:t>Linear SVM 0.733</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F1-score</a:t>
                      </a:r>
                    </a:p>
                  </a:txBody>
                  <a:tcPr marL="54864" marR="54864" marT="27432" marB="27432" anchor="ctr">
                    <a:solidFill>
                      <a:srgbClr val="EEF2F8"/>
                    </a:solidFill>
                  </a:tcPr>
                </a:tc>
                <a:tc>
                  <a:txBody>
                    <a:bodyPr wrap="square"/>
                    <a:lstStyle/>
                    <a:p>
                      <a:pPr algn="ctr"/>
                      <a:r>
                        <a:rPr sz="1100" b="0" i="0">
                          <a:solidFill>
                            <a:srgbClr val="1F1F1F"/>
                          </a:solidFill>
                          <a:latin typeface="Calibri"/>
                        </a:rPr>
                        <a:t>Harmonic mean of precision and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Balances precision and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0.728</a:t>
                      </a:r>
                    </a:p>
                  </a:txBody>
                  <a:tcPr marL="54864" marR="54864" marT="27432" marB="27432" anchor="ctr">
                    <a:solidFill>
                      <a:srgbClr val="EEF2F8"/>
                    </a:solidFill>
                  </a:tcPr>
                </a:tc>
                <a:tc>
                  <a:txBody>
                    <a:bodyPr wrap="square"/>
                    <a:lstStyle/>
                    <a:p>
                      <a:pPr algn="ctr"/>
                      <a:r>
                        <a:rPr sz="1100" b="0" i="0">
                          <a:solidFill>
                            <a:srgbClr val="1F1F1F"/>
                          </a:solidFill>
                          <a:latin typeface="Calibri"/>
                        </a:rPr>
                        <a:t>GBT 0.724</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Specificity</a:t>
                      </a:r>
                    </a:p>
                  </a:txBody>
                  <a:tcPr marL="54864" marR="54864" marT="27432" marB="27432" anchor="ctr">
                    <a:solidFill>
                      <a:srgbClr val="FFFFFF"/>
                    </a:solidFill>
                  </a:tcPr>
                </a:tc>
                <a:tc>
                  <a:txBody>
                    <a:bodyPr wrap="square"/>
                    <a:lstStyle/>
                    <a:p>
                      <a:pPr algn="ctr"/>
                      <a:r>
                        <a:rPr sz="1100" b="0" i="0">
                          <a:solidFill>
                            <a:srgbClr val="1F1F1F"/>
                          </a:solidFill>
                          <a:latin typeface="Calibri"/>
                        </a:rPr>
                        <a:t>True Negative Rate</a:t>
                      </a:r>
                    </a:p>
                  </a:txBody>
                  <a:tcPr marL="54864" marR="54864" marT="27432" marB="27432" anchor="ctr">
                    <a:solidFill>
                      <a:srgbClr val="FFFFFF"/>
                    </a:solidFill>
                  </a:tcPr>
                </a:tc>
                <a:tc>
                  <a:txBody>
                    <a:bodyPr wrap="square"/>
                    <a:lstStyle/>
                    <a:p>
                      <a:pPr algn="ctr"/>
                      <a:r>
                        <a:rPr sz="1100" b="0" i="0">
                          <a:solidFill>
                            <a:srgbClr val="1F1F1F"/>
                          </a:solidFill>
                          <a:latin typeface="Calibri"/>
                        </a:rPr>
                        <a:t>Of truly Low districts, share found</a:t>
                      </a:r>
                    </a:p>
                  </a:txBody>
                  <a:tcPr marL="54864" marR="54864" marT="27432" marB="27432" anchor="ctr">
                    <a:solidFill>
                      <a:srgbClr val="FFFFFF"/>
                    </a:solidFill>
                  </a:tcPr>
                </a:tc>
                <a:tc>
                  <a:txBody>
                    <a:bodyPr wrap="square"/>
                    <a:lstStyle/>
                    <a:p>
                      <a:pPr algn="ctr"/>
                      <a:r>
                        <a:rPr sz="1100" b="0" i="0">
                          <a:solidFill>
                            <a:srgbClr val="1F1F1F"/>
                          </a:solidFill>
                          <a:latin typeface="Calibri"/>
                        </a:rPr>
                        <a:t>0.778</a:t>
                      </a:r>
                    </a:p>
                  </a:txBody>
                  <a:tcPr marL="54864" marR="54864" marT="27432" marB="27432" anchor="ctr">
                    <a:solidFill>
                      <a:srgbClr val="FFFFFF"/>
                    </a:solidFill>
                  </a:tcPr>
                </a:tc>
                <a:tc>
                  <a:txBody>
                    <a:bodyPr wrap="square"/>
                    <a:lstStyle/>
                    <a:p>
                      <a:pPr algn="ctr"/>
                      <a:r>
                        <a:rPr sz="1100" b="0" i="0">
                          <a:solidFill>
                            <a:srgbClr val="1F1F1F"/>
                          </a:solidFill>
                          <a:latin typeface="Calibri"/>
                        </a:rPr>
                        <a:t>RF 0.742</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ROC-AUC</a:t>
                      </a:r>
                    </a:p>
                  </a:txBody>
                  <a:tcPr marL="54864" marR="54864" marT="27432" marB="27432" anchor="ctr">
                    <a:solidFill>
                      <a:srgbClr val="EEF2F8"/>
                    </a:solidFill>
                  </a:tcPr>
                </a:tc>
                <a:tc>
                  <a:txBody>
                    <a:bodyPr wrap="square"/>
                    <a:lstStyle/>
                    <a:p>
                      <a:pPr algn="ctr"/>
                      <a:r>
                        <a:rPr sz="1100" b="0" i="0">
                          <a:solidFill>
                            <a:srgbClr val="1F1F1F"/>
                          </a:solidFill>
                          <a:latin typeface="Calibri"/>
                        </a:rPr>
                        <a:t>Area Under the ROC Curve</a:t>
                      </a:r>
                    </a:p>
                  </a:txBody>
                  <a:tcPr marL="54864" marR="54864" marT="27432" marB="27432" anchor="ctr">
                    <a:solidFill>
                      <a:srgbClr val="EEF2F8"/>
                    </a:solidFill>
                  </a:tcPr>
                </a:tc>
                <a:tc>
                  <a:txBody>
                    <a:bodyPr wrap="square"/>
                    <a:lstStyle/>
                    <a:p>
                      <a:pPr algn="ctr"/>
                      <a:r>
                        <a:rPr sz="1100" b="0" i="0">
                          <a:solidFill>
                            <a:srgbClr val="1F1F1F"/>
                          </a:solidFill>
                          <a:latin typeface="Calibri"/>
                        </a:rPr>
                        <a:t>Ability to separate High from Low</a:t>
                      </a:r>
                    </a:p>
                  </a:txBody>
                  <a:tcPr marL="54864" marR="54864" marT="27432" marB="27432" anchor="ctr">
                    <a:solidFill>
                      <a:srgbClr val="EEF2F8"/>
                    </a:solidFill>
                  </a:tcPr>
                </a:tc>
                <a:tc>
                  <a:txBody>
                    <a:bodyPr wrap="square"/>
                    <a:lstStyle/>
                    <a:p>
                      <a:pPr algn="ctr"/>
                      <a:r>
                        <a:rPr sz="1100" b="0" i="0">
                          <a:solidFill>
                            <a:srgbClr val="1F1F1F"/>
                          </a:solidFill>
                          <a:latin typeface="Calibri"/>
                        </a:rPr>
                        <a:t>0.820</a:t>
                      </a:r>
                    </a:p>
                  </a:txBody>
                  <a:tcPr marL="54864" marR="54864" marT="27432" marB="27432" anchor="ctr">
                    <a:solidFill>
                      <a:srgbClr val="EEF2F8"/>
                    </a:solidFill>
                  </a:tcPr>
                </a:tc>
                <a:tc>
                  <a:txBody>
                    <a:bodyPr wrap="square"/>
                    <a:lstStyle/>
                    <a:p>
                      <a:pPr algn="ctr"/>
                      <a:r>
                        <a:rPr sz="1100" b="0" i="0">
                          <a:solidFill>
                            <a:srgbClr val="1F1F1F"/>
                          </a:solidFill>
                          <a:latin typeface="Calibri"/>
                        </a:rPr>
                        <a:t>GBT 0.811</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Log loss</a:t>
                      </a:r>
                    </a:p>
                  </a:txBody>
                  <a:tcPr marL="54864" marR="54864" marT="27432" marB="27432" anchor="ctr">
                    <a:solidFill>
                      <a:srgbClr val="FFFFFF"/>
                    </a:solidFill>
                  </a:tcPr>
                </a:tc>
                <a:tc>
                  <a:txBody>
                    <a:bodyPr wrap="square"/>
                    <a:lstStyle/>
                    <a:p>
                      <a:pPr algn="ctr"/>
                      <a:r>
                        <a:rPr sz="1100" b="0" i="0">
                          <a:solidFill>
                            <a:srgbClr val="1F1F1F"/>
                          </a:solidFill>
                          <a:latin typeface="Calibri"/>
                        </a:rPr>
                        <a:t>Cross-Entropy Loss</a:t>
                      </a:r>
                    </a:p>
                  </a:txBody>
                  <a:tcPr marL="54864" marR="54864" marT="27432" marB="27432" anchor="ctr">
                    <a:solidFill>
                      <a:srgbClr val="FFFFFF"/>
                    </a:solidFill>
                  </a:tcPr>
                </a:tc>
                <a:tc>
                  <a:txBody>
                    <a:bodyPr wrap="square"/>
                    <a:lstStyle/>
                    <a:p>
                      <a:pPr algn="ctr"/>
                      <a:r>
                        <a:rPr sz="1100" b="0" i="0">
                          <a:solidFill>
                            <a:srgbClr val="1F1F1F"/>
                          </a:solidFill>
                          <a:latin typeface="Calibri"/>
                        </a:rPr>
                        <a:t>Quality of predicted probabilities (lower is better)</a:t>
                      </a:r>
                    </a:p>
                  </a:txBody>
                  <a:tcPr marL="54864" marR="54864" marT="27432" marB="27432" anchor="ctr">
                    <a:solidFill>
                      <a:srgbClr val="FFFFFF"/>
                    </a:solidFill>
                  </a:tcPr>
                </a:tc>
                <a:tc>
                  <a:txBody>
                    <a:bodyPr wrap="square"/>
                    <a:lstStyle/>
                    <a:p>
                      <a:pPr algn="ctr"/>
                      <a:r>
                        <a:rPr sz="1100" b="0" i="0">
                          <a:solidFill>
                            <a:srgbClr val="1F1F1F"/>
                          </a:solidFill>
                          <a:latin typeface="Calibri"/>
                        </a:rPr>
                        <a:t>0.516</a:t>
                      </a:r>
                    </a:p>
                  </a:txBody>
                  <a:tcPr marL="54864" marR="54864" marT="27432" marB="27432" anchor="ctr">
                    <a:solidFill>
                      <a:srgbClr val="FFFFFF"/>
                    </a:solidFill>
                  </a:tcPr>
                </a:tc>
                <a:tc>
                  <a:txBody>
                    <a:bodyPr wrap="square"/>
                    <a:lstStyle/>
                    <a:p>
                      <a:pPr algn="ctr"/>
                      <a:r>
                        <a:rPr sz="1100" b="0" i="0">
                          <a:solidFill>
                            <a:srgbClr val="1F1F1F"/>
                          </a:solidFill>
                          <a:latin typeface="Calibri"/>
                        </a:rPr>
                        <a:t>RF 0.539</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MCC</a:t>
                      </a:r>
                    </a:p>
                  </a:txBody>
                  <a:tcPr marL="54864" marR="54864" marT="27432" marB="27432" anchor="ctr">
                    <a:solidFill>
                      <a:srgbClr val="EEF2F8"/>
                    </a:solidFill>
                  </a:tcPr>
                </a:tc>
                <a:tc>
                  <a:txBody>
                    <a:bodyPr wrap="square"/>
                    <a:lstStyle/>
                    <a:p>
                      <a:pPr algn="ctr"/>
                      <a:r>
                        <a:rPr sz="1100" b="0" i="0">
                          <a:solidFill>
                            <a:srgbClr val="1F1F1F"/>
                          </a:solidFill>
                          <a:latin typeface="Calibri"/>
                        </a:rPr>
                        <a:t>Matthews Correlation Coefficient</a:t>
                      </a:r>
                    </a:p>
                  </a:txBody>
                  <a:tcPr marL="54864" marR="54864" marT="27432" marB="27432" anchor="ctr">
                    <a:solidFill>
                      <a:srgbClr val="EEF2F8"/>
                    </a:solidFill>
                  </a:tcPr>
                </a:tc>
                <a:tc>
                  <a:txBody>
                    <a:bodyPr wrap="square"/>
                    <a:lstStyle/>
                    <a:p>
                      <a:pPr algn="ctr"/>
                      <a:r>
                        <a:rPr sz="1100" b="0" i="0">
                          <a:solidFill>
                            <a:srgbClr val="1F1F1F"/>
                          </a:solidFill>
                          <a:latin typeface="Calibri"/>
                        </a:rPr>
                        <a:t>Uses all four confusion-matrix cells</a:t>
                      </a:r>
                    </a:p>
                  </a:txBody>
                  <a:tcPr marL="54864" marR="54864" marT="27432" marB="27432" anchor="ctr">
                    <a:solidFill>
                      <a:srgbClr val="EEF2F8"/>
                    </a:solidFill>
                  </a:tcPr>
                </a:tc>
                <a:tc>
                  <a:txBody>
                    <a:bodyPr wrap="square"/>
                    <a:lstStyle/>
                    <a:p>
                      <a:pPr algn="ctr"/>
                      <a:r>
                        <a:rPr sz="1100" b="0" i="0">
                          <a:solidFill>
                            <a:srgbClr val="1F1F1F"/>
                          </a:solidFill>
                          <a:latin typeface="Calibri"/>
                        </a:rPr>
                        <a:t>0.482</a:t>
                      </a:r>
                    </a:p>
                  </a:txBody>
                  <a:tcPr marL="54864" marR="54864" marT="27432" marB="27432" anchor="ctr">
                    <a:solidFill>
                      <a:srgbClr val="EEF2F8"/>
                    </a:solidFill>
                  </a:tcPr>
                </a:tc>
                <a:tc>
                  <a:txBody>
                    <a:bodyPr wrap="square"/>
                    <a:lstStyle/>
                    <a:p>
                      <a:pPr algn="ctr"/>
                      <a:r>
                        <a:rPr sz="1100" b="0" i="0">
                          <a:solidFill>
                            <a:srgbClr val="1F1F1F"/>
                          </a:solidFill>
                          <a:latin typeface="Calibri"/>
                        </a:rPr>
                        <a:t>GBT 0.454</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Cohen's kappa</a:t>
                      </a:r>
                    </a:p>
                  </a:txBody>
                  <a:tcPr marL="54864" marR="54864" marT="27432" marB="27432" anchor="ctr">
                    <a:solidFill>
                      <a:srgbClr val="FFFFFF"/>
                    </a:solidFill>
                  </a:tcPr>
                </a:tc>
                <a:tc>
                  <a:txBody>
                    <a:bodyPr wrap="square"/>
                    <a:lstStyle/>
                    <a:p>
                      <a:pPr algn="ctr"/>
                      <a:r>
                        <a:rPr sz="1100" b="0" i="0">
                          <a:solidFill>
                            <a:srgbClr val="1F1F1F"/>
                          </a:solidFill>
                          <a:latin typeface="Calibri"/>
                        </a:rPr>
                        <a:t>Cohen's Kappa Coefficient</a:t>
                      </a:r>
                    </a:p>
                  </a:txBody>
                  <a:tcPr marL="54864" marR="54864" marT="27432" marB="27432" anchor="ctr">
                    <a:solidFill>
                      <a:srgbClr val="FFFFFF"/>
                    </a:solidFill>
                  </a:tcPr>
                </a:tc>
                <a:tc>
                  <a:txBody>
                    <a:bodyPr wrap="square"/>
                    <a:lstStyle/>
                    <a:p>
                      <a:pPr algn="ctr"/>
                      <a:r>
                        <a:rPr sz="1100" b="0" i="0">
                          <a:solidFill>
                            <a:srgbClr val="1F1F1F"/>
                          </a:solidFill>
                          <a:latin typeface="Calibri"/>
                        </a:rPr>
                        <a:t>Agreement with true labels, corrected for chance</a:t>
                      </a:r>
                    </a:p>
                  </a:txBody>
                  <a:tcPr marL="54864" marR="54864" marT="27432" marB="27432" anchor="ctr">
                    <a:solidFill>
                      <a:srgbClr val="FFFFFF"/>
                    </a:solidFill>
                  </a:tcPr>
                </a:tc>
                <a:tc>
                  <a:txBody>
                    <a:bodyPr wrap="square"/>
                    <a:lstStyle/>
                    <a:p>
                      <a:pPr algn="ctr"/>
                      <a:r>
                        <a:rPr sz="1100" b="0" i="0">
                          <a:solidFill>
                            <a:srgbClr val="1F1F1F"/>
                          </a:solidFill>
                          <a:latin typeface="Calibri"/>
                        </a:rPr>
                        <a:t>0.477</a:t>
                      </a:r>
                    </a:p>
                  </a:txBody>
                  <a:tcPr marL="54864" marR="54864" marT="27432" marB="27432" anchor="ctr">
                    <a:solidFill>
                      <a:srgbClr val="FFFFFF"/>
                    </a:solidFill>
                  </a:tcPr>
                </a:tc>
                <a:tc>
                  <a:txBody>
                    <a:bodyPr wrap="square"/>
                    <a:lstStyle/>
                    <a:p>
                      <a:pPr algn="ctr"/>
                      <a:r>
                        <a:rPr sz="1100" b="0" i="0">
                          <a:solidFill>
                            <a:srgbClr val="1F1F1F"/>
                          </a:solidFill>
                          <a:latin typeface="Calibri"/>
                        </a:rPr>
                        <a:t>GBT 0.451</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Balanced acc.</a:t>
                      </a:r>
                    </a:p>
                  </a:txBody>
                  <a:tcPr marL="54864" marR="54864" marT="27432" marB="27432" anchor="ctr">
                    <a:solidFill>
                      <a:srgbClr val="EEF2F8"/>
                    </a:solidFill>
                  </a:tcPr>
                </a:tc>
                <a:tc>
                  <a:txBody>
                    <a:bodyPr wrap="square"/>
                    <a:lstStyle/>
                    <a:p>
                      <a:pPr algn="ctr"/>
                      <a:r>
                        <a:rPr sz="1100" b="0" i="0">
                          <a:solidFill>
                            <a:srgbClr val="1F1F1F"/>
                          </a:solidFill>
                          <a:latin typeface="Calibri"/>
                        </a:rPr>
                        <a:t>Average class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Accuracy that is fair to both classes</a:t>
                      </a:r>
                    </a:p>
                  </a:txBody>
                  <a:tcPr marL="54864" marR="54864" marT="27432" marB="27432" anchor="ctr">
                    <a:solidFill>
                      <a:srgbClr val="EEF2F8"/>
                    </a:solidFill>
                  </a:tcPr>
                </a:tc>
                <a:tc>
                  <a:txBody>
                    <a:bodyPr wrap="square"/>
                    <a:lstStyle/>
                    <a:p>
                      <a:pPr algn="ctr"/>
                      <a:r>
                        <a:rPr sz="1100" b="0" i="0">
                          <a:solidFill>
                            <a:srgbClr val="1F1F1F"/>
                          </a:solidFill>
                          <a:latin typeface="Calibri"/>
                        </a:rPr>
                        <a:t>0.739</a:t>
                      </a:r>
                    </a:p>
                  </a:txBody>
                  <a:tcPr marL="54864" marR="54864" marT="27432" marB="27432" anchor="ctr">
                    <a:solidFill>
                      <a:srgbClr val="EEF2F8"/>
                    </a:solidFill>
                  </a:tcPr>
                </a:tc>
                <a:tc>
                  <a:txBody>
                    <a:bodyPr wrap="square"/>
                    <a:lstStyle/>
                    <a:p>
                      <a:pPr algn="ctr"/>
                      <a:r>
                        <a:rPr sz="1100" b="0" i="0">
                          <a:solidFill>
                            <a:srgbClr val="1F1F1F"/>
                          </a:solidFill>
                          <a:latin typeface="Calibri"/>
                        </a:rPr>
                        <a:t>GBT 0.726</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1F1F1F"/>
                </a:solidFill>
                <a:latin typeface="Calibri"/>
              </a:rPr>
              <a:t>B-ACPN is best on 9 of 10 (Accuracy, Precision, F1-score, Specificity, ROC-AUC, Log loss, MCC, Cohen's kappa, Balanced acc.); not best on Recall. Lower is better only for log loss.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200" b="1" i="0">
                <a:solidFill>
                  <a:srgbClr val="1B3A6B"/>
                </a:solidFill>
                <a:latin typeface="Times New Roman"/>
              </a:rPr>
              <a:t>Classification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6" cy="4608576"/>
        </p:xfrm>
        <a:graphic>
          <a:graphicData uri="http://schemas.openxmlformats.org/drawingml/2006/table">
            <a:tbl>
              <a:tblPr firstRow="1" bandRow="1">
                <a:tableStyleId>{5C22544A-7EE6-4342-B048-85BDC9FD1C3A}</a:tableStyleId>
              </a:tblPr>
              <a:tblGrid>
                <a:gridCol w="1327322"/>
                <a:gridCol w="1180859"/>
                <a:gridCol w="1180859"/>
                <a:gridCol w="1180859"/>
                <a:gridCol w="1180859"/>
                <a:gridCol w="1180859"/>
                <a:gridCol w="1180859"/>
              </a:tblGrid>
              <a:tr h="384048">
                <a:tc>
                  <a:txBody>
                    <a:bodyPr wrap="square"/>
                    <a:lstStyle/>
                    <a:p>
                      <a:pPr algn="l"/>
                      <a:r>
                        <a:rPr sz="1000" b="1" i="0">
                          <a:solidFill>
                            <a:srgbClr val="FFFFFF"/>
                          </a:solidFill>
                          <a:latin typeface="Calibri"/>
                        </a:rPr>
                        <a:t>Metric</a:t>
                      </a:r>
                    </a:p>
                  </a:txBody>
                  <a:tcPr marL="54864" marR="54864" marT="27432" marB="27432" anchor="ctr">
                    <a:solidFill>
                      <a:srgbClr val="1B3A6B"/>
                    </a:solidFill>
                  </a:tcPr>
                </a:tc>
                <a:tc>
                  <a:txBody>
                    <a:bodyPr wrap="square"/>
                    <a:lstStyle/>
                    <a:p>
                      <a:pPr algn="ctr"/>
                      <a:r>
                        <a:rPr sz="1000" b="1" i="0">
                          <a:solidFill>
                            <a:srgbClr val="FFFFFF"/>
                          </a:solidFill>
                          <a:latin typeface="Calibri"/>
                        </a:rPr>
                        <a:t>B-ACPN</a:t>
                      </a:r>
                    </a:p>
                  </a:txBody>
                  <a:tcPr marL="54864" marR="54864" marT="27432" marB="27432" anchor="ctr">
                    <a:solidFill>
                      <a:srgbClr val="1B3A6B"/>
                    </a:solidFill>
                  </a:tcPr>
                </a:tc>
                <a:tc>
                  <a:txBody>
                    <a:bodyPr wrap="square"/>
                    <a:lstStyle/>
                    <a:p>
                      <a:pPr algn="ctr"/>
                      <a:r>
                        <a:rPr sz="1000" b="1" i="0">
                          <a:solidFill>
                            <a:srgbClr val="FFFFFF"/>
                          </a:solidFill>
                          <a:latin typeface="Calibri"/>
                        </a:rPr>
                        <a:t>LR</a:t>
                      </a:r>
                    </a:p>
                  </a:txBody>
                  <a:tcPr marL="54864" marR="54864" marT="27432" marB="27432" anchor="ctr">
                    <a:solidFill>
                      <a:srgbClr val="1B3A6B"/>
                    </a:solidFill>
                  </a:tcPr>
                </a:tc>
                <a:tc>
                  <a:txBody>
                    <a:bodyPr wrap="square"/>
                    <a:lstStyle/>
                    <a:p>
                      <a:pPr algn="ctr"/>
                      <a:r>
                        <a:rPr sz="1000" b="1" i="0">
                          <a:solidFill>
                            <a:srgbClr val="FFFFFF"/>
                          </a:solidFill>
                          <a:latin typeface="Calibri"/>
                        </a:rPr>
                        <a:t>RF</a:t>
                      </a:r>
                    </a:p>
                  </a:txBody>
                  <a:tcPr marL="54864" marR="54864" marT="27432" marB="27432" anchor="ctr">
                    <a:solidFill>
                      <a:srgbClr val="1B3A6B"/>
                    </a:solidFill>
                  </a:tcPr>
                </a:tc>
                <a:tc>
                  <a:txBody>
                    <a:bodyPr wrap="square"/>
                    <a:lstStyle/>
                    <a:p>
                      <a:pPr algn="ctr"/>
                      <a:r>
                        <a:rPr sz="1000" b="1" i="0">
                          <a:solidFill>
                            <a:srgbClr val="FFFFFF"/>
                          </a:solidFill>
                          <a:latin typeface="Calibri"/>
                        </a:rPr>
                        <a:t>GBT</a:t>
                      </a:r>
                    </a:p>
                  </a:txBody>
                  <a:tcPr marL="54864" marR="54864" marT="27432" marB="27432" anchor="ctr">
                    <a:solidFill>
                      <a:srgbClr val="1B3A6B"/>
                    </a:solidFill>
                  </a:tcPr>
                </a:tc>
                <a:tc>
                  <a:txBody>
                    <a:bodyPr wrap="square"/>
                    <a:lstStyle/>
                    <a:p>
                      <a:pPr algn="ctr"/>
                      <a:r>
                        <a:rPr sz="1000" b="1" i="0">
                          <a:solidFill>
                            <a:srgbClr val="FFFFFF"/>
                          </a:solidFill>
                          <a:latin typeface="Calibri"/>
                        </a:rPr>
                        <a:t>Linear SVM</a:t>
                      </a:r>
                    </a:p>
                  </a:txBody>
                  <a:tcPr marL="54864" marR="54864" marT="27432" marB="27432" anchor="ctr">
                    <a:solidFill>
                      <a:srgbClr val="1B3A6B"/>
                    </a:solidFill>
                  </a:tcPr>
                </a:tc>
                <a:tc>
                  <a:txBody>
                    <a:bodyPr wrap="square"/>
                    <a:lstStyle/>
                    <a:p>
                      <a:pPr algn="ctr"/>
                      <a:r>
                        <a:rPr sz="1000" b="1" i="0">
                          <a:solidFill>
                            <a:srgbClr val="FFFFFF"/>
                          </a:solidFill>
                          <a:latin typeface="Calibri"/>
                        </a:rPr>
                        <a:t>MLP</a:t>
                      </a:r>
                    </a:p>
                  </a:txBody>
                  <a:tcPr marL="54864" marR="54864" marT="27432" marB="27432" anchor="ctr">
                    <a:solidFill>
                      <a:srgbClr val="1B3A6B"/>
                    </a:solidFill>
                  </a:tcPr>
                </a:tc>
              </a:tr>
              <a:tr h="384048">
                <a:tc>
                  <a:txBody>
                    <a:bodyPr wrap="square"/>
                    <a:lstStyle/>
                    <a:p>
                      <a:pPr algn="l"/>
                      <a:r>
                        <a:rPr sz="1000" b="1" i="0">
                          <a:solidFill>
                            <a:srgbClr val="1F1F1F"/>
                          </a:solidFill>
                          <a:latin typeface="Calibri"/>
                        </a:rPr>
                        <a:t>Accuracy</a:t>
                      </a:r>
                    </a:p>
                  </a:txBody>
                  <a:tcPr marL="54864" marR="54864" marT="27432" marB="27432" anchor="ctr">
                    <a:solidFill>
                      <a:srgbClr val="FFFFFF"/>
                    </a:solidFill>
                  </a:tcPr>
                </a:tc>
                <a:tc>
                  <a:txBody>
                    <a:bodyPr wrap="square"/>
                    <a:lstStyle/>
                    <a:p>
                      <a:pPr algn="ctr"/>
                      <a:r>
                        <a:rPr sz="1000" b="0" i="0">
                          <a:solidFill>
                            <a:srgbClr val="1F1F1F"/>
                          </a:solidFill>
                          <a:latin typeface="Calibri"/>
                        </a:rPr>
                        <a:t>0.735 → 0.738</a:t>
                      </a:r>
                    </a:p>
                  </a:txBody>
                  <a:tcPr marL="54864" marR="54864" marT="27432" marB="27432" anchor="ctr">
                    <a:solidFill>
                      <a:srgbClr val="FFFFFF"/>
                    </a:solidFill>
                  </a:tcPr>
                </a:tc>
                <a:tc>
                  <a:txBody>
                    <a:bodyPr wrap="square"/>
                    <a:lstStyle/>
                    <a:p>
                      <a:pPr algn="ctr"/>
                      <a:r>
                        <a:rPr sz="1000" b="0" i="0">
                          <a:solidFill>
                            <a:srgbClr val="1F1F1F"/>
                          </a:solidFill>
                          <a:latin typeface="Calibri"/>
                        </a:rPr>
                        <a:t>0.692 → 0.692</a:t>
                      </a:r>
                    </a:p>
                  </a:txBody>
                  <a:tcPr marL="54864" marR="54864" marT="27432" marB="27432" anchor="ctr">
                    <a:solidFill>
                      <a:srgbClr val="FFFFFF"/>
                    </a:solidFill>
                  </a:tcPr>
                </a:tc>
                <a:tc>
                  <a:txBody>
                    <a:bodyPr wrap="square"/>
                    <a:lstStyle/>
                    <a:p>
                      <a:pPr algn="ctr"/>
                      <a:r>
                        <a:rPr sz="1000" b="0" i="0">
                          <a:solidFill>
                            <a:srgbClr val="1F1F1F"/>
                          </a:solidFill>
                          <a:latin typeface="Calibri"/>
                        </a:rPr>
                        <a:t>0.715 → 0.715</a:t>
                      </a:r>
                    </a:p>
                  </a:txBody>
                  <a:tcPr marL="54864" marR="54864" marT="27432" marB="27432" anchor="ctr">
                    <a:solidFill>
                      <a:srgbClr val="FFFFFF"/>
                    </a:solidFill>
                  </a:tcPr>
                </a:tc>
                <a:tc>
                  <a:txBody>
                    <a:bodyPr wrap="square"/>
                    <a:lstStyle/>
                    <a:p>
                      <a:pPr algn="ctr"/>
                      <a:r>
                        <a:rPr sz="1000" b="0" i="0">
                          <a:solidFill>
                            <a:srgbClr val="1F1F1F"/>
                          </a:solidFill>
                          <a:latin typeface="Calibri"/>
                        </a:rPr>
                        <a:t>0.726 → 0.725</a:t>
                      </a:r>
                    </a:p>
                  </a:txBody>
                  <a:tcPr marL="54864" marR="54864" marT="27432" marB="27432" anchor="ctr">
                    <a:solidFill>
                      <a:srgbClr val="FFFFFF"/>
                    </a:solidFill>
                  </a:tcPr>
                </a:tc>
                <a:tc>
                  <a:txBody>
                    <a:bodyPr wrap="square"/>
                    <a:lstStyle/>
                    <a:p>
                      <a:pPr algn="ctr"/>
                      <a:r>
                        <a:rPr sz="1000" b="0" i="0">
                          <a:solidFill>
                            <a:srgbClr val="1F1F1F"/>
                          </a:solidFill>
                          <a:latin typeface="Calibri"/>
                        </a:rPr>
                        <a:t>0.696 → 0.696</a:t>
                      </a:r>
                    </a:p>
                  </a:txBody>
                  <a:tcPr marL="54864" marR="54864" marT="27432" marB="27432" anchor="ctr">
                    <a:solidFill>
                      <a:srgbClr val="FFFFFF"/>
                    </a:solidFill>
                  </a:tcPr>
                </a:tc>
                <a:tc>
                  <a:txBody>
                    <a:bodyPr wrap="square"/>
                    <a:lstStyle/>
                    <a:p>
                      <a:pPr algn="ctr"/>
                      <a:r>
                        <a:rPr sz="1000" b="0" i="0">
                          <a:solidFill>
                            <a:srgbClr val="1F1F1F"/>
                          </a:solidFill>
                          <a:latin typeface="Calibri"/>
                        </a:rPr>
                        <a:t>0.711 → 0.699</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Precision</a:t>
                      </a:r>
                    </a:p>
                  </a:txBody>
                  <a:tcPr marL="54864" marR="54864" marT="27432" marB="27432" anchor="ctr">
                    <a:solidFill>
                      <a:srgbClr val="EEF2F8"/>
                    </a:solidFill>
                  </a:tcPr>
                </a:tc>
                <a:tc>
                  <a:txBody>
                    <a:bodyPr wrap="square"/>
                    <a:lstStyle/>
                    <a:p>
                      <a:pPr algn="ctr"/>
                      <a:r>
                        <a:rPr sz="1000" b="0" i="0">
                          <a:solidFill>
                            <a:srgbClr val="1F1F1F"/>
                          </a:solidFill>
                          <a:latin typeface="Calibri"/>
                        </a:rPr>
                        <a:t>0.760 → 0.765</a:t>
                      </a:r>
                    </a:p>
                  </a:txBody>
                  <a:tcPr marL="54864" marR="54864" marT="27432" marB="27432" anchor="ctr">
                    <a:solidFill>
                      <a:srgbClr val="EEF2F8"/>
                    </a:solidFill>
                  </a:tcPr>
                </a:tc>
                <a:tc>
                  <a:txBody>
                    <a:bodyPr wrap="square"/>
                    <a:lstStyle/>
                    <a:p>
                      <a:pPr algn="ctr"/>
                      <a:r>
                        <a:rPr sz="1000" b="0" i="0">
                          <a:solidFill>
                            <a:srgbClr val="1F1F1F"/>
                          </a:solidFill>
                          <a:latin typeface="Calibri"/>
                        </a:rPr>
                        <a:t>0.688 → 0.688</a:t>
                      </a:r>
                    </a:p>
                  </a:txBody>
                  <a:tcPr marL="54864" marR="54864" marT="27432" marB="27432" anchor="ctr">
                    <a:solidFill>
                      <a:srgbClr val="EEF2F8"/>
                    </a:solidFill>
                  </a:tcPr>
                </a:tc>
                <a:tc>
                  <a:txBody>
                    <a:bodyPr wrap="square"/>
                    <a:lstStyle/>
                    <a:p>
                      <a:pPr algn="ctr"/>
                      <a:r>
                        <a:rPr sz="1000" b="0" i="0">
                          <a:solidFill>
                            <a:srgbClr val="1F1F1F"/>
                          </a:solidFill>
                          <a:latin typeface="Calibri"/>
                        </a:rPr>
                        <a:t>0.735 → 0.735</a:t>
                      </a:r>
                    </a:p>
                  </a:txBody>
                  <a:tcPr marL="54864" marR="54864" marT="27432" marB="27432" anchor="ctr">
                    <a:solidFill>
                      <a:srgbClr val="EEF2F8"/>
                    </a:solidFill>
                  </a:tcPr>
                </a:tc>
                <a:tc>
                  <a:txBody>
                    <a:bodyPr wrap="square"/>
                    <a:lstStyle/>
                    <a:p>
                      <a:pPr algn="ctr"/>
                      <a:r>
                        <a:rPr sz="1000" b="0" i="0">
                          <a:solidFill>
                            <a:srgbClr val="1F1F1F"/>
                          </a:solidFill>
                          <a:latin typeface="Calibri"/>
                        </a:rPr>
                        <a:t>0.737 → 0.736</a:t>
                      </a:r>
                    </a:p>
                  </a:txBody>
                  <a:tcPr marL="54864" marR="54864" marT="27432" marB="27432" anchor="ctr">
                    <a:solidFill>
                      <a:srgbClr val="EEF2F8"/>
                    </a:solidFill>
                  </a:tcPr>
                </a:tc>
                <a:tc>
                  <a:txBody>
                    <a:bodyPr wrap="square"/>
                    <a:lstStyle/>
                    <a:p>
                      <a:pPr algn="ctr"/>
                      <a:r>
                        <a:rPr sz="1000" b="0" i="0">
                          <a:solidFill>
                            <a:srgbClr val="1F1F1F"/>
                          </a:solidFill>
                          <a:latin typeface="Calibri"/>
                        </a:rPr>
                        <a:t>0.689 → 0.689</a:t>
                      </a:r>
                    </a:p>
                  </a:txBody>
                  <a:tcPr marL="54864" marR="54864" marT="27432" marB="27432" anchor="ctr">
                    <a:solidFill>
                      <a:srgbClr val="EEF2F8"/>
                    </a:solidFill>
                  </a:tcPr>
                </a:tc>
                <a:tc>
                  <a:txBody>
                    <a:bodyPr wrap="square"/>
                    <a:lstStyle/>
                    <a:p>
                      <a:pPr algn="ctr"/>
                      <a:r>
                        <a:rPr sz="1000" b="0" i="0">
                          <a:solidFill>
                            <a:srgbClr val="1F1F1F"/>
                          </a:solidFill>
                          <a:latin typeface="Calibri"/>
                        </a:rPr>
                        <a:t>0.776 → 0.719</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Recall</a:t>
                      </a:r>
                    </a:p>
                  </a:txBody>
                  <a:tcPr marL="54864" marR="54864" marT="27432" marB="27432" anchor="ctr">
                    <a:solidFill>
                      <a:srgbClr val="FFFFFF"/>
                    </a:solidFill>
                  </a:tcPr>
                </a:tc>
                <a:tc>
                  <a:txBody>
                    <a:bodyPr wrap="square"/>
                    <a:lstStyle/>
                    <a:p>
                      <a:pPr algn="ctr"/>
                      <a:r>
                        <a:rPr sz="1000" b="0" i="0">
                          <a:solidFill>
                            <a:srgbClr val="1F1F1F"/>
                          </a:solidFill>
                          <a:latin typeface="Calibri"/>
                        </a:rPr>
                        <a:t>0.700 → 0.700</a:t>
                      </a:r>
                    </a:p>
                  </a:txBody>
                  <a:tcPr marL="54864" marR="54864" marT="27432" marB="27432" anchor="ctr">
                    <a:solidFill>
                      <a:srgbClr val="FFFFFF"/>
                    </a:solidFill>
                  </a:tcPr>
                </a:tc>
                <a:tc>
                  <a:txBody>
                    <a:bodyPr wrap="square"/>
                    <a:lstStyle/>
                    <a:p>
                      <a:pPr algn="ctr"/>
                      <a:r>
                        <a:rPr sz="1000" b="0" i="0">
                          <a:solidFill>
                            <a:srgbClr val="1F1F1F"/>
                          </a:solidFill>
                          <a:latin typeface="Calibri"/>
                        </a:rPr>
                        <a:t>0.718 → 0.718</a:t>
                      </a:r>
                    </a:p>
                  </a:txBody>
                  <a:tcPr marL="54864" marR="54864" marT="27432" marB="27432" anchor="ctr">
                    <a:solidFill>
                      <a:srgbClr val="FFFFFF"/>
                    </a:solidFill>
                  </a:tcPr>
                </a:tc>
                <a:tc>
                  <a:txBody>
                    <a:bodyPr wrap="square"/>
                    <a:lstStyle/>
                    <a:p>
                      <a:pPr algn="ctr"/>
                      <a:r>
                        <a:rPr sz="1000" b="0" i="0">
                          <a:solidFill>
                            <a:srgbClr val="1F1F1F"/>
                          </a:solidFill>
                          <a:latin typeface="Calibri"/>
                        </a:rPr>
                        <a:t>0.689 → 0.689</a:t>
                      </a:r>
                    </a:p>
                  </a:txBody>
                  <a:tcPr marL="54864" marR="54864" marT="27432" marB="27432" anchor="ctr">
                    <a:solidFill>
                      <a:srgbClr val="FFFFFF"/>
                    </a:solidFill>
                  </a:tcPr>
                </a:tc>
                <a:tc>
                  <a:txBody>
                    <a:bodyPr wrap="square"/>
                    <a:lstStyle/>
                    <a:p>
                      <a:pPr algn="ctr"/>
                      <a:r>
                        <a:rPr sz="1000" b="0" i="0">
                          <a:solidFill>
                            <a:srgbClr val="1F1F1F"/>
                          </a:solidFill>
                          <a:latin typeface="Calibri"/>
                        </a:rPr>
                        <a:t>0.718 → 0.718</a:t>
                      </a:r>
                    </a:p>
                  </a:txBody>
                  <a:tcPr marL="54864" marR="54864" marT="27432" marB="27432" anchor="ctr">
                    <a:solidFill>
                      <a:srgbClr val="FFFFFF"/>
                    </a:solidFill>
                  </a:tcPr>
                </a:tc>
                <a:tc>
                  <a:txBody>
                    <a:bodyPr wrap="square"/>
                    <a:lstStyle/>
                    <a:p>
                      <a:pPr algn="ctr"/>
                      <a:r>
                        <a:rPr sz="1000" b="0" i="0">
                          <a:solidFill>
                            <a:srgbClr val="1F1F1F"/>
                          </a:solidFill>
                          <a:latin typeface="Calibri"/>
                        </a:rPr>
                        <a:t>0.733 → 0.733</a:t>
                      </a:r>
                    </a:p>
                  </a:txBody>
                  <a:tcPr marL="54864" marR="54864" marT="27432" marB="27432" anchor="ctr">
                    <a:solidFill>
                      <a:srgbClr val="FFFFFF"/>
                    </a:solidFill>
                  </a:tcPr>
                </a:tc>
                <a:tc>
                  <a:txBody>
                    <a:bodyPr wrap="square"/>
                    <a:lstStyle/>
                    <a:p>
                      <a:pPr algn="ctr"/>
                      <a:r>
                        <a:rPr sz="1000" b="0" i="0">
                          <a:solidFill>
                            <a:srgbClr val="1F1F1F"/>
                          </a:solidFill>
                          <a:latin typeface="Calibri"/>
                        </a:rPr>
                        <a:t>0.611 → 0.674</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F1-score</a:t>
                      </a:r>
                    </a:p>
                  </a:txBody>
                  <a:tcPr marL="54864" marR="54864" marT="27432" marB="27432" anchor="ctr">
                    <a:solidFill>
                      <a:srgbClr val="EEF2F8"/>
                    </a:solidFill>
                  </a:tcPr>
                </a:tc>
                <a:tc>
                  <a:txBody>
                    <a:bodyPr wrap="square"/>
                    <a:lstStyle/>
                    <a:p>
                      <a:pPr algn="ctr"/>
                      <a:r>
                        <a:rPr sz="1000" b="0" i="0">
                          <a:solidFill>
                            <a:srgbClr val="1F1F1F"/>
                          </a:solidFill>
                          <a:latin typeface="Calibri"/>
                        </a:rPr>
                        <a:t>0.726 → 0.728</a:t>
                      </a:r>
                    </a:p>
                  </a:txBody>
                  <a:tcPr marL="54864" marR="54864" marT="27432" marB="27432" anchor="ctr">
                    <a:solidFill>
                      <a:srgbClr val="EEF2F8"/>
                    </a:solidFill>
                  </a:tcPr>
                </a:tc>
                <a:tc>
                  <a:txBody>
                    <a:bodyPr wrap="square"/>
                    <a:lstStyle/>
                    <a:p>
                      <a:pPr algn="ctr"/>
                      <a:r>
                        <a:rPr sz="1000" b="0" i="0">
                          <a:solidFill>
                            <a:srgbClr val="1F1F1F"/>
                          </a:solidFill>
                          <a:latin typeface="Calibri"/>
                        </a:rPr>
                        <a:t>0.701 → 0.701</a:t>
                      </a:r>
                    </a:p>
                  </a:txBody>
                  <a:tcPr marL="54864" marR="54864" marT="27432" marB="27432" anchor="ctr">
                    <a:solidFill>
                      <a:srgbClr val="EEF2F8"/>
                    </a:solidFill>
                  </a:tcPr>
                </a:tc>
                <a:tc>
                  <a:txBody>
                    <a:bodyPr wrap="square"/>
                    <a:lstStyle/>
                    <a:p>
                      <a:pPr algn="ctr"/>
                      <a:r>
                        <a:rPr sz="1000" b="0" i="0">
                          <a:solidFill>
                            <a:srgbClr val="1F1F1F"/>
                          </a:solidFill>
                          <a:latin typeface="Calibri"/>
                        </a:rPr>
                        <a:t>0.708 → 0.708</a:t>
                      </a:r>
                    </a:p>
                  </a:txBody>
                  <a:tcPr marL="54864" marR="54864" marT="27432" marB="27432" anchor="ctr">
                    <a:solidFill>
                      <a:srgbClr val="EEF2F8"/>
                    </a:solidFill>
                  </a:tcPr>
                </a:tc>
                <a:tc>
                  <a:txBody>
                    <a:bodyPr wrap="square"/>
                    <a:lstStyle/>
                    <a:p>
                      <a:pPr algn="ctr"/>
                      <a:r>
                        <a:rPr sz="1000" b="0" i="0">
                          <a:solidFill>
                            <a:srgbClr val="1F1F1F"/>
                          </a:solidFill>
                          <a:latin typeface="Calibri"/>
                        </a:rPr>
                        <a:t>0.724 → 0.724</a:t>
                      </a:r>
                    </a:p>
                  </a:txBody>
                  <a:tcPr marL="54864" marR="54864" marT="27432" marB="27432" anchor="ctr">
                    <a:solidFill>
                      <a:srgbClr val="EEF2F8"/>
                    </a:solidFill>
                  </a:tcPr>
                </a:tc>
                <a:tc>
                  <a:txBody>
                    <a:bodyPr wrap="square"/>
                    <a:lstStyle/>
                    <a:p>
                      <a:pPr algn="ctr"/>
                      <a:r>
                        <a:rPr sz="1000" b="0" i="0">
                          <a:solidFill>
                            <a:srgbClr val="1F1F1F"/>
                          </a:solidFill>
                          <a:latin typeface="Calibri"/>
                        </a:rPr>
                        <a:t>0.708 → 0.708</a:t>
                      </a:r>
                    </a:p>
                  </a:txBody>
                  <a:tcPr marL="54864" marR="54864" marT="27432" marB="27432" anchor="ctr">
                    <a:solidFill>
                      <a:srgbClr val="EEF2F8"/>
                    </a:solidFill>
                  </a:tcPr>
                </a:tc>
                <a:tc>
                  <a:txBody>
                    <a:bodyPr wrap="square"/>
                    <a:lstStyle/>
                    <a:p>
                      <a:pPr algn="ctr"/>
                      <a:r>
                        <a:rPr sz="1000" b="0" i="0">
                          <a:solidFill>
                            <a:srgbClr val="1F1F1F"/>
                          </a:solidFill>
                          <a:latin typeface="Calibri"/>
                        </a:rPr>
                        <a:t>0.678 → 0.692</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Specificity</a:t>
                      </a:r>
                    </a:p>
                  </a:txBody>
                  <a:tcPr marL="54864" marR="54864" marT="27432" marB="27432" anchor="ctr">
                    <a:solidFill>
                      <a:srgbClr val="FFFFFF"/>
                    </a:solidFill>
                  </a:tcPr>
                </a:tc>
                <a:tc>
                  <a:txBody>
                    <a:bodyPr wrap="square"/>
                    <a:lstStyle/>
                    <a:p>
                      <a:pPr algn="ctr"/>
                      <a:r>
                        <a:rPr sz="1000" b="0" i="0">
                          <a:solidFill>
                            <a:srgbClr val="1F1F1F"/>
                          </a:solidFill>
                          <a:latin typeface="Calibri"/>
                        </a:rPr>
                        <a:t>0.770 → 0.778</a:t>
                      </a:r>
                    </a:p>
                  </a:txBody>
                  <a:tcPr marL="54864" marR="54864" marT="27432" marB="27432" anchor="ctr">
                    <a:solidFill>
                      <a:srgbClr val="FFFFFF"/>
                    </a:solidFill>
                  </a:tcPr>
                </a:tc>
                <a:tc>
                  <a:txBody>
                    <a:bodyPr wrap="square"/>
                    <a:lstStyle/>
                    <a:p>
                      <a:pPr algn="ctr"/>
                      <a:r>
                        <a:rPr sz="1000" b="0" i="0">
                          <a:solidFill>
                            <a:srgbClr val="1F1F1F"/>
                          </a:solidFill>
                          <a:latin typeface="Calibri"/>
                        </a:rPr>
                        <a:t>0.665 → 0.665</a:t>
                      </a:r>
                    </a:p>
                  </a:txBody>
                  <a:tcPr marL="54864" marR="54864" marT="27432" marB="27432" anchor="ctr">
                    <a:solidFill>
                      <a:srgbClr val="FFFFFF"/>
                    </a:solidFill>
                  </a:tcPr>
                </a:tc>
                <a:tc>
                  <a:txBody>
                    <a:bodyPr wrap="square"/>
                    <a:lstStyle/>
                    <a:p>
                      <a:pPr algn="ctr"/>
                      <a:r>
                        <a:rPr sz="1000" b="0" i="0">
                          <a:solidFill>
                            <a:srgbClr val="1F1F1F"/>
                          </a:solidFill>
                          <a:latin typeface="Calibri"/>
                        </a:rPr>
                        <a:t>0.742 → 0.742</a:t>
                      </a:r>
                    </a:p>
                  </a:txBody>
                  <a:tcPr marL="54864" marR="54864" marT="27432" marB="27432" anchor="ctr">
                    <a:solidFill>
                      <a:srgbClr val="FFFFFF"/>
                    </a:solidFill>
                  </a:tcPr>
                </a:tc>
                <a:tc>
                  <a:txBody>
                    <a:bodyPr wrap="square"/>
                    <a:lstStyle/>
                    <a:p>
                      <a:pPr algn="ctr"/>
                      <a:r>
                        <a:rPr sz="1000" b="0" i="0">
                          <a:solidFill>
                            <a:srgbClr val="1F1F1F"/>
                          </a:solidFill>
                          <a:latin typeface="Calibri"/>
                        </a:rPr>
                        <a:t>0.734 → 0.733</a:t>
                      </a:r>
                    </a:p>
                  </a:txBody>
                  <a:tcPr marL="54864" marR="54864" marT="27432" marB="27432" anchor="ctr">
                    <a:solidFill>
                      <a:srgbClr val="FFFFFF"/>
                    </a:solidFill>
                  </a:tcPr>
                </a:tc>
                <a:tc>
                  <a:txBody>
                    <a:bodyPr wrap="square"/>
                    <a:lstStyle/>
                    <a:p>
                      <a:pPr algn="ctr"/>
                      <a:r>
                        <a:rPr sz="1000" b="0" i="0">
                          <a:solidFill>
                            <a:srgbClr val="1F1F1F"/>
                          </a:solidFill>
                          <a:latin typeface="Calibri"/>
                        </a:rPr>
                        <a:t>0.659 → 0.659</a:t>
                      </a:r>
                    </a:p>
                  </a:txBody>
                  <a:tcPr marL="54864" marR="54864" marT="27432" marB="27432" anchor="ctr">
                    <a:solidFill>
                      <a:srgbClr val="FFFFFF"/>
                    </a:solidFill>
                  </a:tcPr>
                </a:tc>
                <a:tc>
                  <a:txBody>
                    <a:bodyPr wrap="square"/>
                    <a:lstStyle/>
                    <a:p>
                      <a:pPr algn="ctr"/>
                      <a:r>
                        <a:rPr sz="1000" b="0" i="0">
                          <a:solidFill>
                            <a:srgbClr val="1F1F1F"/>
                          </a:solidFill>
                          <a:latin typeface="Calibri"/>
                        </a:rPr>
                        <a:t>0.813 → 0.724</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ROC-AUC</a:t>
                      </a:r>
                    </a:p>
                  </a:txBody>
                  <a:tcPr marL="54864" marR="54864" marT="27432" marB="27432" anchor="ctr">
                    <a:solidFill>
                      <a:srgbClr val="EEF2F8"/>
                    </a:solidFill>
                  </a:tcPr>
                </a:tc>
                <a:tc>
                  <a:txBody>
                    <a:bodyPr wrap="square"/>
                    <a:lstStyle/>
                    <a:p>
                      <a:pPr algn="ctr"/>
                      <a:r>
                        <a:rPr sz="1000" b="0" i="0">
                          <a:solidFill>
                            <a:srgbClr val="1F1F1F"/>
                          </a:solidFill>
                          <a:latin typeface="Calibri"/>
                        </a:rPr>
                        <a:t>0.806 → 0.820</a:t>
                      </a:r>
                    </a:p>
                  </a:txBody>
                  <a:tcPr marL="54864" marR="54864" marT="27432" marB="27432" anchor="ctr">
                    <a:solidFill>
                      <a:srgbClr val="EEF2F8"/>
                    </a:solidFill>
                  </a:tcPr>
                </a:tc>
                <a:tc>
                  <a:txBody>
                    <a:bodyPr wrap="square"/>
                    <a:lstStyle/>
                    <a:p>
                      <a:pPr algn="ctr"/>
                      <a:r>
                        <a:rPr sz="1000" b="0" i="0">
                          <a:solidFill>
                            <a:srgbClr val="1F1F1F"/>
                          </a:solidFill>
                          <a:latin typeface="Calibri"/>
                        </a:rPr>
                        <a:t>0.747 → 0.747</a:t>
                      </a:r>
                    </a:p>
                  </a:txBody>
                  <a:tcPr marL="54864" marR="54864" marT="27432" marB="27432" anchor="ctr">
                    <a:solidFill>
                      <a:srgbClr val="EEF2F8"/>
                    </a:solidFill>
                  </a:tcPr>
                </a:tc>
                <a:tc>
                  <a:txBody>
                    <a:bodyPr wrap="square"/>
                    <a:lstStyle/>
                    <a:p>
                      <a:pPr algn="ctr"/>
                      <a:r>
                        <a:rPr sz="1000" b="0" i="0">
                          <a:solidFill>
                            <a:srgbClr val="1F1F1F"/>
                          </a:solidFill>
                          <a:latin typeface="Calibri"/>
                        </a:rPr>
                        <a:t>0.805 → 0.804</a:t>
                      </a:r>
                    </a:p>
                  </a:txBody>
                  <a:tcPr marL="54864" marR="54864" marT="27432" marB="27432" anchor="ctr">
                    <a:solidFill>
                      <a:srgbClr val="EEF2F8"/>
                    </a:solidFill>
                  </a:tcPr>
                </a:tc>
                <a:tc>
                  <a:txBody>
                    <a:bodyPr wrap="square"/>
                    <a:lstStyle/>
                    <a:p>
                      <a:pPr algn="ctr"/>
                      <a:r>
                        <a:rPr sz="1000" b="0" i="0">
                          <a:solidFill>
                            <a:srgbClr val="1F1F1F"/>
                          </a:solidFill>
                          <a:latin typeface="Calibri"/>
                        </a:rPr>
                        <a:t>0.811 → 0.811</a:t>
                      </a:r>
                    </a:p>
                  </a:txBody>
                  <a:tcPr marL="54864" marR="54864" marT="27432" marB="27432" anchor="ctr">
                    <a:solidFill>
                      <a:srgbClr val="EEF2F8"/>
                    </a:solidFill>
                  </a:tcPr>
                </a:tc>
                <a:tc>
                  <a:txBody>
                    <a:bodyPr wrap="square"/>
                    <a:lstStyle/>
                    <a:p>
                      <a:pPr algn="ctr"/>
                      <a:r>
                        <a:rPr sz="1000" b="0" i="0">
                          <a:solidFill>
                            <a:srgbClr val="1F1F1F"/>
                          </a:solidFill>
                          <a:latin typeface="Calibri"/>
                        </a:rPr>
                        <a:t>0.755 → 0.755</a:t>
                      </a:r>
                    </a:p>
                  </a:txBody>
                  <a:tcPr marL="54864" marR="54864" marT="27432" marB="27432" anchor="ctr">
                    <a:solidFill>
                      <a:srgbClr val="EEF2F8"/>
                    </a:solidFill>
                  </a:tcPr>
                </a:tc>
                <a:tc>
                  <a:txBody>
                    <a:bodyPr wrap="square"/>
                    <a:lstStyle/>
                    <a:p>
                      <a:pPr algn="ctr"/>
                      <a:r>
                        <a:rPr sz="1000" b="0" i="0">
                          <a:solidFill>
                            <a:srgbClr val="1F1F1F"/>
                          </a:solidFill>
                          <a:latin typeface="Calibri"/>
                        </a:rPr>
                        <a:t>0.759 → 0.784</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Log loss ↓</a:t>
                      </a:r>
                    </a:p>
                  </a:txBody>
                  <a:tcPr marL="54864" marR="54864" marT="27432" marB="27432" anchor="ctr">
                    <a:solidFill>
                      <a:srgbClr val="FFFFFF"/>
                    </a:solidFill>
                  </a:tcPr>
                </a:tc>
                <a:tc>
                  <a:txBody>
                    <a:bodyPr wrap="square"/>
                    <a:lstStyle/>
                    <a:p>
                      <a:pPr algn="ctr"/>
                      <a:r>
                        <a:rPr sz="1000" b="0" i="0">
                          <a:solidFill>
                            <a:srgbClr val="1F1F1F"/>
                          </a:solidFill>
                          <a:latin typeface="Calibri"/>
                        </a:rPr>
                        <a:t>0.528 → 0.516</a:t>
                      </a:r>
                    </a:p>
                  </a:txBody>
                  <a:tcPr marL="54864" marR="54864" marT="27432" marB="27432" anchor="ctr">
                    <a:solidFill>
                      <a:srgbClr val="FFFFFF"/>
                    </a:solidFill>
                  </a:tcPr>
                </a:tc>
                <a:tc>
                  <a:txBody>
                    <a:bodyPr wrap="square"/>
                    <a:lstStyle/>
                    <a:p>
                      <a:pPr algn="ctr"/>
                      <a:r>
                        <a:rPr sz="1000" b="0" i="0">
                          <a:solidFill>
                            <a:srgbClr val="1F1F1F"/>
                          </a:solidFill>
                          <a:latin typeface="Calibri"/>
                        </a:rPr>
                        <a:t>0.611 → 0.611</a:t>
                      </a:r>
                    </a:p>
                  </a:txBody>
                  <a:tcPr marL="54864" marR="54864" marT="27432" marB="27432" anchor="ctr">
                    <a:solidFill>
                      <a:srgbClr val="FFFFFF"/>
                    </a:solidFill>
                  </a:tcPr>
                </a:tc>
                <a:tc>
                  <a:txBody>
                    <a:bodyPr wrap="square"/>
                    <a:lstStyle/>
                    <a:p>
                      <a:pPr algn="ctr"/>
                      <a:r>
                        <a:rPr sz="1000" b="0" i="0">
                          <a:solidFill>
                            <a:srgbClr val="1F1F1F"/>
                          </a:solidFill>
                          <a:latin typeface="Calibri"/>
                        </a:rPr>
                        <a:t>0.539 → 0.539</a:t>
                      </a:r>
                    </a:p>
                  </a:txBody>
                  <a:tcPr marL="54864" marR="54864" marT="27432" marB="27432" anchor="ctr">
                    <a:solidFill>
                      <a:srgbClr val="FFFFFF"/>
                    </a:solidFill>
                  </a:tcPr>
                </a:tc>
                <a:tc>
                  <a:txBody>
                    <a:bodyPr wrap="square"/>
                    <a:lstStyle/>
                    <a:p>
                      <a:pPr algn="ctr"/>
                      <a:r>
                        <a:rPr sz="1000" b="0" i="0">
                          <a:solidFill>
                            <a:srgbClr val="1F1F1F"/>
                          </a:solidFill>
                          <a:latin typeface="Calibri"/>
                        </a:rPr>
                        <a:t>0.570 → 0.570</a:t>
                      </a:r>
                    </a:p>
                  </a:txBody>
                  <a:tcPr marL="54864" marR="54864" marT="27432" marB="27432" anchor="ctr">
                    <a:solidFill>
                      <a:srgbClr val="FFFFFF"/>
                    </a:solidFill>
                  </a:tcPr>
                </a:tc>
                <a:tc>
                  <a:txBody>
                    <a:bodyPr wrap="square"/>
                    <a:lstStyle/>
                    <a:p>
                      <a:pPr algn="ctr"/>
                      <a:r>
                        <a:rPr sz="1000" b="0" i="0">
                          <a:solidFill>
                            <a:srgbClr val="1F1F1F"/>
                          </a:solidFill>
                          <a:latin typeface="Calibri"/>
                        </a:rPr>
                        <a:t>n/a</a:t>
                      </a:r>
                    </a:p>
                  </a:txBody>
                  <a:tcPr marL="54864" marR="54864" marT="27432" marB="27432" anchor="ctr">
                    <a:solidFill>
                      <a:srgbClr val="FFFFFF"/>
                    </a:solidFill>
                  </a:tcPr>
                </a:tc>
                <a:tc>
                  <a:txBody>
                    <a:bodyPr wrap="square"/>
                    <a:lstStyle/>
                    <a:p>
                      <a:pPr algn="ctr"/>
                      <a:r>
                        <a:rPr sz="1000" b="0" i="0">
                          <a:solidFill>
                            <a:srgbClr val="1F1F1F"/>
                          </a:solidFill>
                          <a:latin typeface="Calibri"/>
                        </a:rPr>
                        <a:t>0.588 → 0.579</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MCC</a:t>
                      </a:r>
                    </a:p>
                  </a:txBody>
                  <a:tcPr marL="54864" marR="54864" marT="27432" marB="27432" anchor="ctr">
                    <a:solidFill>
                      <a:srgbClr val="EEF2F8"/>
                    </a:solidFill>
                  </a:tcPr>
                </a:tc>
                <a:tc>
                  <a:txBody>
                    <a:bodyPr wrap="square"/>
                    <a:lstStyle/>
                    <a:p>
                      <a:pPr algn="ctr"/>
                      <a:r>
                        <a:rPr sz="1000" b="0" i="0">
                          <a:solidFill>
                            <a:srgbClr val="1F1F1F"/>
                          </a:solidFill>
                          <a:latin typeface="Calibri"/>
                        </a:rPr>
                        <a:t>0.474 → 0.482</a:t>
                      </a:r>
                    </a:p>
                  </a:txBody>
                  <a:tcPr marL="54864" marR="54864" marT="27432" marB="27432" anchor="ctr">
                    <a:solidFill>
                      <a:srgbClr val="EEF2F8"/>
                    </a:solidFill>
                  </a:tcPr>
                </a:tc>
                <a:tc>
                  <a:txBody>
                    <a:bodyPr wrap="square"/>
                    <a:lstStyle/>
                    <a:p>
                      <a:pPr algn="ctr"/>
                      <a:r>
                        <a:rPr sz="1000" b="0" i="0">
                          <a:solidFill>
                            <a:srgbClr val="1F1F1F"/>
                          </a:solidFill>
                          <a:latin typeface="Calibri"/>
                        </a:rPr>
                        <a:t>0.386 → 0.386</a:t>
                      </a:r>
                    </a:p>
                  </a:txBody>
                  <a:tcPr marL="54864" marR="54864" marT="27432" marB="27432" anchor="ctr">
                    <a:solidFill>
                      <a:srgbClr val="EEF2F8"/>
                    </a:solidFill>
                  </a:tcPr>
                </a:tc>
                <a:tc>
                  <a:txBody>
                    <a:bodyPr wrap="square"/>
                    <a:lstStyle/>
                    <a:p>
                      <a:pPr algn="ctr"/>
                      <a:r>
                        <a:rPr sz="1000" b="0" i="0">
                          <a:solidFill>
                            <a:srgbClr val="1F1F1F"/>
                          </a:solidFill>
                          <a:latin typeface="Calibri"/>
                        </a:rPr>
                        <a:t>0.434 → 0.434</a:t>
                      </a:r>
                    </a:p>
                  </a:txBody>
                  <a:tcPr marL="54864" marR="54864" marT="27432" marB="27432" anchor="ctr">
                    <a:solidFill>
                      <a:srgbClr val="EEF2F8"/>
                    </a:solidFill>
                  </a:tcPr>
                </a:tc>
                <a:tc>
                  <a:txBody>
                    <a:bodyPr wrap="square"/>
                    <a:lstStyle/>
                    <a:p>
                      <a:pPr algn="ctr"/>
                      <a:r>
                        <a:rPr sz="1000" b="0" i="0">
                          <a:solidFill>
                            <a:srgbClr val="1F1F1F"/>
                          </a:solidFill>
                          <a:latin typeface="Calibri"/>
                        </a:rPr>
                        <a:t>0.455 → 0.454</a:t>
                      </a:r>
                    </a:p>
                  </a:txBody>
                  <a:tcPr marL="54864" marR="54864" marT="27432" marB="27432" anchor="ctr">
                    <a:solidFill>
                      <a:srgbClr val="EEF2F8"/>
                    </a:solidFill>
                  </a:tcPr>
                </a:tc>
                <a:tc>
                  <a:txBody>
                    <a:bodyPr wrap="square"/>
                    <a:lstStyle/>
                    <a:p>
                      <a:pPr algn="ctr"/>
                      <a:r>
                        <a:rPr sz="1000" b="0" i="0">
                          <a:solidFill>
                            <a:srgbClr val="1F1F1F"/>
                          </a:solidFill>
                          <a:latin typeface="Calibri"/>
                        </a:rPr>
                        <a:t>0.396 → 0.396</a:t>
                      </a:r>
                    </a:p>
                  </a:txBody>
                  <a:tcPr marL="54864" marR="54864" marT="27432" marB="27432" anchor="ctr">
                    <a:solidFill>
                      <a:srgbClr val="EEF2F8"/>
                    </a:solidFill>
                  </a:tcPr>
                </a:tc>
                <a:tc>
                  <a:txBody>
                    <a:bodyPr wrap="square"/>
                    <a:lstStyle/>
                    <a:p>
                      <a:pPr algn="ctr"/>
                      <a:r>
                        <a:rPr sz="1000" b="0" i="0">
                          <a:solidFill>
                            <a:srgbClr val="1F1F1F"/>
                          </a:solidFill>
                          <a:latin typeface="Calibri"/>
                        </a:rPr>
                        <a:t>0.437 → 0.404</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Cohen's kappa</a:t>
                      </a:r>
                    </a:p>
                  </a:txBody>
                  <a:tcPr marL="54864" marR="54864" marT="27432" marB="27432" anchor="ctr">
                    <a:solidFill>
                      <a:srgbClr val="FFFFFF"/>
                    </a:solidFill>
                  </a:tcPr>
                </a:tc>
                <a:tc>
                  <a:txBody>
                    <a:bodyPr wrap="square"/>
                    <a:lstStyle/>
                    <a:p>
                      <a:pPr algn="ctr"/>
                      <a:r>
                        <a:rPr sz="1000" b="0" i="0">
                          <a:solidFill>
                            <a:srgbClr val="1F1F1F"/>
                          </a:solidFill>
                          <a:latin typeface="Calibri"/>
                        </a:rPr>
                        <a:t>0.470 → 0.477</a:t>
                      </a:r>
                    </a:p>
                  </a:txBody>
                  <a:tcPr marL="54864" marR="54864" marT="27432" marB="27432" anchor="ctr">
                    <a:solidFill>
                      <a:srgbClr val="FFFFFF"/>
                    </a:solidFill>
                  </a:tcPr>
                </a:tc>
                <a:tc>
                  <a:txBody>
                    <a:bodyPr wrap="square"/>
                    <a:lstStyle/>
                    <a:p>
                      <a:pPr algn="ctr"/>
                      <a:r>
                        <a:rPr sz="1000" b="0" i="0">
                          <a:solidFill>
                            <a:srgbClr val="1F1F1F"/>
                          </a:solidFill>
                          <a:latin typeface="Calibri"/>
                        </a:rPr>
                        <a:t>0.383 → 0.383</a:t>
                      </a:r>
                    </a:p>
                  </a:txBody>
                  <a:tcPr marL="54864" marR="54864" marT="27432" marB="27432" anchor="ctr">
                    <a:solidFill>
                      <a:srgbClr val="FFFFFF"/>
                    </a:solidFill>
                  </a:tcPr>
                </a:tc>
                <a:tc>
                  <a:txBody>
                    <a:bodyPr wrap="square"/>
                    <a:lstStyle/>
                    <a:p>
                      <a:pPr algn="ctr"/>
                      <a:r>
                        <a:rPr sz="1000" b="0" i="0">
                          <a:solidFill>
                            <a:srgbClr val="1F1F1F"/>
                          </a:solidFill>
                          <a:latin typeface="Calibri"/>
                        </a:rPr>
                        <a:t>0.430 → 0.430</a:t>
                      </a:r>
                    </a:p>
                  </a:txBody>
                  <a:tcPr marL="54864" marR="54864" marT="27432" marB="27432" anchor="ctr">
                    <a:solidFill>
                      <a:srgbClr val="FFFFFF"/>
                    </a:solidFill>
                  </a:tcPr>
                </a:tc>
                <a:tc>
                  <a:txBody>
                    <a:bodyPr wrap="square"/>
                    <a:lstStyle/>
                    <a:p>
                      <a:pPr algn="ctr"/>
                      <a:r>
                        <a:rPr sz="1000" b="0" i="0">
                          <a:solidFill>
                            <a:srgbClr val="1F1F1F"/>
                          </a:solidFill>
                          <a:latin typeface="Calibri"/>
                        </a:rPr>
                        <a:t>0.452 → 0.451</a:t>
                      </a:r>
                    </a:p>
                  </a:txBody>
                  <a:tcPr marL="54864" marR="54864" marT="27432" marB="27432" anchor="ctr">
                    <a:solidFill>
                      <a:srgbClr val="FFFFFF"/>
                    </a:solidFill>
                  </a:tcPr>
                </a:tc>
                <a:tc>
                  <a:txBody>
                    <a:bodyPr wrap="square"/>
                    <a:lstStyle/>
                    <a:p>
                      <a:pPr algn="ctr"/>
                      <a:r>
                        <a:rPr sz="1000" b="0" i="0">
                          <a:solidFill>
                            <a:srgbClr val="1F1F1F"/>
                          </a:solidFill>
                          <a:latin typeface="Calibri"/>
                        </a:rPr>
                        <a:t>0.392 → 0.392</a:t>
                      </a:r>
                    </a:p>
                  </a:txBody>
                  <a:tcPr marL="54864" marR="54864" marT="27432" marB="27432" anchor="ctr">
                    <a:solidFill>
                      <a:srgbClr val="FFFFFF"/>
                    </a:solidFill>
                  </a:tcPr>
                </a:tc>
                <a:tc>
                  <a:txBody>
                    <a:bodyPr wrap="square"/>
                    <a:lstStyle/>
                    <a:p>
                      <a:pPr algn="ctr"/>
                      <a:r>
                        <a:rPr sz="1000" b="0" i="0">
                          <a:solidFill>
                            <a:srgbClr val="1F1F1F"/>
                          </a:solidFill>
                          <a:latin typeface="Calibri"/>
                        </a:rPr>
                        <a:t>0.423 → 0.398</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Balanced acc.</a:t>
                      </a:r>
                    </a:p>
                  </a:txBody>
                  <a:tcPr marL="54864" marR="54864" marT="27432" marB="27432" anchor="ctr">
                    <a:solidFill>
                      <a:srgbClr val="EEF2F8"/>
                    </a:solidFill>
                  </a:tcPr>
                </a:tc>
                <a:tc>
                  <a:txBody>
                    <a:bodyPr wrap="square"/>
                    <a:lstStyle/>
                    <a:p>
                      <a:pPr algn="ctr"/>
                      <a:r>
                        <a:rPr sz="1000" b="0" i="0">
                          <a:solidFill>
                            <a:srgbClr val="1F1F1F"/>
                          </a:solidFill>
                          <a:latin typeface="Calibri"/>
                        </a:rPr>
                        <a:t>0.735 → 0.739</a:t>
                      </a:r>
                    </a:p>
                  </a:txBody>
                  <a:tcPr marL="54864" marR="54864" marT="27432" marB="27432" anchor="ctr">
                    <a:solidFill>
                      <a:srgbClr val="EEF2F8"/>
                    </a:solidFill>
                  </a:tcPr>
                </a:tc>
                <a:tc>
                  <a:txBody>
                    <a:bodyPr wrap="square"/>
                    <a:lstStyle/>
                    <a:p>
                      <a:pPr algn="ctr"/>
                      <a:r>
                        <a:rPr sz="1000" b="0" i="0">
                          <a:solidFill>
                            <a:srgbClr val="1F1F1F"/>
                          </a:solidFill>
                          <a:latin typeface="Calibri"/>
                        </a:rPr>
                        <a:t>0.691 → 0.691</a:t>
                      </a:r>
                    </a:p>
                  </a:txBody>
                  <a:tcPr marL="54864" marR="54864" marT="27432" marB="27432" anchor="ctr">
                    <a:solidFill>
                      <a:srgbClr val="EEF2F8"/>
                    </a:solidFill>
                  </a:tcPr>
                </a:tc>
                <a:tc>
                  <a:txBody>
                    <a:bodyPr wrap="square"/>
                    <a:lstStyle/>
                    <a:p>
                      <a:pPr algn="ctr"/>
                      <a:r>
                        <a:rPr sz="1000" b="0" i="0">
                          <a:solidFill>
                            <a:srgbClr val="1F1F1F"/>
                          </a:solidFill>
                          <a:latin typeface="Calibri"/>
                        </a:rPr>
                        <a:t>0.715 → 0.715</a:t>
                      </a:r>
                    </a:p>
                  </a:txBody>
                  <a:tcPr marL="54864" marR="54864" marT="27432" marB="27432" anchor="ctr">
                    <a:solidFill>
                      <a:srgbClr val="EEF2F8"/>
                    </a:solidFill>
                  </a:tcPr>
                </a:tc>
                <a:tc>
                  <a:txBody>
                    <a:bodyPr wrap="square"/>
                    <a:lstStyle/>
                    <a:p>
                      <a:pPr algn="ctr"/>
                      <a:r>
                        <a:rPr sz="1000" b="0" i="0">
                          <a:solidFill>
                            <a:srgbClr val="1F1F1F"/>
                          </a:solidFill>
                          <a:latin typeface="Calibri"/>
                        </a:rPr>
                        <a:t>0.726 → 0.726</a:t>
                      </a:r>
                    </a:p>
                  </a:txBody>
                  <a:tcPr marL="54864" marR="54864" marT="27432" marB="27432" anchor="ctr">
                    <a:solidFill>
                      <a:srgbClr val="EEF2F8"/>
                    </a:solidFill>
                  </a:tcPr>
                </a:tc>
                <a:tc>
                  <a:txBody>
                    <a:bodyPr wrap="square"/>
                    <a:lstStyle/>
                    <a:p>
                      <a:pPr algn="ctr"/>
                      <a:r>
                        <a:rPr sz="1000" b="0" i="0">
                          <a:solidFill>
                            <a:srgbClr val="1F1F1F"/>
                          </a:solidFill>
                          <a:latin typeface="Calibri"/>
                        </a:rPr>
                        <a:t>0.696 → 0.696</a:t>
                      </a:r>
                    </a:p>
                  </a:txBody>
                  <a:tcPr marL="54864" marR="54864" marT="27432" marB="27432" anchor="ctr">
                    <a:solidFill>
                      <a:srgbClr val="EEF2F8"/>
                    </a:solidFill>
                  </a:tcPr>
                </a:tc>
                <a:tc>
                  <a:txBody>
                    <a:bodyPr wrap="square"/>
                    <a:lstStyle/>
                    <a:p>
                      <a:pPr algn="ctr"/>
                      <a:r>
                        <a:rPr sz="1000" b="0" i="0">
                          <a:solidFill>
                            <a:srgbClr val="1F1F1F"/>
                          </a:solidFill>
                          <a:latin typeface="Calibri"/>
                        </a:rPr>
                        <a:t>0.712 → 0.699</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RMSE ↓</a:t>
                      </a:r>
                    </a:p>
                  </a:txBody>
                  <a:tcPr marL="54864" marR="54864" marT="27432" marB="27432" anchor="ctr">
                    <a:solidFill>
                      <a:srgbClr val="FFFFFF"/>
                    </a:solidFill>
                  </a:tcPr>
                </a:tc>
                <a:tc>
                  <a:txBody>
                    <a:bodyPr wrap="square"/>
                    <a:lstStyle/>
                    <a:p>
                      <a:pPr algn="ctr"/>
                      <a:r>
                        <a:rPr sz="1000" b="0" i="0">
                          <a:solidFill>
                            <a:srgbClr val="1F1F1F"/>
                          </a:solidFill>
                          <a:latin typeface="Calibri"/>
                        </a:rPr>
                        <a:t>0.422 → 0.417</a:t>
                      </a:r>
                    </a:p>
                  </a:txBody>
                  <a:tcPr marL="54864" marR="54864" marT="27432" marB="27432" anchor="ctr">
                    <a:solidFill>
                      <a:srgbClr val="FFFFFF"/>
                    </a:solidFill>
                  </a:tcPr>
                </a:tc>
                <a:tc>
                  <a:txBody>
                    <a:bodyPr wrap="square"/>
                    <a:lstStyle/>
                    <a:p>
                      <a:pPr algn="ctr"/>
                      <a:r>
                        <a:rPr sz="1000" b="0" i="0">
                          <a:solidFill>
                            <a:srgbClr val="1F1F1F"/>
                          </a:solidFill>
                          <a:latin typeface="Calibri"/>
                        </a:rPr>
                        <a:t>0.454 → 0.454</a:t>
                      </a:r>
                    </a:p>
                  </a:txBody>
                  <a:tcPr marL="54864" marR="54864" marT="27432" marB="27432" anchor="ctr">
                    <a:solidFill>
                      <a:srgbClr val="FFFFFF"/>
                    </a:solidFill>
                  </a:tcPr>
                </a:tc>
                <a:tc>
                  <a:txBody>
                    <a:bodyPr wrap="square"/>
                    <a:lstStyle/>
                    <a:p>
                      <a:pPr algn="ctr"/>
                      <a:r>
                        <a:rPr sz="1000" b="0" i="0">
                          <a:solidFill>
                            <a:srgbClr val="1F1F1F"/>
                          </a:solidFill>
                          <a:latin typeface="Calibri"/>
                        </a:rPr>
                        <a:t>0.427 → 0.427</a:t>
                      </a:r>
                    </a:p>
                  </a:txBody>
                  <a:tcPr marL="54864" marR="54864" marT="27432" marB="27432" anchor="ctr">
                    <a:solidFill>
                      <a:srgbClr val="FFFFFF"/>
                    </a:solidFill>
                  </a:tcPr>
                </a:tc>
                <a:tc>
                  <a:txBody>
                    <a:bodyPr wrap="square"/>
                    <a:lstStyle/>
                    <a:p>
                      <a:pPr algn="ctr"/>
                      <a:r>
                        <a:rPr sz="1000" b="0" i="0">
                          <a:solidFill>
                            <a:srgbClr val="1F1F1F"/>
                          </a:solidFill>
                          <a:latin typeface="Calibri"/>
                        </a:rPr>
                        <a:t>0.432 → 0.433</a:t>
                      </a:r>
                    </a:p>
                  </a:txBody>
                  <a:tcPr marL="54864" marR="54864" marT="27432" marB="27432" anchor="ctr">
                    <a:solidFill>
                      <a:srgbClr val="FFFFFF"/>
                    </a:solidFill>
                  </a:tcPr>
                </a:tc>
                <a:tc>
                  <a:txBody>
                    <a:bodyPr wrap="square"/>
                    <a:lstStyle/>
                    <a:p>
                      <a:pPr algn="ctr"/>
                      <a:r>
                        <a:rPr sz="1000" b="0" i="0">
                          <a:solidFill>
                            <a:srgbClr val="1F1F1F"/>
                          </a:solidFill>
                          <a:latin typeface="Calibri"/>
                        </a:rPr>
                        <a:t>n/a</a:t>
                      </a:r>
                    </a:p>
                  </a:txBody>
                  <a:tcPr marL="54864" marR="54864" marT="27432" marB="27432" anchor="ctr">
                    <a:solidFill>
                      <a:srgbClr val="FFFFFF"/>
                    </a:solidFill>
                  </a:tcPr>
                </a:tc>
                <a:tc>
                  <a:txBody>
                    <a:bodyPr wrap="square"/>
                    <a:lstStyle/>
                    <a:p>
                      <a:pPr algn="ctr"/>
                      <a:r>
                        <a:rPr sz="1000" b="0" i="0">
                          <a:solidFill>
                            <a:srgbClr val="1F1F1F"/>
                          </a:solidFill>
                          <a:latin typeface="Calibri"/>
                        </a:rPr>
                        <a:t>0.445 → 0.440</a:t>
                      </a:r>
                    </a:p>
                  </a:txBody>
                  <a:tcPr marL="54864" marR="54864" marT="27432" marB="27432" anchor="ctr">
                    <a:solidFill>
                      <a:srgbClr val="FFFFFF"/>
                    </a:solidFill>
                  </a:tcPr>
                </a:tc>
              </a:tr>
            </a:tbl>
          </a:graphicData>
        </a:graphic>
      </p:graphicFrame>
      <p:sp>
        <p:nvSpPr>
          <p:cNvPr id="5" name="TextBox 4"/>
          <p:cNvSpPr txBox="1"/>
          <p:nvPr/>
        </p:nvSpPr>
        <p:spPr>
          <a:xfrm>
            <a:off x="365760" y="5852160"/>
            <a:ext cx="8412480" cy="457200"/>
          </a:xfrm>
          <a:prstGeom prst="rect">
            <a:avLst/>
          </a:prstGeom>
          <a:noFill/>
        </p:spPr>
        <p:txBody>
          <a:bodyPr wrap="square" anchor="t" lIns="45720" rIns="45720">
            <a:spAutoFit/>
          </a:bodyPr>
          <a:lstStyle/>
          <a:p>
            <a:pPr algn="l"/>
            <a:r>
              <a:rPr sz="1100" b="0" i="0">
                <a:solidFill>
                  <a:srgbClr val="1F1F1F"/>
                </a:solidFill>
                <a:latin typeface="Calibri"/>
              </a:rPr>
              <a:t>B-ACPN: 10 of 11 metrics improve, 1 unchanged, 0 worse. MLP: 5 improve, 0 unchanged, 6 worse. ↓ = lower is better. Linear SVM gives no probabilities (n/a).</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B-ACPN</a:t>
                      </a:r>
                    </a:p>
                  </a:txBody>
                  <a:tcPr marL="54864" marR="54864" marT="27432" marB="27432" anchor="ctr">
                    <a:solidFill>
                      <a:srgbClr val="FFF4CC"/>
                    </a:solidFill>
                  </a:tcPr>
                </a:tc>
                <a:tc>
                  <a:txBody>
                    <a:bodyPr wrap="square"/>
                    <a:lstStyle/>
                    <a:p>
                      <a:pPr algn="ctr"/>
                      <a:r>
                        <a:rPr sz="1300" b="1" i="0">
                          <a:solidFill>
                            <a:srgbClr val="1F1F1F"/>
                          </a:solidFill>
                          <a:latin typeface="Calibri"/>
                        </a:rPr>
                        <a:t>0.820</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Deep stage only (no tree stage)</a:t>
                      </a:r>
                    </a:p>
                  </a:txBody>
                  <a:tcPr marL="54864" marR="54864" marT="27432" marB="27432" anchor="ctr">
                    <a:solidFill>
                      <a:srgbClr val="EEF2F8"/>
                    </a:solidFill>
                  </a:tcPr>
                </a:tc>
                <a:tc>
                  <a:txBody>
                    <a:bodyPr wrap="square"/>
                    <a:lstStyle/>
                    <a:p>
                      <a:pPr algn="ctr"/>
                      <a:r>
                        <a:rPr sz="1300" b="0" i="0">
                          <a:solidFill>
                            <a:srgbClr val="1F1F1F"/>
                          </a:solidFill>
                          <a:latin typeface="Calibri"/>
                        </a:rPr>
                        <a:t>0.800</a:t>
                      </a:r>
                    </a:p>
                  </a:txBody>
                  <a:tcPr marL="54864" marR="54864" marT="27432" marB="27432" anchor="ctr">
                    <a:solidFill>
                      <a:srgbClr val="EEF2F8"/>
                    </a:solidFill>
                  </a:tcPr>
                </a:tc>
                <a:tc>
                  <a:txBody>
                    <a:bodyPr wrap="square"/>
                    <a:lstStyle/>
                    <a:p>
                      <a:pPr algn="ctr"/>
                      <a:r>
                        <a:rPr sz="1300" b="0" i="0">
                          <a:solidFill>
                            <a:srgbClr val="1F1F1F"/>
                          </a:solidFill>
                          <a:latin typeface="Calibri"/>
                        </a:rPr>
                        <a:t>-0.019</a:t>
                      </a:r>
                    </a:p>
                  </a:txBody>
                  <a:tcPr marL="54864" marR="54864" marT="27432" marB="27432" anchor="ctr">
                    <a:solidFill>
                      <a:srgbClr val="EEF2F8"/>
                    </a:solidFill>
                  </a:tcPr>
                </a:tc>
                <a:tc>
                  <a:txBody>
                    <a:bodyPr wrap="square"/>
                    <a:lstStyle/>
                    <a:p>
                      <a:pPr algn="ctr"/>
                      <a:r>
                        <a:rPr sz="1300" b="0" i="0">
                          <a:solidFill>
                            <a:srgbClr val="1F1F1F"/>
                          </a:solidFill>
                          <a:latin typeface="Calibri"/>
                        </a:rPr>
                        <a:t>0.497</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Tree stage only (no deep stage)</a:t>
                      </a:r>
                    </a:p>
                  </a:txBody>
                  <a:tcPr marL="54864" marR="54864" marT="27432" marB="27432" anchor="ctr">
                    <a:solidFill>
                      <a:srgbClr val="FFFFFF"/>
                    </a:solidFill>
                  </a:tcPr>
                </a:tc>
                <a:tc>
                  <a:txBody>
                    <a:bodyPr wrap="square"/>
                    <a:lstStyle/>
                    <a:p>
                      <a:pPr algn="ctr"/>
                      <a:r>
                        <a:rPr sz="1300" b="0" i="0">
                          <a:solidFill>
                            <a:srgbClr val="1F1F1F"/>
                          </a:solidFill>
                          <a:latin typeface="Calibri"/>
                        </a:rPr>
                        <a:t>0.818</a:t>
                      </a:r>
                    </a:p>
                  </a:txBody>
                  <a:tcPr marL="54864" marR="54864" marT="27432" marB="27432" anchor="ctr">
                    <a:solidFill>
                      <a:srgbClr val="FFFFFF"/>
                    </a:solidFill>
                  </a:tcPr>
                </a:tc>
                <a:tc>
                  <a:txBody>
                    <a:bodyPr wrap="square"/>
                    <a:lstStyle/>
                    <a:p>
                      <a:pPr algn="ctr"/>
                      <a:r>
                        <a:rPr sz="1300" b="0" i="0">
                          <a:solidFill>
                            <a:srgbClr val="1F1F1F"/>
                          </a:solidFill>
                          <a:latin typeface="Calibri"/>
                        </a:rPr>
                        <a:t>-0.002</a:t>
                      </a:r>
                    </a:p>
                  </a:txBody>
                  <a:tcPr marL="54864" marR="54864" marT="27432" marB="27432" anchor="ctr">
                    <a:solidFill>
                      <a:srgbClr val="FFFFFF"/>
                    </a:solidFill>
                  </a:tcPr>
                </a:tc>
                <a:tc>
                  <a:txBody>
                    <a:bodyPr wrap="square"/>
                    <a:lstStyle/>
                    <a:p>
                      <a:pPr algn="ctr"/>
                      <a:r>
                        <a:rPr sz="1300" b="0" i="0">
                          <a:solidFill>
                            <a:srgbClr val="1F1F1F"/>
                          </a:solidFill>
                          <a:latin typeface="Calibri"/>
                        </a:rPr>
                        <a:t>0.952</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0.816</a:t>
                      </a:r>
                    </a:p>
                  </a:txBody>
                  <a:tcPr marL="54864" marR="54864" marT="27432" marB="27432" anchor="ctr">
                    <a:solidFill>
                      <a:srgbClr val="EEF2F8"/>
                    </a:solidFill>
                  </a:tcPr>
                </a:tc>
                <a:tc>
                  <a:txBody>
                    <a:bodyPr wrap="square"/>
                    <a:lstStyle/>
                    <a:p>
                      <a:pPr algn="ctr"/>
                      <a:r>
                        <a:rPr sz="1300" b="0" i="0">
                          <a:solidFill>
                            <a:srgbClr val="1F1F1F"/>
                          </a:solidFill>
                          <a:latin typeface="Calibri"/>
                        </a:rPr>
                        <a:t>-0.004</a:t>
                      </a:r>
                    </a:p>
                  </a:txBody>
                  <a:tcPr marL="54864" marR="54864" marT="27432" marB="27432" anchor="ctr">
                    <a:solidFill>
                      <a:srgbClr val="EEF2F8"/>
                    </a:solidFill>
                  </a:tcPr>
                </a:tc>
                <a:tc>
                  <a:txBody>
                    <a:bodyPr wrap="square"/>
                    <a:lstStyle/>
                    <a:p>
                      <a:pPr algn="ctr"/>
                      <a:r>
                        <a:rPr sz="1300" b="0" i="0">
                          <a:solidFill>
                            <a:srgbClr val="1F1F1F"/>
                          </a:solidFill>
                          <a:latin typeface="Calibri"/>
                        </a:rPr>
                        <a:t>0.882</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development gate</a:t>
                      </a:r>
                    </a:p>
                  </a:txBody>
                  <a:tcPr marL="54864" marR="54864" marT="27432" marB="27432" anchor="ctr">
                    <a:solidFill>
                      <a:srgbClr val="FFFFFF"/>
                    </a:solidFill>
                  </a:tcPr>
                </a:tc>
                <a:tc>
                  <a:txBody>
                    <a:bodyPr wrap="square"/>
                    <a:lstStyle/>
                    <a:p>
                      <a:pPr algn="ctr"/>
                      <a:r>
                        <a:rPr sz="1300" b="0" i="0">
                          <a:solidFill>
                            <a:srgbClr val="1F1F1F"/>
                          </a:solidFill>
                          <a:latin typeface="Calibri"/>
                        </a:rPr>
                        <a:t>0.821</a:t>
                      </a:r>
                    </a:p>
                  </a:txBody>
                  <a:tcPr marL="54864" marR="54864" marT="27432" marB="27432" anchor="ctr">
                    <a:solidFill>
                      <a:srgbClr val="FFFFFF"/>
                    </a:solidFill>
                  </a:tcPr>
                </a:tc>
                <a:tc>
                  <a:txBody>
                    <a:bodyPr wrap="square"/>
                    <a:lstStyle/>
                    <a:p>
                      <a:pPr algn="ctr"/>
                      <a:r>
                        <a:rPr sz="1300" b="0" i="0">
                          <a:solidFill>
                            <a:srgbClr val="1F1F1F"/>
                          </a:solidFill>
                          <a:latin typeface="Calibri"/>
                        </a:rPr>
                        <a:t>+0.001</a:t>
                      </a:r>
                    </a:p>
                  </a:txBody>
                  <a:tcPr marL="54864" marR="54864" marT="27432" marB="27432" anchor="ctr">
                    <a:solidFill>
                      <a:srgbClr val="FFFFFF"/>
                    </a:solidFill>
                  </a:tcPr>
                </a:tc>
                <a:tc>
                  <a:txBody>
                    <a:bodyPr wrap="square"/>
                    <a:lstStyle/>
                    <a:p>
                      <a:pPr algn="ctr"/>
                      <a:r>
                        <a:rPr sz="1300" b="0" i="0">
                          <a:solidFill>
                            <a:srgbClr val="1F1F1F"/>
                          </a:solidFill>
                          <a:latin typeface="Calibri"/>
                        </a:rPr>
                        <a:t>0.959</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0.817</a:t>
                      </a:r>
                    </a:p>
                  </a:txBody>
                  <a:tcPr marL="54864" marR="54864" marT="27432" marB="27432" anchor="ctr">
                    <a:solidFill>
                      <a:srgbClr val="EEF2F8"/>
                    </a:solidFill>
                  </a:tcPr>
                </a:tc>
                <a:tc>
                  <a:txBody>
                    <a:bodyPr wrap="square"/>
                    <a:lstStyle/>
                    <a:p>
                      <a:pPr algn="ctr"/>
                      <a:r>
                        <a:rPr sz="1300" b="0" i="0">
                          <a:solidFill>
                            <a:srgbClr val="1F1F1F"/>
                          </a:solidFill>
                          <a:latin typeface="Calibri"/>
                        </a:rPr>
                        <a:t>-0.003</a:t>
                      </a:r>
                    </a:p>
                  </a:txBody>
                  <a:tcPr marL="54864" marR="54864" marT="27432" marB="27432" anchor="ctr">
                    <a:solidFill>
                      <a:srgbClr val="EEF2F8"/>
                    </a:solidFill>
                  </a:tcPr>
                </a:tc>
                <a:tc>
                  <a:txBody>
                    <a:bodyPr wrap="square"/>
                    <a:lstStyle/>
                    <a:p>
                      <a:pPr algn="ctr"/>
                      <a:r>
                        <a:rPr sz="1300" b="0" i="0">
                          <a:solidFill>
                            <a:srgbClr val="1F1F1F"/>
                          </a:solidFill>
                          <a:latin typeface="Calibri"/>
                        </a:rPr>
                        <a:t>0.926</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Single network (no ensemble)</a:t>
                      </a:r>
                    </a:p>
                  </a:txBody>
                  <a:tcPr marL="54864" marR="54864" marT="27432" marB="27432" anchor="ctr">
                    <a:solidFill>
                      <a:srgbClr val="FFFFFF"/>
                    </a:solidFill>
                  </a:tcPr>
                </a:tc>
                <a:tc>
                  <a:txBody>
                    <a:bodyPr wrap="square"/>
                    <a:lstStyle/>
                    <a:p>
                      <a:pPr algn="ctr"/>
                      <a:r>
                        <a:rPr sz="1300" b="0" i="0">
                          <a:solidFill>
                            <a:srgbClr val="1F1F1F"/>
                          </a:solidFill>
                          <a:latin typeface="Calibri"/>
                        </a:rPr>
                        <a:t>0.801</a:t>
                      </a:r>
                    </a:p>
                  </a:txBody>
                  <a:tcPr marL="54864" marR="54864" marT="27432" marB="27432" anchor="ctr">
                    <a:solidFill>
                      <a:srgbClr val="FFFFFF"/>
                    </a:solidFill>
                  </a:tcPr>
                </a:tc>
                <a:tc>
                  <a:txBody>
                    <a:bodyPr wrap="square"/>
                    <a:lstStyle/>
                    <a:p>
                      <a:pPr algn="ctr"/>
                      <a:r>
                        <a:rPr sz="1300" b="0" i="0">
                          <a:solidFill>
                            <a:srgbClr val="1F1F1F"/>
                          </a:solidFill>
                          <a:latin typeface="Calibri"/>
                        </a:rPr>
                        <a:t>-0.018</a:t>
                      </a:r>
                    </a:p>
                  </a:txBody>
                  <a:tcPr marL="54864" marR="54864" marT="27432" marB="27432" anchor="ctr">
                    <a:solidFill>
                      <a:srgbClr val="FFFFFF"/>
                    </a:solidFill>
                  </a:tcPr>
                </a:tc>
                <a:tc>
                  <a:txBody>
                    <a:bodyPr wrap="square"/>
                    <a:lstStyle/>
                    <a:p>
                      <a:pPr algn="ctr"/>
                      <a:r>
                        <a:rPr sz="1300" b="0" i="0">
                          <a:solidFill>
                            <a:srgbClr val="1F1F1F"/>
                          </a:solidFill>
                          <a:latin typeface="Calibri"/>
                        </a:rPr>
                        <a:t>0.579</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no single component</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Deep stage only (no tree stage), Tree stage only (no deep stage), Without climate push, Without development gate, Without feature attention, Single network (no ensemble)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-0.10</a:t>
                      </a:r>
                    </a:p>
                  </a:txBody>
                  <a:tcPr marL="54864" marR="54864" marT="27432" marB="27432" anchor="ctr">
                    <a:solidFill>
                      <a:srgbClr val="FFFFFF"/>
                    </a:solidFill>
                  </a:tcPr>
                </a:tc>
                <a:tc>
                  <a:txBody>
                    <a:bodyPr wrap="square"/>
                    <a:lstStyle/>
                    <a:p>
                      <a:pPr algn="ctr"/>
                      <a:r>
                        <a:rPr sz="1200" b="0" i="0">
                          <a:solidFill>
                            <a:srgbClr val="1F1F1F"/>
                          </a:solidFill>
                          <a:latin typeface="Calibri"/>
                        </a:rPr>
                        <a:t>45%</a:t>
                      </a:r>
                    </a:p>
                  </a:txBody>
                  <a:tcPr marL="54864" marR="54864" marT="27432" marB="27432" anchor="ctr">
                    <a:solidFill>
                      <a:srgbClr val="FFFFFF"/>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+0.13</a:t>
                      </a:r>
                    </a:p>
                  </a:txBody>
                  <a:tcPr marL="54864" marR="54864" marT="27432" marB="27432" anchor="ctr">
                    <a:solidFill>
                      <a:srgbClr val="EEF2F8"/>
                    </a:solidFill>
                  </a:tcPr>
                </a:tc>
                <a:tc>
                  <a:txBody>
                    <a:bodyPr wrap="square"/>
                    <a:lstStyle/>
                    <a:p>
                      <a:pPr algn="ctr"/>
                      <a:r>
                        <a:rPr sz="1200" b="0" i="0">
                          <a:solidFill>
                            <a:srgbClr val="1F1F1F"/>
                          </a:solidFill>
                          <a:latin typeface="Calibri"/>
                        </a:rPr>
                        <a:t>86%</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+0.09</a:t>
                      </a:r>
                    </a:p>
                  </a:txBody>
                  <a:tcPr marL="54864" marR="54864" marT="27432" marB="27432" anchor="ctr">
                    <a:solidFill>
                      <a:srgbClr val="FFF4CC"/>
                    </a:solidFill>
                  </a:tcPr>
                </a:tc>
                <a:tc>
                  <a:txBody>
                    <a:bodyPr wrap="square"/>
                    <a:lstStyle/>
                    <a:p>
                      <a:pPr algn="ctr"/>
                      <a:r>
                        <a:rPr sz="1200" b="1" i="0">
                          <a:solidFill>
                            <a:srgbClr val="1F1F1F"/>
                          </a:solidFill>
                          <a:latin typeface="Calibri"/>
                        </a:rPr>
                        <a:t>82%</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-0.17</a:t>
                      </a:r>
                    </a:p>
                  </a:txBody>
                  <a:tcPr marL="54864" marR="54864" marT="27432" marB="27432" anchor="ctr">
                    <a:solidFill>
                      <a:srgbClr val="FFF4CC"/>
                    </a:solidFill>
                  </a:tcPr>
                </a:tc>
                <a:tc>
                  <a:txBody>
                    <a:bodyPr wrap="square"/>
                    <a:lstStyle/>
                    <a:p>
                      <a:pPr algn="ctr"/>
                      <a:r>
                        <a:rPr sz="1200" b="1" i="0">
                          <a:solidFill>
                            <a:srgbClr val="1F1F1F"/>
                          </a:solidFill>
                          <a:latin typeface="Calibri"/>
                        </a:rPr>
                        <a:t>46%</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-0.24</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rain variability</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+0.05</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1.56e-05;  Anomaly B vs expected less-developed: p = 4.45e-07;  mean MC Dropout SD of push = 0.54</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Kishanganj (Bihar) +0.98</a:t>
            </a:r>
          </a:p>
          <a:p>
            <a:pPr>
              <a:spcAft>
                <a:spcPts val="0"/>
              </a:spcAft>
            </a:pPr>
            <a:r>
              <a:rPr sz="1200" b="0" i="0">
                <a:solidFill>
                  <a:srgbClr val="0E6E6E"/>
                </a:solidFill>
                <a:latin typeface="Calibri"/>
              </a:rPr>
              <a:t>▪  </a:t>
            </a:r>
            <a:r>
              <a:rPr sz="1200" b="0" i="0">
                <a:solidFill>
                  <a:srgbClr val="1F1F1F"/>
                </a:solidFill>
                <a:latin typeface="Calibri"/>
              </a:rPr>
              <a:t>Kodagu (Karnataka) +0.68</a:t>
            </a:r>
          </a:p>
          <a:p>
            <a:pPr>
              <a:spcAft>
                <a:spcPts val="0"/>
              </a:spcAft>
            </a:pPr>
            <a:r>
              <a:rPr sz="1200" b="0" i="0">
                <a:solidFill>
                  <a:srgbClr val="0E6E6E"/>
                </a:solidFill>
                <a:latin typeface="Calibri"/>
              </a:rPr>
              <a:t>▪  </a:t>
            </a:r>
            <a:r>
              <a:rPr sz="1200" b="0" i="0">
                <a:solidFill>
                  <a:srgbClr val="1F1F1F"/>
                </a:solidFill>
                <a:latin typeface="Calibri"/>
              </a:rPr>
              <a:t>Sahebganj (Jharkhand) +0.67</a:t>
            </a:r>
          </a:p>
          <a:p>
            <a:pPr>
              <a:spcAft>
                <a:spcPts val="0"/>
              </a:spcAft>
            </a:pPr>
            <a:r>
              <a:rPr sz="1200" b="0" i="0">
                <a:solidFill>
                  <a:srgbClr val="0E6E6E"/>
                </a:solidFill>
                <a:latin typeface="Calibri"/>
              </a:rPr>
              <a:t>▪  </a:t>
            </a:r>
            <a:r>
              <a:rPr sz="1200" b="0" i="0">
                <a:solidFill>
                  <a:srgbClr val="1F1F1F"/>
                </a:solidFill>
                <a:latin typeface="Calibri"/>
              </a:rPr>
              <a:t>Medinipur East (West Bengal) +0.65</a:t>
            </a:r>
          </a:p>
          <a:p>
            <a:pPr>
              <a:spcAft>
                <a:spcPts val="0"/>
              </a:spcAft>
            </a:pPr>
            <a:r>
              <a:rPr sz="1200" b="0" i="0">
                <a:solidFill>
                  <a:srgbClr val="0E6E6E"/>
                </a:solidFill>
                <a:latin typeface="Calibri"/>
              </a:rPr>
              <a:t>▪  </a:t>
            </a:r>
            <a:r>
              <a:rPr sz="1200" b="0" i="0">
                <a:solidFill>
                  <a:srgbClr val="1F1F1F"/>
                </a:solidFill>
                <a:latin typeface="Calibri"/>
              </a:rPr>
              <a:t>Purnia (Bihar) +0.57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Ariyalur (Tamil Nadu) 0%</a:t>
            </a:r>
          </a:p>
          <a:p>
            <a:pPr>
              <a:spcAft>
                <a:spcPts val="0"/>
              </a:spcAft>
            </a:pPr>
            <a:r>
              <a:rPr sz="1200" b="0" i="0">
                <a:solidFill>
                  <a:srgbClr val="0E6E6E"/>
                </a:solidFill>
                <a:latin typeface="Calibri"/>
              </a:rPr>
              <a:t>▪  </a:t>
            </a:r>
            <a:r>
              <a:rPr sz="1200" b="0" i="0">
                <a:solidFill>
                  <a:srgbClr val="1F1F1F"/>
                </a:solidFill>
                <a:latin typeface="Calibri"/>
              </a:rPr>
              <a:t>Davangere (Karnataka) 0%</a:t>
            </a:r>
          </a:p>
          <a:p>
            <a:pPr>
              <a:spcAft>
                <a:spcPts val="0"/>
              </a:spcAft>
            </a:pPr>
            <a:r>
              <a:rPr sz="1200" b="0" i="0">
                <a:solidFill>
                  <a:srgbClr val="0E6E6E"/>
                </a:solidFill>
                <a:latin typeface="Calibri"/>
              </a:rPr>
              <a:t>▪  </a:t>
            </a:r>
            <a:r>
              <a:rPr sz="1200" b="0" i="0">
                <a:solidFill>
                  <a:srgbClr val="1F1F1F"/>
                </a:solidFill>
                <a:latin typeface="Calibri"/>
              </a:rPr>
              <a:t>Ahmadabad (Gujarat) 1%</a:t>
            </a:r>
          </a:p>
          <a:p>
            <a:pPr>
              <a:spcAft>
                <a:spcPts val="0"/>
              </a:spcAft>
            </a:pPr>
            <a:r>
              <a:rPr sz="1200" b="0" i="0">
                <a:solidFill>
                  <a:srgbClr val="0E6E6E"/>
                </a:solidFill>
                <a:latin typeface="Calibri"/>
              </a:rPr>
              <a:t>▪  </a:t>
            </a:r>
            <a:r>
              <a:rPr sz="1200" b="0" i="0">
                <a:solidFill>
                  <a:srgbClr val="1F1F1F"/>
                </a:solidFill>
                <a:latin typeface="Calibri"/>
              </a:rPr>
              <a:t>Thiruvallur (Tamil Nadu) 1%</a:t>
            </a:r>
          </a:p>
          <a:p>
            <a:pPr>
              <a:spcAft>
                <a:spcPts val="0"/>
              </a:spcAft>
            </a:pPr>
            <a:r>
              <a:rPr sz="1200" b="0" i="0">
                <a:solidFill>
                  <a:srgbClr val="0E6E6E"/>
                </a:solidFill>
                <a:latin typeface="Calibri"/>
              </a:rPr>
              <a:t>▪  </a:t>
            </a:r>
            <a:r>
              <a:rPr sz="1200" b="0" i="0">
                <a:solidFill>
                  <a:srgbClr val="1F1F1F"/>
                </a:solidFill>
                <a:latin typeface="Calibri"/>
              </a:rPr>
              <a:t>Panchkula (Haryana) 1%</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2026-10-22)</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bacpn_training_curve.png"/>
          <p:cNvPicPr>
            <a:picLocks noChangeAspect="1"/>
          </p:cNvPicPr>
          <p:nvPr/>
        </p:nvPicPr>
        <p:blipFill>
          <a:blip r:embed="rId4"/>
          <a:stretch>
            <a:fillRect/>
          </a:stretch>
        </p:blipFill>
        <p:spPr>
          <a:xfrm>
            <a:off x="365760" y="2127166"/>
            <a:ext cx="4114800" cy="2786546"/>
          </a:xfrm>
          <a:prstGeom prst="rect">
            <a:avLst/>
          </a:prstGeom>
        </p:spPr>
      </p:pic>
      <p:pic>
        <p:nvPicPr>
          <p:cNvPr id="5" name="Picture 4" descr="attention_importance.png"/>
          <p:cNvPicPr>
            <a:picLocks noChangeAspect="1"/>
          </p:cNvPicPr>
          <p:nvPr/>
        </p:nvPicPr>
        <p:blipFill>
          <a:blip r:embed="rId5"/>
          <a:stretch>
            <a:fillRect/>
          </a:stretch>
        </p:blipFill>
        <p:spPr>
          <a:xfrm>
            <a:off x="4663440" y="2359070"/>
            <a:ext cx="4114800" cy="2322739"/>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B-ACPN deep stage: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666490"/>
            <a:ext cx="8412480" cy="3707898"/>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B-ACPN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724224"/>
            <a:ext cx="4114800" cy="3592431"/>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940100" y="1234440"/>
            <a:ext cx="7263798" cy="4572000"/>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Accuracy, F1, ROC-AUC and RMSE before vs after preprocessing</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2026-10-22</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(full 1901–2024 rainfall in HDFS for Review 3)</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B-ACPN (random-forest tree stage, attention, residual MLP, development gate, 5-network ensemble);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In progress (B-ACPN tuning)</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B-ACPN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(Spark MLlib re-run in Colab; final report)</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B-ACPN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L. Breiman, Random Forests, Machine Learning 45, 2001.</a:t>
            </a:r>
          </a:p>
          <a:p>
            <a:pPr>
              <a:spcAft>
                <a:spcPts val="400"/>
              </a:spcAft>
            </a:pPr>
            <a:r>
              <a:rPr sz="1300" b="1" i="0">
                <a:solidFill>
                  <a:srgbClr val="1B3A6B"/>
                </a:solidFill>
                <a:latin typeface="Calibri"/>
              </a:rPr>
              <a:t>[9]  </a:t>
            </a:r>
            <a:r>
              <a:rPr sz="1300" b="0" i="0">
                <a:solidFill>
                  <a:srgbClr val="1F1F1F"/>
                </a:solidFill>
                <a:latin typeface="Calibri"/>
              </a:rPr>
              <a:t>D. H. Wolpert, Stacked Generalization, Neural Networks 5, 1992.</a:t>
            </a:r>
          </a:p>
          <a:p>
            <a:pPr>
              <a:spcAft>
                <a:spcPts val="400"/>
              </a:spcAft>
            </a:pPr>
            <a:r>
              <a:rPr sz="1300" b="1" i="0">
                <a:solidFill>
                  <a:srgbClr val="1B3A6B"/>
                </a:solidFill>
                <a:latin typeface="Calibri"/>
              </a:rPr>
              <a:t>[10]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[11]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[12]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[13]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[14]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[15]  </a:t>
            </a:r>
            <a:r>
              <a:rPr sz="1300" b="0" i="0">
                <a:solidFill>
                  <a:srgbClr val="1F1F1F"/>
                </a:solidFill>
                <a:latin typeface="Calibri"/>
              </a:rPr>
              <a:t>A. Thusoo et al., Hive, VLDB 2009.</a:t>
            </a:r>
          </a:p>
          <a:p>
            <a:pPr>
              <a:spcAft>
                <a:spcPts val="400"/>
              </a:spcAft>
            </a:pPr>
            <a:r>
              <a:rPr sz="1300" b="1" i="0">
                <a:solidFill>
                  <a:srgbClr val="1B3A6B"/>
                </a:solidFill>
                <a:latin typeface="Calibri"/>
              </a:rPr>
              <a:t>[16]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[17]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[18]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3–7 Hadoop, HDFS, MapReduce, Hive, Spark</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HDFS load (Table 2), YARN job + timings, Hive, k-means (Table 3)</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8 B-ACPN (proposed model)</a:t>
                      </a:r>
                    </a:p>
                  </a:txBody>
                  <a:tcPr marL="54864" marR="54864" marT="27432" marB="27432" anchor="ctr">
                    <a:solidFill>
                      <a:srgbClr val="FFFFFF"/>
                    </a:solidFill>
                  </a:tcPr>
                </a:tc>
                <a:tc>
                  <a:txBody>
                    <a:bodyPr wrap="square"/>
                    <a:lstStyle/>
                    <a:p>
                      <a:pPr algn="ctr"/>
                      <a:r>
                        <a:rPr sz="1200" b="0" i="0">
                          <a:solidFill>
                            <a:srgbClr val="1F1F1F"/>
                          </a:solidFill>
                          <a:latin typeface="Calibri"/>
                        </a:rPr>
                        <a:t>Architecture, model card (Table 4), ablation, climate push (Table 6)</a:t>
                      </a:r>
                    </a:p>
                  </a:txBody>
                  <a:tcPr marL="54864" marR="54864" marT="27432" marB="27432" anchor="ctr">
                    <a:solidFill>
                      <a:srgbClr val="FFFFFF"/>
                    </a:solidFill>
                  </a:tcPr>
                </a:tc>
                <a:tc>
                  <a:txBody>
                    <a:bodyPr wrap="square"/>
                    <a:lstStyle/>
                    <a:p>
                      <a:pPr algn="ctr"/>
                      <a:r>
                        <a:rPr sz="1200" b="0" i="0">
                          <a:solidFill>
                            <a:srgbClr val="1F1F1F"/>
                          </a:solidFill>
                          <a:latin typeface="Calibri"/>
                        </a:rPr>
                        <a:t>Devanshu</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9–10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5 existing models, all metrics, preprocessing before/after (Table 5)</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